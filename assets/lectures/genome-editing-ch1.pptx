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4.xml" ContentType="application/vnd.openxmlformats-officedocument.presentationml.notesSlide+xml"/>
  <Override PartName="/ppt/tags/tag10.xml" ContentType="application/vnd.openxmlformats-officedocument.presentationml.tags+xml"/>
  <Override PartName="/ppt/notesSlides/notesSlide25.xml" ContentType="application/vnd.openxmlformats-officedocument.presentationml.notesSlide+xml"/>
  <Override PartName="/ppt/tags/tag11.xml" ContentType="application/vnd.openxmlformats-officedocument.presentationml.tags+xml"/>
  <Override PartName="/ppt/notesSlides/notesSlide26.xml" ContentType="application/vnd.openxmlformats-officedocument.presentationml.notesSlide+xml"/>
  <Override PartName="/ppt/tags/tag12.xml" ContentType="application/vnd.openxmlformats-officedocument.presentationml.tags+xml"/>
  <Override PartName="/ppt/notesSlides/notesSlide27.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28.xml" ContentType="application/vnd.openxmlformats-officedocument.presentationml.notesSlide+xml"/>
  <Override PartName="/ppt/tags/tag15.xml" ContentType="application/vnd.openxmlformats-officedocument.presentationml.tags+xml"/>
  <Override PartName="/ppt/notesSlides/notesSlide29.xml" ContentType="application/vnd.openxmlformats-officedocument.presentationml.notesSlide+xml"/>
  <Override PartName="/ppt/tags/tag16.xml" ContentType="application/vnd.openxmlformats-officedocument.presentationml.tags+xml"/>
  <Override PartName="/ppt/notesSlides/notesSlide30.xml" ContentType="application/vnd.openxmlformats-officedocument.presentationml.notesSlide+xml"/>
  <Override PartName="/ppt/tags/tag17.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8.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19.xml" ContentType="application/vnd.openxmlformats-officedocument.presentationml.tags+xml"/>
  <Override PartName="/ppt/notesSlides/notesSlide37.xml" ContentType="application/vnd.openxmlformats-officedocument.presentationml.notesSlide+xml"/>
  <Override PartName="/ppt/tags/tag20.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21.xml" ContentType="application/vnd.openxmlformats-officedocument.presentationml.tags+xml"/>
  <Override PartName="/ppt/notesSlides/notesSlide40.xml" ContentType="application/vnd.openxmlformats-officedocument.presentationml.notesSlide+xml"/>
  <Override PartName="/ppt/tags/tag22.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52"/>
  </p:notesMasterIdLst>
  <p:sldIdLst>
    <p:sldId id="279" r:id="rId3"/>
    <p:sldId id="280" r:id="rId4"/>
    <p:sldId id="289" r:id="rId5"/>
    <p:sldId id="370" r:id="rId6"/>
    <p:sldId id="281" r:id="rId7"/>
    <p:sldId id="316" r:id="rId8"/>
    <p:sldId id="319" r:id="rId9"/>
    <p:sldId id="430" r:id="rId10"/>
    <p:sldId id="293" r:id="rId11"/>
    <p:sldId id="320" r:id="rId12"/>
    <p:sldId id="318" r:id="rId13"/>
    <p:sldId id="296" r:id="rId14"/>
    <p:sldId id="299" r:id="rId15"/>
    <p:sldId id="294" r:id="rId16"/>
    <p:sldId id="364" r:id="rId17"/>
    <p:sldId id="366" r:id="rId18"/>
    <p:sldId id="431" r:id="rId19"/>
    <p:sldId id="372" r:id="rId20"/>
    <p:sldId id="373" r:id="rId21"/>
    <p:sldId id="420" r:id="rId22"/>
    <p:sldId id="374" r:id="rId23"/>
    <p:sldId id="375" r:id="rId24"/>
    <p:sldId id="286" r:id="rId25"/>
    <p:sldId id="283" r:id="rId26"/>
    <p:sldId id="422" r:id="rId27"/>
    <p:sldId id="368" r:id="rId28"/>
    <p:sldId id="377" r:id="rId29"/>
    <p:sldId id="376" r:id="rId30"/>
    <p:sldId id="421" r:id="rId31"/>
    <p:sldId id="270" r:id="rId32"/>
    <p:sldId id="424" r:id="rId33"/>
    <p:sldId id="432" r:id="rId34"/>
    <p:sldId id="425" r:id="rId35"/>
    <p:sldId id="380" r:id="rId36"/>
    <p:sldId id="309" r:id="rId37"/>
    <p:sldId id="433" r:id="rId38"/>
    <p:sldId id="312" r:id="rId39"/>
    <p:sldId id="426" r:id="rId40"/>
    <p:sldId id="266" r:id="rId41"/>
    <p:sldId id="434" r:id="rId42"/>
    <p:sldId id="436" r:id="rId43"/>
    <p:sldId id="276" r:id="rId44"/>
    <p:sldId id="435" r:id="rId45"/>
    <p:sldId id="275" r:id="rId46"/>
    <p:sldId id="428" r:id="rId47"/>
    <p:sldId id="429" r:id="rId48"/>
    <p:sldId id="314" r:id="rId49"/>
    <p:sldId id="278" r:id="rId50"/>
    <p:sldId id="427" r:id="rId51"/>
  </p:sldIdLst>
  <p:sldSz cx="12192000" cy="6858000"/>
  <p:notesSz cx="6858000" cy="9144000"/>
  <p:custDataLst>
    <p:tags r:id="rId5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3"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08" autoAdjust="0"/>
    <p:restoredTop sz="77435" autoAdjust="0"/>
  </p:normalViewPr>
  <p:slideViewPr>
    <p:cSldViewPr snapToGrid="0" showGuides="1">
      <p:cViewPr varScale="1">
        <p:scale>
          <a:sx n="87" d="100"/>
          <a:sy n="87" d="100"/>
        </p:scale>
        <p:origin x="582" y="102"/>
      </p:cViewPr>
      <p:guideLst>
        <p:guide orient="horz" pos="2273"/>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gs" Target="tags/tag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5FA215-2FE5-451F-9AED-82BE07A03529}" type="datetimeFigureOut">
              <a:rPr lang="zh-CN" altLang="en-US" smtClean="0"/>
              <a:t>2024/11/4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B7A263-E924-4581-B58B-5F45429A0EC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a:t>
            </a:r>
            <a:r>
              <a:rPr lang="en-US" altLang="zh-CN" dirty="0" err="1"/>
              <a:t>mp.weixin.qq.com</a:t>
            </a:r>
            <a:r>
              <a:rPr lang="en-US" altLang="zh-CN" dirty="0"/>
              <a:t>/</a:t>
            </a:r>
            <a:r>
              <a:rPr lang="en-US" altLang="zh-CN" dirty="0" err="1"/>
              <a:t>s?__biz</a:t>
            </a:r>
            <a:r>
              <a:rPr lang="en-US" altLang="zh-CN" dirty="0"/>
              <a:t>=</a:t>
            </a:r>
            <a:r>
              <a:rPr lang="en-US" altLang="zh-CN" dirty="0" err="1"/>
              <a:t>MzA5OTEwNzg3OQ</a:t>
            </a:r>
            <a:r>
              <a:rPr lang="en-US" altLang="zh-CN" dirty="0"/>
              <a:t>==&amp;mid=</a:t>
            </a:r>
            <a:r>
              <a:rPr lang="en-US" altLang="zh-CN" dirty="0" err="1"/>
              <a:t>2650388171&amp;idx</a:t>
            </a:r>
            <a:r>
              <a:rPr lang="en-US" altLang="zh-CN" dirty="0"/>
              <a:t>=</a:t>
            </a:r>
            <a:r>
              <a:rPr lang="en-US" altLang="zh-CN" dirty="0" err="1"/>
              <a:t>1&amp;sn</a:t>
            </a:r>
            <a:r>
              <a:rPr lang="en-US" altLang="zh-CN" dirty="0"/>
              <a:t>=</a:t>
            </a:r>
            <a:r>
              <a:rPr lang="en-US" altLang="zh-CN" dirty="0" err="1"/>
              <a:t>48f0a44641bbd2aa5287b7c35f2a48c0&amp;chksm</a:t>
            </a:r>
            <a:r>
              <a:rPr lang="en-US" altLang="zh-CN" dirty="0"/>
              <a:t>=888a4383bffdca9502eae6f50522a1f57c26aa8bfa9b6735f9160ebb6ab5413e2179d748b62c&amp;scene=27</a:t>
            </a:r>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个既前沿又充满挑战的科技领域</a:t>
            </a:r>
            <a:r>
              <a:rPr lang="en-US" altLang="zh-CN" dirty="0"/>
              <a:t>——</a:t>
            </a:r>
            <a:r>
              <a:rPr lang="zh-CN" altLang="en-US" dirty="0"/>
              <a:t>基因编辑。在这个科技日新月异的时代，基因编辑技术正以前所未有的速度推动着生命科学的发展，它不仅为我们揭示了生命的奥秘，更为治疗遗传性疾病、改善农作物品质等开辟了广阔的前景。而这一切的成就，都离不开那些站在科学前沿、不断攀登的巨人们。今天，我们就来探讨一下，基因编辑是如何站在巨人肩膀上的技术。</a:t>
            </a:r>
          </a:p>
        </p:txBody>
      </p:sp>
      <p:sp>
        <p:nvSpPr>
          <p:cNvPr id="4" name="灯片编号占位符 3"/>
          <p:cNvSpPr>
            <a:spLocks noGrp="1"/>
          </p:cNvSpPr>
          <p:nvPr>
            <p:ph type="sldNum" sz="quarter" idx="5"/>
          </p:nvPr>
        </p:nvSpPr>
        <p:spPr/>
        <p:txBody>
          <a:bodyPr/>
          <a:lstStyle/>
          <a:p>
            <a:fld id="{B8B7A263-E924-4581-B58B-5F45429A0ECA}" type="slidenum">
              <a:rPr lang="zh-CN" altLang="en-US" smtClean="0"/>
              <a:t>3</a:t>
            </a:fld>
            <a:endParaRPr lang="zh-CN" altLang="en-US"/>
          </a:p>
        </p:txBody>
      </p:sp>
    </p:spTree>
    <p:extLst>
      <p:ext uri="{BB962C8B-B14F-4D97-AF65-F5344CB8AC3E}">
        <p14:creationId xmlns:p14="http://schemas.microsoft.com/office/powerpoint/2010/main" val="414019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Arial" panose="020B0604020202020204" pitchFamily="34" charset="0"/>
                <a:ea typeface="微软雅黑" panose="020B0503020204020204" pitchFamily="34" charset="-122"/>
                <a:cs typeface="Arial" panose="020B0604020202020204" pitchFamily="34" charset="0"/>
              </a:rPr>
              <a:t>基因编辑是指特异性改变基因序列，利用酶，特别是核酸酶来对</a:t>
            </a:r>
            <a:r>
              <a:rPr lang="en-US" altLang="zh-CN" dirty="0">
                <a:latin typeface="Arial" panose="020B0604020202020204" pitchFamily="34" charset="0"/>
                <a:ea typeface="微软雅黑" panose="020B0503020204020204" pitchFamily="34" charset="-122"/>
                <a:cs typeface="Arial" panose="020B0604020202020204" pitchFamily="34" charset="0"/>
              </a:rPr>
              <a:t>DNA</a:t>
            </a:r>
            <a:r>
              <a:rPr lang="zh-CN" altLang="en-US" dirty="0">
                <a:latin typeface="Arial" panose="020B0604020202020204" pitchFamily="34" charset="0"/>
                <a:ea typeface="微软雅黑" panose="020B0503020204020204" pitchFamily="34" charset="-122"/>
                <a:cs typeface="Arial" panose="020B0604020202020204" pitchFamily="34" charset="0"/>
              </a:rPr>
              <a:t>链（</a:t>
            </a:r>
            <a:r>
              <a:rPr lang="en-US" altLang="zh-CN" dirty="0">
                <a:latin typeface="Arial" panose="020B0604020202020204" pitchFamily="34" charset="0"/>
                <a:ea typeface="微软雅黑" panose="020B0503020204020204" pitchFamily="34" charset="-122"/>
                <a:cs typeface="Arial" panose="020B0604020202020204" pitchFamily="34" charset="0"/>
              </a:rPr>
              <a:t>DNA strand</a:t>
            </a:r>
            <a:r>
              <a:rPr lang="zh-CN" altLang="en-US" dirty="0">
                <a:latin typeface="Arial" panose="020B0604020202020204" pitchFamily="34" charset="0"/>
                <a:ea typeface="微软雅黑" panose="020B0503020204020204" pitchFamily="34" charset="-122"/>
                <a:cs typeface="Arial" panose="020B0604020202020204" pitchFamily="34" charset="0"/>
              </a:rPr>
              <a:t>）进行剪切，移除已有的</a:t>
            </a:r>
            <a:r>
              <a:rPr lang="en-US" altLang="zh-CN" dirty="0">
                <a:latin typeface="Arial" panose="020B0604020202020204" pitchFamily="34" charset="0"/>
                <a:ea typeface="微软雅黑" panose="020B0503020204020204" pitchFamily="34" charset="-122"/>
                <a:cs typeface="Arial" panose="020B0604020202020204" pitchFamily="34" charset="0"/>
              </a:rPr>
              <a:t>DNA</a:t>
            </a:r>
            <a:r>
              <a:rPr lang="zh-CN" altLang="en-US" dirty="0">
                <a:latin typeface="Arial" panose="020B0604020202020204" pitchFamily="34" charset="0"/>
                <a:ea typeface="微软雅黑" panose="020B0503020204020204" pitchFamily="34" charset="-122"/>
                <a:cs typeface="Arial" panose="020B0604020202020204" pitchFamily="34" charset="0"/>
              </a:rPr>
              <a:t>，或者插入代替的</a:t>
            </a:r>
            <a:r>
              <a:rPr lang="en-US" altLang="zh-CN" dirty="0">
                <a:latin typeface="Arial" panose="020B0604020202020204" pitchFamily="34" charset="0"/>
                <a:ea typeface="微软雅黑" panose="020B0503020204020204" pitchFamily="34" charset="-122"/>
                <a:cs typeface="Arial" panose="020B0604020202020204" pitchFamily="34" charset="0"/>
              </a:rPr>
              <a:t>DNA</a:t>
            </a:r>
            <a:r>
              <a:rPr lang="zh-CN" altLang="en-US" dirty="0">
                <a:latin typeface="Arial" panose="020B0604020202020204" pitchFamily="34" charset="0"/>
                <a:ea typeface="微软雅黑" panose="020B0503020204020204" pitchFamily="34" charset="-122"/>
                <a:cs typeface="Arial" panose="020B0604020202020204" pitchFamily="34" charset="0"/>
              </a:rPr>
              <a:t>。</a:t>
            </a:r>
          </a:p>
          <a:p>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6</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DNA</a:t>
            </a:r>
            <a:r>
              <a:rPr lang="zh-CN" altLang="en-US" dirty="0"/>
              <a:t>是遗传信息的宝库，是生物体生存和繁殖的必要条件，因此保持 </a:t>
            </a:r>
            <a:r>
              <a:rPr lang="en-US" altLang="zh-CN" dirty="0"/>
              <a:t>DNA</a:t>
            </a:r>
            <a:r>
              <a:rPr lang="zh-CN" altLang="en-US" dirty="0"/>
              <a:t>分子的完整性对细胞至关重要。然而，</a:t>
            </a:r>
            <a:r>
              <a:rPr lang="en-US" altLang="zh-CN" dirty="0"/>
              <a:t>DNA</a:t>
            </a:r>
            <a:r>
              <a:rPr lang="zh-CN" altLang="en-US" dirty="0"/>
              <a:t>在不断复制并传递给子细胞的过程中难免会受到损伤</a:t>
            </a:r>
            <a:r>
              <a:rPr lang="zh-CN" altLang="en-US" dirty="0">
                <a:effectLst/>
              </a:rPr>
              <a:t>。</a:t>
            </a:r>
            <a:endParaRPr lang="en-US" altLang="zh-CN" dirty="0">
              <a:effectLst/>
            </a:endParaRPr>
          </a:p>
          <a:p>
            <a:r>
              <a:rPr lang="zh-CN" altLang="en-US" sz="2000" b="1" dirty="0">
                <a:latin typeface="微软雅黑" panose="020B0503020204020204" pitchFamily="34" charset="-122"/>
                <a:ea typeface="微软雅黑" panose="020B0503020204020204" pitchFamily="34" charset="-122"/>
              </a:rPr>
              <a:t>什么导致</a:t>
            </a:r>
            <a:r>
              <a:rPr lang="en-US" altLang="zh-CN" sz="2000" b="1" dirty="0">
                <a:latin typeface="微软雅黑" panose="020B0503020204020204" pitchFamily="34" charset="-122"/>
                <a:ea typeface="微软雅黑" panose="020B0503020204020204" pitchFamily="34" charset="-122"/>
              </a:rPr>
              <a:t>DNA</a:t>
            </a:r>
            <a:r>
              <a:rPr lang="zh-CN" altLang="en-US" sz="2000" b="1" dirty="0">
                <a:latin typeface="微软雅黑" panose="020B0503020204020204" pitchFamily="34" charset="-122"/>
                <a:ea typeface="微软雅黑" panose="020B0503020204020204" pitchFamily="34" charset="-122"/>
              </a:rPr>
              <a:t>损伤</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又会导致</a:t>
            </a:r>
            <a:r>
              <a:rPr lang="en-US" altLang="zh-CN" sz="2000" b="1" dirty="0">
                <a:latin typeface="微软雅黑" panose="020B0503020204020204" pitchFamily="34" charset="-122"/>
                <a:ea typeface="微软雅黑" panose="020B0503020204020204" pitchFamily="34" charset="-122"/>
              </a:rPr>
              <a:t>DNA</a:t>
            </a:r>
            <a:r>
              <a:rPr lang="zh-CN" altLang="en-US" sz="2000" b="1" dirty="0">
                <a:latin typeface="微软雅黑" panose="020B0503020204020204" pitchFamily="34" charset="-122"/>
                <a:ea typeface="微软雅黑" panose="020B0503020204020204" pitchFamily="34" charset="-122"/>
              </a:rPr>
              <a:t>什么损伤呢，</a:t>
            </a:r>
            <a:endParaRPr lang="en-US" altLang="zh-CN" sz="2000" b="1" dirty="0">
              <a:latin typeface="微软雅黑" panose="020B0503020204020204" pitchFamily="34" charset="-122"/>
              <a:ea typeface="微软雅黑" panose="020B0503020204020204" pitchFamily="34" charset="-122"/>
            </a:endParaRPr>
          </a:p>
          <a:p>
            <a:r>
              <a:rPr lang="zh-CN" altLang="en-US" dirty="0">
                <a:effectLst/>
                <a:latin typeface="微软雅黑" panose="020B0503020204020204" pitchFamily="34" charset="-122"/>
                <a:ea typeface="微软雅黑" panose="020B0503020204020204" pitchFamily="34" charset="-122"/>
              </a:rPr>
              <a:t>内源性因素：复制错误和内源性化学反应引起的自发性基因毒性损伤。</a:t>
            </a:r>
            <a:r>
              <a:rPr lang="zh-CN" altLang="en-US" dirty="0">
                <a:effectLst/>
                <a:sym typeface="+mn-ea"/>
              </a:rPr>
              <a:t>据估计，每个细胞每天要经历近</a:t>
            </a:r>
            <a:r>
              <a:rPr lang="en-US" altLang="zh-CN" dirty="0">
                <a:effectLst/>
                <a:sym typeface="+mn-ea"/>
              </a:rPr>
              <a:t>10</a:t>
            </a:r>
            <a:r>
              <a:rPr lang="zh-CN" altLang="en-US" dirty="0">
                <a:effectLst/>
                <a:sym typeface="+mn-ea"/>
              </a:rPr>
              <a:t>万次自发的</a:t>
            </a:r>
            <a:r>
              <a:rPr lang="en-US" altLang="zh-CN" dirty="0">
                <a:effectLst/>
                <a:sym typeface="+mn-ea"/>
              </a:rPr>
              <a:t>DNA</a:t>
            </a:r>
            <a:r>
              <a:rPr lang="zh-CN" altLang="en-US" dirty="0">
                <a:effectLst/>
                <a:sym typeface="+mn-ea"/>
              </a:rPr>
              <a:t>损伤 </a:t>
            </a:r>
            <a:r>
              <a:rPr lang="en-US" altLang="zh-CN" dirty="0">
                <a:effectLst/>
                <a:sym typeface="+mn-ea"/>
              </a:rPr>
              <a:t>.</a:t>
            </a:r>
          </a:p>
          <a:p>
            <a:r>
              <a:rPr lang="zh-CN" altLang="en-US" dirty="0">
                <a:effectLst/>
                <a:latin typeface="微软雅黑" panose="020B0503020204020204" pitchFamily="34" charset="-122"/>
                <a:ea typeface="微软雅黑" panose="020B0503020204020204" pitchFamily="34" charset="-122"/>
              </a:rPr>
              <a:t>外源性因素：物理因素和化学因素。</a:t>
            </a:r>
            <a:endParaRPr lang="en-US" altLang="zh-CN" dirty="0">
              <a:effectLst/>
              <a:latin typeface="微软雅黑" panose="020B0503020204020204" pitchFamily="34" charset="-122"/>
              <a:ea typeface="微软雅黑" panose="020B0503020204020204" pitchFamily="34" charset="-122"/>
            </a:endParaRPr>
          </a:p>
          <a:p>
            <a:pPr marL="0" indent="0">
              <a:lnSpc>
                <a:spcPct val="150000"/>
              </a:lnSpc>
              <a:buFont typeface="Wingdings" panose="05000000000000000000" pitchFamily="2" charset="2"/>
              <a:buNone/>
            </a:pPr>
            <a:r>
              <a:rPr lang="zh-CN" altLang="en-US" b="1" dirty="0"/>
              <a:t>点突变</a:t>
            </a:r>
            <a:r>
              <a:rPr lang="zh-CN" altLang="en-US" dirty="0"/>
              <a:t>：</a:t>
            </a:r>
            <a:r>
              <a:rPr lang="en-US" altLang="zh-CN" dirty="0"/>
              <a:t>DNA</a:t>
            </a:r>
            <a:r>
              <a:rPr lang="zh-CN" altLang="en-US" dirty="0"/>
              <a:t>上单一碱基的变异，包括嘌呤替代嘌呤（</a:t>
            </a:r>
            <a:r>
              <a:rPr lang="en-US" altLang="zh-CN" dirty="0"/>
              <a:t>A</a:t>
            </a:r>
            <a:r>
              <a:rPr lang="zh-CN" altLang="en-US" dirty="0"/>
              <a:t>与</a:t>
            </a:r>
            <a:r>
              <a:rPr lang="en-US" altLang="zh-CN" dirty="0"/>
              <a:t>G</a:t>
            </a:r>
            <a:r>
              <a:rPr lang="zh-CN" altLang="en-US" dirty="0"/>
              <a:t>之间的相互替代）、嘧啶替代嘧啶（</a:t>
            </a:r>
            <a:r>
              <a:rPr lang="en-US" altLang="zh-CN" dirty="0"/>
              <a:t>C</a:t>
            </a:r>
            <a:r>
              <a:rPr lang="zh-CN" altLang="en-US" dirty="0"/>
              <a:t>与</a:t>
            </a:r>
            <a:r>
              <a:rPr lang="en-US" altLang="zh-CN" dirty="0"/>
              <a:t>T</a:t>
            </a:r>
            <a:r>
              <a:rPr lang="zh-CN" altLang="en-US" dirty="0"/>
              <a:t>之间的替代）等。</a:t>
            </a:r>
            <a:endParaRPr lang="en-US" altLang="zh-CN" dirty="0"/>
          </a:p>
          <a:p>
            <a:pPr marL="0" indent="0">
              <a:lnSpc>
                <a:spcPct val="150000"/>
              </a:lnSpc>
              <a:buFont typeface="Wingdings" panose="05000000000000000000" pitchFamily="2" charset="2"/>
              <a:buNone/>
            </a:pPr>
            <a:r>
              <a:rPr lang="zh-CN" altLang="en-US" b="1" dirty="0"/>
              <a:t>缺失</a:t>
            </a:r>
            <a:r>
              <a:rPr lang="zh-CN" altLang="en-US" dirty="0"/>
              <a:t>：</a:t>
            </a:r>
            <a:r>
              <a:rPr lang="en-US" altLang="zh-CN" dirty="0"/>
              <a:t>DNA</a:t>
            </a:r>
            <a:r>
              <a:rPr lang="zh-CN" altLang="en-US" dirty="0"/>
              <a:t>链上一个或一段核苷酸的消失。 </a:t>
            </a:r>
            <a:endParaRPr lang="en-US" altLang="zh-CN" dirty="0"/>
          </a:p>
          <a:p>
            <a:pPr marL="0" indent="0">
              <a:lnSpc>
                <a:spcPct val="150000"/>
              </a:lnSpc>
              <a:buFont typeface="Wingdings" panose="05000000000000000000" pitchFamily="2" charset="2"/>
              <a:buNone/>
            </a:pPr>
            <a:r>
              <a:rPr lang="zh-CN" altLang="en-US" b="1" dirty="0"/>
              <a:t>倒位转位</a:t>
            </a:r>
            <a:r>
              <a:rPr lang="zh-CN" altLang="en-US" dirty="0"/>
              <a:t>：</a:t>
            </a:r>
            <a:r>
              <a:rPr lang="en-US" altLang="zh-CN" dirty="0"/>
              <a:t>DNA</a:t>
            </a:r>
            <a:r>
              <a:rPr lang="zh-CN" altLang="en-US" dirty="0"/>
              <a:t>链重组使其中一段核苷酸链方向倒置、或从一处迁移到另一处。</a:t>
            </a:r>
          </a:p>
          <a:p>
            <a:pPr marL="0" indent="0">
              <a:lnSpc>
                <a:spcPct val="150000"/>
              </a:lnSpc>
              <a:buFont typeface="Wingdings" panose="05000000000000000000" pitchFamily="2" charset="2"/>
              <a:buNone/>
            </a:pPr>
            <a:r>
              <a:rPr lang="zh-CN" altLang="en-US" b="1" dirty="0"/>
              <a:t>双链断裂</a:t>
            </a:r>
            <a:r>
              <a:rPr lang="zh-CN" altLang="en-US" dirty="0"/>
              <a:t>：</a:t>
            </a:r>
            <a:r>
              <a:rPr lang="en-US" altLang="zh-CN" dirty="0"/>
              <a:t>DNA</a:t>
            </a:r>
            <a:r>
              <a:rPr lang="zh-CN" altLang="en-US" dirty="0"/>
              <a:t>双链在某一处或几处发生断裂。</a:t>
            </a:r>
            <a:endParaRPr lang="en-US" altLang="zh-CN" dirty="0"/>
          </a:p>
          <a:p>
            <a:pPr marL="0" indent="0">
              <a:lnSpc>
                <a:spcPct val="150000"/>
              </a:lnSpc>
              <a:buFont typeface="Wingdings" panose="05000000000000000000" pitchFamily="2" charset="2"/>
              <a:buNone/>
            </a:pPr>
            <a:r>
              <a:rPr lang="zh-CN" altLang="en-US" dirty="0"/>
              <a:t>多环芳烃（</a:t>
            </a:r>
            <a:r>
              <a:rPr lang="en-US" altLang="zh-CN" dirty="0"/>
              <a:t>PAHs</a:t>
            </a:r>
            <a:r>
              <a:rPr lang="zh-CN" altLang="en-US" dirty="0"/>
              <a:t>）</a:t>
            </a:r>
            <a:endParaRPr lang="en-US" altLang="zh-CN" dirty="0">
              <a:effectLst/>
              <a:latin typeface="微软雅黑" panose="020B0503020204020204" pitchFamily="34" charset="-122"/>
              <a:ea typeface="微软雅黑" panose="020B0503020204020204" pitchFamily="34" charset="-122"/>
            </a:endParaRPr>
          </a:p>
          <a:p>
            <a:pPr>
              <a:buFont typeface="+mj-lt"/>
              <a:buAutoNum type="arabicPeriod"/>
            </a:pPr>
            <a:r>
              <a:rPr lang="zh-CN" altLang="en-US" b="1" dirty="0"/>
              <a:t>自发性损伤</a:t>
            </a:r>
            <a:r>
              <a:rPr lang="zh-CN" altLang="en-US" dirty="0"/>
              <a:t>：复制过程出现了碱基的错误，以及</a:t>
            </a:r>
            <a:r>
              <a:rPr lang="en-US" altLang="zh-CN" dirty="0"/>
              <a:t>DNA</a:t>
            </a:r>
            <a:r>
              <a:rPr lang="zh-CN" altLang="en-US" dirty="0"/>
              <a:t>由于碱基异构互变、脱氨基作用等而出现的自发性化学变化。</a:t>
            </a:r>
          </a:p>
          <a:p>
            <a:pPr>
              <a:buFont typeface="+mj-lt"/>
              <a:buAutoNum type="arabicPeriod"/>
            </a:pPr>
            <a:r>
              <a:rPr lang="zh-CN" altLang="en-US" b="1" dirty="0"/>
              <a:t>物理因素</a:t>
            </a:r>
            <a:r>
              <a:rPr lang="zh-CN" altLang="en-US" dirty="0"/>
              <a:t>：紫外线照射、电离辐射等物理因素会导致</a:t>
            </a:r>
            <a:r>
              <a:rPr lang="en-US" altLang="zh-CN" dirty="0"/>
              <a:t>DNA</a:t>
            </a:r>
            <a:r>
              <a:rPr lang="zh-CN" altLang="en-US" dirty="0"/>
              <a:t>损伤。</a:t>
            </a:r>
          </a:p>
          <a:p>
            <a:pPr>
              <a:buFont typeface="+mj-lt"/>
              <a:buAutoNum type="arabicPeriod"/>
            </a:pPr>
            <a:r>
              <a:rPr lang="zh-CN" altLang="en-US" b="1" dirty="0"/>
              <a:t>化学因素</a:t>
            </a:r>
            <a:r>
              <a:rPr lang="zh-CN" altLang="en-US" dirty="0"/>
              <a:t>：烷化剂、碱基脱落、人工合成抗癌药物等化学因素也会引起</a:t>
            </a:r>
            <a:r>
              <a:rPr lang="en-US" altLang="zh-CN" dirty="0"/>
              <a:t>DNA</a:t>
            </a:r>
            <a:r>
              <a:rPr lang="zh-CN" altLang="en-US" dirty="0"/>
              <a:t>损伤。</a:t>
            </a:r>
          </a:p>
          <a:p>
            <a:pPr marL="0" indent="0">
              <a:lnSpc>
                <a:spcPct val="150000"/>
              </a:lnSpc>
              <a:buFont typeface="Wingdings" panose="05000000000000000000" pitchFamily="2" charset="2"/>
              <a:buNone/>
            </a:pPr>
            <a:r>
              <a:rPr lang="en-US" altLang="zh-CN" dirty="0"/>
              <a:t>DNA</a:t>
            </a:r>
            <a:r>
              <a:rPr lang="zh-CN" altLang="en-US" dirty="0"/>
              <a:t>损伤可能会诱发严重的后果，如丧失功能、改变基因型，甚至导致肿瘤的形成。因此，及时修复</a:t>
            </a:r>
            <a:r>
              <a:rPr lang="en-US" altLang="zh-CN" dirty="0"/>
              <a:t>DNA</a:t>
            </a:r>
            <a:r>
              <a:rPr lang="zh-CN" altLang="en-US" dirty="0"/>
              <a:t>损伤对于维持生物体的正常生理功能和遗传稳定性至关重要。</a:t>
            </a:r>
            <a:endParaRPr lang="en-US" altLang="zh-CN" dirty="0">
              <a:effectLst/>
              <a:latin typeface="微软雅黑" panose="020B0503020204020204" pitchFamily="34" charset="-122"/>
              <a:ea typeface="微软雅黑" panose="020B0503020204020204" pitchFamily="34" charset="-122"/>
            </a:endParaRPr>
          </a:p>
          <a:p>
            <a:endParaRPr lang="zh-CN" altLang="en-US" dirty="0">
              <a:effectLst/>
              <a:latin typeface="微软雅黑" panose="020B0503020204020204" pitchFamily="34" charset="-122"/>
              <a:ea typeface="微软雅黑" panose="020B0503020204020204" pitchFamily="34" charset="-122"/>
            </a:endParaRPr>
          </a:p>
          <a:p>
            <a:endParaRPr lang="zh-CN" altLang="en-US" dirty="0">
              <a:effectLst/>
            </a:endParaRPr>
          </a:p>
          <a:p>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7</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细胞可以通过多种修复机制来及时修复</a:t>
            </a:r>
            <a:r>
              <a:rPr lang="en-US" altLang="zh-CN" dirty="0"/>
              <a:t>DNA</a:t>
            </a:r>
            <a:r>
              <a:rPr lang="zh-CN" altLang="en-US" dirty="0"/>
              <a:t>损伤。</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8</a:t>
            </a:fld>
            <a:endParaRPr lang="zh-CN" altLang="en-US"/>
          </a:p>
        </p:txBody>
      </p:sp>
    </p:spTree>
    <p:extLst>
      <p:ext uri="{BB962C8B-B14F-4D97-AF65-F5344CB8AC3E}">
        <p14:creationId xmlns:p14="http://schemas.microsoft.com/office/powerpoint/2010/main" val="513050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这种断裂可以由多种因素引起，主要可以分为外源性因素和内源性因素。</a:t>
            </a:r>
          </a:p>
          <a:p>
            <a:r>
              <a:rPr lang="zh-CN" altLang="en-US" dirty="0"/>
              <a:t>首先，我们来看看外源性因素。辐射，特别是电离辐射，是导致</a:t>
            </a:r>
            <a:r>
              <a:rPr lang="en-US" altLang="zh-CN" dirty="0"/>
              <a:t>DNA</a:t>
            </a:r>
            <a:r>
              <a:rPr lang="zh-CN" altLang="en-US" dirty="0"/>
              <a:t>双链断裂的重要因素之一。电离辐射通过在细胞内产生自由基，进而引发</a:t>
            </a:r>
            <a:r>
              <a:rPr lang="en-US" altLang="zh-CN" dirty="0"/>
              <a:t>DNA</a:t>
            </a:r>
            <a:r>
              <a:rPr lang="zh-CN" altLang="en-US" dirty="0"/>
              <a:t>突变，导致双螺旋中的单链和双链断裂。此外，化学物质也是导致</a:t>
            </a:r>
            <a:r>
              <a:rPr lang="en-US" altLang="zh-CN" dirty="0"/>
              <a:t>DNA</a:t>
            </a:r>
            <a:r>
              <a:rPr lang="zh-CN" altLang="en-US" dirty="0"/>
              <a:t>双链断裂的外源性因素之一。这些化学物质可以将烷基共价连接到</a:t>
            </a:r>
            <a:r>
              <a:rPr lang="en-US" altLang="zh-CN" dirty="0"/>
              <a:t>DNA</a:t>
            </a:r>
            <a:r>
              <a:rPr lang="zh-CN" altLang="en-US" dirty="0"/>
              <a:t>碱基上，从而导致</a:t>
            </a:r>
            <a:r>
              <a:rPr lang="en-US" altLang="zh-CN" dirty="0"/>
              <a:t>DNA</a:t>
            </a:r>
            <a:r>
              <a:rPr lang="zh-CN" altLang="en-US" dirty="0"/>
              <a:t>结构的破坏。例如，氮芥化合物就是</a:t>
            </a:r>
            <a:r>
              <a:rPr lang="en-US" altLang="zh-CN" dirty="0"/>
              <a:t>DNA</a:t>
            </a:r>
            <a:r>
              <a:rPr lang="zh-CN" altLang="en-US" dirty="0"/>
              <a:t>烷基化剂的例子，它们能使</a:t>
            </a:r>
            <a:r>
              <a:rPr lang="en-US" altLang="zh-CN" dirty="0"/>
              <a:t>DNA</a:t>
            </a:r>
            <a:r>
              <a:rPr lang="zh-CN" altLang="en-US" dirty="0"/>
              <a:t>碱基甲基化或乙基化。</a:t>
            </a:r>
          </a:p>
          <a:p>
            <a:r>
              <a:rPr lang="zh-CN" altLang="en-US" dirty="0"/>
              <a:t>接下来，我们来看看内源性因素。内源性因素主要是指细胞在正常代谢过程中产生的</a:t>
            </a:r>
            <a:r>
              <a:rPr lang="en-US" altLang="zh-CN" dirty="0"/>
              <a:t>DNA</a:t>
            </a:r>
            <a:r>
              <a:rPr lang="zh-CN" altLang="en-US" dirty="0"/>
              <a:t>损伤。例如，水解反应可以部分或完全将核苷酸碱基从</a:t>
            </a:r>
            <a:r>
              <a:rPr lang="en-US" altLang="zh-CN" dirty="0"/>
              <a:t>DNA</a:t>
            </a:r>
            <a:r>
              <a:rPr lang="zh-CN" altLang="en-US" dirty="0"/>
              <a:t>链上裂解，导致</a:t>
            </a:r>
            <a:r>
              <a:rPr lang="en-US" altLang="zh-CN" dirty="0"/>
              <a:t>DNA</a:t>
            </a:r>
            <a:r>
              <a:rPr lang="zh-CN" altLang="en-US" dirty="0"/>
              <a:t>双链断裂。此外，正常的代谢过程还会产生活性氧（</a:t>
            </a:r>
            <a:r>
              <a:rPr lang="en-US" altLang="zh-CN" dirty="0"/>
              <a:t>ROS</a:t>
            </a:r>
            <a:r>
              <a:rPr lang="zh-CN" altLang="en-US" dirty="0"/>
              <a:t>），这些活性氧会通过氧化修饰碱基，导致</a:t>
            </a:r>
            <a:r>
              <a:rPr lang="en-US" altLang="zh-CN" dirty="0"/>
              <a:t>DNA</a:t>
            </a:r>
            <a:r>
              <a:rPr lang="zh-CN" altLang="en-US" dirty="0"/>
              <a:t>结构的改变，进而可能引发双链断裂。</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olidFill>
                  <a:srgbClr val="000000"/>
                </a:solidFill>
                <a:effectLst/>
              </a:rPr>
              <a:t>细胞信号转导通路的异常或干扰，导致</a:t>
            </a:r>
            <a:r>
              <a:rPr lang="en-US" altLang="zh-CN" dirty="0">
                <a:solidFill>
                  <a:srgbClr val="000000"/>
                </a:solidFill>
                <a:effectLst/>
              </a:rPr>
              <a:t>DNA</a:t>
            </a:r>
            <a:r>
              <a:rPr lang="zh-CN" altLang="en-US" dirty="0">
                <a:effectLst/>
              </a:rPr>
              <a:t>复制叉停滞；</a:t>
            </a:r>
            <a:r>
              <a:rPr lang="en-US" altLang="zh-CN" dirty="0">
                <a:effectLst/>
              </a:rPr>
              <a:t>DNA </a:t>
            </a:r>
            <a:r>
              <a:rPr lang="zh-CN" altLang="en-US" dirty="0">
                <a:effectLst/>
              </a:rPr>
              <a:t>复制过程受到干扰从而产生“双链</a:t>
            </a:r>
            <a:r>
              <a:rPr lang="en-US" altLang="zh-CN" dirty="0">
                <a:effectLst/>
              </a:rPr>
              <a:t>DNA</a:t>
            </a:r>
            <a:r>
              <a:rPr lang="zh-CN" altLang="en-US" dirty="0">
                <a:effectLst/>
              </a:rPr>
              <a:t>断裂现象”。</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9</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olidFill>
                  <a:srgbClr val="000000"/>
                </a:solidFill>
                <a:effectLst/>
              </a:rPr>
              <a:t>：“双链</a:t>
            </a:r>
            <a:r>
              <a:rPr lang="en-US" altLang="zh-CN" dirty="0">
                <a:solidFill>
                  <a:srgbClr val="000000"/>
                </a:solidFill>
                <a:effectLst/>
              </a:rPr>
              <a:t>DNA</a:t>
            </a:r>
            <a:r>
              <a:rPr lang="zh-CN" altLang="en-US" dirty="0">
                <a:solidFill>
                  <a:srgbClr val="000000"/>
                </a:solidFill>
                <a:effectLst/>
              </a:rPr>
              <a:t>断裂现象”。该现象是对细胞是极其有害的；在多种细胞中，一条未经修复的</a:t>
            </a:r>
            <a:r>
              <a:rPr lang="en-US" altLang="zh-CN" dirty="0" err="1">
                <a:solidFill>
                  <a:srgbClr val="000000"/>
                </a:solidFill>
                <a:effectLst/>
              </a:rPr>
              <a:t>DSBs</a:t>
            </a:r>
            <a:r>
              <a:rPr lang="zh-CN" altLang="en-US" dirty="0">
                <a:solidFill>
                  <a:srgbClr val="000000"/>
                </a:solidFill>
                <a:effectLst/>
              </a:rPr>
              <a:t>对细胞的伤害是致命的。</a:t>
            </a:r>
            <a:r>
              <a:rPr lang="zh-CN" altLang="en-US" b="1" dirty="0">
                <a:solidFill>
                  <a:srgbClr val="AB1942"/>
                </a:solidFill>
                <a:effectLst/>
              </a:rPr>
              <a:t>针对</a:t>
            </a:r>
            <a:r>
              <a:rPr lang="en-US" altLang="zh-CN" b="1" dirty="0" err="1">
                <a:solidFill>
                  <a:srgbClr val="AB1942"/>
                </a:solidFill>
                <a:effectLst/>
              </a:rPr>
              <a:t>DSBs</a:t>
            </a:r>
            <a:r>
              <a:rPr lang="zh-CN" altLang="en-US" b="1" dirty="0">
                <a:solidFill>
                  <a:srgbClr val="AB1942"/>
                </a:solidFill>
                <a:effectLst/>
              </a:rPr>
              <a:t>结果，细胞主要启动两种“</a:t>
            </a:r>
            <a:r>
              <a:rPr lang="en-US" altLang="zh-CN" b="1" dirty="0">
                <a:solidFill>
                  <a:srgbClr val="AB1942"/>
                </a:solidFill>
                <a:effectLst/>
              </a:rPr>
              <a:t>DNA</a:t>
            </a:r>
            <a:r>
              <a:rPr lang="zh-CN" altLang="en-US" b="1" dirty="0">
                <a:solidFill>
                  <a:srgbClr val="AB1942"/>
                </a:solidFill>
                <a:effectLst/>
              </a:rPr>
              <a:t>修复”细胞信号转导通路：</a:t>
            </a:r>
            <a:r>
              <a:rPr lang="en-US" altLang="zh-CN" b="1" dirty="0" err="1">
                <a:solidFill>
                  <a:srgbClr val="AB1942"/>
                </a:solidFill>
                <a:effectLst/>
              </a:rPr>
              <a:t>HDR</a:t>
            </a:r>
            <a:r>
              <a:rPr lang="zh-CN" altLang="en-US" b="1" dirty="0">
                <a:solidFill>
                  <a:srgbClr val="AB1942"/>
                </a:solidFill>
                <a:effectLst/>
              </a:rPr>
              <a:t>与</a:t>
            </a:r>
            <a:r>
              <a:rPr lang="en-US" altLang="zh-CN" b="1" dirty="0" err="1">
                <a:solidFill>
                  <a:srgbClr val="AB1942"/>
                </a:solidFill>
                <a:effectLst/>
              </a:rPr>
              <a:t>NHEJ</a:t>
            </a:r>
            <a:r>
              <a:rPr lang="zh-CN" altLang="en-US" b="1" dirty="0">
                <a:solidFill>
                  <a:srgbClr val="AB1942"/>
                </a:solidFill>
                <a:effectLst/>
              </a:rPr>
              <a:t>。</a:t>
            </a:r>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10</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indent="0">
              <a:lnSpc>
                <a:spcPct val="150000"/>
              </a:lnSpc>
              <a:spcBef>
                <a:spcPts val="1200"/>
              </a:spcBef>
              <a:buFont typeface="Wingdings" panose="05000000000000000000" pitchFamily="2" charset="2"/>
              <a:buNone/>
            </a:pPr>
            <a:r>
              <a:rPr lang="zh-CN" altLang="en-US" dirty="0"/>
              <a:t>细胞可以通过多种修复机制来及时修复</a:t>
            </a:r>
            <a:r>
              <a:rPr lang="en-US" altLang="zh-CN" dirty="0"/>
              <a:t>DNA</a:t>
            </a:r>
            <a:r>
              <a:rPr lang="zh-CN" altLang="en-US" dirty="0"/>
              <a:t>损伤。</a:t>
            </a:r>
            <a:endParaRPr lang="en-US" altLang="zh-CN" dirty="0"/>
          </a:p>
          <a:p>
            <a:pPr marL="0" lvl="1" indent="0">
              <a:lnSpc>
                <a:spcPct val="150000"/>
              </a:lnSpc>
              <a:spcBef>
                <a:spcPts val="1200"/>
              </a:spcBef>
              <a:buFont typeface="Wingdings" panose="05000000000000000000" pitchFamily="2" charset="2"/>
              <a:buNone/>
            </a:pPr>
            <a:r>
              <a:rPr lang="en-US" altLang="zh-CN" dirty="0"/>
              <a:t>DNA</a:t>
            </a:r>
            <a:r>
              <a:rPr lang="zh-CN" altLang="en-US" dirty="0"/>
              <a:t>修复</a:t>
            </a:r>
            <a:r>
              <a:rPr lang="en-US" altLang="zh-CN" dirty="0"/>
              <a:t>(DNA repairing)</a:t>
            </a:r>
            <a:r>
              <a:rPr lang="zh-CN" altLang="en-US" dirty="0"/>
              <a:t>是细胞对</a:t>
            </a:r>
            <a:r>
              <a:rPr lang="en-US" altLang="zh-CN" dirty="0"/>
              <a:t>DNA</a:t>
            </a:r>
            <a:r>
              <a:rPr lang="zh-CN" altLang="en-US" dirty="0"/>
              <a:t>受损伤后的一种反应，这种反应可能使</a:t>
            </a:r>
            <a:r>
              <a:rPr lang="en-US" altLang="zh-CN" dirty="0"/>
              <a:t>DNA</a:t>
            </a:r>
            <a:r>
              <a:rPr lang="zh-CN" altLang="en-US" dirty="0"/>
              <a:t>结构恢复原样，重新能执行它原来的功能；但有时并非能完全消除</a:t>
            </a:r>
            <a:r>
              <a:rPr lang="en-US" altLang="zh-CN" dirty="0"/>
              <a:t>DNA</a:t>
            </a:r>
            <a:r>
              <a:rPr lang="zh-CN" altLang="en-US" dirty="0"/>
              <a:t>的损伤，只是使细胞能够耐受这种</a:t>
            </a:r>
            <a:r>
              <a:rPr lang="en-US" altLang="zh-CN" dirty="0"/>
              <a:t>DNA</a:t>
            </a:r>
            <a:r>
              <a:rPr lang="zh-CN" altLang="en-US" dirty="0"/>
              <a:t>的损伤而能继续生存。</a:t>
            </a:r>
            <a:endParaRPr lang="en-US" altLang="zh-CN" dirty="0"/>
          </a:p>
          <a:p>
            <a:pPr marL="0" lvl="1" indent="0">
              <a:lnSpc>
                <a:spcPct val="150000"/>
              </a:lnSpc>
              <a:spcBef>
                <a:spcPts val="1200"/>
              </a:spcBef>
              <a:buFont typeface="Wingdings" panose="05000000000000000000" pitchFamily="2" charset="2"/>
              <a:buNone/>
            </a:pPr>
            <a:r>
              <a:rPr lang="zh-CN" altLang="en-US" b="1" dirty="0"/>
              <a:t>切除修复</a:t>
            </a:r>
            <a:r>
              <a:rPr lang="en-US" altLang="zh-CN" b="1" dirty="0"/>
              <a:t>(excision repair)</a:t>
            </a:r>
            <a:r>
              <a:rPr lang="zh-CN" altLang="en-US" dirty="0"/>
              <a:t>是修复</a:t>
            </a:r>
            <a:r>
              <a:rPr lang="en-US" altLang="zh-CN" dirty="0"/>
              <a:t>DNA</a:t>
            </a:r>
            <a:r>
              <a:rPr lang="zh-CN" altLang="en-US" dirty="0"/>
              <a:t>损伤最为普遍的方式，对多种</a:t>
            </a:r>
            <a:r>
              <a:rPr lang="en-US" altLang="zh-CN" dirty="0"/>
              <a:t>DNA</a:t>
            </a:r>
            <a:r>
              <a:rPr lang="zh-CN" altLang="en-US" dirty="0"/>
              <a:t>损伤包括碱基脱落形成的无碱基位点、嘧啶二聚体、碱基烷基化、单链断裂等都能起修复作用。这种修复方式普遍存在于各种生物细胞中，也是人体细胞主要的</a:t>
            </a:r>
            <a:r>
              <a:rPr lang="en-US" altLang="zh-CN" dirty="0"/>
              <a:t>DNA</a:t>
            </a:r>
            <a:r>
              <a:rPr lang="zh-CN" altLang="en-US" dirty="0"/>
              <a:t>修复机制。修复过程需要多种酶的一系列作用，基本步骤如图所示，①首先由核酸酶识别</a:t>
            </a:r>
            <a:r>
              <a:rPr lang="en-US" altLang="zh-CN" dirty="0"/>
              <a:t>DNA</a:t>
            </a:r>
            <a:r>
              <a:rPr lang="zh-CN" altLang="en-US" dirty="0"/>
              <a:t>的损伤位点，在损伤部位的</a:t>
            </a:r>
            <a:r>
              <a:rPr lang="en-US" altLang="zh-CN" dirty="0"/>
              <a:t>5′</a:t>
            </a:r>
            <a:r>
              <a:rPr lang="zh-CN" altLang="en-US" dirty="0"/>
              <a:t>侧切开磷酸二酯键。不同的</a:t>
            </a:r>
            <a:r>
              <a:rPr lang="en-US" altLang="zh-CN" dirty="0"/>
              <a:t>DNA</a:t>
            </a:r>
            <a:r>
              <a:rPr lang="zh-CN" altLang="en-US" dirty="0"/>
              <a:t>损伤需要不同的特殊核酸内切酶来识别和切割。②由</a:t>
            </a:r>
            <a:r>
              <a:rPr lang="en-US" altLang="zh-CN" dirty="0"/>
              <a:t>5′→3′</a:t>
            </a:r>
            <a:r>
              <a:rPr lang="zh-CN" altLang="en-US" dirty="0"/>
              <a:t>核酸外切酶将有损伤的</a:t>
            </a:r>
            <a:r>
              <a:rPr lang="en-US" altLang="zh-CN" dirty="0"/>
              <a:t>DNA</a:t>
            </a:r>
            <a:r>
              <a:rPr lang="zh-CN" altLang="en-US" dirty="0"/>
              <a:t>片段切除。③在</a:t>
            </a:r>
            <a:r>
              <a:rPr lang="en-US" altLang="zh-CN" dirty="0"/>
              <a:t>DNA</a:t>
            </a:r>
            <a:r>
              <a:rPr lang="zh-CN" altLang="en-US" dirty="0"/>
              <a:t>聚合酶的催化下，以完整的互补链为模板，按</a:t>
            </a:r>
            <a:r>
              <a:rPr lang="en-US" altLang="zh-CN" dirty="0"/>
              <a:t>5′→3′</a:t>
            </a:r>
            <a:r>
              <a:rPr lang="zh-CN" altLang="en-US" dirty="0"/>
              <a:t>方向</a:t>
            </a:r>
            <a:r>
              <a:rPr lang="en-US" altLang="zh-CN" dirty="0"/>
              <a:t>DNA</a:t>
            </a:r>
            <a:r>
              <a:rPr lang="zh-CN" altLang="en-US" dirty="0"/>
              <a:t>链，填补已切除的空隙。④由</a:t>
            </a:r>
            <a:r>
              <a:rPr lang="en-US" altLang="zh-CN" dirty="0"/>
              <a:t>DNA</a:t>
            </a:r>
            <a:r>
              <a:rPr lang="zh-CN" altLang="en-US" dirty="0"/>
              <a:t>连接酶将新合成的</a:t>
            </a:r>
            <a:r>
              <a:rPr lang="en-US" altLang="zh-CN" dirty="0"/>
              <a:t>DNA</a:t>
            </a:r>
            <a:r>
              <a:rPr lang="zh-CN" altLang="en-US" dirty="0"/>
              <a:t>片段与原来的</a:t>
            </a:r>
            <a:r>
              <a:rPr lang="en-US" altLang="zh-CN" dirty="0"/>
              <a:t>DNA</a:t>
            </a:r>
            <a:r>
              <a:rPr lang="zh-CN" altLang="en-US" dirty="0"/>
              <a:t>断链连接起来。这样完成的修复能使</a:t>
            </a:r>
            <a:r>
              <a:rPr lang="en-US" altLang="zh-CN" dirty="0"/>
              <a:t>DNA</a:t>
            </a:r>
            <a:r>
              <a:rPr lang="zh-CN" altLang="en-US" dirty="0"/>
              <a:t>恢复原来的结构。</a:t>
            </a:r>
            <a:endParaRPr lang="en-US" altLang="zh-CN" dirty="0"/>
          </a:p>
          <a:p>
            <a:pPr marL="0" lvl="1" indent="0">
              <a:lnSpc>
                <a:spcPct val="150000"/>
              </a:lnSpc>
              <a:spcBef>
                <a:spcPts val="1200"/>
              </a:spcBef>
              <a:buFont typeface="Wingdings" panose="05000000000000000000" pitchFamily="2" charset="2"/>
              <a:buNone/>
            </a:pPr>
            <a:r>
              <a:rPr lang="zh-CN" altLang="en-US" dirty="0"/>
              <a:t>上述的切除修复在切除损伤段落后是以原来正确的互补链为模板来合成新的段落而做到修复的。但在某些情况下没有互补链可以直接利用，例如在</a:t>
            </a:r>
            <a:r>
              <a:rPr lang="en-US" altLang="zh-CN" dirty="0"/>
              <a:t>DNA</a:t>
            </a:r>
            <a:r>
              <a:rPr lang="zh-CN" altLang="en-US" dirty="0"/>
              <a:t>复制进行时发生</a:t>
            </a:r>
            <a:r>
              <a:rPr lang="en-US" altLang="zh-CN" dirty="0"/>
              <a:t>DNA</a:t>
            </a:r>
            <a:r>
              <a:rPr lang="zh-CN" altLang="en-US" dirty="0"/>
              <a:t>损伤，此时</a:t>
            </a:r>
            <a:r>
              <a:rPr lang="en-US" altLang="zh-CN" dirty="0"/>
              <a:t>DNA</a:t>
            </a:r>
            <a:r>
              <a:rPr lang="zh-CN" altLang="en-US" dirty="0"/>
              <a:t>两条链已经分开，其修复可用图</a:t>
            </a:r>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B8B7A263-E924-4581-B58B-5F45429A0ECA}" type="slidenum">
              <a:rPr lang="zh-CN" altLang="en-US" smtClean="0"/>
              <a:t>11</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首先，当</a:t>
            </a:r>
            <a:r>
              <a:rPr lang="en-US" altLang="zh-CN" dirty="0"/>
              <a:t>DNA</a:t>
            </a:r>
            <a:r>
              <a:rPr lang="zh-CN" altLang="en-US" dirty="0"/>
              <a:t>发生双链断裂时，断裂的两端会暴露出来，形成所谓的“末端”。这些末端可能并不完全匹配，因为它们可能经过了某种程度的降解或修饰。值得注意的是，</a:t>
            </a:r>
            <a:r>
              <a:rPr lang="en-US" altLang="zh-CN" dirty="0" err="1"/>
              <a:t>NHEJ</a:t>
            </a:r>
            <a:r>
              <a:rPr lang="zh-CN" altLang="en-US" dirty="0"/>
              <a:t>是一种相对快速且高效的</a:t>
            </a:r>
            <a:r>
              <a:rPr lang="en-US" altLang="zh-CN" dirty="0"/>
              <a:t>DNA</a:t>
            </a:r>
            <a:r>
              <a:rPr lang="zh-CN" altLang="en-US" dirty="0"/>
              <a:t>修复机制，但它并不依赖于</a:t>
            </a:r>
            <a:r>
              <a:rPr lang="en-US" altLang="zh-CN" dirty="0"/>
              <a:t>DNA</a:t>
            </a:r>
            <a:r>
              <a:rPr lang="zh-CN" altLang="en-US" dirty="0"/>
              <a:t>序列的同源性。这意味着，即使两个断裂的</a:t>
            </a:r>
            <a:r>
              <a:rPr lang="en-US" altLang="zh-CN" dirty="0"/>
              <a:t>DNA</a:t>
            </a:r>
            <a:r>
              <a:rPr lang="zh-CN" altLang="en-US" dirty="0"/>
              <a:t>末端并不完全匹配，</a:t>
            </a:r>
            <a:r>
              <a:rPr lang="en-US" altLang="zh-CN" dirty="0" err="1"/>
              <a:t>NHEJ</a:t>
            </a:r>
            <a:r>
              <a:rPr lang="zh-CN" altLang="en-US" dirty="0"/>
              <a:t>也能够将它们连接起来。然而，这种修复方式有时可能会导致一些小的插入或缺失，甚至可能引入错误的碱基对，从而增加基因组的不稳定性。总的来说，非同源末端连接（</a:t>
            </a:r>
            <a:r>
              <a:rPr lang="en-US" altLang="zh-CN" dirty="0" err="1"/>
              <a:t>NHEJ</a:t>
            </a:r>
            <a:r>
              <a:rPr lang="zh-CN" altLang="en-US" dirty="0"/>
              <a:t>）是一种重要的</a:t>
            </a:r>
            <a:r>
              <a:rPr lang="en-US" altLang="zh-CN" dirty="0"/>
              <a:t>DNA</a:t>
            </a:r>
            <a:r>
              <a:rPr lang="zh-CN" altLang="en-US" dirty="0"/>
              <a:t>双链断裂修复机制，它通过一系列复杂的蛋白质和酶的作用，将断裂的</a:t>
            </a:r>
            <a:r>
              <a:rPr lang="en-US" altLang="zh-CN" dirty="0"/>
              <a:t>DNA</a:t>
            </a:r>
            <a:r>
              <a:rPr lang="zh-CN" altLang="en-US" dirty="0"/>
              <a:t>末端连接起来，从而维护基因组的完整性和稳定性。</a:t>
            </a:r>
          </a:p>
          <a:p>
            <a:r>
              <a:rPr lang="en-US" altLang="zh-CN" dirty="0" err="1">
                <a:solidFill>
                  <a:srgbClr val="000000"/>
                </a:solidFill>
                <a:effectLst/>
              </a:rPr>
              <a:t>NHEJ</a:t>
            </a:r>
            <a:r>
              <a:rPr lang="zh-CN" altLang="en-US" dirty="0">
                <a:solidFill>
                  <a:srgbClr val="000000"/>
                </a:solidFill>
                <a:effectLst/>
              </a:rPr>
              <a:t>经典通路的</a:t>
            </a:r>
            <a:r>
              <a:rPr lang="en-US" altLang="zh-CN" dirty="0" err="1">
                <a:solidFill>
                  <a:srgbClr val="000000"/>
                </a:solidFill>
                <a:effectLst/>
              </a:rPr>
              <a:t>DSB</a:t>
            </a:r>
            <a:r>
              <a:rPr lang="zh-CN" altLang="en-US" dirty="0">
                <a:solidFill>
                  <a:srgbClr val="000000"/>
                </a:solidFill>
                <a:effectLst/>
              </a:rPr>
              <a:t>修复，断端会经过核酸酶的修剪和</a:t>
            </a:r>
            <a:r>
              <a:rPr lang="en-US" altLang="zh-CN" dirty="0">
                <a:solidFill>
                  <a:srgbClr val="000000"/>
                </a:solidFill>
                <a:effectLst/>
              </a:rPr>
              <a:t>DNA</a:t>
            </a:r>
            <a:r>
              <a:rPr lang="zh-CN" altLang="en-US" dirty="0">
                <a:solidFill>
                  <a:srgbClr val="000000"/>
                </a:solidFill>
                <a:effectLst/>
              </a:rPr>
              <a:t>聚合酶的填平空隙，所以</a:t>
            </a:r>
            <a:r>
              <a:rPr lang="en-US" altLang="zh-CN" dirty="0" err="1">
                <a:solidFill>
                  <a:srgbClr val="000000"/>
                </a:solidFill>
                <a:effectLst/>
              </a:rPr>
              <a:t>DSB</a:t>
            </a:r>
            <a:r>
              <a:rPr lang="zh-CN" altLang="en-US" dirty="0">
                <a:solidFill>
                  <a:srgbClr val="000000"/>
                </a:solidFill>
                <a:effectLst/>
              </a:rPr>
              <a:t>修复的</a:t>
            </a:r>
            <a:r>
              <a:rPr lang="en-US" altLang="zh-CN" dirty="0">
                <a:solidFill>
                  <a:srgbClr val="000000"/>
                </a:solidFill>
                <a:effectLst/>
              </a:rPr>
              <a:t>DNA</a:t>
            </a:r>
            <a:r>
              <a:rPr lang="zh-CN" altLang="en-US" dirty="0">
                <a:solidFill>
                  <a:srgbClr val="000000"/>
                </a:solidFill>
                <a:effectLst/>
              </a:rPr>
              <a:t>会有“伤痕”，可能是修复合成时新加入几个核苷酸或切除一些核苷酸；因此，在损伤末端重连处，一般会有几个核苷酸或几对碱基对的“伤痕”</a:t>
            </a:r>
            <a:endParaRPr lang="zh-CN" altLang="en-US" dirty="0"/>
          </a:p>
          <a:p>
            <a:pPr indent="0">
              <a:buFont typeface="Arial" panose="020B0604020202020204" pitchFamily="34" charset="0"/>
              <a:buNone/>
            </a:pPr>
            <a:r>
              <a:rPr lang="zh-CN" altLang="en-US" dirty="0">
                <a:solidFill>
                  <a:srgbClr val="000000"/>
                </a:solidFill>
                <a:effectLst/>
              </a:rPr>
              <a:t>“伤痕”如果是在基因组的编码蛋白基因部分，会产生基因的蛋白序列异常，从而翻译后的蛋白其功能也相对应产生异常。</a:t>
            </a:r>
            <a:endParaRPr lang="zh-CN" altLang="en-US" dirty="0">
              <a:effectLst/>
            </a:endParaRPr>
          </a:p>
          <a:p>
            <a:pPr indent="0">
              <a:buFont typeface="Arial" panose="020B0604020202020204" pitchFamily="34" charset="0"/>
              <a:buNone/>
            </a:pPr>
            <a:r>
              <a:rPr lang="zh-CN" altLang="en-US" dirty="0">
                <a:solidFill>
                  <a:srgbClr val="000000"/>
                </a:solidFill>
                <a:effectLst/>
              </a:rPr>
              <a:t>“伤痕”如果是在基因组的非编码区的话，这对细胞没有大的影响。（基因组非编码区比编码区空间范围大很多</a:t>
            </a:r>
            <a:endParaRPr lang="zh-CN" altLang="en-US" dirty="0">
              <a:effectLst/>
            </a:endParaRPr>
          </a:p>
          <a:p>
            <a:pPr marL="0" indent="0">
              <a:spcBef>
                <a:spcPct val="0"/>
              </a:spcBef>
              <a:spcAft>
                <a:spcPts val="1000"/>
              </a:spcAft>
            </a:pPr>
            <a:r>
              <a:rPr lang="zh-CN" altLang="en-US" dirty="0">
                <a:sym typeface="+mn-ea"/>
              </a:rPr>
              <a:t>它就是通过DNA连接酶将DSBs末端直接链接的一种修复过程，不依赖于同源DNA序列。Ku蛋白（Ku70/Ku80）复合物识别结合到DSBs末端，Ku-DNA复合物招募DNA依赖蛋白激酶催化亚基（DNA-PKcs）激活其激酶活性，将自身磷酸化启动NHEJ通路，吸引重组酶Artemis加入处理DNA末端，然后召集XRCC4- DNAligase4 –XLF复合物促使DNA末端进行连接。</a:t>
            </a:r>
            <a:endParaRPr lang="zh-CN" altLang="en-US" dirty="0"/>
          </a:p>
          <a:p>
            <a:pPr marL="0" indent="0">
              <a:spcBef>
                <a:spcPct val="0"/>
              </a:spcBef>
              <a:spcAft>
                <a:spcPts val="1000"/>
              </a:spcAft>
            </a:pPr>
            <a:r>
              <a:rPr lang="zh-CN" altLang="en-US" dirty="0">
                <a:sym typeface="+mn-ea"/>
              </a:rPr>
              <a:t>NHEJ这种暴脾气虽然迅速高效，但是会有一系列副作用，就是可能造成一些序列缺失，同时也会造成一些片段的插入，即所谓不够精确。</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12</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indent="0">
              <a:spcBef>
                <a:spcPct val="0"/>
              </a:spcBef>
              <a:spcAft>
                <a:spcPts val="1000"/>
              </a:spcAft>
            </a:pPr>
            <a:r>
              <a:rPr lang="zh-CN" altLang="en-US" b="1" dirty="0">
                <a:latin typeface="Calibri" panose="020F0502020204030204" pitchFamily="34" charset="0"/>
                <a:ea typeface="微软雅黑" panose="020B0503020204020204" pitchFamily="34" charset="-122"/>
                <a:cs typeface="Calibri" panose="020F0502020204030204" pitchFamily="34" charset="0"/>
                <a:sym typeface="+mn-ea"/>
              </a:rPr>
              <a:t>第一步：</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某些</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DNA</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复制蛋白复合体会对整个基因组进行“巡查”，找“双链</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DNA</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断裂现象”的</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DNA</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断裂情况。其中一种蛋白是</a:t>
            </a:r>
            <a:r>
              <a:rPr lang="en-US" altLang="zh-CN" dirty="0" err="1">
                <a:latin typeface="Calibri" panose="020F0502020204030204" pitchFamily="34" charset="0"/>
                <a:ea typeface="微软雅黑" panose="020B0503020204020204" pitchFamily="34" charset="-122"/>
                <a:cs typeface="Calibri" panose="020F0502020204030204" pitchFamily="34" charset="0"/>
                <a:sym typeface="+mn-ea"/>
              </a:rPr>
              <a:t>ku70</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/80</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，具有</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Loop</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环状结构的异源二聚体。</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DNA</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末端结合蛋白，能环绕在双链</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DNA</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断裂处，启动后续的级联信号反应。</a:t>
            </a:r>
            <a:endParaRPr lang="zh-CN" altLang="en-US" b="0" i="0" dirty="0">
              <a:solidFill>
                <a:schemeClr val="tx1"/>
              </a:solidFill>
              <a:latin typeface="Calibri" panose="020F0502020204030204" pitchFamily="34" charset="0"/>
              <a:ea typeface="微软雅黑" panose="020B0503020204020204" pitchFamily="34" charset="-122"/>
              <a:cs typeface="Calibri" panose="020F0502020204030204" pitchFamily="34" charset="0"/>
            </a:endParaRPr>
          </a:p>
          <a:p>
            <a:pPr marL="0" indent="0">
              <a:spcBef>
                <a:spcPct val="0"/>
              </a:spcBef>
              <a:spcAft>
                <a:spcPts val="1000"/>
              </a:spcAft>
            </a:pPr>
            <a:r>
              <a:rPr lang="zh-CN" altLang="en-US" b="1" dirty="0">
                <a:latin typeface="Calibri" panose="020F0502020204030204" pitchFamily="34" charset="0"/>
                <a:ea typeface="微软雅黑" panose="020B0503020204020204" pitchFamily="34" charset="-122"/>
                <a:cs typeface="Calibri" panose="020F0502020204030204" pitchFamily="34" charset="0"/>
                <a:sym typeface="+mn-ea"/>
              </a:rPr>
              <a:t>第二步：“</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招募</a:t>
            </a:r>
            <a:r>
              <a:rPr lang="zh-CN" altLang="en-US" b="1" dirty="0">
                <a:latin typeface="Calibri" panose="020F0502020204030204" pitchFamily="34" charset="0"/>
                <a:ea typeface="微软雅黑" panose="020B0503020204020204" pitchFamily="34" charset="-122"/>
                <a:cs typeface="Calibri" panose="020F0502020204030204" pitchFamily="34" charset="0"/>
                <a:sym typeface="+mn-ea"/>
              </a:rPr>
              <a:t>”</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作用于“</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DNA</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修复机制”的下游蛋白，其中一种非常重要的蛋白是</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DNA</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依赖蛋白激酶（</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DNA-PK</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Protein </a:t>
            </a:r>
            <a:r>
              <a:rPr lang="en-US" altLang="zh-CN" dirty="0" err="1">
                <a:latin typeface="Calibri" panose="020F0502020204030204" pitchFamily="34" charset="0"/>
                <a:ea typeface="微软雅黑" panose="020B0503020204020204" pitchFamily="34" charset="-122"/>
                <a:cs typeface="Calibri" panose="020F0502020204030204" pitchFamily="34" charset="0"/>
                <a:sym typeface="+mn-ea"/>
              </a:rPr>
              <a:t>Kanise</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a:t>
            </a:r>
            <a:r>
              <a:rPr lang="en-US" altLang="zh-CN" dirty="0" err="1">
                <a:latin typeface="Calibri" panose="020F0502020204030204" pitchFamily="34" charset="0"/>
                <a:ea typeface="微软雅黑" panose="020B0503020204020204" pitchFamily="34" charset="-122"/>
                <a:cs typeface="Calibri" panose="020F0502020204030204" pitchFamily="34" charset="0"/>
                <a:sym typeface="+mn-ea"/>
              </a:rPr>
              <a:t>ku</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和</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DNA-PK</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共同将断裂的两端拉近靠拢。</a:t>
            </a:r>
            <a:endParaRPr lang="zh-CN" altLang="en-US" b="0" i="0" dirty="0">
              <a:solidFill>
                <a:schemeClr val="tx1"/>
              </a:solidFill>
              <a:latin typeface="Calibri" panose="020F0502020204030204" pitchFamily="34" charset="0"/>
              <a:ea typeface="微软雅黑" panose="020B0503020204020204" pitchFamily="34" charset="-122"/>
              <a:cs typeface="Calibri" panose="020F0502020204030204" pitchFamily="34" charset="0"/>
            </a:endParaRPr>
          </a:p>
          <a:p>
            <a:pPr marL="0" indent="0">
              <a:spcBef>
                <a:spcPct val="0"/>
              </a:spcBef>
              <a:spcAft>
                <a:spcPts val="1000"/>
              </a:spcAft>
            </a:pPr>
            <a:r>
              <a:rPr lang="zh-CN" altLang="en-US" b="1" dirty="0">
                <a:latin typeface="Calibri" panose="020F0502020204030204" pitchFamily="34" charset="0"/>
                <a:ea typeface="微软雅黑" panose="020B0503020204020204" pitchFamily="34" charset="-122"/>
                <a:cs typeface="Calibri" panose="020F0502020204030204" pitchFamily="34" charset="0"/>
                <a:sym typeface="+mn-ea"/>
              </a:rPr>
              <a:t>第三步：</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DNA-PKs</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随后召集另外一种蛋白</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Artemis</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Artemis</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同时具有</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DNA</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内切酶和外切酶活性，能处理损伤的末端。</a:t>
            </a:r>
            <a:endParaRPr lang="zh-CN" altLang="en-US" b="0" i="0" dirty="0">
              <a:solidFill>
                <a:schemeClr val="tx1"/>
              </a:solidFill>
              <a:latin typeface="Calibri" panose="020F0502020204030204" pitchFamily="34" charset="0"/>
              <a:ea typeface="微软雅黑" panose="020B0503020204020204" pitchFamily="34" charset="-122"/>
              <a:cs typeface="Calibri" panose="020F0502020204030204" pitchFamily="34" charset="0"/>
            </a:endParaRPr>
          </a:p>
          <a:p>
            <a:pPr marL="0" indent="0">
              <a:spcBef>
                <a:spcPct val="0"/>
              </a:spcBef>
              <a:spcAft>
                <a:spcPts val="1000"/>
              </a:spcAft>
            </a:pPr>
            <a:r>
              <a:rPr lang="zh-CN" altLang="en-US" b="1" dirty="0">
                <a:latin typeface="Calibri" panose="020F0502020204030204" pitchFamily="34" charset="0"/>
                <a:ea typeface="微软雅黑" panose="020B0503020204020204" pitchFamily="34" charset="-122"/>
                <a:cs typeface="Calibri" panose="020F0502020204030204" pitchFamily="34" charset="0"/>
                <a:sym typeface="+mn-ea"/>
              </a:rPr>
              <a:t>附：</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DNA</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聚合酶是从</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5’</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端往</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3‘-OH</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端延伸，而且需要</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3‘-OH</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末端的引物作为引导进行修复合成；所有的连接酶具连接特定断端，即其中一端必须含有</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5‘</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磷酸</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a:t>
            </a:r>
            <a:r>
              <a:rPr lang="en-US" altLang="zh-CN" dirty="0" err="1">
                <a:latin typeface="Calibri" panose="020F0502020204030204" pitchFamily="34" charset="0"/>
                <a:ea typeface="微软雅黑" panose="020B0503020204020204" pitchFamily="34" charset="-122"/>
                <a:cs typeface="Calibri" panose="020F0502020204030204" pitchFamily="34" charset="0"/>
                <a:sym typeface="+mn-ea"/>
              </a:rPr>
              <a:t>PO4</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，另一端必须有</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3‘-OH</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；辐射的损伤有可能破坏这些结构，细胞内需要一些酶修剪损伤的断端，使其可以被识别和被连接，这就是</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Artemis</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具有修剪</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DNA</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末端能力的意义。</a:t>
            </a:r>
            <a:endParaRPr lang="zh-CN" altLang="en-US" b="0" i="0" dirty="0">
              <a:solidFill>
                <a:schemeClr val="tx1"/>
              </a:solidFill>
              <a:latin typeface="Calibri" panose="020F0502020204030204" pitchFamily="34" charset="0"/>
              <a:ea typeface="微软雅黑" panose="020B0503020204020204" pitchFamily="34" charset="-122"/>
              <a:cs typeface="Calibri" panose="020F0502020204030204" pitchFamily="34" charset="0"/>
            </a:endParaRPr>
          </a:p>
          <a:p>
            <a:pPr marL="0" indent="0">
              <a:spcBef>
                <a:spcPct val="0"/>
              </a:spcBef>
              <a:spcAft>
                <a:spcPts val="1000"/>
              </a:spcAft>
            </a:pPr>
            <a:r>
              <a:rPr lang="zh-CN" altLang="en-US" b="1" dirty="0">
                <a:latin typeface="Calibri" panose="020F0502020204030204" pitchFamily="34" charset="0"/>
                <a:ea typeface="微软雅黑" panose="020B0503020204020204" pitchFamily="34" charset="-122"/>
                <a:cs typeface="Calibri" panose="020F0502020204030204" pitchFamily="34" charset="0"/>
                <a:sym typeface="+mn-ea"/>
              </a:rPr>
              <a:t>第四步：</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DNA</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连接酶识别断端，进行</a:t>
            </a:r>
            <a:r>
              <a:rPr lang="en-US" altLang="zh-CN" dirty="0">
                <a:latin typeface="Calibri" panose="020F0502020204030204" pitchFamily="34" charset="0"/>
                <a:ea typeface="微软雅黑" panose="020B0503020204020204" pitchFamily="34" charset="-122"/>
                <a:cs typeface="Calibri" panose="020F0502020204030204" pitchFamily="34" charset="0"/>
                <a:sym typeface="+mn-ea"/>
              </a:rPr>
              <a:t>DNA</a:t>
            </a:r>
            <a:r>
              <a:rPr lang="zh-CN" altLang="en-US" dirty="0">
                <a:latin typeface="Calibri" panose="020F0502020204030204" pitchFamily="34" charset="0"/>
                <a:ea typeface="微软雅黑" panose="020B0503020204020204" pitchFamily="34" charset="-122"/>
                <a:cs typeface="Calibri" panose="020F0502020204030204" pitchFamily="34" charset="0"/>
                <a:sym typeface="+mn-ea"/>
              </a:rPr>
              <a:t>末端共价键连接修复。</a:t>
            </a:r>
            <a:endParaRPr lang="en-US" altLang="zh-CN" dirty="0">
              <a:latin typeface="Calibri" panose="020F0502020204030204" pitchFamily="34" charset="0"/>
              <a:ea typeface="微软雅黑" panose="020B0503020204020204" pitchFamily="34" charset="-122"/>
              <a:cs typeface="Calibri" panose="020F0502020204030204" pitchFamily="34" charset="0"/>
              <a:sym typeface="+mn-ea"/>
            </a:endParaRPr>
          </a:p>
          <a:p>
            <a:pPr marL="0" indent="0">
              <a:spcBef>
                <a:spcPct val="0"/>
              </a:spcBef>
              <a:spcAft>
                <a:spcPts val="1000"/>
              </a:spcAft>
            </a:pPr>
            <a:endParaRPr lang="en-US" altLang="zh-CN" dirty="0">
              <a:latin typeface="Calibri" panose="020F0502020204030204" pitchFamily="34" charset="0"/>
              <a:ea typeface="微软雅黑" panose="020B0503020204020204" pitchFamily="34" charset="-122"/>
              <a:cs typeface="Calibri" panose="020F0502020204030204" pitchFamily="34" charset="0"/>
              <a:sym typeface="+mn-ea"/>
            </a:endParaRPr>
          </a:p>
          <a:p>
            <a:r>
              <a:rPr lang="zh-CN" altLang="en-US" dirty="0"/>
              <a:t>然后，</a:t>
            </a:r>
            <a:r>
              <a:rPr lang="en-US" altLang="zh-CN" dirty="0" err="1"/>
              <a:t>NHEJ</a:t>
            </a:r>
            <a:r>
              <a:rPr lang="zh-CN" altLang="en-US" dirty="0"/>
              <a:t>的核心蛋白复合体会迅速识别并结合到这些断裂的</a:t>
            </a:r>
            <a:r>
              <a:rPr lang="en-US" altLang="zh-CN" dirty="0"/>
              <a:t>DNA</a:t>
            </a:r>
            <a:r>
              <a:rPr lang="zh-CN" altLang="en-US" dirty="0"/>
              <a:t>末端上。这些核心蛋白包括</a:t>
            </a:r>
            <a:r>
              <a:rPr lang="en-US" altLang="zh-CN" dirty="0" err="1"/>
              <a:t>Ku70</a:t>
            </a:r>
            <a:r>
              <a:rPr lang="en-US" altLang="zh-CN" dirty="0"/>
              <a:t>/80</a:t>
            </a:r>
            <a:r>
              <a:rPr lang="zh-CN" altLang="en-US" dirty="0"/>
              <a:t>异二聚体、</a:t>
            </a:r>
            <a:r>
              <a:rPr lang="en-US" altLang="zh-CN" dirty="0"/>
              <a:t>DNA-</a:t>
            </a:r>
            <a:r>
              <a:rPr lang="en-US" altLang="zh-CN" dirty="0" err="1"/>
              <a:t>PKCS</a:t>
            </a:r>
            <a:r>
              <a:rPr lang="zh-CN" altLang="en-US" dirty="0"/>
              <a:t>（依赖</a:t>
            </a:r>
            <a:r>
              <a:rPr lang="en-US" altLang="zh-CN" dirty="0"/>
              <a:t>DNA</a:t>
            </a:r>
            <a:r>
              <a:rPr lang="zh-CN" altLang="en-US" dirty="0"/>
              <a:t>的蛋白激酶催化亚基）和</a:t>
            </a:r>
            <a:r>
              <a:rPr lang="en-US" altLang="zh-CN" dirty="0" err="1"/>
              <a:t>XRCC4</a:t>
            </a:r>
            <a:r>
              <a:rPr lang="en-US" altLang="zh-CN" dirty="0"/>
              <a:t>-Ligase IV</a:t>
            </a:r>
            <a:r>
              <a:rPr lang="zh-CN" altLang="en-US" dirty="0"/>
              <a:t>复合体等。它们通过一系列的相互作用，将断裂的</a:t>
            </a:r>
            <a:r>
              <a:rPr lang="en-US" altLang="zh-CN" dirty="0"/>
              <a:t>DNA</a:t>
            </a:r>
            <a:r>
              <a:rPr lang="zh-CN" altLang="en-US" dirty="0"/>
              <a:t>末端稳定下来，为后续的连接做准备。</a:t>
            </a:r>
          </a:p>
          <a:p>
            <a:r>
              <a:rPr lang="zh-CN" altLang="en-US" dirty="0"/>
              <a:t>接下来，</a:t>
            </a:r>
            <a:r>
              <a:rPr lang="en-US" altLang="zh-CN" dirty="0"/>
              <a:t>DNA-</a:t>
            </a:r>
            <a:r>
              <a:rPr lang="en-US" altLang="zh-CN" dirty="0" err="1"/>
              <a:t>PKCS</a:t>
            </a:r>
            <a:r>
              <a:rPr lang="zh-CN" altLang="en-US" dirty="0"/>
              <a:t>会在断裂的</a:t>
            </a:r>
            <a:r>
              <a:rPr lang="en-US" altLang="zh-CN" dirty="0"/>
              <a:t>DNA</a:t>
            </a:r>
            <a:r>
              <a:rPr lang="zh-CN" altLang="en-US" dirty="0"/>
              <a:t>末端之间形成一个“桥梁”，这个桥梁有助于拉近两个末端，使它们更接近，从而更容易进行连接。同时，</a:t>
            </a:r>
            <a:r>
              <a:rPr lang="en-US" altLang="zh-CN" dirty="0" err="1"/>
              <a:t>XRCC4</a:t>
            </a:r>
            <a:r>
              <a:rPr lang="en-US" altLang="zh-CN" dirty="0"/>
              <a:t>-Ligase IV</a:t>
            </a:r>
            <a:r>
              <a:rPr lang="zh-CN" altLang="en-US" dirty="0"/>
              <a:t>复合体会被招募到断裂处，开始催化</a:t>
            </a:r>
            <a:r>
              <a:rPr lang="en-US" altLang="zh-CN" dirty="0"/>
              <a:t>DNA</a:t>
            </a:r>
            <a:r>
              <a:rPr lang="zh-CN" altLang="en-US" dirty="0"/>
              <a:t>末端的连接反应。在这个过程中，</a:t>
            </a:r>
            <a:r>
              <a:rPr lang="en-US" altLang="zh-CN" dirty="0"/>
              <a:t>Ligase IV</a:t>
            </a:r>
            <a:r>
              <a:rPr lang="zh-CN" altLang="en-US" dirty="0"/>
              <a:t>会利用</a:t>
            </a:r>
            <a:r>
              <a:rPr lang="en-US" altLang="zh-CN" dirty="0"/>
              <a:t>ATP</a:t>
            </a:r>
            <a:r>
              <a:rPr lang="zh-CN" altLang="en-US" dirty="0"/>
              <a:t>的能量，将两个</a:t>
            </a:r>
            <a:r>
              <a:rPr lang="en-US" altLang="zh-CN" dirty="0"/>
              <a:t>DNA</a:t>
            </a:r>
            <a:r>
              <a:rPr lang="zh-CN" altLang="en-US" dirty="0"/>
              <a:t>末端连接起来，形成一个磷酸二酯键，从而完成</a:t>
            </a:r>
            <a:r>
              <a:rPr lang="en-US" altLang="zh-CN" dirty="0"/>
              <a:t>DNA</a:t>
            </a:r>
            <a:r>
              <a:rPr lang="zh-CN" altLang="en-US" dirty="0"/>
              <a:t>的修复。</a:t>
            </a:r>
          </a:p>
          <a:p>
            <a:pPr marL="0" indent="0">
              <a:spcBef>
                <a:spcPct val="0"/>
              </a:spcBef>
              <a:spcAft>
                <a:spcPts val="1000"/>
              </a:spcAft>
            </a:pPr>
            <a:endParaRPr lang="zh-CN" altLang="en-US" dirty="0">
              <a:latin typeface="Calibri" panose="020F0502020204030204" pitchFamily="34" charset="0"/>
              <a:ea typeface="微软雅黑" panose="020B0503020204020204" pitchFamily="34" charset="-122"/>
              <a:cs typeface="Calibri" panose="020F0502020204030204" pitchFamily="34" charset="0"/>
              <a:sym typeface="+mn-ea"/>
            </a:endParaRPr>
          </a:p>
          <a:p>
            <a:pPr marL="0" indent="0">
              <a:spcBef>
                <a:spcPct val="0"/>
              </a:spcBef>
              <a:spcAft>
                <a:spcPts val="1000"/>
              </a:spcAft>
            </a:pPr>
            <a:endParaRPr lang="zh-CN" altLang="en-US" dirty="0"/>
          </a:p>
          <a:p>
            <a:pPr marL="0" indent="0">
              <a:spcBef>
                <a:spcPct val="0"/>
              </a:spcBef>
              <a:spcAft>
                <a:spcPts val="1000"/>
              </a:spcAft>
            </a:pP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olidFill>
                  <a:srgbClr val="000000"/>
                </a:solidFill>
                <a:effectLst/>
                <a:latin typeface="宋体" panose="02010600030101010101" pitchFamily="2" charset="-122"/>
                <a:ea typeface="宋体" panose="02010600030101010101" pitchFamily="2" charset="-122"/>
                <a:sym typeface="+mn-ea"/>
              </a:rPr>
              <a:t>同源重组是指发生在减数分裂或者有丝分裂过程中相同或者相似</a:t>
            </a:r>
            <a:r>
              <a:rPr lang="en-US" altLang="zh-CN" dirty="0">
                <a:solidFill>
                  <a:srgbClr val="000000"/>
                </a:solidFill>
                <a:effectLst/>
                <a:latin typeface="TimesNewRomanPSMT"/>
                <a:sym typeface="+mn-ea"/>
              </a:rPr>
              <a:t>DNA</a:t>
            </a:r>
            <a:r>
              <a:rPr lang="zh-CN" altLang="en-US" dirty="0">
                <a:solidFill>
                  <a:srgbClr val="000000"/>
                </a:solidFill>
                <a:effectLst/>
                <a:latin typeface="宋体" panose="02010600030101010101" pitchFamily="2" charset="-122"/>
                <a:ea typeface="宋体" panose="02010600030101010101" pitchFamily="2" charset="-122"/>
                <a:sym typeface="+mn-ea"/>
              </a:rPr>
              <a:t>序列间的重组。它通常通过一对同源分子非姊妹染色体间的断裂而产生新的重组片段。</a:t>
            </a:r>
            <a:r>
              <a:rPr lang="zh-CN" altLang="en-US" dirty="0">
                <a:solidFill>
                  <a:srgbClr val="000000"/>
                </a:solidFill>
                <a:latin typeface="Oxygen"/>
                <a:ea typeface="Oxygen"/>
                <a:sym typeface="+mn-ea"/>
              </a:rPr>
              <a:t>是在两个相似或相同的</a:t>
            </a:r>
            <a:r>
              <a:rPr lang="en-US" altLang="zh-CN" dirty="0">
                <a:solidFill>
                  <a:srgbClr val="000000"/>
                </a:solidFill>
                <a:latin typeface="Oxygen"/>
                <a:ea typeface="Oxygen"/>
                <a:sym typeface="+mn-ea"/>
              </a:rPr>
              <a:t>DNA</a:t>
            </a:r>
            <a:r>
              <a:rPr lang="zh-CN" altLang="en-US" dirty="0">
                <a:solidFill>
                  <a:srgbClr val="000000"/>
                </a:solidFill>
                <a:latin typeface="Oxygen"/>
                <a:ea typeface="Oxygen"/>
                <a:sym typeface="+mn-ea"/>
              </a:rPr>
              <a:t>分子核苷酸序列之间交换的一种遗传重组，并且在断端不会出现核苷酸缺失或增加，能精确地修复</a:t>
            </a:r>
            <a:r>
              <a:rPr lang="en-US" altLang="zh-CN" dirty="0">
                <a:solidFill>
                  <a:srgbClr val="000000"/>
                </a:solidFill>
                <a:latin typeface="Oxygen"/>
                <a:ea typeface="Oxygen"/>
                <a:sym typeface="+mn-ea"/>
              </a:rPr>
              <a:t>DNA</a:t>
            </a:r>
            <a:r>
              <a:rPr lang="zh-CN" altLang="en-US" dirty="0">
                <a:solidFill>
                  <a:srgbClr val="000000"/>
                </a:solidFill>
                <a:latin typeface="Oxygen"/>
                <a:ea typeface="Oxygen"/>
                <a:sym typeface="+mn-ea"/>
              </a:rPr>
              <a:t>双链的断裂。</a:t>
            </a:r>
            <a:r>
              <a:rPr lang="zh-CN" altLang="en-US" dirty="0">
                <a:solidFill>
                  <a:srgbClr val="7C7C7C"/>
                </a:solidFill>
                <a:latin typeface="Oxygen"/>
                <a:ea typeface="Oxygen"/>
                <a:sym typeface="+mn-ea"/>
              </a:rPr>
              <a:t>是通过同源重组的方法修复</a:t>
            </a:r>
            <a:r>
              <a:rPr lang="en-US" altLang="zh-CN" dirty="0">
                <a:solidFill>
                  <a:srgbClr val="7C7C7C"/>
                </a:solidFill>
                <a:latin typeface="Oxygen"/>
                <a:ea typeface="Oxygen"/>
                <a:sym typeface="+mn-ea"/>
              </a:rPr>
              <a:t>DNA</a:t>
            </a:r>
            <a:r>
              <a:rPr lang="zh-CN" altLang="en-US" dirty="0">
                <a:solidFill>
                  <a:srgbClr val="7C7C7C"/>
                </a:solidFill>
                <a:latin typeface="Oxygen"/>
                <a:ea typeface="Oxygen"/>
                <a:sym typeface="+mn-ea"/>
              </a:rPr>
              <a:t>双链损伤的一种重要机制</a:t>
            </a:r>
            <a:r>
              <a:rPr lang="en-US" altLang="zh-CN" dirty="0">
                <a:solidFill>
                  <a:srgbClr val="7C7C7C"/>
                </a:solidFill>
                <a:latin typeface="Oxygen"/>
                <a:ea typeface="Oxygen"/>
                <a:sym typeface="+mn-ea"/>
              </a:rPr>
              <a:t>.</a:t>
            </a:r>
            <a:r>
              <a:rPr lang="zh-CN" altLang="en-US" dirty="0"/>
              <a:t>HR需要以未受伤的姐妹染色单体的同源序列作为其修复的模板。</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重组修复的同源模板：需要有</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&gt;100bp</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的序列一致区段</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允许邻近的同源序列微小差异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更远端的序列则可以完全不同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理想的同源修复模板时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复制产生的姐妹染色单体</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模板决定同源重组修复的结果</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14</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pPr marL="285750" indent="-285750" fontAlgn="auto">
              <a:lnSpc>
                <a:spcPct val="200000"/>
              </a:lnSpc>
              <a:buFont typeface="Wingdings" panose="05000000000000000000" charset="0"/>
              <a:buChar char="p"/>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识别DSB，招募RecBCD复合物进行DSB断端处理，断端从5′-3’降解核苷酸，形成3’端单链DNA（ssDNA）。</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fontAlgn="auto">
              <a:lnSpc>
                <a:spcPct val="200000"/>
              </a:lnSpc>
              <a:buFont typeface="Wingdings" panose="05000000000000000000" charset="0"/>
              <a:buChar char="p"/>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3’端单链DNA（ssDNA）调整和侵入另外一条同源链从而进行后续的DNA分子交换，形成“HJ模型”（Holliday Junction）。（RecA）</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fontAlgn="auto">
              <a:lnSpc>
                <a:spcPct val="200000"/>
              </a:lnSpc>
              <a:buFont typeface="Wingdings" panose="05000000000000000000" charset="0"/>
              <a:buChar char="p"/>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DNA碱基互补配对，DNA合成及延伸。（RecA和DNA聚合酶）</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fontAlgn="auto">
              <a:lnSpc>
                <a:spcPct val="200000"/>
              </a:lnSpc>
              <a:buFont typeface="Wingdings" panose="05000000000000000000" charset="0"/>
              <a:buChar char="p"/>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“HJ模型”（Holliday Junction）交叉支点的迁移和切断。</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fontAlgn="auto">
              <a:lnSpc>
                <a:spcPct val="200000"/>
              </a:lnSpc>
              <a:buFont typeface="Wingdings" panose="05000000000000000000" charset="0"/>
              <a:buChar char="p"/>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两个双链DNA解离，DNA连接酶连接DNA断端，得到两个独立完整的双链DNA。</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dirty="0"/>
          </a:p>
          <a:p>
            <a:r>
              <a:rPr lang="zh-CN" altLang="en-US" dirty="0"/>
              <a:t>首先，断裂的</a:t>
            </a:r>
            <a:r>
              <a:rPr lang="en-US" altLang="zh-CN" dirty="0"/>
              <a:t>DNA</a:t>
            </a:r>
            <a:r>
              <a:rPr lang="zh-CN" altLang="en-US" dirty="0"/>
              <a:t>双链末端会进行末端切除，形成一个突出的</a:t>
            </a:r>
            <a:r>
              <a:rPr lang="en-US" altLang="zh-CN" dirty="0"/>
              <a:t>3'</a:t>
            </a:r>
            <a:r>
              <a:rPr lang="zh-CN" altLang="en-US" dirty="0"/>
              <a:t>单链末端，为下一步的同源染色体之间的重组提供必要条件。这一步骤需要</a:t>
            </a:r>
            <a:r>
              <a:rPr lang="en-US" altLang="zh-CN" dirty="0"/>
              <a:t>MRX</a:t>
            </a:r>
            <a:r>
              <a:rPr lang="zh-CN" altLang="en-US" dirty="0"/>
              <a:t>同源重组修复复合物（</a:t>
            </a:r>
            <a:r>
              <a:rPr lang="en-US" altLang="zh-CN" dirty="0" err="1"/>
              <a:t>Rad50-Mrell-Xrs2</a:t>
            </a:r>
            <a:r>
              <a:rPr lang="zh-CN" altLang="en-US" dirty="0"/>
              <a:t>）与磷酸化的</a:t>
            </a:r>
            <a:r>
              <a:rPr lang="en-US" altLang="zh-CN" dirty="0" err="1"/>
              <a:t>Sae2</a:t>
            </a:r>
            <a:r>
              <a:rPr lang="zh-CN" altLang="en-US" dirty="0"/>
              <a:t>共同参与。</a:t>
            </a:r>
            <a:endParaRPr lang="en-US" altLang="zh-CN" dirty="0"/>
          </a:p>
          <a:p>
            <a:r>
              <a:rPr lang="zh-CN" altLang="en-US" dirty="0"/>
              <a:t>在形成突出的</a:t>
            </a:r>
            <a:r>
              <a:rPr lang="en-US" altLang="zh-CN" dirty="0"/>
              <a:t>3'</a:t>
            </a:r>
            <a:r>
              <a:rPr lang="zh-CN" altLang="en-US" dirty="0"/>
              <a:t>单链末端后，同源重组修复相关的蛋白会结合到这一末端，形成核蛋白的丝状体。这些蛋白包括</a:t>
            </a:r>
            <a:r>
              <a:rPr lang="en-US" altLang="zh-CN" dirty="0" err="1"/>
              <a:t>BRCA1</a:t>
            </a:r>
            <a:r>
              <a:rPr lang="zh-CN" altLang="en-US" dirty="0"/>
              <a:t>、</a:t>
            </a:r>
            <a:r>
              <a:rPr lang="en-US" altLang="zh-CN" dirty="0" err="1"/>
              <a:t>BRCA2</a:t>
            </a:r>
            <a:r>
              <a:rPr lang="zh-CN" altLang="en-US" dirty="0"/>
              <a:t>等，它们在</a:t>
            </a:r>
            <a:r>
              <a:rPr lang="en-US" altLang="zh-CN" dirty="0"/>
              <a:t>HR</a:t>
            </a:r>
            <a:r>
              <a:rPr lang="zh-CN" altLang="en-US" dirty="0"/>
              <a:t>早期起始阶段发挥重要作用。</a:t>
            </a:r>
            <a:r>
              <a:rPr lang="en-US" altLang="zh-CN" dirty="0" err="1"/>
              <a:t>BRCA1</a:t>
            </a:r>
            <a:r>
              <a:rPr lang="zh-CN" altLang="en-US" dirty="0"/>
              <a:t>能够募集一系列的</a:t>
            </a:r>
            <a:r>
              <a:rPr lang="en-US" altLang="zh-CN" dirty="0"/>
              <a:t>DNA</a:t>
            </a:r>
            <a:r>
              <a:rPr lang="zh-CN" altLang="en-US" dirty="0"/>
              <a:t>修复蛋白到双链断裂处，形成一个大的复合物，辅助</a:t>
            </a:r>
            <a:r>
              <a:rPr lang="en-US" altLang="zh-CN" dirty="0"/>
              <a:t>DNA</a:t>
            </a:r>
            <a:r>
              <a:rPr lang="zh-CN" altLang="en-US" dirty="0"/>
              <a:t>双链断裂的修复。而</a:t>
            </a:r>
            <a:r>
              <a:rPr lang="en-US" altLang="zh-CN" dirty="0" err="1"/>
              <a:t>BRCA2</a:t>
            </a:r>
            <a:r>
              <a:rPr lang="zh-CN" altLang="en-US" dirty="0"/>
              <a:t>则是</a:t>
            </a:r>
            <a:r>
              <a:rPr lang="en-US" altLang="zh-CN" dirty="0" err="1"/>
              <a:t>Rad51</a:t>
            </a:r>
            <a:r>
              <a:rPr lang="zh-CN" altLang="en-US" dirty="0"/>
              <a:t>的辅助因子，能够促进</a:t>
            </a:r>
            <a:r>
              <a:rPr lang="en-US" altLang="zh-CN" dirty="0" err="1"/>
              <a:t>Rad51</a:t>
            </a:r>
            <a:r>
              <a:rPr lang="zh-CN" altLang="en-US" dirty="0"/>
              <a:t>与</a:t>
            </a:r>
            <a:r>
              <a:rPr lang="en-US" altLang="zh-CN" dirty="0"/>
              <a:t>DNA</a:t>
            </a:r>
            <a:r>
              <a:rPr lang="zh-CN" altLang="en-US" dirty="0"/>
              <a:t>相结合，形成</a:t>
            </a:r>
            <a:r>
              <a:rPr lang="en-US" altLang="zh-CN" dirty="0" err="1"/>
              <a:t>Rad51</a:t>
            </a:r>
            <a:r>
              <a:rPr lang="zh-CN" altLang="en-US" dirty="0"/>
              <a:t>核蛋白体。</a:t>
            </a:r>
          </a:p>
          <a:p>
            <a:r>
              <a:rPr lang="en-US" altLang="zh-CN" dirty="0" err="1"/>
              <a:t>Rad51</a:t>
            </a:r>
            <a:r>
              <a:rPr lang="zh-CN" altLang="en-US" dirty="0"/>
              <a:t>核蛋白体在</a:t>
            </a:r>
            <a:r>
              <a:rPr lang="en-US" altLang="zh-CN" dirty="0"/>
              <a:t>DNA</a:t>
            </a:r>
            <a:r>
              <a:rPr lang="zh-CN" altLang="en-US" dirty="0"/>
              <a:t>损伤断裂处形成后，会搜寻同源</a:t>
            </a:r>
            <a:r>
              <a:rPr lang="en-US" altLang="zh-CN" dirty="0"/>
              <a:t>DNA</a:t>
            </a:r>
            <a:r>
              <a:rPr lang="zh-CN" altLang="en-US" dirty="0"/>
              <a:t>序列，将其作为修复模板。通过链入侵的方式，将未受损的</a:t>
            </a:r>
            <a:r>
              <a:rPr lang="en-US" altLang="zh-CN" dirty="0"/>
              <a:t>DNA</a:t>
            </a:r>
            <a:r>
              <a:rPr lang="zh-CN" altLang="en-US" dirty="0"/>
              <a:t>链侵入到同源</a:t>
            </a:r>
            <a:r>
              <a:rPr lang="en-US" altLang="zh-CN" dirty="0"/>
              <a:t>DNA</a:t>
            </a:r>
            <a:r>
              <a:rPr lang="zh-CN" altLang="en-US" dirty="0"/>
              <a:t>序列中，形成</a:t>
            </a:r>
            <a:r>
              <a:rPr lang="en-US" altLang="zh-CN" dirty="0"/>
              <a:t>Holliday</a:t>
            </a:r>
            <a:r>
              <a:rPr lang="zh-CN" altLang="en-US" dirty="0"/>
              <a:t>中间体。随着新的</a:t>
            </a:r>
            <a:r>
              <a:rPr lang="en-US" altLang="zh-CN" dirty="0"/>
              <a:t>DNA</a:t>
            </a:r>
            <a:r>
              <a:rPr lang="zh-CN" altLang="en-US" dirty="0"/>
              <a:t>链的合成，会发生分支迁移，产生两个缺口。这两个缺口可能位于同一条</a:t>
            </a:r>
            <a:r>
              <a:rPr lang="en-US" altLang="zh-CN" dirty="0"/>
              <a:t>DNA</a:t>
            </a:r>
            <a:r>
              <a:rPr lang="zh-CN" altLang="en-US" dirty="0"/>
              <a:t>链上，也可能位于不同的</a:t>
            </a:r>
            <a:r>
              <a:rPr lang="en-US" altLang="zh-CN" dirty="0"/>
              <a:t>DNA</a:t>
            </a:r>
            <a:r>
              <a:rPr lang="zh-CN" altLang="en-US" dirty="0"/>
              <a:t>链上。</a:t>
            </a:r>
          </a:p>
          <a:p>
            <a:r>
              <a:rPr lang="zh-CN" altLang="en-US" dirty="0"/>
              <a:t>如果缺口位于同一条</a:t>
            </a:r>
            <a:r>
              <a:rPr lang="en-US" altLang="zh-CN" dirty="0"/>
              <a:t>DNA</a:t>
            </a:r>
            <a:r>
              <a:rPr lang="zh-CN" altLang="en-US" dirty="0"/>
              <a:t>链上，那么通过</a:t>
            </a:r>
            <a:r>
              <a:rPr lang="en-US" altLang="zh-CN" dirty="0"/>
              <a:t>DNA</a:t>
            </a:r>
            <a:r>
              <a:rPr lang="zh-CN" altLang="en-US" dirty="0"/>
              <a:t>连接酶的作用，可以将缺口连接起来，形成两个完整的母本</a:t>
            </a:r>
            <a:r>
              <a:rPr lang="en-US" altLang="zh-CN" dirty="0"/>
              <a:t>DNA</a:t>
            </a:r>
            <a:r>
              <a:rPr lang="zh-CN" altLang="en-US" dirty="0"/>
              <a:t>链。如果缺口位于不同的</a:t>
            </a:r>
            <a:r>
              <a:rPr lang="en-US" altLang="zh-CN" dirty="0"/>
              <a:t>DNA</a:t>
            </a:r>
            <a:r>
              <a:rPr lang="zh-CN" altLang="en-US" dirty="0"/>
              <a:t>链上，那么会形成两个重组的</a:t>
            </a:r>
            <a:r>
              <a:rPr lang="en-US" altLang="zh-CN" dirty="0"/>
              <a:t>DNA</a:t>
            </a:r>
            <a:r>
              <a:rPr lang="zh-CN" altLang="en-US" dirty="0"/>
              <a:t>链，完成同源重组修复过程。</a:t>
            </a:r>
          </a:p>
          <a:p>
            <a:endParaRPr lang="zh-CN" altLang="en-US"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15</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olidFill>
                  <a:srgbClr val="000000"/>
                </a:solidFill>
                <a:latin typeface="微软雅黑" panose="020B0503020204020204" pitchFamily="34" charset="-122"/>
                <a:ea typeface="微软雅黑" panose="020B0503020204020204" pitchFamily="34" charset="-122"/>
                <a:sym typeface="+mn-ea"/>
              </a:rPr>
              <a:t>没有模板的情况下，利用</a:t>
            </a:r>
            <a:r>
              <a:rPr lang="en-US" altLang="zh-CN" dirty="0" err="1">
                <a:solidFill>
                  <a:srgbClr val="000000"/>
                </a:solidFill>
                <a:latin typeface="微软雅黑" panose="020B0503020204020204" pitchFamily="34" charset="-122"/>
                <a:ea typeface="微软雅黑" panose="020B0503020204020204" pitchFamily="34" charset="-122"/>
                <a:sym typeface="+mn-ea"/>
              </a:rPr>
              <a:t>NHEJ</a:t>
            </a:r>
            <a:r>
              <a:rPr lang="zh-CN" altLang="en-US" dirty="0">
                <a:solidFill>
                  <a:srgbClr val="000000"/>
                </a:solidFill>
                <a:latin typeface="微软雅黑" panose="020B0503020204020204" pitchFamily="34" charset="-122"/>
                <a:ea typeface="微软雅黑" panose="020B0503020204020204" pitchFamily="34" charset="-122"/>
                <a:sym typeface="+mn-ea"/>
              </a:rPr>
              <a:t>修复，随机插入或缺失碱基造成基因失活；有模板存在的情况下，可通过同源重组的方式在剪切位点引入目的修饰基因，实现基因的定点敲进</a:t>
            </a:r>
            <a:endParaRPr lang="en-US" altLang="zh-CN" dirty="0">
              <a:solidFill>
                <a:srgbClr val="000000"/>
              </a:solidFill>
              <a:latin typeface="微软雅黑" panose="020B0503020204020204" pitchFamily="34" charset="-122"/>
              <a:ea typeface="微软雅黑" panose="020B0503020204020204" pitchFamily="34" charset="-122"/>
              <a:sym typeface="+mn-ea"/>
            </a:endParaRPr>
          </a:p>
          <a:p>
            <a:r>
              <a:rPr lang="zh-CN" altLang="en-US" dirty="0">
                <a:sym typeface="+mn-ea"/>
              </a:rPr>
              <a:t>随着科学家们对这两种修复方式的深入研究和解读，这一修复机制被逐渐应用于基因编辑技术，用于定向改造基因。研究者采用核酸酶技术使DNA双链有目的的产生断裂，利用这一机制调控目的基因表达或引入选择性标记。</a:t>
            </a:r>
            <a:endParaRPr lang="zh-CN" altLang="en-US" dirty="0"/>
          </a:p>
          <a:p>
            <a:r>
              <a:rPr lang="zh-CN" altLang="en-US" dirty="0">
                <a:sym typeface="+mn-ea"/>
              </a:rPr>
              <a:t>在基因编辑中，同源重组被用作一种精确修改基因的方法。通过引入一个与目标基因序列相似但不完全相同的DNA片段（即同源片段），科学家可以在细胞染色体上形成配对，并诱导DNA切割和重组。这一过程允许科学家在基因组中特定位置插入、修复或替换DNA序列，从而实现基因敲除、基因修饰、基因替换和基因治疗等目的。综上所述，最早的基因编辑技术利用了机体自身的同源重组机制，通过引入同源片段并在细胞染色体上形成配对来实现DNA序列的精确修改</a:t>
            </a:r>
            <a:endParaRPr lang="en-US" altLang="zh-CN" dirty="0"/>
          </a:p>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BCA0E-5C24-463F-C519-FEEFBB85B72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32A126-7C43-B57B-CA99-6F92DE15416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D80C39-B778-9547-DBD9-33BA0C30870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180D94E-E7F0-424C-80F5-60A9D4787B11}"/>
              </a:ext>
            </a:extLst>
          </p:cNvPr>
          <p:cNvSpPr>
            <a:spLocks noGrp="1"/>
          </p:cNvSpPr>
          <p:nvPr>
            <p:ph type="sldNum" sz="quarter" idx="5"/>
          </p:nvPr>
        </p:nvSpPr>
        <p:spPr/>
        <p:txBody>
          <a:bodyPr/>
          <a:lstStyle/>
          <a:p>
            <a:fld id="{B8B7A263-E924-4581-B58B-5F45429A0ECA}" type="slidenum">
              <a:rPr lang="zh-CN" altLang="en-US" smtClean="0"/>
              <a:t>17</a:t>
            </a:fld>
            <a:endParaRPr lang="zh-CN" altLang="en-US"/>
          </a:p>
        </p:txBody>
      </p:sp>
    </p:spTree>
    <p:extLst>
      <p:ext uri="{BB962C8B-B14F-4D97-AF65-F5344CB8AC3E}">
        <p14:creationId xmlns:p14="http://schemas.microsoft.com/office/powerpoint/2010/main" val="6580691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b="0" i="0" dirty="0">
                <a:solidFill>
                  <a:srgbClr val="000000"/>
                </a:solidFill>
                <a:effectLst/>
                <a:latin typeface="TimesNewRomanPSMT"/>
              </a:rPr>
              <a:t>Capecchi</a:t>
            </a:r>
            <a:r>
              <a:rPr lang="zh-CN" altLang="en-US" sz="1800" b="0" i="0" dirty="0">
                <a:solidFill>
                  <a:srgbClr val="000000"/>
                </a:solidFill>
                <a:effectLst/>
                <a:latin typeface="宋体" panose="02010600030101010101" pitchFamily="2" charset="-122"/>
                <a:ea typeface="宋体" panose="02010600030101010101" pitchFamily="2" charset="-122"/>
              </a:rPr>
              <a:t>和</a:t>
            </a:r>
            <a:r>
              <a:rPr lang="en-US" altLang="zh-CN" sz="1800" b="0" i="0" dirty="0">
                <a:solidFill>
                  <a:srgbClr val="000000"/>
                </a:solidFill>
                <a:effectLst/>
                <a:latin typeface="TimesNewRomanPSMT"/>
              </a:rPr>
              <a:t>Smithies</a:t>
            </a:r>
            <a:r>
              <a:rPr lang="zh-CN" altLang="en-US" sz="1800" b="0" i="0" dirty="0">
                <a:solidFill>
                  <a:srgbClr val="000000"/>
                </a:solidFill>
                <a:effectLst/>
                <a:latin typeface="宋体" panose="02010600030101010101" pitchFamily="2" charset="-122"/>
                <a:ea typeface="宋体" panose="02010600030101010101" pitchFamily="2" charset="-122"/>
              </a:rPr>
              <a:t>都首先预见到新的遗传物质可以通过同源重组引入哺乳动物细胞的基因组</a:t>
            </a:r>
            <a:r>
              <a:rPr lang="en-US" altLang="zh-CN" sz="1800" b="0" i="0" dirty="0">
                <a:solidFill>
                  <a:srgbClr val="000000"/>
                </a:solidFill>
                <a:effectLst/>
                <a:latin typeface="TimesNewRomanPSMT"/>
              </a:rPr>
              <a:t>, </a:t>
            </a:r>
            <a:r>
              <a:rPr lang="zh-CN" altLang="en-US" sz="1800" b="0" i="0" dirty="0">
                <a:solidFill>
                  <a:srgbClr val="000000"/>
                </a:solidFill>
                <a:effectLst/>
                <a:latin typeface="宋体" panose="02010600030101010101" pitchFamily="2" charset="-122"/>
                <a:ea typeface="宋体" panose="02010600030101010101" pitchFamily="2" charset="-122"/>
              </a:rPr>
              <a:t>并对基因进行特异性修饰和改造。</a:t>
            </a:r>
          </a:p>
          <a:p>
            <a:endParaRPr lang="zh-CN" altLang="en-US" sz="1800" b="0" i="0" dirty="0">
              <a:solidFill>
                <a:srgbClr val="000000"/>
              </a:solidFill>
              <a:effectLst/>
              <a:latin typeface="宋体" panose="02010600030101010101" pitchFamily="2" charset="-122"/>
              <a:ea typeface="宋体" panose="02010600030101010101" pitchFamily="2" charset="-122"/>
            </a:endParaRPr>
          </a:p>
          <a:p>
            <a:r>
              <a:rPr lang="zh-CN" altLang="en-US" sz="1800" dirty="0">
                <a:sym typeface="+mn-ea"/>
              </a:rPr>
              <a:t>https://zhuanlan.zhihu.com/p/22634303</a:t>
            </a:r>
            <a:endParaRPr lang="zh-CN" altLang="en-US" sz="1800" dirty="0"/>
          </a:p>
          <a:p>
            <a:endParaRPr lang="zh-CN" altLang="en-US" sz="1800" b="0" i="0" dirty="0">
              <a:solidFill>
                <a:srgbClr val="000000"/>
              </a:solidFill>
              <a:effectLst/>
              <a:latin typeface="宋体" panose="02010600030101010101" pitchFamily="2" charset="-122"/>
              <a:ea typeface="宋体" panose="02010600030101010101" pitchFamily="2" charset="-122"/>
            </a:endParaRPr>
          </a:p>
          <a:p>
            <a:endParaRPr lang="zh-CN" altLang="en-US" sz="1800" b="0" i="0" dirty="0">
              <a:solidFill>
                <a:srgbClr val="000000"/>
              </a:solidFill>
              <a:effectLst/>
              <a:latin typeface="宋体" panose="02010600030101010101" pitchFamily="2" charset="-122"/>
              <a:ea typeface="宋体" panose="02010600030101010101" pitchFamily="2" charset="-122"/>
            </a:endParaRPr>
          </a:p>
          <a:p>
            <a:endParaRPr lang="zh-CN" altLang="en-US" sz="1800" b="0" i="0" dirty="0">
              <a:solidFill>
                <a:srgbClr val="000000"/>
              </a:solidFill>
              <a:effectLst/>
              <a:latin typeface="宋体" panose="02010600030101010101" pitchFamily="2" charset="-122"/>
              <a:ea typeface="宋体" panose="02010600030101010101" pitchFamily="2" charset="-122"/>
            </a:endParaRPr>
          </a:p>
          <a:p>
            <a:endParaRPr lang="zh-CN" altLang="en-US" sz="1800" b="0" i="0" dirty="0">
              <a:solidFill>
                <a:srgbClr val="000000"/>
              </a:solidFill>
              <a:effectLst/>
              <a:latin typeface="宋体" panose="02010600030101010101" pitchFamily="2" charset="-122"/>
              <a:ea typeface="宋体" panose="02010600030101010101" pitchFamily="2" charset="-122"/>
            </a:endParaRPr>
          </a:p>
          <a:p>
            <a:endParaRPr lang="zh-CN" altLang="en-US" sz="1800" b="0" i="0" dirty="0">
              <a:solidFill>
                <a:srgbClr val="000000"/>
              </a:solidFill>
              <a:effectLst/>
              <a:latin typeface="宋体" panose="02010600030101010101" pitchFamily="2" charset="-122"/>
              <a:ea typeface="宋体" panose="02010600030101010101" pitchFamily="2" charset="-122"/>
            </a:endParaRPr>
          </a:p>
          <a:p>
            <a:r>
              <a:rPr lang="zh-CN" altLang="en-US" sz="1800" b="0" i="0" dirty="0">
                <a:solidFill>
                  <a:srgbClr val="000000"/>
                </a:solidFill>
                <a:effectLst/>
                <a:latin typeface="宋体" panose="02010600030101010101" pitchFamily="2" charset="-122"/>
                <a:ea typeface="宋体" panose="02010600030101010101" pitchFamily="2" charset="-122"/>
              </a:rPr>
              <a:t>同源重组技术的概念是 </a:t>
            </a:r>
            <a:r>
              <a:rPr lang="en-US" altLang="zh-CN" sz="1800" b="0" i="0" dirty="0">
                <a:solidFill>
                  <a:srgbClr val="000000"/>
                </a:solidFill>
                <a:effectLst/>
                <a:latin typeface="TimesNewRomanPSMT"/>
              </a:rPr>
              <a:t>20 </a:t>
            </a:r>
            <a:r>
              <a:rPr lang="zh-CN" altLang="en-US" sz="1800" b="0" i="0" dirty="0">
                <a:solidFill>
                  <a:srgbClr val="000000"/>
                </a:solidFill>
                <a:effectLst/>
                <a:latin typeface="宋体" panose="02010600030101010101" pitchFamily="2" charset="-122"/>
                <a:ea typeface="宋体" panose="02010600030101010101" pitchFamily="2" charset="-122"/>
              </a:rPr>
              <a:t>世纪 </a:t>
            </a:r>
            <a:r>
              <a:rPr lang="en-US" altLang="zh-CN" sz="1800" b="0" i="0" dirty="0">
                <a:solidFill>
                  <a:srgbClr val="000000"/>
                </a:solidFill>
                <a:effectLst/>
                <a:latin typeface="TimesNewRomanPSMT"/>
              </a:rPr>
              <a:t>70 </a:t>
            </a:r>
            <a:r>
              <a:rPr lang="zh-CN" altLang="en-US" sz="1800" b="0" i="0" dirty="0">
                <a:solidFill>
                  <a:srgbClr val="000000"/>
                </a:solidFill>
                <a:effectLst/>
                <a:latin typeface="宋体" panose="02010600030101010101" pitchFamily="2" charset="-122"/>
                <a:ea typeface="宋体" panose="02010600030101010101" pitchFamily="2" charset="-122"/>
              </a:rPr>
              <a:t>年代初在酵母研究中发展起来的</a:t>
            </a:r>
            <a:r>
              <a:rPr lang="en-US" altLang="zh-CN" sz="1800" b="0" i="0" dirty="0">
                <a:solidFill>
                  <a:srgbClr val="000000"/>
                </a:solidFill>
                <a:effectLst/>
                <a:latin typeface="宋体" panose="02010600030101010101" pitchFamily="2" charset="-122"/>
                <a:ea typeface="宋体" panose="02010600030101010101" pitchFamily="2" charset="-122"/>
              </a:rPr>
              <a:t>,</a:t>
            </a:r>
            <a:r>
              <a:rPr lang="zh-CN" altLang="en-US" sz="1800" b="0" i="0" dirty="0">
                <a:solidFill>
                  <a:srgbClr val="000000"/>
                </a:solidFill>
                <a:effectLst/>
                <a:latin typeface="宋体" panose="02010600030101010101" pitchFamily="2" charset="-122"/>
                <a:ea typeface="宋体" panose="02010600030101010101" pitchFamily="2" charset="-122"/>
              </a:rPr>
              <a:t>与酵母系统完全不同的是</a:t>
            </a:r>
            <a:r>
              <a:rPr lang="en-US" altLang="zh-CN" sz="1800" b="0" i="0" dirty="0">
                <a:solidFill>
                  <a:srgbClr val="000000"/>
                </a:solidFill>
                <a:effectLst/>
                <a:latin typeface="TimesNewRomanPSMT"/>
              </a:rPr>
              <a:t>,</a:t>
            </a:r>
            <a:r>
              <a:rPr lang="zh-CN" altLang="en-US" sz="1800" b="0" i="0" dirty="0">
                <a:solidFill>
                  <a:srgbClr val="000000"/>
                </a:solidFill>
                <a:effectLst/>
                <a:latin typeface="宋体" panose="02010600030101010101" pitchFamily="2" charset="-122"/>
                <a:ea typeface="宋体" panose="02010600030101010101" pitchFamily="2" charset="-122"/>
              </a:rPr>
              <a:t>哺乳动物细胞中同源重组的概率非常低。</a:t>
            </a:r>
            <a:r>
              <a:rPr lang="zh-CN" altLang="en-US" sz="2800" dirty="0"/>
              <a:t> </a:t>
            </a:r>
            <a:endParaRPr lang="en-US" altLang="zh-CN" sz="2800" dirty="0"/>
          </a:p>
          <a:p>
            <a:endParaRPr lang="en-US" altLang="zh-CN" sz="2800" dirty="0"/>
          </a:p>
          <a:p>
            <a:r>
              <a:rPr lang="zh-CN" altLang="en-US" sz="4000" dirty="0"/>
              <a:t>“基因打靶”技术的建立是生物医学领域的一大革命性的突破，这种基因敲除技术的实现使得在过去数十年中在阐明基因在胚胎发育、遗传和许多疾病发生中的作用中做出了巨大的贡献。这一技术的基本原理是基于生物中基因同源重组的理论实现的，美国分子生物学家</a:t>
            </a:r>
            <a:r>
              <a:rPr lang="en-US" altLang="zh-CN" sz="4000" dirty="0"/>
              <a:t>Joshua Lederberg</a:t>
            </a:r>
            <a:r>
              <a:rPr lang="zh-CN" altLang="en-US" sz="4000" dirty="0"/>
              <a:t>（</a:t>
            </a:r>
            <a:r>
              <a:rPr lang="en-US" altLang="zh-CN" sz="4000" dirty="0"/>
              <a:t>1925-2008</a:t>
            </a:r>
            <a:r>
              <a:rPr lang="zh-CN" altLang="en-US" sz="4000" dirty="0"/>
              <a:t>）因发现细菌遗传物质及基因重组现象而获得</a:t>
            </a:r>
            <a:r>
              <a:rPr lang="en-US" altLang="zh-CN" sz="4000" dirty="0"/>
              <a:t>1958</a:t>
            </a:r>
            <a:r>
              <a:rPr lang="zh-CN" altLang="en-US" sz="4000" dirty="0"/>
              <a:t>年诺贝尔生理学或医学奖。</a:t>
            </a:r>
            <a:endParaRPr lang="en-US" altLang="zh-CN" sz="2800" dirty="0"/>
          </a:p>
          <a:p>
            <a:endParaRPr lang="en-US" altLang="zh-CN" sz="2800" dirty="0"/>
          </a:p>
          <a:p>
            <a:r>
              <a:rPr lang="en-US" altLang="zh-CN" sz="4000" dirty="0"/>
              <a:t>Capecchi</a:t>
            </a:r>
            <a:r>
              <a:rPr lang="zh-CN" altLang="en-US" sz="4000" dirty="0"/>
              <a:t>和</a:t>
            </a:r>
            <a:r>
              <a:rPr lang="en-US" altLang="zh-CN" sz="4000" dirty="0"/>
              <a:t>Smithies</a:t>
            </a:r>
            <a:r>
              <a:rPr lang="zh-CN" altLang="en-US" sz="4000" dirty="0"/>
              <a:t>很早就认为同源重组技术可用于修正哺乳动物细胞特定的靶基因从而获得基因打靶后的小鼠，但是很长时间内却一直缺乏一个合适的载体体系来实现，尽管此前</a:t>
            </a:r>
            <a:r>
              <a:rPr lang="en-US" altLang="zh-CN" sz="4000" dirty="0"/>
              <a:t>Capecchi</a:t>
            </a:r>
            <a:r>
              <a:rPr lang="zh-CN" altLang="en-US" sz="4000" dirty="0"/>
              <a:t>和</a:t>
            </a:r>
            <a:r>
              <a:rPr lang="en-US" altLang="zh-CN" sz="4000" dirty="0"/>
              <a:t>Smithies</a:t>
            </a:r>
            <a:r>
              <a:rPr lang="zh-CN" altLang="en-US" sz="4000" dirty="0"/>
              <a:t>已经证实了同源重组可以在细胞中引入外源</a:t>
            </a:r>
            <a:r>
              <a:rPr lang="en-US" altLang="zh-CN" sz="4000" dirty="0"/>
              <a:t>DNA</a:t>
            </a:r>
            <a:r>
              <a:rPr lang="zh-CN" altLang="en-US" sz="4000" dirty="0"/>
              <a:t>（下图）。</a:t>
            </a:r>
            <a:endParaRPr lang="en-US" altLang="zh-CN" sz="2800" dirty="0"/>
          </a:p>
          <a:p>
            <a:endParaRPr lang="en-US" altLang="zh-CN" sz="2800" dirty="0"/>
          </a:p>
          <a:p>
            <a:r>
              <a:rPr lang="zh-CN" altLang="en-US" sz="4000" dirty="0"/>
              <a:t>而来自英国的干细胞生物学家</a:t>
            </a:r>
            <a:r>
              <a:rPr lang="en-US" altLang="zh-CN" sz="4000" dirty="0"/>
              <a:t>Martin Evans</a:t>
            </a:r>
            <a:r>
              <a:rPr lang="zh-CN" altLang="en-US" sz="4000" dirty="0"/>
              <a:t>当时和</a:t>
            </a:r>
            <a:r>
              <a:rPr lang="en-US" altLang="zh-CN" sz="4000" dirty="0" err="1"/>
              <a:t>Mattew</a:t>
            </a:r>
            <a:r>
              <a:rPr lang="en-US" altLang="zh-CN" sz="4000" dirty="0"/>
              <a:t> Kaufman</a:t>
            </a:r>
            <a:r>
              <a:rPr lang="zh-CN" altLang="en-US" sz="4000" dirty="0"/>
              <a:t>合作在</a:t>
            </a:r>
            <a:r>
              <a:rPr lang="en-US" altLang="zh-CN" sz="4000" dirty="0"/>
              <a:t>1981</a:t>
            </a:r>
            <a:r>
              <a:rPr lang="zh-CN" altLang="en-US" sz="4000" dirty="0"/>
              <a:t>年发表了一篇非常重要的</a:t>
            </a:r>
            <a:r>
              <a:rPr lang="en-US" altLang="zh-CN" sz="4000" dirty="0"/>
              <a:t>Nature</a:t>
            </a:r>
            <a:r>
              <a:rPr lang="zh-CN" altLang="en-US" sz="4000" dirty="0"/>
              <a:t>文章，首次报道建立小鼠胚胎干细胞系（下图）。此后</a:t>
            </a:r>
            <a:r>
              <a:rPr lang="en-US" altLang="zh-CN" sz="4000" dirty="0"/>
              <a:t>Evans</a:t>
            </a:r>
            <a:r>
              <a:rPr lang="zh-CN" altLang="en-US" sz="4000" dirty="0"/>
              <a:t>等人用逆转录病毒的方法对小鼠</a:t>
            </a:r>
            <a:r>
              <a:rPr lang="en-US" altLang="zh-CN" sz="4000" dirty="0"/>
              <a:t>ES</a:t>
            </a:r>
            <a:r>
              <a:rPr lang="zh-CN" altLang="en-US" sz="4000" dirty="0"/>
              <a:t>干细胞进行遗传改造奖基因整合到染色体上得到了携带新遗传物质的小鼠（下图）</a:t>
            </a:r>
            <a:br>
              <a:rPr lang="zh-CN" altLang="en-US" sz="2800" dirty="0"/>
            </a:br>
            <a:br>
              <a:rPr lang="zh-CN" altLang="en-US" dirty="0"/>
            </a:br>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18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i="0" dirty="0">
                <a:solidFill>
                  <a:srgbClr val="000000"/>
                </a:solidFill>
                <a:effectLst/>
                <a:latin typeface="宋体" panose="02010600030101010101" pitchFamily="2" charset="-122"/>
                <a:ea typeface="宋体" panose="02010600030101010101" pitchFamily="2" charset="-122"/>
              </a:rPr>
              <a:t>他构建了一种携带有缺陷的新霉素抗性基因的细胞系</a:t>
            </a:r>
            <a:r>
              <a:rPr lang="en-US" altLang="zh-CN" sz="1200" b="0" i="0" dirty="0">
                <a:solidFill>
                  <a:srgbClr val="000000"/>
                </a:solidFill>
                <a:effectLst/>
                <a:latin typeface="TimesNewRomanPSMT"/>
              </a:rPr>
              <a:t>, </a:t>
            </a:r>
            <a:r>
              <a:rPr lang="zh-CN" altLang="en-US" sz="1200" b="0" i="0" dirty="0">
                <a:solidFill>
                  <a:srgbClr val="000000"/>
                </a:solidFill>
                <a:effectLst/>
                <a:latin typeface="宋体" panose="02010600030101010101" pitchFamily="2" charset="-122"/>
                <a:ea typeface="宋体" panose="02010600030101010101" pitchFamily="2" charset="-122"/>
              </a:rPr>
              <a:t>并证明这种有缺陷的抗性基因可以通过与外源</a:t>
            </a:r>
            <a:r>
              <a:rPr lang="en-US" altLang="zh-CN" sz="1200" b="0" i="0" dirty="0">
                <a:solidFill>
                  <a:srgbClr val="000000"/>
                </a:solidFill>
                <a:effectLst/>
                <a:latin typeface="TimesNewRomanPSMT"/>
              </a:rPr>
              <a:t>DNA</a:t>
            </a:r>
            <a:r>
              <a:rPr lang="zh-CN" altLang="en-US" sz="1200" b="0" i="0" dirty="0">
                <a:solidFill>
                  <a:srgbClr val="000000"/>
                </a:solidFill>
                <a:effectLst/>
                <a:latin typeface="宋体" panose="02010600030101010101" pitchFamily="2" charset="-122"/>
                <a:ea typeface="宋体" panose="02010600030101010101" pitchFamily="2" charset="-122"/>
              </a:rPr>
              <a:t>间的同源重组得到修复</a:t>
            </a:r>
            <a:r>
              <a:rPr lang="zh-CN" altLang="en-US" dirty="0"/>
              <a:t>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t>卡佩奇教授</a:t>
            </a:r>
            <a:r>
              <a:rPr kumimoji="0" lang="zh-CN" altLang="zh-CN" sz="1200" b="0" i="0" u="none" strike="noStrike" cap="none" normalizeH="0" baseline="0" dirty="0">
                <a:ln>
                  <a:noFill/>
                </a:ln>
                <a:solidFill>
                  <a:schemeClr val="tx1"/>
                </a:solidFill>
                <a:effectLst/>
                <a:latin typeface="Arial" panose="020B0604020202020204" pitchFamily="34" charset="0"/>
              </a:rPr>
              <a:t>首先构建了一种携带有缺陷的新霉素抗性基因的细胞系。这种细胞系由于新霉素抗性基因存在缺陷，因此无法对新霉素产生抗性。 </a:t>
            </a:r>
            <a:endParaRPr kumimoji="0" lang="en-US" altLang="zh-CN"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200" b="0" i="0" u="none" strike="noStrike" cap="none" normalizeH="0" baseline="0" dirty="0">
                <a:ln>
                  <a:noFill/>
                </a:ln>
                <a:solidFill>
                  <a:schemeClr val="tx1"/>
                </a:solidFill>
                <a:effectLst/>
                <a:latin typeface="Arial" panose="020B0604020202020204" pitchFamily="34" charset="0"/>
              </a:rPr>
              <a:t>接下来，他制备了一段与外源DNA序列同源、但携带有正常新霉素抗性基因的DNA片段。这段DNA片段将作为同源重组的模板，用于修复细胞中的缺陷基因。 </a:t>
            </a:r>
            <a:endParaRPr kumimoji="0" lang="en-US" altLang="zh-CN"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200" b="0" i="0" u="none" strike="noStrike" cap="none" normalizeH="0" baseline="0" dirty="0">
                <a:ln>
                  <a:noFill/>
                </a:ln>
                <a:solidFill>
                  <a:schemeClr val="tx1"/>
                </a:solidFill>
                <a:effectLst/>
                <a:latin typeface="Arial" panose="020B0604020202020204" pitchFamily="34" charset="0"/>
              </a:rPr>
              <a:t>Capecchi使用适当的方法（如显微注射法、电穿孔法等）将这段外源DNA导入之前构建的携带有缺陷新霉素抗性基因的细胞系中。 </a:t>
            </a:r>
            <a:endParaRPr kumimoji="0" lang="en-US" altLang="zh-CN"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200" b="0" i="0" u="none" strike="noStrike" cap="none" normalizeH="0" baseline="0" dirty="0">
                <a:ln>
                  <a:noFill/>
                </a:ln>
                <a:solidFill>
                  <a:schemeClr val="tx1"/>
                </a:solidFill>
                <a:effectLst/>
                <a:latin typeface="Arial" panose="020B0604020202020204" pitchFamily="34" charset="0"/>
              </a:rPr>
              <a:t>在细胞内部，外源DNA与细胞染色体上的同源序列发生重组，将正常的新霉素抗性基因整合到细胞基因组中，从而修复了原本的缺陷基因。 </a:t>
            </a:r>
            <a:endParaRPr kumimoji="0" lang="en-US" altLang="zh-CN"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200" b="0" i="0" u="none" strike="noStrike" cap="none" normalizeH="0" baseline="0" dirty="0">
                <a:ln>
                  <a:noFill/>
                </a:ln>
                <a:solidFill>
                  <a:schemeClr val="tx1"/>
                </a:solidFill>
                <a:effectLst/>
                <a:latin typeface="Arial" panose="020B0604020202020204" pitchFamily="34" charset="0"/>
              </a:rPr>
              <a:t>最后，Capecchi使用新霉素对细胞进行筛选。只有那些成功修复了缺陷基因、获得了新霉素抗性的细胞才能在新霉素的培养基上生长。</a:t>
            </a:r>
            <a:endParaRPr kumimoji="0" lang="en-US" altLang="zh-CN"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1200" b="0" i="0" u="none" strike="noStrike" cap="none" normalizeH="0" baseline="0" dirty="0">
                <a:ln>
                  <a:noFill/>
                </a:ln>
                <a:solidFill>
                  <a:schemeClr val="tx1"/>
                </a:solidFill>
                <a:effectLst/>
                <a:latin typeface="Arial" panose="020B0604020202020204" pitchFamily="34" charset="0"/>
              </a:rPr>
              <a:t>通过进一步的鉴定，他确认了这些细胞中的新霉素抗性基因是通过同源重组得到的</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i="0" dirty="0">
                <a:solidFill>
                  <a:srgbClr val="231F20"/>
                </a:solidFill>
                <a:effectLst/>
                <a:latin typeface="宋体" panose="02010600030101010101" pitchFamily="2" charset="-122"/>
                <a:ea typeface="宋体" panose="02010600030101010101" pitchFamily="2" charset="-122"/>
              </a:rPr>
              <a:t>他利用细胞内在的同源重组机制，将含有同源序列</a:t>
            </a:r>
            <a:br>
              <a:rPr lang="zh-CN" altLang="en-US" sz="1800" b="0" i="0" dirty="0">
                <a:solidFill>
                  <a:srgbClr val="231F20"/>
                </a:solidFill>
                <a:effectLst/>
                <a:latin typeface="宋体" panose="02010600030101010101" pitchFamily="2" charset="-122"/>
                <a:ea typeface="宋体" panose="02010600030101010101" pitchFamily="2" charset="-122"/>
              </a:rPr>
            </a:br>
            <a:r>
              <a:rPr lang="zh-CN" altLang="en-US" sz="1800" b="0" i="0" dirty="0">
                <a:solidFill>
                  <a:srgbClr val="231F20"/>
                </a:solidFill>
                <a:effectLst/>
                <a:latin typeface="宋体" panose="02010600030101010101" pitchFamily="2" charset="-122"/>
                <a:ea typeface="宋体" panose="02010600030101010101" pitchFamily="2" charset="-122"/>
              </a:rPr>
              <a:t>的外源 </a:t>
            </a:r>
            <a:r>
              <a:rPr lang="en-US" altLang="zh-CN" sz="1800" b="0" i="0" dirty="0">
                <a:solidFill>
                  <a:srgbClr val="231F20"/>
                </a:solidFill>
                <a:effectLst/>
                <a:latin typeface="TimesNewRomanPSMT"/>
              </a:rPr>
              <a:t>DNA </a:t>
            </a:r>
            <a:r>
              <a:rPr lang="zh-CN" altLang="en-US" sz="1800" b="0" i="0" dirty="0">
                <a:solidFill>
                  <a:srgbClr val="231F20"/>
                </a:solidFill>
                <a:effectLst/>
                <a:latin typeface="宋体" panose="02010600030101010101" pitchFamily="2" charset="-122"/>
                <a:ea typeface="宋体" panose="02010600030101010101" pitchFamily="2" charset="-122"/>
              </a:rPr>
              <a:t>片段导入细胞，使其定点整合到基因</a:t>
            </a:r>
            <a:br>
              <a:rPr lang="zh-CN" altLang="en-US" sz="1800" b="0" i="0" dirty="0">
                <a:solidFill>
                  <a:srgbClr val="231F20"/>
                </a:solidFill>
                <a:effectLst/>
                <a:latin typeface="宋体" panose="02010600030101010101" pitchFamily="2" charset="-122"/>
                <a:ea typeface="宋体" panose="02010600030101010101" pitchFamily="2" charset="-122"/>
              </a:rPr>
            </a:br>
            <a:r>
              <a:rPr lang="zh-CN" altLang="en-US" sz="1800" b="0" i="0" dirty="0">
                <a:solidFill>
                  <a:srgbClr val="231F20"/>
                </a:solidFill>
                <a:effectLst/>
                <a:latin typeface="宋体" panose="02010600030101010101" pitchFamily="2" charset="-122"/>
                <a:ea typeface="宋体" panose="02010600030101010101" pitchFamily="2" charset="-122"/>
              </a:rPr>
              <a:t>组的特异位点，从而改变某个具体基因的功能、表</a:t>
            </a:r>
            <a:br>
              <a:rPr lang="zh-CN" altLang="en-US" sz="1800" b="0" i="0" dirty="0">
                <a:solidFill>
                  <a:srgbClr val="231F20"/>
                </a:solidFill>
                <a:effectLst/>
                <a:latin typeface="宋体" panose="02010600030101010101" pitchFamily="2" charset="-122"/>
                <a:ea typeface="宋体" panose="02010600030101010101" pitchFamily="2" charset="-122"/>
              </a:rPr>
            </a:br>
            <a:r>
              <a:rPr lang="zh-CN" altLang="en-US" sz="1800" b="0" i="0" dirty="0">
                <a:solidFill>
                  <a:srgbClr val="231F20"/>
                </a:solidFill>
                <a:effectLst/>
                <a:latin typeface="宋体" panose="02010600030101010101" pitchFamily="2" charset="-122"/>
                <a:ea typeface="宋体" panose="02010600030101010101" pitchFamily="2" charset="-122"/>
              </a:rPr>
              <a:t>达，或修复基因突变。</a:t>
            </a:r>
            <a:r>
              <a:rPr lang="zh-CN" altLang="en-US" dirty="0"/>
              <a:t> </a:t>
            </a:r>
            <a:br>
              <a:rPr lang="zh-CN" altLang="en-US" dirty="0"/>
            </a:br>
            <a:endParaRPr kumimoji="0" lang="zh-CN" altLang="zh-CN"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sym typeface="+mn-ea"/>
              </a:rPr>
              <a:t>1980</a:t>
            </a:r>
            <a:r>
              <a:rPr lang="zh-CN" altLang="en-US" dirty="0">
                <a:sym typeface="+mn-ea"/>
              </a:rPr>
              <a:t>年代初，意大利裔美国遗传学家卡佩基（</a:t>
            </a:r>
            <a:r>
              <a:rPr lang="en-US" altLang="zh-CN" dirty="0">
                <a:sym typeface="+mn-ea"/>
              </a:rPr>
              <a:t>M. R. Capecchi</a:t>
            </a:r>
            <a:r>
              <a:rPr lang="zh-CN" altLang="en-US" dirty="0">
                <a:sym typeface="+mn-ea"/>
              </a:rPr>
              <a:t>）坚信同源重组可应用于细胞内</a:t>
            </a:r>
            <a:r>
              <a:rPr lang="en-US" altLang="zh-CN" dirty="0">
                <a:sym typeface="+mn-ea"/>
              </a:rPr>
              <a:t>DNA</a:t>
            </a:r>
            <a:r>
              <a:rPr lang="zh-CN" altLang="en-US" dirty="0">
                <a:sym typeface="+mn-ea"/>
              </a:rPr>
              <a:t>的操作。他首先获得一种携带新霉素抗药基因缺陷的细胞系（添加新霉素可造成细胞死亡），然后通过显微注射方式将正常新霉素抗药基因导入细胞，结果细胞恢复了抗性。实验也证实，通过同源重组方式可完成基因替换。</a:t>
            </a:r>
            <a:endParaRPr kumimoji="0" lang="zh-CN" altLang="zh-CN"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zh-CN"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br>
              <a:rPr lang="zh-CN" altLang="en-US" dirty="0"/>
            </a:b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19</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与此同时，美国北卡罗来纳州大学教会山分校的</a:t>
            </a:r>
            <a:r>
              <a:rPr lang="zh-CN" altLang="en-US" b="1" dirty="0"/>
              <a:t>奥立佛</a:t>
            </a:r>
            <a:r>
              <a:rPr lang="en-US" altLang="zh-CN" b="1" dirty="0"/>
              <a:t>·</a:t>
            </a:r>
            <a:r>
              <a:rPr lang="zh-CN" altLang="en-US" b="1" dirty="0"/>
              <a:t>史密斯教授</a:t>
            </a:r>
            <a:r>
              <a:rPr lang="zh-CN" altLang="en-US" dirty="0"/>
              <a:t>也在进行着同源重组的研究。</a:t>
            </a:r>
            <a:r>
              <a:rPr lang="en-US" altLang="zh-CN" sz="1800" b="0" i="0" dirty="0">
                <a:solidFill>
                  <a:srgbClr val="231F20"/>
                </a:solidFill>
                <a:effectLst/>
                <a:latin typeface="TimesNewRomanPSMT"/>
              </a:rPr>
              <a:t>Thomas </a:t>
            </a:r>
            <a:r>
              <a:rPr lang="zh-CN" altLang="en-US" sz="1800" b="0" i="0" dirty="0">
                <a:solidFill>
                  <a:srgbClr val="231F20"/>
                </a:solidFill>
                <a:effectLst/>
                <a:latin typeface="宋体" panose="02010600030101010101" pitchFamily="2" charset="-122"/>
                <a:ea typeface="宋体" panose="02010600030101010101" pitchFamily="2" charset="-122"/>
              </a:rPr>
              <a:t>和 </a:t>
            </a:r>
            <a:r>
              <a:rPr lang="en-US" altLang="zh-CN" sz="1800" b="0" i="0" dirty="0">
                <a:solidFill>
                  <a:srgbClr val="231F20"/>
                </a:solidFill>
                <a:effectLst/>
                <a:latin typeface="TimesNewRomanPSMT"/>
              </a:rPr>
              <a:t>Capecchi </a:t>
            </a:r>
            <a:r>
              <a:rPr lang="zh-CN" altLang="en-US" sz="1800" b="0" i="0" dirty="0">
                <a:solidFill>
                  <a:srgbClr val="231F20"/>
                </a:solidFill>
                <a:effectLst/>
                <a:latin typeface="宋体" panose="02010600030101010101" pitchFamily="2" charset="-122"/>
                <a:ea typeface="宋体" panose="02010600030101010101" pitchFamily="2" charset="-122"/>
              </a:rPr>
              <a:t>报道了在小鼠胚胎干细胞中进行基因打靶的实验，成功突变了基因 </a:t>
            </a:r>
            <a:r>
              <a:rPr lang="en-US" altLang="zh-CN" sz="1800" b="0" i="1" dirty="0">
                <a:solidFill>
                  <a:srgbClr val="231F20"/>
                </a:solidFill>
                <a:effectLst/>
                <a:latin typeface="TimesNewRomanPS-ItalicMT"/>
              </a:rPr>
              <a:t>HPRT</a:t>
            </a:r>
            <a:r>
              <a:rPr lang="zh-CN" altLang="en-US" sz="1800" b="0" i="0" dirty="0">
                <a:solidFill>
                  <a:srgbClr val="231F20"/>
                </a:solidFill>
                <a:effectLst/>
                <a:latin typeface="宋体" panose="02010600030101010101" pitchFamily="2" charset="-122"/>
                <a:ea typeface="宋体" panose="02010600030101010101" pitchFamily="2" charset="-122"/>
              </a:rPr>
              <a:t>，</a:t>
            </a:r>
            <a:r>
              <a:rPr lang="zh-CN" altLang="en-US" dirty="0"/>
              <a:t> </a:t>
            </a:r>
            <a:br>
              <a:rPr lang="zh-CN" altLang="en-US" dirty="0"/>
            </a:b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而来自英国的干细胞生物学家</a:t>
            </a:r>
            <a:r>
              <a:rPr lang="en-US" altLang="zh-CN" dirty="0"/>
              <a:t>Martin Evans</a:t>
            </a:r>
            <a:r>
              <a:rPr lang="zh-CN" altLang="en-US" dirty="0"/>
              <a:t>当时和</a:t>
            </a:r>
            <a:r>
              <a:rPr lang="en-US" altLang="zh-CN" dirty="0" err="1"/>
              <a:t>Mattew</a:t>
            </a:r>
            <a:r>
              <a:rPr lang="en-US" altLang="zh-CN" dirty="0"/>
              <a:t> Kaufman</a:t>
            </a:r>
            <a:r>
              <a:rPr lang="zh-CN" altLang="en-US" dirty="0"/>
              <a:t>合作在</a:t>
            </a:r>
            <a:r>
              <a:rPr lang="en-US" altLang="zh-CN" dirty="0"/>
              <a:t>1981</a:t>
            </a:r>
            <a:r>
              <a:rPr lang="zh-CN" altLang="en-US" dirty="0"/>
              <a:t>年发表了一篇非常重要的</a:t>
            </a:r>
            <a:r>
              <a:rPr lang="en-US" altLang="zh-CN" dirty="0"/>
              <a:t>Nature</a:t>
            </a:r>
            <a:r>
              <a:rPr lang="zh-CN" altLang="en-US" dirty="0"/>
              <a:t>文章，首次报道建立小鼠胚胎干细胞系（下图）。此后</a:t>
            </a:r>
            <a:r>
              <a:rPr lang="en-US" altLang="zh-CN" dirty="0"/>
              <a:t>Evans</a:t>
            </a:r>
            <a:r>
              <a:rPr lang="zh-CN" altLang="en-US" dirty="0"/>
              <a:t>等人用逆转录病毒的方法对小鼠</a:t>
            </a:r>
            <a:r>
              <a:rPr lang="en-US" altLang="zh-CN" dirty="0"/>
              <a:t>ES</a:t>
            </a:r>
            <a:r>
              <a:rPr lang="zh-CN" altLang="en-US" dirty="0"/>
              <a:t>干细胞进行遗传改造奖基因整合到染色体上得到了携带新遗传物质的小鼠（下图）。 </a:t>
            </a:r>
            <a:endParaRPr lang="en-US" altLang="zh-CN" dirty="0"/>
          </a:p>
          <a:p>
            <a:r>
              <a:rPr lang="zh-CN" altLang="en-US" dirty="0"/>
              <a:t>接下的事情大家都能想到了，那就是结合</a:t>
            </a:r>
            <a:r>
              <a:rPr lang="en-US" altLang="zh-CN" dirty="0"/>
              <a:t>Capecchi</a:t>
            </a:r>
            <a:r>
              <a:rPr lang="zh-CN" altLang="en-US" dirty="0"/>
              <a:t>和</a:t>
            </a:r>
            <a:r>
              <a:rPr lang="en-US" altLang="zh-CN" dirty="0"/>
              <a:t>Smithies</a:t>
            </a:r>
            <a:r>
              <a:rPr lang="zh-CN" altLang="en-US" dirty="0"/>
              <a:t>在细胞中的同源重组打靶技术加上</a:t>
            </a:r>
            <a:r>
              <a:rPr lang="en-US" altLang="zh-CN" dirty="0"/>
              <a:t>Evans</a:t>
            </a:r>
            <a:r>
              <a:rPr lang="zh-CN" altLang="en-US" dirty="0"/>
              <a:t>建立的胚胎干细胞系，二者合二为一就能够实现获得基因敲除的小鼠了。不过最开始在</a:t>
            </a:r>
            <a:r>
              <a:rPr lang="en-US" altLang="zh-CN" dirty="0"/>
              <a:t>1987</a:t>
            </a:r>
            <a:r>
              <a:rPr lang="zh-CN" altLang="en-US" dirty="0"/>
              <a:t>年，</a:t>
            </a:r>
            <a:r>
              <a:rPr lang="en-US" altLang="zh-CN" dirty="0"/>
              <a:t>Capecchi</a:t>
            </a:r>
            <a:r>
              <a:rPr lang="zh-CN" altLang="en-US" dirty="0"/>
              <a:t>和</a:t>
            </a:r>
            <a:r>
              <a:rPr lang="en-US" altLang="zh-CN" dirty="0"/>
              <a:t>Smithies</a:t>
            </a:r>
            <a:r>
              <a:rPr lang="zh-CN" altLang="en-US" dirty="0"/>
              <a:t>首先分别独立在小鼠</a:t>
            </a:r>
            <a:r>
              <a:rPr lang="en-US" altLang="zh-CN" dirty="0"/>
              <a:t>ES</a:t>
            </a:r>
            <a:r>
              <a:rPr lang="zh-CN" altLang="en-US" dirty="0"/>
              <a:t>中用基因打靶技术对单个基因进行精确的打靶。而真正意义上获得第一例基因敲除小鼠要等到</a:t>
            </a:r>
            <a:r>
              <a:rPr lang="en-US" altLang="zh-CN" dirty="0"/>
              <a:t>1989</a:t>
            </a:r>
            <a:r>
              <a:rPr lang="zh-CN" altLang="en-US" dirty="0"/>
              <a:t>。</a:t>
            </a:r>
            <a:endParaRPr lang="en-US" altLang="zh-CN" dirty="0"/>
          </a:p>
          <a:p>
            <a:endParaRPr lang="en-US" altLang="zh-CN" dirty="0"/>
          </a:p>
          <a:p>
            <a:endParaRPr lang="en-US" altLang="zh-CN" dirty="0"/>
          </a:p>
          <a:p>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21</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endParaRPr lang="en-US" altLang="zh-CN" dirty="0"/>
          </a:p>
          <a:p>
            <a:r>
              <a:rPr lang="en-US" altLang="zh-CN" dirty="0"/>
              <a:t>https://</a:t>
            </a:r>
            <a:r>
              <a:rPr lang="en-US" altLang="zh-CN" dirty="0" err="1"/>
              <a:t>www.360zhyx.com</a:t>
            </a:r>
            <a:r>
              <a:rPr lang="en-US" altLang="zh-CN" dirty="0"/>
              <a:t>/</a:t>
            </a:r>
            <a:r>
              <a:rPr lang="en-US" altLang="zh-CN" dirty="0" err="1"/>
              <a:t>index.php?mpp</a:t>
            </a:r>
            <a:r>
              <a:rPr lang="en-US" altLang="zh-CN" dirty="0"/>
              <a:t>=</a:t>
            </a:r>
            <a:r>
              <a:rPr lang="en-US" altLang="zh-CN" dirty="0" err="1"/>
              <a:t>home&amp;cpp</a:t>
            </a:r>
            <a:r>
              <a:rPr lang="en-US" altLang="zh-CN" dirty="0"/>
              <a:t>=</a:t>
            </a:r>
            <a:r>
              <a:rPr lang="en-US" altLang="zh-CN" dirty="0" err="1"/>
              <a:t>research&amp;rid</a:t>
            </a:r>
            <a:r>
              <a:rPr lang="en-US" altLang="zh-CN" dirty="0"/>
              <a:t>=67428</a:t>
            </a:r>
          </a:p>
          <a:p>
            <a:endParaRPr lang="zh-CN" altLang="en-US" dirty="0"/>
          </a:p>
          <a:p>
            <a:endParaRPr lang="zh-CN" altLang="en-US" dirty="0"/>
          </a:p>
          <a:p>
            <a:r>
              <a:rPr lang="en-US" altLang="zh-CN" dirty="0">
                <a:sym typeface="+mn-ea"/>
              </a:rPr>
              <a:t>1987</a:t>
            </a:r>
            <a:r>
              <a:rPr lang="zh-CN" altLang="en-US" dirty="0">
                <a:sym typeface="+mn-ea"/>
              </a:rPr>
              <a:t>年，多家实验室在小鼠胚胎干细胞上利用同源重组实现基因替换和引入突变，并最终制备成功疾病模型。这种技术一般称为基因打靶（</a:t>
            </a:r>
            <a:r>
              <a:rPr lang="en-US" altLang="zh-CN" dirty="0">
                <a:sym typeface="+mn-ea"/>
              </a:rPr>
              <a:t>gene targeting</a:t>
            </a:r>
            <a:r>
              <a:rPr lang="zh-CN" altLang="en-US" dirty="0">
                <a:sym typeface="+mn-ea"/>
              </a:rPr>
              <a:t>）。随后经过完善与改进，该技术在生命科学多个领域中得到广泛应用，卡佩基、史密斯以及另外一位科学家也因此分享</a:t>
            </a:r>
            <a:r>
              <a:rPr lang="en-US" altLang="zh-CN" dirty="0">
                <a:sym typeface="+mn-ea"/>
              </a:rPr>
              <a:t>2007</a:t>
            </a:r>
            <a:r>
              <a:rPr lang="zh-CN" altLang="en-US" dirty="0">
                <a:sym typeface="+mn-ea"/>
              </a:rPr>
              <a:t>年度的诺贝尔生理学或医学奖</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22</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dirty="0">
                <a:solidFill>
                  <a:srgbClr val="231F20"/>
                </a:solidFill>
                <a:effectLst/>
                <a:latin typeface="宋体" panose="02010600030101010101" pitchFamily="2" charset="-122"/>
                <a:ea typeface="宋体" panose="02010600030101010101" pitchFamily="2" charset="-122"/>
              </a:rPr>
              <a:t>以上两项技术的协同使用，奠定了基因打靶技术的基础，但是该项技术依赖于 ： </a:t>
            </a:r>
            <a:r>
              <a:rPr lang="en-US" altLang="zh-CN" sz="1800" b="0" i="0" dirty="0">
                <a:solidFill>
                  <a:srgbClr val="231F20"/>
                </a:solidFill>
                <a:effectLst/>
                <a:latin typeface="TimesNewRomanPSMT"/>
              </a:rPr>
              <a:t>(1) </a:t>
            </a:r>
            <a:r>
              <a:rPr lang="zh-CN" altLang="en-US" sz="1800" b="0" i="0" dirty="0">
                <a:solidFill>
                  <a:srgbClr val="231F20"/>
                </a:solidFill>
                <a:effectLst/>
                <a:latin typeface="宋体" panose="02010600030101010101" pitchFamily="2" charset="-122"/>
                <a:ea typeface="宋体" panose="02010600030101010101" pitchFamily="2" charset="-122"/>
              </a:rPr>
              <a:t>胚胎干细胞</a:t>
            </a:r>
            <a:r>
              <a:rPr lang="zh-CN" altLang="en-US" sz="2800" dirty="0"/>
              <a:t> </a:t>
            </a:r>
            <a:r>
              <a:rPr lang="zh-CN" altLang="en-US" sz="1800" b="0" i="0" dirty="0">
                <a:solidFill>
                  <a:srgbClr val="231F20"/>
                </a:solidFill>
                <a:effectLst/>
                <a:latin typeface="宋体" panose="02010600030101010101" pitchFamily="2" charset="-122"/>
                <a:ea typeface="宋体" panose="02010600030101010101" pitchFamily="2" charset="-122"/>
              </a:rPr>
              <a:t>的建立和胚胎干细胞在注射到早期胚胎中形成嵌合动物生殖细胞的能力 ； </a:t>
            </a:r>
            <a:r>
              <a:rPr lang="en-US" altLang="zh-CN" sz="1800" b="0" i="0" dirty="0">
                <a:solidFill>
                  <a:srgbClr val="231F20"/>
                </a:solidFill>
                <a:effectLst/>
                <a:latin typeface="TimesNewRomanPSMT"/>
              </a:rPr>
              <a:t>(2) </a:t>
            </a:r>
            <a:r>
              <a:rPr lang="zh-CN" altLang="en-US" sz="1800" b="0" i="0" dirty="0">
                <a:solidFill>
                  <a:srgbClr val="231F20"/>
                </a:solidFill>
                <a:effectLst/>
                <a:latin typeface="宋体" panose="02010600030101010101" pitchFamily="2" charset="-122"/>
                <a:ea typeface="宋体" panose="02010600030101010101" pitchFamily="2" charset="-122"/>
              </a:rPr>
              <a:t>同源重组在胚胎干细胞</a:t>
            </a:r>
            <a:br>
              <a:rPr lang="zh-CN" altLang="en-US" sz="1800" b="0" i="0" dirty="0">
                <a:solidFill>
                  <a:srgbClr val="231F20"/>
                </a:solidFill>
                <a:effectLst/>
                <a:latin typeface="宋体" panose="02010600030101010101" pitchFamily="2" charset="-122"/>
                <a:ea typeface="宋体" panose="02010600030101010101" pitchFamily="2" charset="-122"/>
              </a:rPr>
            </a:br>
            <a:r>
              <a:rPr lang="zh-CN" altLang="en-US" sz="1800" b="0" i="0" dirty="0">
                <a:solidFill>
                  <a:srgbClr val="231F20"/>
                </a:solidFill>
                <a:effectLst/>
                <a:latin typeface="宋体" panose="02010600030101010101" pitchFamily="2" charset="-122"/>
                <a:ea typeface="宋体" panose="02010600030101010101" pitchFamily="2" charset="-122"/>
              </a:rPr>
              <a:t>中具有较高的效率。这两点使得基因打靶技术一直局限于小鼠的几个特定品系中，而最近随着大鼠胚胎干细胞培养体系的进步才成功应用于大鼠 </a:t>
            </a:r>
            <a:r>
              <a:rPr lang="en-US" altLang="zh-CN" sz="1800" b="0" i="0" dirty="0">
                <a:solidFill>
                  <a:srgbClr val="231F20"/>
                </a:solidFill>
                <a:effectLst/>
                <a:latin typeface="TimesNewRomanPSMT"/>
              </a:rPr>
              <a:t>[28-29]</a:t>
            </a:r>
            <a:r>
              <a:rPr lang="zh-CN" altLang="en-US" sz="1800" b="0" i="0" dirty="0">
                <a:solidFill>
                  <a:srgbClr val="231F20"/>
                </a:solidFill>
                <a:effectLst/>
                <a:latin typeface="宋体" panose="02010600030101010101" pitchFamily="2" charset="-122"/>
                <a:ea typeface="宋体" panose="02010600030101010101" pitchFamily="2" charset="-122"/>
              </a:rPr>
              <a:t>。对于其他重要的哺乳动物，如猪、牛、和非人灵长类等其胚胎干细胞的分离和培养条件依然在努力优化中。此外，在人类胚胎干细胞和诱导多能性干细胞中，同源重组的效率很低，极大限制了该方法的应用。</a:t>
            </a:r>
            <a:r>
              <a:rPr lang="zh-CN" altLang="en-US" dirty="0"/>
              <a:t> </a:t>
            </a:r>
            <a:endParaRPr lang="en-US" altLang="zh-CN" dirty="0"/>
          </a:p>
          <a:p>
            <a:endParaRPr lang="en-US" altLang="zh-CN" dirty="0"/>
          </a:p>
          <a:p>
            <a:r>
              <a:rPr lang="zh-CN" altLang="en-US" dirty="0"/>
              <a:t>虽然基因打靶技术取得巨大成功，但是该技术存在一个明显缺陷，就是在正常情况下，哺乳动物细胞和模式动物体内的同源重组发生率极低，因此基因打靶技术成功率不高。后来发现，</a:t>
            </a:r>
            <a:r>
              <a:rPr lang="en-US" altLang="zh-CN" dirty="0"/>
              <a:t>DNA</a:t>
            </a:r>
            <a:r>
              <a:rPr lang="zh-CN" altLang="en-US" dirty="0"/>
              <a:t>双链断裂（</a:t>
            </a:r>
            <a:r>
              <a:rPr lang="en-US" altLang="zh-CN" dirty="0"/>
              <a:t>double-strand break, </a:t>
            </a:r>
            <a:r>
              <a:rPr lang="en-US" altLang="zh-CN" dirty="0" err="1"/>
              <a:t>DSB</a:t>
            </a:r>
            <a:r>
              <a:rPr lang="zh-CN" altLang="en-US" dirty="0"/>
              <a:t>）可使同源重组效率大大提高，于是研究人员开始寻找增加细胞内</a:t>
            </a:r>
            <a:r>
              <a:rPr lang="en-US" altLang="zh-CN" dirty="0" err="1"/>
              <a:t>DSB</a:t>
            </a:r>
            <a:r>
              <a:rPr lang="zh-CN" altLang="en-US" dirty="0"/>
              <a:t>发生的策略，他们的眼光重又回到限制性内切酶</a:t>
            </a:r>
            <a:r>
              <a:rPr lang="zh-CN" altLang="en-US" dirty="0">
                <a:effectLst/>
              </a:rPr>
              <a:t>。</a:t>
            </a:r>
            <a:endParaRPr lang="en-US" altLang="zh-CN" dirty="0">
              <a:effectLst/>
            </a:endParaRPr>
          </a:p>
          <a:p>
            <a:pPr marL="0" marR="0" lvl="0" indent="0" algn="l" defTabSz="914400" rtl="0" eaLnBrk="1" fontAlgn="auto" latinLnBrk="0" hangingPunct="1">
              <a:lnSpc>
                <a:spcPct val="100000"/>
              </a:lnSpc>
              <a:spcBef>
                <a:spcPts val="0"/>
              </a:spcBef>
              <a:spcAft>
                <a:spcPts val="0"/>
              </a:spcAft>
              <a:buClrTx/>
              <a:buSzTx/>
              <a:buFontTx/>
              <a:buNone/>
              <a:defRPr/>
            </a:pPr>
            <a:br>
              <a:rPr lang="zh-CN" altLang="en-US" dirty="0"/>
            </a:b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i="0" dirty="0">
                <a:solidFill>
                  <a:srgbClr val="231F20"/>
                </a:solidFill>
                <a:effectLst/>
                <a:latin typeface="宋体" panose="02010600030101010101" pitchFamily="2" charset="-122"/>
                <a:ea typeface="宋体" panose="02010600030101010101" pitchFamily="2" charset="-122"/>
              </a:rPr>
              <a:t>但是基因打靶技术主要依赖自然发生的同源重组，这一过程在大多数物种和细胞类型中发生频率极低，使得这项技术的应用受到限制。</a:t>
            </a:r>
            <a:r>
              <a:rPr lang="zh-CN" altLang="en-US" dirty="0"/>
              <a:t> </a:t>
            </a:r>
            <a:br>
              <a:rPr lang="zh-CN" altLang="en-US" dirty="0"/>
            </a:br>
            <a:r>
              <a:rPr lang="zh-CN" altLang="en-US" dirty="0"/>
              <a:t>20世纪70年代，科学家在研究细菌如何防御噬菌体过程中发现限制性内切酶可以保护细菌免受噬菌体的侵害，这个发现具有里程碑式的意义，科学家发现可以对基因组进行编辑。20世纪80年代，Smithies等和Capecchi发现，可以通过同源重组将外源DNA整合到哺乳动物的基因组中，但这种方法有很大的局限性，不仅整合效率极低(整合效率取决于细胞的状态和类型)，而且容易脱靶。</a:t>
            </a:r>
          </a:p>
          <a:p>
            <a:br>
              <a:rPr lang="zh-CN" altLang="en-US" dirty="0"/>
            </a:br>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23</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olidFill>
                  <a:srgbClr val="231F20"/>
                </a:solidFill>
                <a:effectLst/>
                <a:latin typeface="宋体" panose="02010600030101010101" pitchFamily="2" charset="-122"/>
                <a:ea typeface="宋体" panose="02010600030101010101" pitchFamily="2" charset="-122"/>
                <a:sym typeface="+mn-ea"/>
              </a:rPr>
              <a:t>二十世纪 </a:t>
            </a:r>
            <a:r>
              <a:rPr lang="en-US" altLang="zh-CN" dirty="0">
                <a:solidFill>
                  <a:srgbClr val="231F20"/>
                </a:solidFill>
                <a:effectLst/>
                <a:latin typeface="TimesNewRomanPSMT"/>
                <a:sym typeface="+mn-ea"/>
              </a:rPr>
              <a:t>90 </a:t>
            </a:r>
            <a:r>
              <a:rPr lang="zh-CN" altLang="en-US" dirty="0">
                <a:solidFill>
                  <a:srgbClr val="231F20"/>
                </a:solidFill>
                <a:effectLst/>
                <a:latin typeface="宋体" panose="02010600030101010101" pitchFamily="2" charset="-122"/>
                <a:ea typeface="宋体" panose="02010600030101010101" pitchFamily="2" charset="-122"/>
                <a:sym typeface="+mn-ea"/>
              </a:rPr>
              <a:t>年代，有研究报道 </a:t>
            </a:r>
            <a:r>
              <a:rPr lang="en-US" altLang="zh-CN" dirty="0">
                <a:solidFill>
                  <a:srgbClr val="231F20"/>
                </a:solidFill>
                <a:effectLst/>
                <a:latin typeface="TimesNewRomanPSMT"/>
                <a:sym typeface="+mn-ea"/>
              </a:rPr>
              <a:t>DNA </a:t>
            </a:r>
            <a:r>
              <a:rPr lang="zh-CN" altLang="en-US" dirty="0">
                <a:solidFill>
                  <a:srgbClr val="231F20"/>
                </a:solidFill>
                <a:effectLst/>
                <a:latin typeface="宋体" panose="02010600030101010101" pitchFamily="2" charset="-122"/>
                <a:ea typeface="宋体" panose="02010600030101010101" pitchFamily="2" charset="-122"/>
                <a:sym typeface="+mn-ea"/>
              </a:rPr>
              <a:t>分子发生双链断裂 </a:t>
            </a:r>
            <a:r>
              <a:rPr lang="en-US" altLang="zh-CN" dirty="0">
                <a:solidFill>
                  <a:srgbClr val="231F20"/>
                </a:solidFill>
                <a:effectLst/>
                <a:latin typeface="TimesNewRomanPSMT"/>
                <a:sym typeface="+mn-ea"/>
              </a:rPr>
              <a:t>(double-strand break) </a:t>
            </a:r>
            <a:r>
              <a:rPr lang="zh-CN" altLang="en-US" dirty="0">
                <a:solidFill>
                  <a:srgbClr val="231F20"/>
                </a:solidFill>
                <a:effectLst/>
                <a:latin typeface="宋体" panose="02010600030101010101" pitchFamily="2" charset="-122"/>
                <a:ea typeface="宋体" panose="02010600030101010101" pitchFamily="2" charset="-122"/>
                <a:sym typeface="+mn-ea"/>
              </a:rPr>
              <a:t>时，能够引发 </a:t>
            </a:r>
            <a:r>
              <a:rPr lang="en-US" altLang="zh-CN" dirty="0">
                <a:solidFill>
                  <a:srgbClr val="231F20"/>
                </a:solidFill>
                <a:effectLst/>
                <a:latin typeface="TimesNewRomanPSMT"/>
                <a:sym typeface="+mn-ea"/>
              </a:rPr>
              <a:t>DNA</a:t>
            </a:r>
            <a:r>
              <a:rPr lang="zh-CN" altLang="en-US" dirty="0">
                <a:solidFill>
                  <a:srgbClr val="231F20"/>
                </a:solidFill>
                <a:effectLst/>
                <a:latin typeface="宋体" panose="02010600030101010101" pitchFamily="2" charset="-122"/>
                <a:ea typeface="宋体" panose="02010600030101010101" pitchFamily="2" charset="-122"/>
                <a:sym typeface="+mn-ea"/>
              </a:rPr>
              <a:t>以同源重组 </a:t>
            </a:r>
            <a:r>
              <a:rPr lang="en-US" altLang="zh-CN" dirty="0">
                <a:solidFill>
                  <a:srgbClr val="231F20"/>
                </a:solidFill>
                <a:effectLst/>
                <a:latin typeface="TimesNewRomanPSMT"/>
                <a:sym typeface="+mn-ea"/>
              </a:rPr>
              <a:t>(homologous recombination, HR) </a:t>
            </a:r>
            <a:r>
              <a:rPr lang="zh-CN" altLang="en-US" dirty="0">
                <a:solidFill>
                  <a:srgbClr val="231F20"/>
                </a:solidFill>
                <a:effectLst/>
                <a:latin typeface="宋体" panose="02010600030101010101" pitchFamily="2" charset="-122"/>
                <a:ea typeface="宋体" panose="02010600030101010101" pitchFamily="2" charset="-122"/>
                <a:sym typeface="+mn-ea"/>
              </a:rPr>
              <a:t>或者非同源末端连接 </a:t>
            </a:r>
            <a:r>
              <a:rPr lang="en-US" altLang="zh-CN" dirty="0">
                <a:solidFill>
                  <a:srgbClr val="231F20"/>
                </a:solidFill>
                <a:effectLst/>
                <a:latin typeface="TimesNewRomanPSMT"/>
                <a:sym typeface="+mn-ea"/>
              </a:rPr>
              <a:t>(non-homology end joining, </a:t>
            </a:r>
            <a:r>
              <a:rPr lang="en-US" altLang="zh-CN" dirty="0" err="1">
                <a:solidFill>
                  <a:srgbClr val="231F20"/>
                </a:solidFill>
                <a:effectLst/>
                <a:latin typeface="TimesNewRomanPSMT"/>
                <a:sym typeface="+mn-ea"/>
              </a:rPr>
              <a:t>NHEJ</a:t>
            </a:r>
            <a:r>
              <a:rPr lang="en-US" altLang="zh-CN" dirty="0">
                <a:solidFill>
                  <a:srgbClr val="231F20"/>
                </a:solidFill>
                <a:effectLst/>
                <a:latin typeface="TimesNewRomanPSMT"/>
                <a:sym typeface="+mn-ea"/>
              </a:rPr>
              <a:t>) </a:t>
            </a:r>
            <a:r>
              <a:rPr lang="zh-CN" altLang="en-US" dirty="0">
                <a:solidFill>
                  <a:srgbClr val="231F20"/>
                </a:solidFill>
                <a:effectLst/>
                <a:latin typeface="宋体" panose="02010600030101010101" pitchFamily="2" charset="-122"/>
                <a:ea typeface="宋体" panose="02010600030101010101" pitchFamily="2" charset="-122"/>
                <a:sym typeface="+mn-ea"/>
              </a:rPr>
              <a:t>方式修复受损的 </a:t>
            </a:r>
            <a:r>
              <a:rPr lang="en-US" altLang="zh-CN" dirty="0">
                <a:solidFill>
                  <a:srgbClr val="231F20"/>
                </a:solidFill>
                <a:effectLst/>
                <a:latin typeface="TimesNewRomanPSMT"/>
                <a:sym typeface="+mn-ea"/>
              </a:rPr>
              <a:t>DNA[2]</a:t>
            </a:r>
            <a:r>
              <a:rPr lang="zh-CN" altLang="en-US" dirty="0">
                <a:solidFill>
                  <a:srgbClr val="231F20"/>
                </a:solidFill>
                <a:effectLst/>
                <a:latin typeface="宋体" panose="02010600030101010101" pitchFamily="2" charset="-122"/>
                <a:ea typeface="宋体" panose="02010600030101010101" pitchFamily="2" charset="-122"/>
                <a:sym typeface="+mn-ea"/>
              </a:rPr>
              <a:t>，同时引入碱基突变、缺失或者插入。</a:t>
            </a:r>
            <a:r>
              <a:rPr lang="zh-CN" altLang="en-US" dirty="0">
                <a:sym typeface="+mn-ea"/>
              </a:rPr>
              <a:t> </a:t>
            </a:r>
            <a:r>
              <a:rPr lang="zh-CN" altLang="en-US" dirty="0">
                <a:solidFill>
                  <a:srgbClr val="231F20"/>
                </a:solidFill>
                <a:effectLst/>
                <a:latin typeface="宋体" panose="02010600030101010101" pitchFamily="2" charset="-122"/>
                <a:ea typeface="宋体" panose="02010600030101010101" pitchFamily="2" charset="-122"/>
                <a:sym typeface="+mn-ea"/>
              </a:rPr>
              <a:t>因此，利用各种方法在基因组特定位点诱导 </a:t>
            </a:r>
            <a:r>
              <a:rPr lang="en-US" altLang="zh-CN" dirty="0">
                <a:solidFill>
                  <a:srgbClr val="231F20"/>
                </a:solidFill>
                <a:effectLst/>
                <a:latin typeface="TimesNewRomanPSMT"/>
                <a:sym typeface="+mn-ea"/>
              </a:rPr>
              <a:t>DNA </a:t>
            </a:r>
            <a:r>
              <a:rPr lang="zh-CN" altLang="en-US" dirty="0">
                <a:solidFill>
                  <a:srgbClr val="231F20"/>
                </a:solidFill>
                <a:effectLst/>
                <a:latin typeface="宋体" panose="02010600030101010101" pitchFamily="2" charset="-122"/>
                <a:ea typeface="宋体" panose="02010600030101010101" pitchFamily="2" charset="-122"/>
                <a:sym typeface="+mn-ea"/>
              </a:rPr>
              <a:t>双链断裂，从而引发 </a:t>
            </a:r>
            <a:r>
              <a:rPr lang="en-US" altLang="zh-CN" dirty="0">
                <a:solidFill>
                  <a:srgbClr val="231F20"/>
                </a:solidFill>
                <a:effectLst/>
                <a:latin typeface="TimesNewRomanPSMT"/>
                <a:sym typeface="+mn-ea"/>
              </a:rPr>
              <a:t>DNA </a:t>
            </a:r>
            <a:r>
              <a:rPr lang="zh-CN" altLang="en-US" dirty="0">
                <a:solidFill>
                  <a:srgbClr val="231F20"/>
                </a:solidFill>
                <a:effectLst/>
                <a:latin typeface="宋体" panose="02010600030101010101" pitchFamily="2" charset="-122"/>
                <a:ea typeface="宋体" panose="02010600030101010101" pitchFamily="2" charset="-122"/>
                <a:sym typeface="+mn-ea"/>
              </a:rPr>
              <a:t>修复活动，使得基因靶向编辑效率大大提高。</a:t>
            </a:r>
            <a:r>
              <a:rPr lang="zh-CN" altLang="en-US" dirty="0">
                <a:sym typeface="+mn-ea"/>
              </a:rPr>
              <a:t> </a:t>
            </a:r>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然而，传统的限制性内切酶也存在一个巨大不足，其大部分识别位点在</a:t>
            </a:r>
            <a:r>
              <a:rPr lang="en-US" altLang="zh-CN" dirty="0">
                <a:sym typeface="+mn-ea"/>
              </a:rPr>
              <a:t>4</a:t>
            </a:r>
            <a:r>
              <a:rPr lang="zh-CN" altLang="en-US" dirty="0">
                <a:sym typeface="+mn-ea"/>
              </a:rPr>
              <a:t>～</a:t>
            </a:r>
            <a:r>
              <a:rPr lang="en-US" altLang="zh-CN" dirty="0">
                <a:sym typeface="+mn-ea"/>
              </a:rPr>
              <a:t>6</a:t>
            </a:r>
            <a:r>
              <a:rPr lang="zh-CN" altLang="en-US" dirty="0">
                <a:sym typeface="+mn-ea"/>
              </a:rPr>
              <a:t>个碱基对（</a:t>
            </a:r>
            <a:r>
              <a:rPr lang="en-US" altLang="zh-CN" dirty="0">
                <a:sym typeface="+mn-ea"/>
              </a:rPr>
              <a:t>base pair, bp</a:t>
            </a:r>
            <a:r>
              <a:rPr lang="zh-CN" altLang="en-US" dirty="0">
                <a:sym typeface="+mn-ea"/>
              </a:rPr>
              <a:t>）。这对体外短片段</a:t>
            </a:r>
            <a:r>
              <a:rPr lang="en-US" altLang="zh-CN" dirty="0">
                <a:sym typeface="+mn-ea"/>
              </a:rPr>
              <a:t>DNA</a:t>
            </a:r>
            <a:r>
              <a:rPr lang="zh-CN" altLang="en-US" dirty="0">
                <a:sym typeface="+mn-ea"/>
              </a:rPr>
              <a:t>的操作问题不大，但对基因组层面的操作则问题多多。以剪切</a:t>
            </a:r>
            <a:r>
              <a:rPr lang="en-US" altLang="zh-CN" dirty="0" err="1">
                <a:sym typeface="+mn-ea"/>
              </a:rPr>
              <a:t>6bp</a:t>
            </a:r>
            <a:r>
              <a:rPr lang="zh-CN" altLang="en-US" dirty="0">
                <a:sym typeface="+mn-ea"/>
              </a:rPr>
              <a:t>的内切酶为例，理论上平均</a:t>
            </a:r>
            <a:r>
              <a:rPr lang="en-US" altLang="zh-CN" dirty="0">
                <a:sym typeface="+mn-ea"/>
              </a:rPr>
              <a:t>4096</a:t>
            </a:r>
            <a:r>
              <a:rPr lang="zh-CN" altLang="en-US" dirty="0">
                <a:sym typeface="+mn-ea"/>
              </a:rPr>
              <a:t>（</a:t>
            </a:r>
            <a:r>
              <a:rPr lang="en-US" altLang="zh-CN" dirty="0">
                <a:sym typeface="+mn-ea"/>
              </a:rPr>
              <a:t>4</a:t>
            </a:r>
            <a:r>
              <a:rPr lang="zh-CN" altLang="en-US" dirty="0">
                <a:effectLst/>
                <a:sym typeface="+mn-ea"/>
              </a:rPr>
              <a:t> </a:t>
            </a:r>
            <a:r>
              <a:rPr lang="en-US" altLang="zh-CN" baseline="30000" dirty="0">
                <a:solidFill>
                  <a:srgbClr val="3E3E3E"/>
                </a:solidFill>
                <a:effectLst/>
                <a:latin typeface="Calibri" panose="020F0502020204030204" pitchFamily="34" charset="0"/>
                <a:ea typeface="宋体" panose="02010600030101010101" pitchFamily="2" charset="-122"/>
                <a:sym typeface="+mn-ea"/>
              </a:rPr>
              <a:t>6</a:t>
            </a:r>
            <a:r>
              <a:rPr lang="zh-CN" altLang="en-US" dirty="0">
                <a:sym typeface="+mn-ea"/>
              </a:rPr>
              <a:t>）个碱基就存在一个剪切位点。如果将这类酶应用于人基因组（</a:t>
            </a:r>
            <a:r>
              <a:rPr lang="en-US" altLang="zh-CN" dirty="0">
                <a:sym typeface="+mn-ea"/>
              </a:rPr>
              <a:t>30</a:t>
            </a:r>
            <a:r>
              <a:rPr lang="zh-CN" altLang="en-US" dirty="0">
                <a:sym typeface="+mn-ea"/>
              </a:rPr>
              <a:t>亿碱基对）的编辑，理论上一次可产生</a:t>
            </a:r>
            <a:r>
              <a:rPr lang="en-US" altLang="zh-CN" dirty="0">
                <a:sym typeface="+mn-ea"/>
              </a:rPr>
              <a:t>7.3×10</a:t>
            </a:r>
            <a:r>
              <a:rPr lang="zh-CN" altLang="en-US" dirty="0">
                <a:effectLst/>
                <a:sym typeface="+mn-ea"/>
              </a:rPr>
              <a:t> </a:t>
            </a:r>
            <a:r>
              <a:rPr lang="en-US" altLang="zh-CN" baseline="30000" dirty="0">
                <a:solidFill>
                  <a:srgbClr val="3E3E3E"/>
                </a:solidFill>
                <a:effectLst/>
                <a:latin typeface="Calibri" panose="020F0502020204030204" pitchFamily="34" charset="0"/>
                <a:ea typeface="宋体" panose="02010600030101010101" pitchFamily="2" charset="-122"/>
                <a:sym typeface="+mn-ea"/>
              </a:rPr>
              <a:t>5</a:t>
            </a:r>
            <a:r>
              <a:rPr lang="zh-CN" altLang="en-US" dirty="0">
                <a:sym typeface="+mn-ea"/>
              </a:rPr>
              <a:t>个以上断裂点；若要保证切割位点唯一性，则须识别</a:t>
            </a:r>
            <a:r>
              <a:rPr lang="en-US" altLang="zh-CN" dirty="0">
                <a:sym typeface="+mn-ea"/>
              </a:rPr>
              <a:t>16</a:t>
            </a:r>
            <a:r>
              <a:rPr lang="zh-CN" altLang="en-US" dirty="0">
                <a:sym typeface="+mn-ea"/>
              </a:rPr>
              <a:t>个碱基（</a:t>
            </a:r>
            <a:r>
              <a:rPr lang="en-US" altLang="zh-CN" dirty="0">
                <a:sym typeface="+mn-ea"/>
              </a:rPr>
              <a:t>4</a:t>
            </a:r>
            <a:r>
              <a:rPr lang="zh-CN" altLang="en-US" dirty="0">
                <a:effectLst/>
                <a:sym typeface="+mn-ea"/>
              </a:rPr>
              <a:t> </a:t>
            </a:r>
            <a:r>
              <a:rPr lang="en-US" altLang="zh-CN" baseline="30000" dirty="0">
                <a:solidFill>
                  <a:srgbClr val="3E3E3E"/>
                </a:solidFill>
                <a:effectLst/>
                <a:latin typeface="Calibri" panose="020F0502020204030204" pitchFamily="34" charset="0"/>
                <a:ea typeface="宋体" panose="02010600030101010101" pitchFamily="2" charset="-122"/>
                <a:sym typeface="+mn-ea"/>
              </a:rPr>
              <a:t>16</a:t>
            </a:r>
            <a:r>
              <a:rPr lang="zh-CN" altLang="en-US" dirty="0">
                <a:sym typeface="+mn-ea"/>
              </a:rPr>
              <a:t>≈</a:t>
            </a:r>
            <a:r>
              <a:rPr lang="en-US" altLang="zh-CN" dirty="0">
                <a:sym typeface="+mn-ea"/>
              </a:rPr>
              <a:t>43</a:t>
            </a:r>
            <a:r>
              <a:rPr lang="zh-CN" altLang="en-US" dirty="0">
                <a:sym typeface="+mn-ea"/>
              </a:rPr>
              <a:t>亿）以上（随后发展的多种基因编辑技术的常见识别位点在</a:t>
            </a:r>
            <a:r>
              <a:rPr lang="en-US" altLang="zh-CN" dirty="0">
                <a:sym typeface="+mn-ea"/>
              </a:rPr>
              <a:t>20</a:t>
            </a:r>
            <a:r>
              <a:rPr lang="zh-CN" altLang="en-US" dirty="0">
                <a:sym typeface="+mn-ea"/>
              </a:rPr>
              <a:t>个上下），传统限制性内切酶显然无法应用。幸运的是，自然界还存在一类特殊的核酸内切酶。</a:t>
            </a:r>
            <a:endParaRPr lang="en-US" altLang="zh-CN" dirty="0"/>
          </a:p>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 归巢核酸内切酶</a:t>
            </a:r>
            <a:r>
              <a:rPr lang="en-US" altLang="zh-CN" dirty="0">
                <a:sym typeface="+mn-ea"/>
              </a:rPr>
              <a:t>(</a:t>
            </a:r>
            <a:r>
              <a:rPr lang="en-US" altLang="zh-CN" dirty="0" err="1">
                <a:sym typeface="+mn-ea"/>
              </a:rPr>
              <a:t>Meganuclease</a:t>
            </a:r>
            <a:r>
              <a:rPr lang="en-US" altLang="zh-CN" dirty="0">
                <a:sym typeface="+mn-ea"/>
              </a:rPr>
              <a:t>)</a:t>
            </a:r>
            <a:r>
              <a:rPr lang="zh-CN" altLang="en-US" dirty="0">
                <a:sym typeface="+mn-ea"/>
              </a:rPr>
              <a:t>是具有较大识别位点</a:t>
            </a:r>
            <a:r>
              <a:rPr lang="en-US" altLang="zh-CN" dirty="0">
                <a:sym typeface="+mn-ea"/>
              </a:rPr>
              <a:t>(12</a:t>
            </a:r>
            <a:r>
              <a:rPr lang="zh-CN" altLang="en-US" dirty="0">
                <a:sym typeface="+mn-ea"/>
              </a:rPr>
              <a:t>至</a:t>
            </a:r>
            <a:r>
              <a:rPr lang="en-US" altLang="zh-CN" dirty="0">
                <a:sym typeface="+mn-ea"/>
              </a:rPr>
              <a:t>40</a:t>
            </a:r>
            <a:r>
              <a:rPr lang="zh-CN" altLang="en-US" dirty="0">
                <a:sym typeface="+mn-ea"/>
              </a:rPr>
              <a:t>个碱基对的双链</a:t>
            </a:r>
            <a:r>
              <a:rPr lang="en-US" altLang="zh-CN" dirty="0">
                <a:sym typeface="+mn-ea"/>
              </a:rPr>
              <a:t>DNA</a:t>
            </a:r>
            <a:r>
              <a:rPr lang="zh-CN" altLang="en-US" dirty="0">
                <a:sym typeface="+mn-ea"/>
              </a:rPr>
              <a:t>序列</a:t>
            </a:r>
            <a:r>
              <a:rPr lang="en-US" altLang="zh-CN" dirty="0">
                <a:sym typeface="+mn-ea"/>
              </a:rPr>
              <a:t>)</a:t>
            </a:r>
            <a:r>
              <a:rPr lang="zh-CN" altLang="en-US" dirty="0">
                <a:sym typeface="+mn-ea"/>
              </a:rPr>
              <a:t>特征的脱氧核糖核酸内切酶，该酶的切割位点在任何给定的基因组中通常只出现一次。 例如，被</a:t>
            </a:r>
            <a:r>
              <a:rPr lang="en-US" altLang="zh-CN" dirty="0">
                <a:sym typeface="+mn-ea"/>
              </a:rPr>
              <a:t>I-</a:t>
            </a:r>
            <a:r>
              <a:rPr lang="en-US" altLang="zh-CN" dirty="0" err="1">
                <a:sym typeface="+mn-ea"/>
              </a:rPr>
              <a:t>SceI</a:t>
            </a:r>
            <a:r>
              <a:rPr lang="zh-CN" altLang="en-US" dirty="0">
                <a:sym typeface="+mn-ea"/>
              </a:rPr>
              <a:t>归巢核酸内切酶识别的</a:t>
            </a:r>
            <a:r>
              <a:rPr lang="en-US" altLang="zh-CN" dirty="0">
                <a:sym typeface="+mn-ea"/>
              </a:rPr>
              <a:t>18</a:t>
            </a:r>
            <a:r>
              <a:rPr lang="zh-CN" altLang="en-US" dirty="0">
                <a:sym typeface="+mn-ea"/>
              </a:rPr>
              <a:t>个碱基对的序列平均需要一个人类基因组大小的二十倍的基因组才能被一次偶然发现。 因此，归巢核酸内切酶被认为是最特异性的天然限制酶 </a:t>
            </a:r>
            <a:r>
              <a:rPr lang="en-US" altLang="zh-CN" dirty="0">
                <a:sym typeface="+mn-ea"/>
              </a:rPr>
              <a:t>https://</a:t>
            </a:r>
            <a:r>
              <a:rPr lang="en-US" altLang="zh-CN" dirty="0" err="1">
                <a:sym typeface="+mn-ea"/>
              </a:rPr>
              <a:t>www.bilibili.com</a:t>
            </a:r>
            <a:r>
              <a:rPr lang="en-US" altLang="zh-CN" dirty="0">
                <a:sym typeface="+mn-ea"/>
              </a:rPr>
              <a:t>/read/</a:t>
            </a:r>
            <a:r>
              <a:rPr lang="en-US" altLang="zh-CN" dirty="0" err="1">
                <a:sym typeface="+mn-ea"/>
              </a:rPr>
              <a:t>cv6163104</a:t>
            </a:r>
            <a:r>
              <a:rPr lang="en-US" altLang="zh-CN" dirty="0">
                <a:sym typeface="+mn-ea"/>
              </a:rPr>
              <a:t>/ </a:t>
            </a:r>
            <a:r>
              <a:rPr lang="zh-CN" altLang="en-US" dirty="0">
                <a:sym typeface="+mn-ea"/>
              </a:rPr>
              <a:t>出处：</a:t>
            </a:r>
            <a:r>
              <a:rPr lang="en-US" altLang="zh-CN" dirty="0" err="1">
                <a:sym typeface="+mn-ea"/>
              </a:rPr>
              <a:t>bilibili</a:t>
            </a:r>
            <a:endParaRPr lang="en-US" altLang="zh-CN" dirty="0">
              <a:sym typeface="+mn-ea"/>
            </a:endParaRPr>
          </a:p>
          <a:p>
            <a:endParaRPr lang="zh-CN" altLang="en-US" dirty="0"/>
          </a:p>
          <a:p>
            <a:r>
              <a:rPr lang="zh-CN" altLang="en-US" dirty="0">
                <a:sym typeface="+mn-ea"/>
              </a:rPr>
              <a:t>例如，除一个碱基对外，所有序列都相同的序列平均每4^17/18x3x10^9 = 0.32个人类基因组当量就会出现一次，或者每个人类基因组出现3次。 平均而言，除了两个碱基对之外，所有其他序列均相同的序列每4^16/(18C2)x3x10^9 = 0.0094个人类基因组当量平均发生一次，或每个人类基因组107次。这很重要，因为酶没有完美的区分能力。 即使序列不完全匹配，核酸酶仍会起作用。 因此，核酸酶在一个错配序列上的活性小于无错配情况，而对于两个错配，其活性甚至更低，但仍不为零。 这些非常相似但不完全相同的序列的排除仍然是基因组工程中需要克服的重要问题。 </a:t>
            </a:r>
          </a:p>
          <a:p>
            <a:r>
              <a:rPr lang="zh-CN" altLang="en-US" dirty="0">
                <a:sym typeface="+mn-ea"/>
              </a:rPr>
              <a:t>归巢核酸酶作为“分子DNA剪刀”，可用于以高度靶向的方式替换、消除或修饰DNA序列。</a:t>
            </a:r>
            <a:r>
              <a:rPr lang="zh-CN" altLang="en-US" b="1" dirty="0">
                <a:solidFill>
                  <a:srgbClr val="FF0000"/>
                </a:solidFill>
                <a:sym typeface="+mn-ea"/>
              </a:rPr>
              <a:t>通过蛋白质工程修饰它们的识别序列，可以改变目标序列，</a:t>
            </a:r>
            <a:r>
              <a:rPr lang="zh-CN" altLang="en-US" dirty="0">
                <a:sym typeface="+mn-ea"/>
              </a:rPr>
              <a:t>从而实现对基因组的精确编辑。</a:t>
            </a:r>
          </a:p>
          <a:p>
            <a:r>
              <a:rPr lang="zh-CN" altLang="en-US" dirty="0">
                <a:sym typeface="+mn-ea"/>
              </a:rPr>
              <a:t>归巢核酸酶主要由两个主要的酶家族代表：内含子内切核酸酶和内含肽内切核酸酶。这些蛋白质在自然界中由移动遗传元件（如内含子或内含肽）编码。</a:t>
            </a:r>
            <a:endParaRPr lang="en-US" altLang="zh-CN" dirty="0">
              <a:sym typeface="+mn-ea"/>
            </a:endParaRPr>
          </a:p>
          <a:p>
            <a:endParaRPr lang="en-US" altLang="zh-CN" b="0" i="0" dirty="0">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20世纪80年代末期，Rudin等和Rouet等发现，在靶标位置引入双链断裂的DNA(double-strand break,DSB)会显著提高目的基因的整合效率。研究人员最早通过归巢核酸内切酶(也称大范围核酸内切酶)在基因组中引入特定的双链断裂DNA。归巢核酸内切酶能够识别14~40bp的DNA片段，识别之后绝大部分通过NHEJ途径修复。人们在自然界中已经找到数百种归巢核酸内切酶，使用最广泛的主要有3种:Ⅰ-SceⅠ、Ⅰ-CreⅠ和Ⅰ-DmoⅠ。</a:t>
            </a: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a:p>
            <a:endParaRPr lang="zh-CN" altLang="en-US" b="0" i="0" dirty="0"/>
          </a:p>
          <a:p>
            <a:endParaRPr lang="zh-CN" altLang="en-US" b="0" i="0" dirty="0"/>
          </a:p>
          <a:p>
            <a:endParaRPr lang="zh-CN" altLang="en-US" dirty="0"/>
          </a:p>
          <a:p>
            <a:endParaRPr lang="zh-CN" altLang="en-US" dirty="0"/>
          </a:p>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基因编辑的工具由于归巢核酸内切酶的识别位点较长，因此它们具有高度的特异性，能够精确地靶向并编辑基因组中的特定位置。与其他基因编辑工具相比，归巢核酸内切酶的脱靶效应较低，对细胞的毒性也较小。</a:t>
            </a:r>
            <a:r>
              <a:rPr lang="zh-CN" altLang="en-US" dirty="0">
                <a:sym typeface="+mn-ea"/>
              </a:rPr>
              <a:t>通过蛋白质工程修饰它们的识别序列，可以改变目标序列。 </a:t>
            </a:r>
            <a:endParaRPr lang="zh-CN" altLang="en-US" dirty="0"/>
          </a:p>
          <a:p>
            <a:endParaRPr lang="zh-CN" altLang="en-US" dirty="0"/>
          </a:p>
          <a:p>
            <a:r>
              <a:rPr lang="zh-CN" altLang="en-US" dirty="0"/>
              <a:t>        归巢核酸内切酶的高特异性使其比其他天然限制酶具有更高的精确度和更低的细胞毒性。 大范围核酸酶在</a:t>
            </a:r>
            <a:r>
              <a:rPr lang="en-US" altLang="zh-CN" dirty="0"/>
              <a:t>1990</a:t>
            </a:r>
            <a:r>
              <a:rPr lang="zh-CN" altLang="en-US" dirty="0"/>
              <a:t>年代被鉴定出来，随后的工作表明它们是基因组工程和基因编辑的特别有前途的工具，因为它们能够有效地诱导同源重组，产生突变，和改变阅读框架。</a:t>
            </a:r>
          </a:p>
          <a:p>
            <a:endParaRPr lang="zh-CN" altLang="en-US" dirty="0"/>
          </a:p>
          <a:p>
            <a:r>
              <a:rPr lang="zh-CN" altLang="en-US" dirty="0"/>
              <a:t>        但是，可以进行的归巢核酸内切酶诱导的基因重组受到可用归巢核酸内切酶组成的限制。 尽管自然界中存在数百种归巢核酸内切酶，而且每个都可以忍受其识别位点的微小变化，但发现能够在所需位置切割给定基因的归巢核酸内切酶的可能性非常小。 几个小组将注意力转移到了工程化针对目标识别位点的新的归巢核酸内切酶上。</a:t>
            </a:r>
          </a:p>
          <a:p>
            <a:endParaRPr lang="zh-CN" altLang="en-US" dirty="0"/>
          </a:p>
          <a:p>
            <a:r>
              <a:rPr lang="zh-CN" altLang="en-US" dirty="0"/>
              <a:t>        最先进的研究和应用涉及</a:t>
            </a:r>
            <a:r>
              <a:rPr lang="en-US" altLang="zh-CN" dirty="0" err="1"/>
              <a:t>LAGLIDADG</a:t>
            </a:r>
            <a:r>
              <a:rPr lang="zh-CN" altLang="en-US" dirty="0"/>
              <a:t>家族的归巢核酸内切酶。</a:t>
            </a:r>
          </a:p>
          <a:p>
            <a:endParaRPr lang="zh-CN" altLang="en-US" dirty="0"/>
          </a:p>
          <a:p>
            <a:r>
              <a:rPr lang="zh-CN" altLang="en-US" dirty="0"/>
              <a:t>        为了创建量身定制的大范围核酸酶，已采用了两种主要方法：</a:t>
            </a:r>
          </a:p>
          <a:p>
            <a:endParaRPr lang="zh-CN" altLang="en-US" dirty="0"/>
          </a:p>
          <a:p>
            <a:r>
              <a:rPr lang="en-US" altLang="zh-CN" dirty="0"/>
              <a:t>1.</a:t>
            </a:r>
            <a:r>
              <a:rPr lang="zh-CN" altLang="en-US" dirty="0"/>
              <a:t>通过在氨基酸序列中引入少量变异，然后在自然识别位点的变异中选择功能性蛋白质，来修饰现有大范围核酸酶的特异性。</a:t>
            </a:r>
          </a:p>
          <a:p>
            <a:endParaRPr lang="zh-CN" altLang="en-US" dirty="0"/>
          </a:p>
          <a:p>
            <a:r>
              <a:rPr lang="en-US" altLang="zh-CN" dirty="0"/>
              <a:t>2.</a:t>
            </a:r>
            <a:r>
              <a:rPr lang="zh-CN" altLang="en-US" dirty="0"/>
              <a:t>更根本的选择是开发一种在归巢核酸内切酶天然高度多样化中发挥重要作用的特性：将不同酶的蛋白质结构域关联或融合的可能性。此选项使开发具有新识别位点的嵌合归巢核酸内切酶成为可能，该新识别位点由归巢核酸内切酶</a:t>
            </a:r>
            <a:r>
              <a:rPr lang="en-US" altLang="zh-CN" dirty="0"/>
              <a:t>A</a:t>
            </a:r>
            <a:r>
              <a:rPr lang="zh-CN" altLang="en-US" dirty="0"/>
              <a:t>的半位点和蛋白质</a:t>
            </a:r>
            <a:r>
              <a:rPr lang="en-US" altLang="zh-CN" dirty="0"/>
              <a:t>B</a:t>
            </a:r>
            <a:r>
              <a:rPr lang="zh-CN" altLang="en-US" dirty="0"/>
              <a:t>的半位点组成。通过融合</a:t>
            </a:r>
            <a:r>
              <a:rPr lang="en-US" altLang="zh-CN" dirty="0"/>
              <a:t>I-</a:t>
            </a:r>
            <a:r>
              <a:rPr lang="en-US" altLang="zh-CN" dirty="0" err="1"/>
              <a:t>DmoI</a:t>
            </a:r>
            <a:r>
              <a:rPr lang="zh-CN" altLang="en-US" dirty="0"/>
              <a:t>和</a:t>
            </a:r>
            <a:r>
              <a:rPr lang="en-US" altLang="zh-CN" dirty="0"/>
              <a:t>I-</a:t>
            </a:r>
            <a:r>
              <a:rPr lang="en-US" altLang="zh-CN" dirty="0" err="1"/>
              <a:t>CreI</a:t>
            </a:r>
            <a:r>
              <a:rPr lang="zh-CN" altLang="en-US" dirty="0"/>
              <a:t>的蛋白质结构域，两个嵌合归巢核酸内切酶具有使用以下方法创建的：</a:t>
            </a:r>
            <a:r>
              <a:rPr lang="en-US" altLang="zh-CN" dirty="0"/>
              <a:t>E-</a:t>
            </a:r>
            <a:r>
              <a:rPr lang="en-US" altLang="zh-CN" dirty="0" err="1"/>
              <a:t>Drel</a:t>
            </a:r>
            <a:r>
              <a:rPr lang="zh-CN" altLang="en-US" dirty="0"/>
              <a:t>和</a:t>
            </a:r>
            <a:r>
              <a:rPr lang="en-US" altLang="zh-CN" dirty="0" err="1"/>
              <a:t>DmoCre</a:t>
            </a:r>
            <a:r>
              <a:rPr lang="zh-CN" altLang="en-US" dirty="0"/>
              <a:t>。</a:t>
            </a:r>
          </a:p>
          <a:p>
            <a:endParaRPr lang="zh-CN" altLang="en-US" dirty="0"/>
          </a:p>
          <a:p>
            <a:r>
              <a:rPr lang="zh-CN" altLang="en-US" dirty="0"/>
              <a:t>        可以结合使用这两种方法来增加创建新酶的可能性，同时保持高度的功效和特异性。 自</a:t>
            </a:r>
            <a:r>
              <a:rPr lang="en-US" altLang="zh-CN" dirty="0"/>
              <a:t>1999</a:t>
            </a:r>
            <a:r>
              <a:rPr lang="zh-CN" altLang="en-US" dirty="0"/>
              <a:t>年以来，</a:t>
            </a:r>
            <a:r>
              <a:rPr lang="en-US" altLang="zh-CN" dirty="0" err="1"/>
              <a:t>Cellectis</a:t>
            </a:r>
            <a:r>
              <a:rPr lang="zh-CN" altLang="en-US" dirty="0"/>
              <a:t>的科学家一直在进行基因编辑，并从同型二聚体归巢核酸内切酶</a:t>
            </a:r>
            <a:r>
              <a:rPr lang="en-US" altLang="zh-CN" dirty="0"/>
              <a:t>I-</a:t>
            </a:r>
            <a:r>
              <a:rPr lang="en-US" altLang="zh-CN" dirty="0" err="1"/>
              <a:t>CreI</a:t>
            </a:r>
            <a:r>
              <a:rPr lang="zh-CN" altLang="en-US" dirty="0"/>
              <a:t>以及其他归巢核酸内切酶支架中开发了超过</a:t>
            </a:r>
            <a:r>
              <a:rPr lang="en-US" altLang="zh-CN" dirty="0"/>
              <a:t>20,000</a:t>
            </a:r>
            <a:r>
              <a:rPr lang="zh-CN" altLang="en-US" dirty="0"/>
              <a:t>个蛋白质域。可以将它们组合形成功能性的嵌合量身定制的异二聚体，用于研究实验室和工业用途。 作者：制御秘书长杜鹃 </a:t>
            </a:r>
            <a:r>
              <a:rPr lang="en-US" altLang="zh-CN" dirty="0"/>
              <a:t>https://</a:t>
            </a:r>
            <a:r>
              <a:rPr lang="en-US" altLang="zh-CN" dirty="0" err="1"/>
              <a:t>www.bilibili.com</a:t>
            </a:r>
            <a:r>
              <a:rPr lang="en-US" altLang="zh-CN" dirty="0"/>
              <a:t>/read/</a:t>
            </a:r>
            <a:r>
              <a:rPr lang="en-US" altLang="zh-CN" dirty="0" err="1"/>
              <a:t>cv6163104</a:t>
            </a:r>
            <a:r>
              <a:rPr lang="en-US" altLang="zh-CN" dirty="0"/>
              <a:t>/ </a:t>
            </a:r>
            <a:r>
              <a:rPr lang="zh-CN" altLang="en-US" dirty="0"/>
              <a:t>出处：</a:t>
            </a:r>
            <a:r>
              <a:rPr lang="en-US" altLang="zh-CN" dirty="0" err="1"/>
              <a:t>bilibili</a:t>
            </a:r>
            <a:endParaRPr lang="en-US" altLang="zh-CN" dirty="0"/>
          </a:p>
          <a:p>
            <a:endParaRPr lang="en-US" altLang="zh-CN" dirty="0"/>
          </a:p>
          <a:p>
            <a:r>
              <a:rPr lang="zh-CN" altLang="en-US" dirty="0"/>
              <a:t> 可以结合使用这两种方法来增加创建新酶的可能性，同时保持高度的功效和特异性。 自</a:t>
            </a:r>
            <a:r>
              <a:rPr lang="en-US" altLang="zh-CN" dirty="0"/>
              <a:t>1999</a:t>
            </a:r>
            <a:r>
              <a:rPr lang="zh-CN" altLang="en-US" dirty="0"/>
              <a:t>年以来，</a:t>
            </a:r>
            <a:r>
              <a:rPr lang="en-US" altLang="zh-CN" dirty="0" err="1"/>
              <a:t>Cellectis</a:t>
            </a:r>
            <a:r>
              <a:rPr lang="zh-CN" altLang="en-US" dirty="0"/>
              <a:t>的科学家一直在进行基因编辑，并从同型二聚体归巢核酸内切酶</a:t>
            </a:r>
            <a:r>
              <a:rPr lang="en-US" altLang="zh-CN" dirty="0"/>
              <a:t>I-</a:t>
            </a:r>
            <a:r>
              <a:rPr lang="en-US" altLang="zh-CN" dirty="0" err="1"/>
              <a:t>CreI</a:t>
            </a:r>
            <a:r>
              <a:rPr lang="zh-CN" altLang="en-US" dirty="0"/>
              <a:t>以及其他归巢核酸内切酶支架中开发了超过</a:t>
            </a:r>
            <a:r>
              <a:rPr lang="en-US" altLang="zh-CN" dirty="0"/>
              <a:t>20,000</a:t>
            </a:r>
            <a:r>
              <a:rPr lang="zh-CN" altLang="en-US" dirty="0"/>
              <a:t>个蛋白质域。可以将它们组合形成功能性的嵌合量身定制的异二聚体，用于研究实验室和工业用途。</a:t>
            </a:r>
          </a:p>
          <a:p>
            <a:endParaRPr lang="zh-CN" altLang="en-US" dirty="0"/>
          </a:p>
          <a:p>
            <a:r>
              <a:rPr lang="zh-CN" altLang="en-US" dirty="0"/>
              <a:t>        另一家生物技术公司</a:t>
            </a:r>
            <a:r>
              <a:rPr lang="en-US" altLang="zh-CN" dirty="0"/>
              <a:t>Precision Biosciences</a:t>
            </a:r>
            <a:r>
              <a:rPr lang="zh-CN" altLang="en-US" dirty="0"/>
              <a:t>已经开发出一种完全合理的设计过程，称为定向核酸酶编辑器</a:t>
            </a:r>
            <a:r>
              <a:rPr lang="en-US" altLang="zh-CN" dirty="0"/>
              <a:t>(</a:t>
            </a:r>
            <a:r>
              <a:rPr lang="en-US" altLang="zh-CN" dirty="0" err="1"/>
              <a:t>DNE</a:t>
            </a:r>
            <a:r>
              <a:rPr lang="en-US" altLang="zh-CN" dirty="0"/>
              <a:t>)</a:t>
            </a:r>
            <a:r>
              <a:rPr lang="zh-CN" altLang="en-US" dirty="0"/>
              <a:t>，它能够创建靶向并修饰基因组中用户定义位置的工程化归巢核酸内切酶。</a:t>
            </a:r>
            <a:r>
              <a:rPr lang="en-US" altLang="zh-CN" dirty="0"/>
              <a:t>2012</a:t>
            </a:r>
            <a:r>
              <a:rPr lang="zh-CN" altLang="en-US" dirty="0"/>
              <a:t>年，拜耳作物科学公司</a:t>
            </a:r>
            <a:r>
              <a:rPr lang="en-US" altLang="zh-CN" dirty="0"/>
              <a:t>(Bayer </a:t>
            </a:r>
            <a:r>
              <a:rPr lang="en-US" altLang="zh-CN" dirty="0" err="1"/>
              <a:t>CropScience</a:t>
            </a:r>
            <a:r>
              <a:rPr lang="en-US" altLang="zh-CN" dirty="0"/>
              <a:t>)</a:t>
            </a:r>
            <a:r>
              <a:rPr lang="zh-CN" altLang="en-US" dirty="0"/>
              <a:t>的研究人员使用</a:t>
            </a:r>
            <a:r>
              <a:rPr lang="en-US" altLang="zh-CN" dirty="0" err="1"/>
              <a:t>DNE</a:t>
            </a:r>
            <a:r>
              <a:rPr lang="zh-CN" altLang="en-US" dirty="0"/>
              <a:t>将基因序列整合到棉花的</a:t>
            </a:r>
            <a:r>
              <a:rPr lang="en-US" altLang="zh-CN" dirty="0"/>
              <a:t>DNA</a:t>
            </a:r>
            <a:r>
              <a:rPr lang="zh-CN" altLang="en-US" dirty="0"/>
              <a:t>中，将其精确地靶向预定位点。 作者：制御秘书长杜鹃 </a:t>
            </a:r>
            <a:r>
              <a:rPr lang="en-US" altLang="zh-CN" dirty="0"/>
              <a:t>https://</a:t>
            </a:r>
            <a:r>
              <a:rPr lang="en-US" altLang="zh-CN" dirty="0" err="1"/>
              <a:t>www.bilibili.com</a:t>
            </a:r>
            <a:r>
              <a:rPr lang="en-US" altLang="zh-CN" dirty="0"/>
              <a:t>/read/</a:t>
            </a:r>
            <a:r>
              <a:rPr lang="en-US" altLang="zh-CN" dirty="0" err="1"/>
              <a:t>cv6163104</a:t>
            </a:r>
            <a:r>
              <a:rPr lang="en-US" altLang="zh-CN" dirty="0"/>
              <a:t>/ </a:t>
            </a:r>
            <a:r>
              <a:rPr lang="zh-CN" altLang="en-US" dirty="0"/>
              <a:t>出处：</a:t>
            </a:r>
            <a:r>
              <a:rPr lang="en-US" altLang="zh-CN" dirty="0" err="1"/>
              <a:t>bilibili</a:t>
            </a:r>
            <a:endParaRPr lang="en-US" altLang="zh-CN" dirty="0"/>
          </a:p>
          <a:p>
            <a:endParaRPr lang="en-US" altLang="zh-CN" dirty="0"/>
          </a:p>
          <a:p>
            <a:endParaRPr lang="en-US" altLang="zh-CN" dirty="0"/>
          </a:p>
          <a:p>
            <a:endParaRPr lang="en-US" altLang="zh-CN" dirty="0"/>
          </a:p>
          <a:p>
            <a:endParaRPr lang="en-US" altLang="zh-CN" dirty="0"/>
          </a:p>
          <a:p>
            <a:pPr marL="285750" indent="-285750" fontAlgn="auto">
              <a:lnSpc>
                <a:spcPct val="150000"/>
              </a:lnSpc>
              <a:buFont typeface="Wingdings" panose="05000000000000000000" pitchFamily="2" charset="2"/>
              <a:buChar char="p"/>
            </a:pPr>
            <a:r>
              <a:rPr lang="zh-CN" altLang="en-US" sz="1400" dirty="0">
                <a:latin typeface="微软雅黑" panose="020B0503020204020204" pitchFamily="34" charset="-122"/>
                <a:ea typeface="微软雅黑" panose="020B0503020204020204" pitchFamily="34" charset="-122"/>
                <a:sym typeface="+mn-ea"/>
              </a:rPr>
              <a:t>归巢核酸内切酶的高特异性使其比其他天然限制酶具有更高的精确度和更低的细胞毒性。</a:t>
            </a:r>
            <a:endParaRPr lang="en-US" altLang="zh-CN" sz="1400" dirty="0">
              <a:latin typeface="微软雅黑" panose="020B0503020204020204" pitchFamily="34" charset="-122"/>
              <a:ea typeface="微软雅黑" panose="020B0503020204020204" pitchFamily="34" charset="-122"/>
              <a:sym typeface="+mn-ea"/>
            </a:endParaRPr>
          </a:p>
          <a:p>
            <a:pPr marL="285750" indent="-285750">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通过在氨基酸序列中引入少量变异，然后在自然识别位点的变异中选择功能性蛋白质，来修饰现有大范围核酸酶的特异性。</a:t>
            </a:r>
            <a:endParaRPr lang="en-US" altLang="zh-CN"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在归巢核酸内切酶天然高度多样化中发挥重要作用的特性：将不同酶的蛋白质结构域关联或融合的可能性</a:t>
            </a:r>
          </a:p>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a:p>
            <a:r>
              <a:rPr lang="zh-CN" altLang="en-US" dirty="0"/>
              <a:t>然而，通过归巢核酸内切酶进行基因编辑存在很大的制约性：尽管有数百种的归巢核酸内切酶，每个都有自己独特的识别序列，但要找到适合靶向特定基因序列的归巢核酸内切酶的概率极低；</a:t>
            </a:r>
          </a:p>
          <a:p>
            <a:r>
              <a:rPr lang="zh-CN" altLang="en-US" dirty="0"/>
              <a:t>由于DNA双链断裂主要通过NHEJ途径修复，该修复机制不能引入外源的DNA模板，并且会在断裂位点随机删除或者插入DNA片段。</a:t>
            </a:r>
            <a:endParaRPr lang="en-US" altLang="zh-CN" dirty="0"/>
          </a:p>
          <a:p>
            <a:endParaRPr lang="zh-CN" altLang="en-US"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effectLst/>
                <a:sym typeface="+mn-ea"/>
              </a:rPr>
              <a:t>但大范围核酸酶在基因编辑的应用方面有重大瓶颈。首先，天然大范围核酸酶种类有限，对于人类大部分基因找不到相应的酶识别；而新找一个识别给定序列的大范围核酸酶，其机会实在太渺茫。其次，改进的余地也有限。</a:t>
            </a:r>
            <a:r>
              <a:rPr lang="zh-CN" altLang="en-US" b="1" dirty="0">
                <a:effectLst/>
                <a:sym typeface="+mn-ea"/>
              </a:rPr>
              <a:t>大范围核酸酶的识别与剪切两种功能利用同一结构域，改造识别结构域就会影响剪切活性，因此最终找到理想的酶是一项几乎无法完成的任务</a:t>
            </a:r>
            <a:r>
              <a:rPr lang="zh-CN" altLang="en-US" dirty="0">
                <a:effectLst/>
                <a:sym typeface="+mn-ea"/>
              </a:rPr>
              <a:t>。科学家必须寻找新的策略。</a:t>
            </a:r>
            <a:endParaRPr lang="en-US" altLang="zh-CN" dirty="0">
              <a:effectLst/>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effectLst/>
              <a:sym typeface="+mn-ea"/>
            </a:endParaRPr>
          </a:p>
          <a:p>
            <a:pPr marL="285750" indent="-285750" fontAlgn="auto">
              <a:lnSpc>
                <a:spcPct val="200000"/>
              </a:lnSpc>
              <a:buFont typeface="Wingdings" panose="05000000000000000000" charset="0"/>
              <a:buChar char="p"/>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尽管有数百种的归巢核酸内切酶，每个都有自己独特的识别序列，但要找到适合靶向特定基因序列的归巢核酸内切酶的概率极低</a:t>
            </a:r>
          </a:p>
          <a:p>
            <a:pPr marL="285750" indent="-285750" fontAlgn="auto">
              <a:lnSpc>
                <a:spcPct val="200000"/>
              </a:lnSpc>
              <a:buFont typeface="Wingdings" panose="05000000000000000000" charset="0"/>
              <a:buChar char="p"/>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由于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双链断裂主要通过</a:t>
            </a:r>
            <a:r>
              <a:rPr lang="en-US" altLang="zh-CN" dirty="0" err="1">
                <a:latin typeface="微软雅黑" panose="020B0503020204020204" pitchFamily="34" charset="-122"/>
                <a:ea typeface="微软雅黑" panose="020B0503020204020204" pitchFamily="34" charset="-122"/>
                <a:cs typeface="微软雅黑" panose="020B0503020204020204" pitchFamily="34" charset="-122"/>
                <a:sym typeface="+mn-ea"/>
              </a:rPr>
              <a:t>NHEJ</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途径修复，该修复机制不能引入外源的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模板，并且会在断裂位点随机删除或者插入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片段</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nSpc>
                <a:spcPct val="200000"/>
              </a:lnSpc>
              <a:buFont typeface="Wingdings" panose="05000000000000000000" charset="0"/>
              <a:buChar char="p"/>
            </a:pPr>
            <a:r>
              <a:rPr lang="zh-CN" altLang="en-US" dirty="0">
                <a:latin typeface="微软雅黑" panose="020B0503020204020204" pitchFamily="34" charset="-122"/>
                <a:ea typeface="微软雅黑" panose="020B0503020204020204" pitchFamily="34" charset="-122"/>
                <a:sym typeface="+mn-ea"/>
              </a:rPr>
              <a:t>大范围核酸酶的识别与剪切两种功能利用同一结构域，改造识别结构域就会影响剪切活性，因此最终找到理想的酶是一项几乎无法完成的任务。科学家必须寻找新的策略。</a:t>
            </a: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effectLst/>
            </a:endParaRPr>
          </a:p>
          <a:p>
            <a:endParaRPr lang="zh-CN" altLang="en-US" dirty="0"/>
          </a:p>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用于基因组工程，一种内切酶必须具备非凡的品质组合：能够特异性识别长目标序列（理想情况下，长度足够在真核基因组中唯一出现）并且具有足够的适应性，可以重新定向至用户定义的序列。锌指核酸酶（</a:t>
            </a:r>
            <a:r>
              <a:rPr lang="en-US" altLang="zh-CN" dirty="0"/>
              <a:t>ZFN</a:t>
            </a:r>
            <a:r>
              <a:rPr lang="zh-CN" altLang="en-US" dirty="0"/>
              <a:t>）结构（图</a:t>
            </a:r>
            <a:r>
              <a:rPr lang="en-US" altLang="zh-CN" dirty="0" err="1"/>
              <a:t>1a</a:t>
            </a:r>
            <a:r>
              <a:rPr lang="zh-CN" altLang="en-US" dirty="0"/>
              <a:t>）通过将一类多功能真核转录因子</a:t>
            </a:r>
            <a:r>
              <a:rPr lang="en-US" altLang="zh-CN" dirty="0"/>
              <a:t>——</a:t>
            </a:r>
            <a:r>
              <a:rPr lang="zh-CN" altLang="en-US" dirty="0"/>
              <a:t>锌指蛋白（</a:t>
            </a:r>
            <a:r>
              <a:rPr lang="en-US" altLang="zh-CN" dirty="0" err="1"/>
              <a:t>ZFP</a:t>
            </a:r>
            <a:r>
              <a:rPr lang="zh-CN" altLang="en-US" dirty="0"/>
              <a:t>）的</a:t>
            </a:r>
            <a:r>
              <a:rPr lang="en-US" altLang="zh-CN" dirty="0"/>
              <a:t>DNA</a:t>
            </a:r>
            <a:r>
              <a:rPr lang="zh-CN" altLang="en-US" dirty="0"/>
              <a:t>结合域与</a:t>
            </a:r>
            <a:r>
              <a:rPr lang="en-US" altLang="zh-CN" dirty="0" err="1"/>
              <a:t>FokI</a:t>
            </a:r>
            <a:r>
              <a:rPr lang="zh-CN" altLang="en-US" dirty="0"/>
              <a:t>限制性内切酶的核酸酶域连接起来，满足了这些要求。凭借其结构，锌指核酸酶结合了两种组分的优良品质</a:t>
            </a:r>
            <a:r>
              <a:rPr lang="en-US" altLang="zh-CN" dirty="0"/>
              <a:t>——</a:t>
            </a:r>
            <a:r>
              <a:rPr lang="zh-CN" altLang="en-US" dirty="0"/>
              <a:t>锌指蛋白的</a:t>
            </a:r>
            <a:r>
              <a:rPr lang="en-US" altLang="zh-CN" dirty="0"/>
              <a:t>DNA</a:t>
            </a:r>
            <a:r>
              <a:rPr lang="zh-CN" altLang="en-US" dirty="0"/>
              <a:t>结合特异性和灵活性，以及在没有特定结合事件时稳健但受限的切割活性</a:t>
            </a:r>
            <a:r>
              <a:rPr lang="en-US" altLang="zh-CN" dirty="0"/>
              <a:t>——</a:t>
            </a:r>
            <a:r>
              <a:rPr lang="zh-CN" altLang="en-US" dirty="0"/>
              <a:t>同时保持了功能模块化。因此，</a:t>
            </a:r>
            <a:r>
              <a:rPr lang="en-US" altLang="zh-CN" dirty="0"/>
              <a:t>DNA</a:t>
            </a:r>
            <a:r>
              <a:rPr lang="zh-CN" altLang="en-US" dirty="0"/>
              <a:t>结合域和催化域都可以独立优化，这简化了重新定向和平台改进工作</a:t>
            </a:r>
            <a:endParaRPr lang="en-US" altLang="zh-CN" dirty="0"/>
          </a:p>
          <a:p>
            <a:endParaRPr lang="en-US" altLang="zh-CN" dirty="0"/>
          </a:p>
          <a:p>
            <a:r>
              <a:rPr lang="en-US" altLang="zh-CN" dirty="0" err="1"/>
              <a:t>Chandrasegaran</a:t>
            </a:r>
            <a:r>
              <a:rPr lang="en-US" altLang="zh-CN" dirty="0"/>
              <a:t> (Kim et al. 1996) </a:t>
            </a:r>
            <a:r>
              <a:rPr lang="zh-CN" altLang="en-US" dirty="0"/>
              <a:t>研究组首次将锌指蛋白和 </a:t>
            </a:r>
            <a:r>
              <a:rPr lang="en-US" altLang="zh-CN" dirty="0" err="1"/>
              <a:t>FokⅠ</a:t>
            </a:r>
            <a:r>
              <a:rPr lang="zh-CN" altLang="en-US" dirty="0"/>
              <a:t>核酸内切酶切割亚基融合，形成具有切割特异 </a:t>
            </a:r>
            <a:r>
              <a:rPr lang="en-US" altLang="zh-CN" dirty="0"/>
              <a:t>DNA </a:t>
            </a:r>
            <a:r>
              <a:rPr lang="zh-CN" altLang="en-US" dirty="0"/>
              <a:t>活性的人工核酸内切酶</a:t>
            </a:r>
            <a:r>
              <a:rPr lang="en-US" altLang="zh-CN" dirty="0"/>
              <a:t>——</a:t>
            </a:r>
            <a:r>
              <a:rPr lang="zh-CN" altLang="en-US" dirty="0"/>
              <a:t>锌指核酸酶。</a:t>
            </a:r>
            <a:endParaRPr lang="en-US" altLang="zh-CN" dirty="0"/>
          </a:p>
          <a:p>
            <a:r>
              <a:rPr lang="zh-CN" altLang="en-US" dirty="0"/>
              <a:t>锌指蛋白具有识别和结合 </a:t>
            </a:r>
            <a:r>
              <a:rPr lang="en-US" altLang="zh-CN" dirty="0"/>
              <a:t>DNA </a:t>
            </a:r>
            <a:r>
              <a:rPr lang="zh-CN" altLang="en-US" dirty="0"/>
              <a:t>序列能力，</a:t>
            </a:r>
            <a:r>
              <a:rPr lang="en-US" altLang="zh-CN" dirty="0" err="1"/>
              <a:t>FokⅠ</a:t>
            </a:r>
            <a:r>
              <a:rPr lang="zh-CN" altLang="en-US" dirty="0"/>
              <a:t>切割亚基来源于 </a:t>
            </a:r>
            <a:r>
              <a:rPr lang="en-US" altLang="zh-CN" dirty="0"/>
              <a:t>II </a:t>
            </a:r>
            <a:r>
              <a:rPr lang="zh-CN" altLang="en-US" dirty="0"/>
              <a:t>型核酸内切酶 </a:t>
            </a:r>
            <a:r>
              <a:rPr lang="en-US" altLang="zh-CN" dirty="0" err="1"/>
              <a:t>FokⅠ</a:t>
            </a:r>
            <a:r>
              <a:rPr lang="zh-CN" altLang="en-US" dirty="0"/>
              <a:t>的 </a:t>
            </a:r>
            <a:r>
              <a:rPr lang="en-US" altLang="zh-CN" dirty="0"/>
              <a:t>DNA </a:t>
            </a:r>
            <a:r>
              <a:rPr lang="zh-CN" altLang="en-US" dirty="0"/>
              <a:t>切割亚基。将锌指蛋白和 </a:t>
            </a:r>
            <a:r>
              <a:rPr lang="en-US" altLang="zh-CN" dirty="0" err="1"/>
              <a:t>FokⅠ</a:t>
            </a:r>
            <a:r>
              <a:rPr lang="zh-CN" altLang="en-US" dirty="0"/>
              <a:t>亚基融合表达，二者之间被几个氨基</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由</a:t>
            </a:r>
            <a:r>
              <a:rPr lang="en-US" altLang="zh-CN" sz="1200" b="1" dirty="0">
                <a:solidFill>
                  <a:srgbClr val="FF0000"/>
                </a:solidFill>
              </a:rPr>
              <a:t>几个锌指蛋白</a:t>
            </a:r>
            <a:r>
              <a:rPr lang="en-US" altLang="zh-CN" sz="1200" dirty="0"/>
              <a:t>串联而成。可识别并结合1个特异的三联体碱基。这些锌指蛋白串联起来，形成一个能够特异性识别特定DNA序列的锌指蛋白组。</a:t>
            </a:r>
          </a:p>
          <a:p>
            <a:r>
              <a:rPr lang="zh-CN" altLang="en-US" dirty="0"/>
              <a:t>酸的序列连接起来，形成一定的空间结构 </a:t>
            </a:r>
            <a:r>
              <a:rPr lang="en-US" altLang="zh-CN" dirty="0"/>
              <a:t>(Carroll 2011)如果将具备基因组定位功能的锌手指蛋白和具备基因组剪刀手功能的FokI核酸内切酶连接在一起，就可以实现对DNA的精确定位和切割。</a:t>
            </a:r>
          </a:p>
          <a:p>
            <a:r>
              <a:rPr lang="en-US" altLang="zh-CN" dirty="0"/>
              <a:t>由于 Fok I 需要二聚化才能发挥功能 [32]，因此，需要设计两个互补的 ZFN 分子，与靶位点特异结合后，两个 </a:t>
            </a:r>
            <a:r>
              <a:rPr lang="en-US" altLang="zh-CN" dirty="0" err="1"/>
              <a:t>ZFN分子间隔距离合适时，Fok</a:t>
            </a:r>
            <a:r>
              <a:rPr lang="en-US" altLang="zh-CN" dirty="0"/>
              <a:t> I 二聚化发挥切割功能，造成靶位点断裂，启动体内的 DNA 损伤修复机制。</a:t>
            </a:r>
          </a:p>
          <a:p>
            <a:endParaRPr lang="en-US" altLang="zh-CN" dirty="0"/>
          </a:p>
          <a:p>
            <a:r>
              <a:rPr lang="en-US" altLang="zh-CN" dirty="0"/>
              <a:t>Fok I 二聚化发挥切割功能，造成靶位点断裂，启动体内的 DNA 损伤修复机制。在没有外源 DNA 模板时，细胞主要通过非同源末端连接修复方式，引入碱基的缺失和插入 (Indels)、突变，达到基因敲除的目的 ；如果存在与靶位点具有同源序列的修复模板，细胞可通过同源重组修复方式实现靶基因的精确修复或在此位点插入基因，</a:t>
            </a:r>
          </a:p>
          <a:p>
            <a:endParaRPr lang="en-US" altLang="zh-CN" dirty="0"/>
          </a:p>
          <a:p>
            <a:endParaRPr lang="en-US" altLang="zh-CN" dirty="0"/>
          </a:p>
          <a:p>
            <a:r>
              <a:rPr lang="zh-CN" altLang="en-US" dirty="0">
                <a:sym typeface="+mn-ea"/>
              </a:rPr>
              <a:t>锌指核酸酶技术依赖于锌脂蛋白行驶功能，主要用于定点编辑和基因组修饰。锌指蛋白是一类具有DNA结合能力的蛋白质，蛋白内含有锌离子结合的结构域：锌指。每个锌指通常能识别并与3到4个相邻的核苷酸碱基序列结合，通过组合不同的锌指，可以根据需要精确地设计出能够特异性结合目标DNA序列的锌指蛋白。此外，非特异性核酸内切酶Fokl与锌脂蛋白相连后使其具有DNA切割能力，多个锌脂蛋白串联可形成锌脂蛋白组，锌脂蛋白间相互作用产生酶切功能，形成双链断裂，刺激细胞启动自然DNA修复过程，诱发位点特异性重组，达到基因编辑的目的。</a:t>
            </a:r>
            <a:endParaRPr lang="zh-CN" altLang="en-US" dirty="0"/>
          </a:p>
          <a:p>
            <a:endParaRPr lang="zh-CN" altLang="en-US" dirty="0"/>
          </a:p>
          <a:p>
            <a:endParaRPr lang="zh-CN" altLang="en-US" dirty="0"/>
          </a:p>
          <a:p>
            <a:r>
              <a:rPr lang="zh-CN" altLang="en-US" dirty="0"/>
              <a:t>锌指核酸酶由两部分组成：</a:t>
            </a:r>
          </a:p>
          <a:p>
            <a:endParaRPr lang="zh-CN" altLang="en-US" dirty="0"/>
          </a:p>
          <a:p>
            <a:r>
              <a:rPr lang="zh-CN" altLang="en-US" dirty="0"/>
              <a:t>DNA识别域：由几个（一般为3~6个）Cys2-His2锌指蛋白（Zinc Finger Protein，ZFP）串联而成。每个锌指蛋白约含30个氨基酸，被1个锌离子所固定，可识别并结合1个特异的三联体碱基。这些锌指蛋白串联起来，形成一个能够特异性识别特定DNA序列的锌指蛋白组。</a:t>
            </a:r>
          </a:p>
          <a:p>
            <a:r>
              <a:rPr lang="zh-CN" altLang="en-US" dirty="0"/>
              <a:t>DNA剪切域：由非特异性核酸内切酶FokⅠ的催化结构域组成。FokⅠ是来自海床黄杆菌的一种限制性内切酶，只在二聚体状态时才有酶切活性。每个FokⅠ单体与一个锌指蛋白组相连，构成一个ZFN，识别特定的位点。</a:t>
            </a:r>
          </a:p>
        </p:txBody>
      </p:sp>
      <p:sp>
        <p:nvSpPr>
          <p:cNvPr id="4" name="灯片编号占位符 3"/>
          <p:cNvSpPr>
            <a:spLocks noGrp="1"/>
          </p:cNvSpPr>
          <p:nvPr>
            <p:ph type="sldNum" sz="quarter" idx="5"/>
          </p:nvPr>
        </p:nvSpPr>
        <p:spPr/>
        <p:txBody>
          <a:bodyPr/>
          <a:lstStyle/>
          <a:p>
            <a:fld id="{B8B7A263-E924-4581-B58B-5F45429A0ECA}" type="slidenum">
              <a:rPr lang="zh-CN" altLang="en-US" smtClean="0"/>
              <a:t>30</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其形状类似于手指而且需要锌离子参与，因此叫做锌指蛋白，</a:t>
            </a:r>
            <a:r>
              <a:rPr lang="zh-CN" altLang="en-US" dirty="0">
                <a:sym typeface="+mn-ea"/>
              </a:rPr>
              <a:t>是一类通过Cys2-His2锌指结构域结合DNA的转录因子，能特异性识别3个连续的碱基对。ZFNs是通过设计锌指结构域以及多个锌指蛋白的不同连接顺序实现特异性结合靶标基因和限制性核酸内切酶FokⅠ进行定点切割的技术。值得注意的是，FokⅠ核酸酶需要形成二聚体才可切割DNA产生DSB，为避免FokⅠ自身二聚化，将FokⅠ设计为异源二聚体，这样的设计也增强了ZFNs的结合特异性。</a:t>
            </a:r>
            <a:endParaRPr lang="en-US" altLang="zh-CN" dirty="0"/>
          </a:p>
          <a:p>
            <a:endParaRPr lang="en-US" altLang="zh-CN" dirty="0"/>
          </a:p>
          <a:p>
            <a:r>
              <a:rPr lang="zh-CN" altLang="en-US" dirty="0">
                <a:sym typeface="+mn-ea"/>
              </a:rPr>
              <a:t>锌指蛋白最早报道见于 </a:t>
            </a:r>
            <a:r>
              <a:rPr lang="en-US" altLang="zh-CN" dirty="0">
                <a:sym typeface="+mn-ea"/>
              </a:rPr>
              <a:t>1985 </a:t>
            </a:r>
            <a:r>
              <a:rPr lang="zh-CN" altLang="en-US" dirty="0">
                <a:sym typeface="+mn-ea"/>
              </a:rPr>
              <a:t>年，</a:t>
            </a:r>
            <a:r>
              <a:rPr lang="en-US" altLang="zh-CN" dirty="0">
                <a:sym typeface="+mn-ea"/>
              </a:rPr>
              <a:t>Miller </a:t>
            </a:r>
            <a:r>
              <a:rPr lang="zh-CN" altLang="en-US" dirty="0">
                <a:sym typeface="+mn-ea"/>
              </a:rPr>
              <a:t>等 </a:t>
            </a:r>
            <a:r>
              <a:rPr lang="en-US" altLang="zh-CN" dirty="0" err="1">
                <a:sym typeface="+mn-ea"/>
              </a:rPr>
              <a:t>l0</a:t>
            </a:r>
            <a:r>
              <a:rPr lang="zh-CN" altLang="en-US" dirty="0">
                <a:sym typeface="+mn-ea"/>
              </a:rPr>
              <a:t>发现细菌 </a:t>
            </a:r>
            <a:r>
              <a:rPr lang="en-US" altLang="zh-CN" dirty="0">
                <a:sym typeface="+mn-ea"/>
              </a:rPr>
              <a:t>5S RNA </a:t>
            </a:r>
            <a:r>
              <a:rPr lang="zh-CN" altLang="en-US" dirty="0">
                <a:sym typeface="+mn-ea"/>
              </a:rPr>
              <a:t>的体外转录需要一个 </a:t>
            </a:r>
            <a:r>
              <a:rPr lang="en-US" altLang="zh-CN" dirty="0">
                <a:sym typeface="+mn-ea"/>
              </a:rPr>
              <a:t>40 </a:t>
            </a:r>
            <a:r>
              <a:rPr lang="en-US" altLang="zh-CN" dirty="0" err="1">
                <a:sym typeface="+mn-ea"/>
              </a:rPr>
              <a:t>kDa</a:t>
            </a:r>
            <a:r>
              <a:rPr lang="en-US" altLang="zh-CN" dirty="0">
                <a:sym typeface="+mn-ea"/>
              </a:rPr>
              <a:t> </a:t>
            </a:r>
            <a:r>
              <a:rPr lang="zh-CN" altLang="en-US" dirty="0">
                <a:sym typeface="+mn-ea"/>
              </a:rPr>
              <a:t>的结合蛋白参与，对这个蛋白质分析表明其含有</a:t>
            </a:r>
            <a:r>
              <a:rPr lang="en-US" altLang="zh-CN" dirty="0">
                <a:sym typeface="+mn-ea"/>
              </a:rPr>
              <a:t>9</a:t>
            </a:r>
            <a:r>
              <a:rPr lang="zh-CN" altLang="en-US" dirty="0">
                <a:sym typeface="+mn-ea"/>
              </a:rPr>
              <a:t>个串联的相似的功能单位，每个单位有近</a:t>
            </a:r>
            <a:r>
              <a:rPr lang="en-US" altLang="zh-CN" dirty="0">
                <a:sym typeface="+mn-ea"/>
              </a:rPr>
              <a:t>30</a:t>
            </a:r>
            <a:r>
              <a:rPr lang="zh-CN" altLang="en-US" dirty="0">
                <a:sym typeface="+mn-ea"/>
              </a:rPr>
              <a:t>个氨基酸且含有 </a:t>
            </a:r>
            <a:r>
              <a:rPr lang="en-US" altLang="zh-CN" dirty="0" err="1">
                <a:sym typeface="+mn-ea"/>
              </a:rPr>
              <a:t>Cys</a:t>
            </a:r>
            <a:r>
              <a:rPr lang="en-US" altLang="zh-CN" dirty="0">
                <a:sym typeface="+mn-ea"/>
              </a:rPr>
              <a:t>-</a:t>
            </a:r>
            <a:r>
              <a:rPr lang="en-US" altLang="zh-CN" dirty="0" err="1">
                <a:sym typeface="+mn-ea"/>
              </a:rPr>
              <a:t>Cys</a:t>
            </a:r>
            <a:r>
              <a:rPr lang="en-US" altLang="zh-CN" dirty="0">
                <a:sym typeface="+mn-ea"/>
              </a:rPr>
              <a:t>-His-His </a:t>
            </a:r>
            <a:r>
              <a:rPr lang="zh-CN" altLang="en-US" dirty="0">
                <a:sym typeface="+mn-ea"/>
              </a:rPr>
              <a:t>的保守结构域。后续研究表明，每个锌指蛋白含有 </a:t>
            </a:r>
            <a:r>
              <a:rPr lang="en-US" altLang="zh-CN" dirty="0">
                <a:sym typeface="+mn-ea"/>
              </a:rPr>
              <a:t>βa </a:t>
            </a:r>
            <a:r>
              <a:rPr lang="zh-CN" altLang="en-US" dirty="0">
                <a:sym typeface="+mn-ea"/>
              </a:rPr>
              <a:t>状的保守构象，表面某些氨基酸能够识别 </a:t>
            </a:r>
            <a:r>
              <a:rPr lang="en-US" altLang="zh-CN" dirty="0">
                <a:sym typeface="+mn-ea"/>
              </a:rPr>
              <a:t>DNA </a:t>
            </a:r>
            <a:r>
              <a:rPr lang="zh-CN" altLang="en-US" dirty="0">
                <a:sym typeface="+mn-ea"/>
              </a:rPr>
              <a:t>双链上的</a:t>
            </a:r>
            <a:r>
              <a:rPr lang="en-US" altLang="zh-CN" dirty="0">
                <a:sym typeface="+mn-ea"/>
              </a:rPr>
              <a:t>3</a:t>
            </a:r>
            <a:r>
              <a:rPr lang="zh-CN" altLang="en-US" dirty="0">
                <a:sym typeface="+mn-ea"/>
              </a:rPr>
              <a:t>个连续的核苷酸。人工串联</a:t>
            </a:r>
            <a:r>
              <a:rPr lang="en-US" altLang="zh-CN" dirty="0">
                <a:sym typeface="+mn-ea"/>
              </a:rPr>
              <a:t>3~6</a:t>
            </a:r>
            <a:r>
              <a:rPr lang="zh-CN" altLang="en-US" dirty="0">
                <a:sym typeface="+mn-ea"/>
              </a:rPr>
              <a:t>个锌指蛋白能够特异识别</a:t>
            </a:r>
            <a:r>
              <a:rPr lang="en-US" altLang="zh-CN" dirty="0">
                <a:sym typeface="+mn-ea"/>
              </a:rPr>
              <a:t>9~18 </a:t>
            </a:r>
            <a:r>
              <a:rPr lang="zh-CN" altLang="en-US" dirty="0">
                <a:sym typeface="+mn-ea"/>
              </a:rPr>
              <a:t>个核苷酸，</a:t>
            </a:r>
            <a:r>
              <a:rPr lang="en-US" altLang="zh-CN" dirty="0">
                <a:sym typeface="+mn-ea"/>
              </a:rPr>
              <a:t>18 </a:t>
            </a:r>
            <a:r>
              <a:rPr lang="zh-CN" altLang="en-US" dirty="0">
                <a:sym typeface="+mn-ea"/>
              </a:rPr>
              <a:t>个核苷酸长度的序列有</a:t>
            </a:r>
            <a:r>
              <a:rPr lang="en-US" altLang="zh-CN" dirty="0">
                <a:sym typeface="+mn-ea"/>
              </a:rPr>
              <a:t>4 </a:t>
            </a:r>
            <a:r>
              <a:rPr lang="zh-CN" altLang="en-US" dirty="0">
                <a:sym typeface="+mn-ea"/>
              </a:rPr>
              <a:t>种组合，串联起来大约 </a:t>
            </a:r>
            <a:r>
              <a:rPr lang="en-US" altLang="zh-CN" dirty="0" err="1">
                <a:sym typeface="+mn-ea"/>
              </a:rPr>
              <a:t>6.8x10’bp</a:t>
            </a:r>
            <a:r>
              <a:rPr lang="en-US" altLang="zh-CN" dirty="0">
                <a:sym typeface="+mn-ea"/>
              </a:rPr>
              <a:t> DNA </a:t>
            </a:r>
            <a:r>
              <a:rPr lang="zh-CN" altLang="en-US" dirty="0">
                <a:sym typeface="+mn-ea"/>
              </a:rPr>
              <a:t>长度，能够覆盖几乎所有生物的基因组，因此，足以保证与靶点结合的特异性</a:t>
            </a:r>
            <a:endParaRPr lang="zh-CN" altLang="en-US" dirty="0"/>
          </a:p>
          <a:p>
            <a:r>
              <a:rPr lang="zh-CN" altLang="en-US" dirty="0">
                <a:latin typeface="Arial" panose="020B0604020202020204" pitchFamily="34" charset="0"/>
                <a:ea typeface="微软雅黑" panose="020B0503020204020204" pitchFamily="34" charset="-122"/>
                <a:cs typeface="Arial" panose="020B0604020202020204" pitchFamily="34" charset="0"/>
                <a:sym typeface="+mn-ea"/>
              </a:rPr>
              <a:t>表面某些氨基酸能够识别 DNA 双链上的3个连续的核苷酸，人工串联3~6个锌指蛋白能够特异识别9~18 个核苷酸，18 个核苷酸长度的序列有4 种组合，串联起来大约 6.8x10’bp DNA 长度，能够覆盖几乎所有生物的基因组，因此，足以保证与靶点结合的特异性</a:t>
            </a:r>
            <a:endParaRPr lang="zh-CN" altLang="en-US" dirty="0">
              <a:latin typeface="Arial" panose="020B0604020202020204" pitchFamily="34" charset="0"/>
              <a:ea typeface="微软雅黑" panose="020B0503020204020204" pitchFamily="34" charset="-122"/>
              <a:cs typeface="Arial" panose="020B0604020202020204" pitchFamily="34" charset="0"/>
            </a:endParaRPr>
          </a:p>
          <a:p>
            <a:endParaRPr lang="zh-CN" altLang="en-US" dirty="0"/>
          </a:p>
          <a:p>
            <a:endParaRPr lang="en-US" altLang="zh-CN" dirty="0"/>
          </a:p>
          <a:p>
            <a:r>
              <a:rPr lang="en-US" altLang="zh-CN" dirty="0"/>
              <a:t>Fok I 二聚化发挥切割功能，造成靶位点断裂，启动体内的 DNA 损伤修复机制。在没有外源 DNA 模板时，细胞主要通过非同源末端连接修复方式，引入碱基的缺失和插入 (Indels)、突变，达到基因敲除的目的 ；如果存在与靶位点具有同源序列的修复模板，细胞可通过同源重组修复方式实现靶基因的精确修复或在此位点插入基因，</a:t>
            </a:r>
          </a:p>
          <a:p>
            <a:endParaRPr lang="en-US" altLang="zh-CN" dirty="0"/>
          </a:p>
          <a:p>
            <a:endParaRPr lang="en-US" altLang="zh-CN" dirty="0"/>
          </a:p>
          <a:p>
            <a:r>
              <a:rPr lang="zh-CN" altLang="en-US" dirty="0">
                <a:sym typeface="+mn-ea"/>
              </a:rPr>
              <a:t>锌指蛋白是一类具有DNA结合能力的蛋白质，蛋白内含有锌离子结合的结构域：锌指。每个锌指通常能识别并与3到4个相邻的核苷酸碱基序列结合，通过组合不同的锌指，可以根据需要精确地设计出能够特异性结合目标DNA序列的锌指蛋白。此外，非特异性核酸内切酶Fokl与锌脂蛋白相连后使其具有DNA切割能力，多个锌脂蛋白串联可形成锌脂蛋白组，锌脂蛋白间相互作用产生酶切功能，形成双链断裂，刺激细胞启动自然DNA修复过程，诱发位点特异性重组，达到基因编辑的目的。</a:t>
            </a:r>
            <a:endParaRPr lang="zh-CN" altLang="en-US" dirty="0"/>
          </a:p>
          <a:p>
            <a:endParaRPr lang="zh-CN" altLang="en-US" dirty="0"/>
          </a:p>
          <a:p>
            <a:endParaRPr lang="zh-CN" altLang="en-US" dirty="0"/>
          </a:p>
          <a:p>
            <a:r>
              <a:rPr lang="en-US" altLang="zh-CN" b="1" dirty="0" err="1">
                <a:sym typeface="+mn-ea"/>
              </a:rPr>
              <a:t>ZFP</a:t>
            </a:r>
            <a:r>
              <a:rPr lang="zh-CN" altLang="en-US" b="1" dirty="0">
                <a:sym typeface="+mn-ea"/>
              </a:rPr>
              <a:t>是自然存在的蛋白结构，其由锌指结构组成，</a:t>
            </a:r>
            <a:r>
              <a:rPr lang="en-US" altLang="zh-CN" b="1" dirty="0" err="1">
                <a:sym typeface="+mn-ea"/>
              </a:rPr>
              <a:t>ZF</a:t>
            </a:r>
            <a:r>
              <a:rPr lang="zh-CN" altLang="en-US" b="1" dirty="0">
                <a:sym typeface="+mn-ea"/>
              </a:rPr>
              <a:t>能识别特定的</a:t>
            </a:r>
            <a:r>
              <a:rPr lang="en-US" altLang="zh-CN" b="1" dirty="0">
                <a:sym typeface="+mn-ea"/>
              </a:rPr>
              <a:t>3</a:t>
            </a:r>
            <a:r>
              <a:rPr lang="zh-CN" altLang="en-US" b="1" dirty="0">
                <a:sym typeface="+mn-ea"/>
              </a:rPr>
              <a:t>个连续碱基对，因此可通过串联</a:t>
            </a:r>
            <a:r>
              <a:rPr lang="en-US" altLang="zh-CN" b="1" dirty="0" err="1">
                <a:sym typeface="+mn-ea"/>
              </a:rPr>
              <a:t>ZF</a:t>
            </a:r>
            <a:r>
              <a:rPr lang="zh-CN" altLang="en-US" b="1" dirty="0">
                <a:sym typeface="+mn-ea"/>
              </a:rPr>
              <a:t>的数量调整</a:t>
            </a:r>
            <a:r>
              <a:rPr lang="en-US" altLang="zh-CN" b="1" dirty="0">
                <a:sym typeface="+mn-ea"/>
              </a:rPr>
              <a:t>ZFN</a:t>
            </a:r>
            <a:r>
              <a:rPr lang="zh-CN" altLang="en-US" b="1" dirty="0">
                <a:sym typeface="+mn-ea"/>
              </a:rPr>
              <a:t>的识别特异性。</a:t>
            </a:r>
            <a:r>
              <a:rPr lang="en-US" altLang="zh-CN" b="1" dirty="0" err="1">
                <a:sym typeface="+mn-ea"/>
              </a:rPr>
              <a:t>FokI</a:t>
            </a:r>
            <a:r>
              <a:rPr lang="zh-CN" altLang="en-US" b="1" dirty="0">
                <a:sym typeface="+mn-ea"/>
              </a:rPr>
              <a:t>通过</a:t>
            </a:r>
            <a:r>
              <a:rPr lang="en-US" altLang="zh-CN" b="1" dirty="0">
                <a:sym typeface="+mn-ea"/>
              </a:rPr>
              <a:t>N</a:t>
            </a:r>
            <a:r>
              <a:rPr lang="zh-CN" altLang="en-US" b="1" dirty="0">
                <a:sym typeface="+mn-ea"/>
              </a:rPr>
              <a:t>端与</a:t>
            </a:r>
            <a:r>
              <a:rPr lang="en-US" altLang="zh-CN" b="1" dirty="0" err="1">
                <a:sym typeface="+mn-ea"/>
              </a:rPr>
              <a:t>ZFP</a:t>
            </a:r>
            <a:r>
              <a:rPr lang="zh-CN" altLang="en-US" b="1" dirty="0">
                <a:sym typeface="+mn-ea"/>
              </a:rPr>
              <a:t>连接，由于</a:t>
            </a:r>
            <a:r>
              <a:rPr lang="en-US" altLang="zh-CN" b="1" dirty="0" err="1">
                <a:sym typeface="+mn-ea"/>
              </a:rPr>
              <a:t>FokI</a:t>
            </a:r>
            <a:r>
              <a:rPr lang="zh-CN" altLang="en-US" b="1" dirty="0">
                <a:sym typeface="+mn-ea"/>
              </a:rPr>
              <a:t>以二聚体的形式发挥切割作用，</a:t>
            </a:r>
            <a:r>
              <a:rPr lang="en-US" altLang="zh-CN" b="1" dirty="0">
                <a:sym typeface="+mn-ea"/>
              </a:rPr>
              <a:t>ZFN</a:t>
            </a:r>
            <a:r>
              <a:rPr lang="zh-CN" altLang="en-US" b="1" dirty="0">
                <a:sym typeface="+mn-ea"/>
              </a:rPr>
              <a:t>使用时需要成对设计。</a:t>
            </a:r>
            <a:endParaRPr b="1" dirty="0"/>
          </a:p>
          <a:p>
            <a:endParaRPr lang="zh-CN" altLang="en-US" dirty="0"/>
          </a:p>
          <a:p>
            <a:pPr>
              <a:lnSpc>
                <a:spcPct val="150000"/>
              </a:lnSpc>
            </a:pPr>
            <a:r>
              <a:rPr lang="en-US" altLang="zh-CN" sz="1200" b="1" dirty="0">
                <a:latin typeface="微软雅黑" panose="020B0503020204020204" pitchFamily="34" charset="-122"/>
                <a:ea typeface="微软雅黑" panose="020B0503020204020204" pitchFamily="34" charset="-122"/>
                <a:cs typeface="微软雅黑" panose="020B0503020204020204" pitchFamily="34" charset="-122"/>
              </a:rPr>
              <a:t>高度特异性：</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锌指蛋白转录因子能够精确识别并结合特定的DNA序列，这种高度特异性使得它们能够作为基因编辑工具中的“定位系统”，准确地将编辑酶引导到目标基因位点。</a:t>
            </a:r>
            <a:endParaRPr lang="en-US" altLang="zh-CN" sz="1200" b="1"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200" b="1" dirty="0">
                <a:latin typeface="微软雅黑" panose="020B0503020204020204" pitchFamily="34" charset="-122"/>
                <a:ea typeface="微软雅黑" panose="020B0503020204020204" pitchFamily="34" charset="-122"/>
                <a:cs typeface="微软雅黑" panose="020B0503020204020204" pitchFamily="34" charset="-122"/>
              </a:rPr>
              <a:t>可设计性：</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通过改变锌指蛋白中锌指的数量和序列，可以设计出能够识别不同DNA序列的锌指蛋白转录因子。这种可设计性为开发针对不同基因的编辑工具提供了可能。</a:t>
            </a:r>
            <a:endParaRPr lang="en-US" altLang="zh-CN" sz="1200" b="1"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200" b="1" dirty="0" err="1">
                <a:latin typeface="微软雅黑" panose="020B0503020204020204" pitchFamily="34" charset="-122"/>
                <a:ea typeface="微软雅黑" panose="020B0503020204020204" pitchFamily="34" charset="-122"/>
                <a:cs typeface="微软雅黑" panose="020B0503020204020204" pitchFamily="34" charset="-122"/>
              </a:rPr>
              <a:t>高效性：</a:t>
            </a:r>
            <a:r>
              <a:rPr lang="en-US" altLang="zh-CN" sz="1200" dirty="0" err="1">
                <a:latin typeface="微软雅黑" panose="020B0503020204020204" pitchFamily="34" charset="-122"/>
                <a:ea typeface="微软雅黑" panose="020B0503020204020204" pitchFamily="34" charset="-122"/>
                <a:cs typeface="微软雅黑" panose="020B0503020204020204" pitchFamily="34" charset="-122"/>
              </a:rPr>
              <a:t>锌指蛋白转录因子与DNA的结合能力强，能够在细胞内高效地引导编辑酶进行基因编辑</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a:t>
            </a:r>
          </a:p>
          <a:p>
            <a:endParaRPr lang="en-US" altLang="zh-CN" dirty="0"/>
          </a:p>
          <a:p>
            <a:r>
              <a:rPr lang="zh-CN" altLang="en-US" dirty="0"/>
              <a:t>虽然其他转录因子也具有与DNA结合的能力，但它们往往缺乏锌指蛋白转录因子的上述特性。例如，一些转录因子的DNA结合特异性较低，难以精确识别目标基因位点；或者它们的结构复杂，难以进行人工设计和改造。这些因素限制了其他转录因子在基因编辑工具开发中的应用。</a:t>
            </a:r>
          </a:p>
          <a:p>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31</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Arial" panose="020B0604020202020204" pitchFamily="34" charset="0"/>
                <a:ea typeface="微软雅黑" panose="020B0503020204020204" pitchFamily="34" charset="-122"/>
                <a:cs typeface="Arial" panose="020B0604020202020204" pitchFamily="34" charset="0"/>
              </a:rPr>
              <a:t>种特性使得它在基因编辑和基因重组中非常有用</a:t>
            </a:r>
            <a:r>
              <a:rPr lang="en-US" altLang="zh-CN" dirty="0" err="1">
                <a:sym typeface="+mn-ea"/>
              </a:rPr>
              <a:t>由于</a:t>
            </a:r>
            <a:r>
              <a:rPr lang="en-US" altLang="zh-CN" dirty="0">
                <a:sym typeface="+mn-ea"/>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sym typeface="+mn-ea"/>
              </a:rPr>
              <a:t>Fok I </a:t>
            </a:r>
            <a:r>
              <a:rPr lang="en-US" altLang="zh-CN" dirty="0" err="1">
                <a:sym typeface="+mn-ea"/>
              </a:rPr>
              <a:t>需要二聚化才能发挥功能</a:t>
            </a:r>
            <a:r>
              <a:rPr lang="en-US" altLang="zh-CN" dirty="0">
                <a:sym typeface="+mn-ea"/>
              </a:rPr>
              <a:t> [32]，</a:t>
            </a:r>
            <a:r>
              <a:rPr lang="en-US" altLang="zh-CN" dirty="0" err="1">
                <a:sym typeface="+mn-ea"/>
              </a:rPr>
              <a:t>因此，需要设计两个互补的</a:t>
            </a:r>
            <a:r>
              <a:rPr lang="en-US" altLang="zh-CN" dirty="0">
                <a:sym typeface="+mn-ea"/>
              </a:rPr>
              <a:t> ZFN </a:t>
            </a:r>
            <a:r>
              <a:rPr lang="en-US" altLang="zh-CN" dirty="0" err="1">
                <a:sym typeface="+mn-ea"/>
              </a:rPr>
              <a:t>分子，与靶位点特异结合后，两个</a:t>
            </a:r>
            <a:r>
              <a:rPr lang="en-US" altLang="zh-CN" dirty="0">
                <a:sym typeface="+mn-ea"/>
              </a:rPr>
              <a:t> </a:t>
            </a:r>
            <a:r>
              <a:rPr lang="en-US" altLang="zh-CN" dirty="0" err="1">
                <a:sym typeface="+mn-ea"/>
              </a:rPr>
              <a:t>ZFN分子间隔距离合适时，Fok</a:t>
            </a:r>
            <a:r>
              <a:rPr lang="en-US" altLang="zh-CN" dirty="0">
                <a:sym typeface="+mn-ea"/>
              </a:rPr>
              <a:t> I </a:t>
            </a:r>
            <a:r>
              <a:rPr lang="en-US" altLang="zh-CN" dirty="0" err="1">
                <a:sym typeface="+mn-ea"/>
              </a:rPr>
              <a:t>二聚化发挥切割功能，造成靶位点断裂，启动体内的</a:t>
            </a:r>
            <a:r>
              <a:rPr lang="en-US" altLang="zh-CN" dirty="0">
                <a:sym typeface="+mn-ea"/>
              </a:rPr>
              <a:t> DNA </a:t>
            </a:r>
            <a:r>
              <a:rPr lang="en-US" altLang="zh-CN" dirty="0" err="1">
                <a:sym typeface="+mn-ea"/>
              </a:rPr>
              <a:t>损伤修复机制</a:t>
            </a:r>
            <a:r>
              <a:rPr lang="en-US" altLang="zh-CN" dirty="0">
                <a:sym typeface="+mn-ea"/>
              </a:rPr>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PingFang SC"/>
                <a:sym typeface="+mn-ea"/>
              </a:rPr>
              <a:t>ZFN</a:t>
            </a:r>
            <a:r>
              <a:rPr lang="zh-CN" altLang="en-US" dirty="0">
                <a:effectLst/>
                <a:latin typeface="PingFang SC"/>
                <a:sym typeface="+mn-ea"/>
              </a:rPr>
              <a:t>的切割域与</a:t>
            </a:r>
            <a:r>
              <a:rPr lang="en-US" altLang="zh-CN" dirty="0">
                <a:effectLst/>
                <a:latin typeface="PingFang SC"/>
                <a:sym typeface="+mn-ea"/>
              </a:rPr>
              <a:t>DNA</a:t>
            </a:r>
            <a:r>
              <a:rPr lang="zh-CN" altLang="en-US" dirty="0">
                <a:effectLst/>
                <a:latin typeface="PingFang SC"/>
                <a:sym typeface="+mn-ea"/>
              </a:rPr>
              <a:t>结合域通过连接区（</a:t>
            </a:r>
            <a:r>
              <a:rPr lang="en-US" altLang="zh-CN" dirty="0">
                <a:effectLst/>
                <a:latin typeface="PingFang SC"/>
                <a:sym typeface="+mn-ea"/>
              </a:rPr>
              <a:t>linker</a:t>
            </a:r>
            <a:r>
              <a:rPr lang="zh-CN" altLang="en-US" dirty="0">
                <a:effectLst/>
                <a:latin typeface="PingFang SC"/>
                <a:sym typeface="+mn-ea"/>
              </a:rPr>
              <a:t>）结合。在</a:t>
            </a:r>
            <a:r>
              <a:rPr lang="en-US" altLang="zh-CN" dirty="0">
                <a:effectLst/>
                <a:latin typeface="PingFang SC"/>
                <a:sym typeface="+mn-ea"/>
              </a:rPr>
              <a:t>ZFN</a:t>
            </a:r>
            <a:r>
              <a:rPr lang="zh-CN" altLang="en-US" dirty="0">
                <a:effectLst/>
                <a:latin typeface="PingFang SC"/>
                <a:sym typeface="+mn-ea"/>
              </a:rPr>
              <a:t>中应用最广泛的</a:t>
            </a:r>
            <a:r>
              <a:rPr lang="en-US" altLang="zh-CN" dirty="0">
                <a:effectLst/>
                <a:latin typeface="PingFang SC"/>
                <a:sym typeface="+mn-ea"/>
              </a:rPr>
              <a:t>DNA</a:t>
            </a:r>
            <a:r>
              <a:rPr lang="zh-CN" altLang="en-US" dirty="0">
                <a:effectLst/>
                <a:latin typeface="PingFang SC"/>
                <a:sym typeface="+mn-ea"/>
              </a:rPr>
              <a:t>切割域来自</a:t>
            </a:r>
            <a:r>
              <a:rPr lang="en-US" altLang="zh-CN" dirty="0">
                <a:effectLst/>
                <a:latin typeface="PingFang SC"/>
                <a:sym typeface="+mn-ea"/>
              </a:rPr>
              <a:t>IIS</a:t>
            </a:r>
            <a:r>
              <a:rPr lang="zh-CN" altLang="en-US" dirty="0">
                <a:effectLst/>
                <a:latin typeface="PingFang SC"/>
                <a:sym typeface="+mn-ea"/>
              </a:rPr>
              <a:t>型限制性内切酶</a:t>
            </a:r>
            <a:r>
              <a:rPr lang="en-US" altLang="zh-CN" dirty="0" err="1">
                <a:effectLst/>
                <a:latin typeface="PingFang SC"/>
                <a:sym typeface="+mn-ea"/>
              </a:rPr>
              <a:t>FokI</a:t>
            </a:r>
            <a:r>
              <a:rPr lang="zh-CN" altLang="en-US" dirty="0">
                <a:effectLst/>
                <a:latin typeface="PingFang SC"/>
                <a:sym typeface="+mn-ea"/>
              </a:rPr>
              <a:t>。由于切割域与</a:t>
            </a:r>
            <a:r>
              <a:rPr lang="en-US" altLang="zh-CN" dirty="0">
                <a:effectLst/>
                <a:latin typeface="PingFang SC"/>
                <a:sym typeface="+mn-ea"/>
              </a:rPr>
              <a:t>DNA</a:t>
            </a:r>
            <a:r>
              <a:rPr lang="zh-CN" altLang="en-US" dirty="0">
                <a:effectLst/>
                <a:latin typeface="PingFang SC"/>
                <a:sym typeface="+mn-ea"/>
              </a:rPr>
              <a:t>链的结合能力较弱，因此</a:t>
            </a:r>
            <a:r>
              <a:rPr lang="en-US" altLang="zh-CN" dirty="0">
                <a:effectLst/>
                <a:latin typeface="PingFang SC"/>
                <a:sym typeface="+mn-ea"/>
              </a:rPr>
              <a:t>DNA</a:t>
            </a:r>
            <a:r>
              <a:rPr lang="zh-CN" altLang="en-US" dirty="0">
                <a:effectLst/>
                <a:latin typeface="PingFang SC"/>
                <a:sym typeface="+mn-ea"/>
              </a:rPr>
              <a:t>切割域必须以二聚体的形式发挥作用。构建锌指核酸酶时，应针对</a:t>
            </a:r>
            <a:r>
              <a:rPr lang="en-US" altLang="zh-CN" dirty="0">
                <a:effectLst/>
                <a:latin typeface="PingFang SC"/>
                <a:sym typeface="+mn-ea"/>
              </a:rPr>
              <a:t>DNA</a:t>
            </a:r>
            <a:r>
              <a:rPr lang="zh-CN" altLang="en-US" dirty="0">
                <a:effectLst/>
                <a:latin typeface="PingFang SC"/>
                <a:sym typeface="+mn-ea"/>
              </a:rPr>
              <a:t>各链上的邻近区域设计两条</a:t>
            </a:r>
            <a:r>
              <a:rPr lang="en-US" altLang="zh-CN" dirty="0">
                <a:effectLst/>
                <a:latin typeface="PingFang SC"/>
                <a:sym typeface="+mn-ea"/>
              </a:rPr>
              <a:t>ZFN</a:t>
            </a:r>
            <a:r>
              <a:rPr lang="zh-CN" altLang="en-US" dirty="0">
                <a:effectLst/>
                <a:latin typeface="PingFang SC"/>
                <a:sym typeface="+mn-ea"/>
              </a:rPr>
              <a:t>，使其</a:t>
            </a:r>
            <a:r>
              <a:rPr lang="en-US" altLang="zh-CN" dirty="0">
                <a:effectLst/>
                <a:latin typeface="PingFang SC"/>
                <a:sym typeface="+mn-ea"/>
              </a:rPr>
              <a:t>DNA</a:t>
            </a:r>
            <a:r>
              <a:rPr lang="zh-CN" altLang="en-US" dirty="0">
                <a:effectLst/>
                <a:latin typeface="PingFang SC"/>
                <a:sym typeface="+mn-ea"/>
              </a:rPr>
              <a:t>切割域能够位于双链的同一位置，以达到最佳的切割效果。两条</a:t>
            </a:r>
            <a:r>
              <a:rPr lang="en-US" altLang="zh-CN" dirty="0">
                <a:effectLst/>
                <a:latin typeface="PingFang SC"/>
                <a:sym typeface="+mn-ea"/>
              </a:rPr>
              <a:t>ZFN</a:t>
            </a:r>
            <a:r>
              <a:rPr lang="zh-CN" altLang="en-US" dirty="0">
                <a:effectLst/>
                <a:latin typeface="PingFang SC"/>
                <a:sym typeface="+mn-ea"/>
              </a:rPr>
              <a:t>之间具有被称为“间隔区”的</a:t>
            </a:r>
            <a:r>
              <a:rPr lang="en-US" altLang="zh-CN" dirty="0">
                <a:effectLst/>
                <a:latin typeface="PingFang SC"/>
                <a:sym typeface="+mn-ea"/>
              </a:rPr>
              <a:t>spacer</a:t>
            </a:r>
            <a:r>
              <a:rPr lang="zh-CN" altLang="en-US" dirty="0">
                <a:effectLst/>
                <a:latin typeface="PingFang SC"/>
                <a:sym typeface="+mn-ea"/>
              </a:rPr>
              <a:t>结构，该结构的长度以</a:t>
            </a:r>
            <a:r>
              <a:rPr lang="en-US" altLang="zh-CN" dirty="0">
                <a:effectLst/>
                <a:latin typeface="PingFang SC"/>
                <a:sym typeface="+mn-ea"/>
              </a:rPr>
              <a:t>5</a:t>
            </a:r>
            <a:r>
              <a:rPr lang="zh-CN" altLang="en-US" dirty="0">
                <a:effectLst/>
                <a:latin typeface="PingFang SC"/>
                <a:sym typeface="+mn-ea"/>
              </a:rPr>
              <a:t>～</a:t>
            </a:r>
            <a:r>
              <a:rPr lang="en-US" altLang="zh-CN" dirty="0" err="1">
                <a:effectLst/>
                <a:latin typeface="PingFang SC"/>
                <a:sym typeface="+mn-ea"/>
              </a:rPr>
              <a:t>6bp</a:t>
            </a:r>
            <a:r>
              <a:rPr lang="zh-CN" altLang="en-US" dirty="0">
                <a:effectLst/>
                <a:latin typeface="PingFang SC"/>
                <a:sym typeface="+mn-ea"/>
              </a:rPr>
              <a:t>为宜，</a:t>
            </a:r>
            <a:r>
              <a:rPr lang="en-US" altLang="zh-CN" dirty="0" err="1">
                <a:effectLst/>
                <a:latin typeface="PingFang SC"/>
                <a:sym typeface="+mn-ea"/>
              </a:rPr>
              <a:t>7bp</a:t>
            </a:r>
            <a:r>
              <a:rPr lang="zh-CN" altLang="en-US" dirty="0">
                <a:effectLst/>
                <a:latin typeface="PingFang SC"/>
                <a:sym typeface="+mn-ea"/>
              </a:rPr>
              <a:t>也能正常工作，合理的“间隔区”设计才能保证</a:t>
            </a:r>
            <a:r>
              <a:rPr lang="en-US" altLang="zh-CN" dirty="0">
                <a:effectLst/>
                <a:latin typeface="PingFang SC"/>
                <a:sym typeface="+mn-ea"/>
              </a:rPr>
              <a:t>ZFN</a:t>
            </a:r>
            <a:r>
              <a:rPr lang="zh-CN" altLang="en-US" dirty="0">
                <a:effectLst/>
                <a:latin typeface="PingFang SC"/>
                <a:sym typeface="+mn-ea"/>
              </a:rPr>
              <a:t>二聚体拥有最佳的工作空间（图</a:t>
            </a:r>
            <a:r>
              <a:rPr lang="en-US" altLang="zh-CN" dirty="0">
                <a:effectLst/>
                <a:latin typeface="PingFang SC"/>
                <a:sym typeface="+mn-ea"/>
              </a:rPr>
              <a:t>7</a:t>
            </a:r>
            <a:r>
              <a:rPr lang="zh-CN" altLang="en-US" dirty="0">
                <a:effectLst/>
                <a:latin typeface="PingFang SC"/>
                <a:sym typeface="+mn-ea"/>
              </a:rPr>
              <a:t>）。</a:t>
            </a:r>
            <a:endParaRPr lang="en-US" altLang="zh-CN" b="0" i="0" dirty="0">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32</a:t>
            </a:fld>
            <a:endParaRPr lang="zh-CN" altLang="en-US"/>
          </a:p>
        </p:txBody>
      </p:sp>
    </p:spTree>
    <p:extLst>
      <p:ext uri="{BB962C8B-B14F-4D97-AF65-F5344CB8AC3E}">
        <p14:creationId xmlns:p14="http://schemas.microsoft.com/office/powerpoint/2010/main" val="13060917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A89FA-C81C-25EB-9FDC-AD9D2BC2B8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374BEE-E90B-EECE-F818-C5844B1B257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02B6E916-38A8-4DDE-5955-D7C4C2813598}"/>
              </a:ext>
            </a:extLst>
          </p:cNvPr>
          <p:cNvSpPr>
            <a:spLocks noGrp="1"/>
          </p:cNvSpPr>
          <p:nvPr>
            <p:ph type="body" idx="3"/>
          </p:nvPr>
        </p:nvSpPr>
        <p:spPr/>
        <p:txBody>
          <a:bodyPr/>
          <a:lstStyle/>
          <a:p>
            <a:r>
              <a:rPr lang="zh-CN" altLang="en-US" dirty="0">
                <a:sym typeface="+mn-ea"/>
              </a:rPr>
              <a:t>但是蛋白设计复杂，费时费力，并且无法实现对任意靶基因的结合，也无法实现高通量的基因编辑。作为新型基因编辑工具，ZFNs从1996年问世，在2001年开始被陆续用于不同物种的基因编辑。</a:t>
            </a:r>
          </a:p>
          <a:p>
            <a:endParaRPr lang="zh-CN" altLang="en-US" dirty="0">
              <a:sym typeface="+mn-ea"/>
            </a:endParaRPr>
          </a:p>
          <a:p>
            <a:endParaRPr lang="en-US" altLang="zh-CN" b="0" i="0" dirty="0">
              <a:effectLst/>
              <a:latin typeface="PingFang SC"/>
            </a:endParaRPr>
          </a:p>
          <a:p>
            <a:endParaRPr lang="zh-CN" altLang="en-US" dirty="0"/>
          </a:p>
          <a:p>
            <a:endParaRPr lang="zh-CN" altLang="en-US" dirty="0"/>
          </a:p>
        </p:txBody>
      </p:sp>
    </p:spTree>
    <p:extLst>
      <p:ext uri="{BB962C8B-B14F-4D97-AF65-F5344CB8AC3E}">
        <p14:creationId xmlns:p14="http://schemas.microsoft.com/office/powerpoint/2010/main" val="25049905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但是蛋白设计复杂，费时费力，并且无法实现对任意靶基因的结合，也无法实现高通量的基因编辑。作为新型基因编辑工具，ZFNs从1996年问世，在2001年开始被陆续用于不同物种的基因编辑。</a:t>
            </a:r>
          </a:p>
          <a:p>
            <a:endParaRPr lang="zh-CN" altLang="en-US" dirty="0">
              <a:sym typeface="+mn-ea"/>
            </a:endParaRPr>
          </a:p>
          <a:p>
            <a:r>
              <a:rPr lang="en-US" altLang="zh-CN" dirty="0">
                <a:effectLst/>
                <a:latin typeface="PingFang SC"/>
                <a:sym typeface="+mn-ea"/>
              </a:rPr>
              <a:t>ZFN</a:t>
            </a:r>
            <a:r>
              <a:rPr lang="zh-CN" altLang="en-US" dirty="0">
                <a:effectLst/>
                <a:latin typeface="PingFang SC"/>
                <a:sym typeface="+mn-ea"/>
              </a:rPr>
              <a:t>的切割域与</a:t>
            </a:r>
            <a:r>
              <a:rPr lang="en-US" altLang="zh-CN" dirty="0">
                <a:effectLst/>
                <a:latin typeface="PingFang SC"/>
                <a:sym typeface="+mn-ea"/>
              </a:rPr>
              <a:t>DNA</a:t>
            </a:r>
            <a:r>
              <a:rPr lang="zh-CN" altLang="en-US" dirty="0">
                <a:effectLst/>
                <a:latin typeface="PingFang SC"/>
                <a:sym typeface="+mn-ea"/>
              </a:rPr>
              <a:t>结合域通过连接区（</a:t>
            </a:r>
            <a:r>
              <a:rPr lang="en-US" altLang="zh-CN" dirty="0">
                <a:effectLst/>
                <a:latin typeface="PingFang SC"/>
                <a:sym typeface="+mn-ea"/>
              </a:rPr>
              <a:t>linker</a:t>
            </a:r>
            <a:r>
              <a:rPr lang="zh-CN" altLang="en-US" dirty="0">
                <a:effectLst/>
                <a:latin typeface="PingFang SC"/>
                <a:sym typeface="+mn-ea"/>
              </a:rPr>
              <a:t>）结合。在</a:t>
            </a:r>
            <a:r>
              <a:rPr lang="en-US" altLang="zh-CN" dirty="0">
                <a:effectLst/>
                <a:latin typeface="PingFang SC"/>
                <a:sym typeface="+mn-ea"/>
              </a:rPr>
              <a:t>ZFN</a:t>
            </a:r>
            <a:r>
              <a:rPr lang="zh-CN" altLang="en-US" dirty="0">
                <a:effectLst/>
                <a:latin typeface="PingFang SC"/>
                <a:sym typeface="+mn-ea"/>
              </a:rPr>
              <a:t>中应用最广泛的</a:t>
            </a:r>
            <a:r>
              <a:rPr lang="en-US" altLang="zh-CN" dirty="0">
                <a:effectLst/>
                <a:latin typeface="PingFang SC"/>
                <a:sym typeface="+mn-ea"/>
              </a:rPr>
              <a:t>DNA</a:t>
            </a:r>
            <a:r>
              <a:rPr lang="zh-CN" altLang="en-US" dirty="0">
                <a:effectLst/>
                <a:latin typeface="PingFang SC"/>
                <a:sym typeface="+mn-ea"/>
              </a:rPr>
              <a:t>切割域来自</a:t>
            </a:r>
            <a:r>
              <a:rPr lang="en-US" altLang="zh-CN" dirty="0">
                <a:effectLst/>
                <a:latin typeface="PingFang SC"/>
                <a:sym typeface="+mn-ea"/>
              </a:rPr>
              <a:t>IIS</a:t>
            </a:r>
            <a:r>
              <a:rPr lang="zh-CN" altLang="en-US" dirty="0">
                <a:effectLst/>
                <a:latin typeface="PingFang SC"/>
                <a:sym typeface="+mn-ea"/>
              </a:rPr>
              <a:t>型限制性内切酶</a:t>
            </a:r>
            <a:r>
              <a:rPr lang="en-US" altLang="zh-CN" dirty="0" err="1">
                <a:effectLst/>
                <a:latin typeface="PingFang SC"/>
                <a:sym typeface="+mn-ea"/>
              </a:rPr>
              <a:t>FokI</a:t>
            </a:r>
            <a:r>
              <a:rPr lang="zh-CN" altLang="en-US" dirty="0">
                <a:effectLst/>
                <a:latin typeface="PingFang SC"/>
                <a:sym typeface="+mn-ea"/>
              </a:rPr>
              <a:t>。由于切割域与</a:t>
            </a:r>
            <a:r>
              <a:rPr lang="en-US" altLang="zh-CN" dirty="0">
                <a:effectLst/>
                <a:latin typeface="PingFang SC"/>
                <a:sym typeface="+mn-ea"/>
              </a:rPr>
              <a:t>DNA</a:t>
            </a:r>
            <a:r>
              <a:rPr lang="zh-CN" altLang="en-US" dirty="0">
                <a:effectLst/>
                <a:latin typeface="PingFang SC"/>
                <a:sym typeface="+mn-ea"/>
              </a:rPr>
              <a:t>链的结合能力较弱，因此</a:t>
            </a:r>
            <a:r>
              <a:rPr lang="en-US" altLang="zh-CN" dirty="0">
                <a:effectLst/>
                <a:latin typeface="PingFang SC"/>
                <a:sym typeface="+mn-ea"/>
              </a:rPr>
              <a:t>DNA</a:t>
            </a:r>
            <a:r>
              <a:rPr lang="zh-CN" altLang="en-US" dirty="0">
                <a:effectLst/>
                <a:latin typeface="PingFang SC"/>
                <a:sym typeface="+mn-ea"/>
              </a:rPr>
              <a:t>切割域必须以二聚体的形式发挥作用。构建锌指核酸酶时，应针对</a:t>
            </a:r>
            <a:r>
              <a:rPr lang="en-US" altLang="zh-CN" dirty="0">
                <a:effectLst/>
                <a:latin typeface="PingFang SC"/>
                <a:sym typeface="+mn-ea"/>
              </a:rPr>
              <a:t>DNA</a:t>
            </a:r>
            <a:r>
              <a:rPr lang="zh-CN" altLang="en-US" dirty="0">
                <a:effectLst/>
                <a:latin typeface="PingFang SC"/>
                <a:sym typeface="+mn-ea"/>
              </a:rPr>
              <a:t>各链上的邻近区域设计两条</a:t>
            </a:r>
            <a:r>
              <a:rPr lang="en-US" altLang="zh-CN" dirty="0">
                <a:effectLst/>
                <a:latin typeface="PingFang SC"/>
                <a:sym typeface="+mn-ea"/>
              </a:rPr>
              <a:t>ZFN</a:t>
            </a:r>
            <a:r>
              <a:rPr lang="zh-CN" altLang="en-US" dirty="0">
                <a:effectLst/>
                <a:latin typeface="PingFang SC"/>
                <a:sym typeface="+mn-ea"/>
              </a:rPr>
              <a:t>，使其</a:t>
            </a:r>
            <a:r>
              <a:rPr lang="en-US" altLang="zh-CN" dirty="0">
                <a:effectLst/>
                <a:latin typeface="PingFang SC"/>
                <a:sym typeface="+mn-ea"/>
              </a:rPr>
              <a:t>DNA</a:t>
            </a:r>
            <a:r>
              <a:rPr lang="zh-CN" altLang="en-US" dirty="0">
                <a:effectLst/>
                <a:latin typeface="PingFang SC"/>
                <a:sym typeface="+mn-ea"/>
              </a:rPr>
              <a:t>切割域能够位于双链的同一位置，以达到最佳的切割效果。两条</a:t>
            </a:r>
            <a:r>
              <a:rPr lang="en-US" altLang="zh-CN" dirty="0">
                <a:effectLst/>
                <a:latin typeface="PingFang SC"/>
                <a:sym typeface="+mn-ea"/>
              </a:rPr>
              <a:t>ZFN</a:t>
            </a:r>
            <a:r>
              <a:rPr lang="zh-CN" altLang="en-US" dirty="0">
                <a:effectLst/>
                <a:latin typeface="PingFang SC"/>
                <a:sym typeface="+mn-ea"/>
              </a:rPr>
              <a:t>之间具有被称为“间隔区”的</a:t>
            </a:r>
            <a:r>
              <a:rPr lang="en-US" altLang="zh-CN" dirty="0">
                <a:effectLst/>
                <a:latin typeface="PingFang SC"/>
                <a:sym typeface="+mn-ea"/>
              </a:rPr>
              <a:t>spacer</a:t>
            </a:r>
            <a:r>
              <a:rPr lang="zh-CN" altLang="en-US" dirty="0">
                <a:effectLst/>
                <a:latin typeface="PingFang SC"/>
                <a:sym typeface="+mn-ea"/>
              </a:rPr>
              <a:t>结构，该结构的长度以</a:t>
            </a:r>
            <a:r>
              <a:rPr lang="en-US" altLang="zh-CN" dirty="0">
                <a:effectLst/>
                <a:latin typeface="PingFang SC"/>
                <a:sym typeface="+mn-ea"/>
              </a:rPr>
              <a:t>5</a:t>
            </a:r>
            <a:r>
              <a:rPr lang="zh-CN" altLang="en-US" dirty="0">
                <a:effectLst/>
                <a:latin typeface="PingFang SC"/>
                <a:sym typeface="+mn-ea"/>
              </a:rPr>
              <a:t>～</a:t>
            </a:r>
            <a:r>
              <a:rPr lang="en-US" altLang="zh-CN" dirty="0" err="1">
                <a:effectLst/>
                <a:latin typeface="PingFang SC"/>
                <a:sym typeface="+mn-ea"/>
              </a:rPr>
              <a:t>6bp</a:t>
            </a:r>
            <a:r>
              <a:rPr lang="zh-CN" altLang="en-US" dirty="0">
                <a:effectLst/>
                <a:latin typeface="PingFang SC"/>
                <a:sym typeface="+mn-ea"/>
              </a:rPr>
              <a:t>为宜，</a:t>
            </a:r>
            <a:r>
              <a:rPr lang="en-US" altLang="zh-CN" dirty="0" err="1">
                <a:effectLst/>
                <a:latin typeface="PingFang SC"/>
                <a:sym typeface="+mn-ea"/>
              </a:rPr>
              <a:t>7bp</a:t>
            </a:r>
            <a:r>
              <a:rPr lang="zh-CN" altLang="en-US" dirty="0">
                <a:effectLst/>
                <a:latin typeface="PingFang SC"/>
                <a:sym typeface="+mn-ea"/>
              </a:rPr>
              <a:t>也能正常工作，合理的“间隔区”设计才能保证</a:t>
            </a:r>
            <a:r>
              <a:rPr lang="en-US" altLang="zh-CN" dirty="0">
                <a:effectLst/>
                <a:latin typeface="PingFang SC"/>
                <a:sym typeface="+mn-ea"/>
              </a:rPr>
              <a:t>ZFN</a:t>
            </a:r>
            <a:r>
              <a:rPr lang="zh-CN" altLang="en-US" dirty="0">
                <a:effectLst/>
                <a:latin typeface="PingFang SC"/>
                <a:sym typeface="+mn-ea"/>
              </a:rPr>
              <a:t>二聚体拥有最佳的工作空间（图</a:t>
            </a:r>
            <a:r>
              <a:rPr lang="en-US" altLang="zh-CN" dirty="0">
                <a:effectLst/>
                <a:latin typeface="PingFang SC"/>
                <a:sym typeface="+mn-ea"/>
              </a:rPr>
              <a:t>7</a:t>
            </a:r>
            <a:r>
              <a:rPr lang="zh-CN" altLang="en-US" dirty="0">
                <a:effectLst/>
                <a:latin typeface="PingFang SC"/>
                <a:sym typeface="+mn-ea"/>
              </a:rPr>
              <a:t>）。</a:t>
            </a:r>
            <a:endParaRPr lang="en-US" altLang="zh-CN" b="0" i="0" dirty="0">
              <a:effectLst/>
              <a:latin typeface="PingFang SC"/>
            </a:endParaRPr>
          </a:p>
          <a:p>
            <a:endParaRPr lang="en-US" altLang="zh-CN" b="0" i="0" dirty="0">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但 </a:t>
            </a:r>
            <a:r>
              <a:rPr lang="en-US" altLang="zh-CN" sz="1200" dirty="0"/>
              <a:t>ZFN </a:t>
            </a:r>
            <a:r>
              <a:rPr lang="zh-CN" altLang="en-US" sz="1200" dirty="0"/>
              <a:t>的构建耗时耗力， 且构建费用较高，而且现在尚不能针对任意靶点设 计相应的 </a:t>
            </a:r>
            <a:r>
              <a:rPr lang="en-US" altLang="zh-CN" sz="1200" dirty="0"/>
              <a:t>ZFN </a:t>
            </a:r>
            <a:r>
              <a:rPr lang="zh-CN" altLang="en-US" sz="1200" dirty="0"/>
              <a:t>实现特异切割 </a:t>
            </a:r>
            <a:r>
              <a:rPr lang="en-US" altLang="zh-CN" sz="1200" dirty="0"/>
              <a:t>[40]</a:t>
            </a:r>
            <a:r>
              <a:rPr lang="zh-CN" altLang="en-US" sz="1200" dirty="0"/>
              <a:t>。另外，</a:t>
            </a:r>
            <a:r>
              <a:rPr lang="en-US" altLang="zh-CN" sz="1200" dirty="0"/>
              <a:t>ZFN </a:t>
            </a:r>
            <a:r>
              <a:rPr lang="zh-CN" altLang="en-US" sz="1200" dirty="0"/>
              <a:t>存在 一定的脱靶效应，也限制了 </a:t>
            </a:r>
            <a:r>
              <a:rPr lang="en-US" altLang="zh-CN" sz="1200" dirty="0"/>
              <a:t>ZFN </a:t>
            </a:r>
            <a:r>
              <a:rPr lang="zh-CN" altLang="en-US" sz="1200" dirty="0"/>
              <a:t>的广泛应用</a:t>
            </a:r>
            <a:endParaRPr lang="en-US" altLang="zh-CN" sz="1200" dirty="0"/>
          </a:p>
          <a:p>
            <a:r>
              <a:rPr lang="zh-CN" altLang="en-US" sz="1200" dirty="0"/>
              <a:t>但由于不同锌指在连接后常常无法维持各自原有的特异性，因此，合成一段识别 18 个碱基的锌指链</a:t>
            </a:r>
          </a:p>
          <a:p>
            <a:r>
              <a:rPr lang="zh-CN" altLang="en-US" sz="1200" dirty="0"/>
              <a:t>往往需要进行锌指文库的大规模筛选。同时，并非</a:t>
            </a:r>
          </a:p>
          <a:p>
            <a:r>
              <a:rPr lang="zh-CN" altLang="en-US" sz="1200" dirty="0"/>
              <a:t>所有的目标序列都能找到高效特异的锌指蛋白，因</a:t>
            </a:r>
          </a:p>
          <a:p>
            <a:r>
              <a:rPr lang="zh-CN" altLang="en-US" sz="1200" dirty="0"/>
              <a:t>此，在目标位点的选择上有一定限制。</a:t>
            </a:r>
          </a:p>
          <a:p>
            <a:r>
              <a:rPr lang="zh-CN" altLang="en-US" dirty="0"/>
              <a:t>锌指核酸酶技术也存在一定的局限性，如锌指中各个锌指蛋白可以相互作用，影响识别和结合特定核苷酸序列，导致在多个锌脂蛋白串联成组时可能会错误地切割到两个目的片段之间的片段，该上下文依赖效应将可能导致潜在的脱靶效应。锌指酶识别的目标序列长度是一定的，一些小基因和同源性高的基因可能无法被锌指核酸酶技术有效敲除，大片段基因也难以通过锌指酶技术敲入。此外，锌指核酸酶的装配过程非模块化，锌脂蛋白合成时间长，在大肠杆菌中组装困难，成本高、专利壁垒等一系列问题限制锌指核酸酶技术广泛应用。</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dirty="0">
                <a:solidFill>
                  <a:srgbClr val="231F20"/>
                </a:solidFill>
                <a:effectLst/>
                <a:latin typeface="SimSun" panose="02010600030101010101" pitchFamily="2" charset="-122"/>
                <a:ea typeface="SimSun" panose="02010600030101010101" pitchFamily="2" charset="-122"/>
              </a:rPr>
              <a:t>但由于不同锌指在连接后常常无法维持各自原有的特异性，因此，合成一段识别 </a:t>
            </a:r>
            <a:r>
              <a:rPr lang="en-US" altLang="zh-CN" sz="1800" b="0" i="0" dirty="0">
                <a:solidFill>
                  <a:srgbClr val="231F20"/>
                </a:solidFill>
                <a:effectLst/>
                <a:latin typeface="TimesNewRomanPSMT"/>
              </a:rPr>
              <a:t>18 </a:t>
            </a:r>
            <a:r>
              <a:rPr lang="zh-CN" altLang="en-US" sz="1800" b="0" i="0" dirty="0">
                <a:solidFill>
                  <a:srgbClr val="231F20"/>
                </a:solidFill>
                <a:effectLst/>
                <a:latin typeface="SimSun" panose="02010600030101010101" pitchFamily="2" charset="-122"/>
                <a:ea typeface="SimSun" panose="02010600030101010101" pitchFamily="2" charset="-122"/>
              </a:rPr>
              <a:t>个碱基的锌指链</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往往需要进行锌指文库的大规模筛选。同时，并非</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所有的目标序列都能找到高效特异的锌指蛋白，因</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此，在目标位点的选择上有一定限制。</a:t>
            </a:r>
            <a:r>
              <a:rPr lang="zh-CN" altLang="en-US" dirty="0"/>
              <a:t> </a:t>
            </a:r>
            <a:br>
              <a:rPr lang="zh-CN" altLang="en-US" dirty="0"/>
            </a:br>
            <a:br>
              <a:rPr lang="zh-CN" altLang="en-US" dirty="0"/>
            </a:br>
            <a:r>
              <a:rPr lang="zh-CN" altLang="en-US" dirty="0"/>
              <a:t>然而该技术也有局限性：可编辑的靶基因位点有限，有限的锌指蛋白类别只可识别有限的DNA序列；ZFNs基因编辑的效率低，只有30%左右；操作复杂，成本高，容易脱靶。</a:t>
            </a:r>
          </a:p>
          <a:p>
            <a:endParaRPr lang="zh-CN" altLang="en-US" dirty="0"/>
          </a:p>
          <a:p>
            <a:endParaRPr lang="en-US" altLang="zh-CN" b="0" i="0" dirty="0">
              <a:effectLst/>
              <a:latin typeface="PingFang SC"/>
            </a:endParaRPr>
          </a:p>
          <a:p>
            <a:endParaRPr lang="zh-CN" altLang="en-US" dirty="0"/>
          </a:p>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早期的 </a:t>
            </a:r>
            <a:r>
              <a:rPr lang="en-US" altLang="zh-CN" dirty="0"/>
              <a:t>ZFN</a:t>
            </a:r>
            <a:r>
              <a:rPr lang="zh-CN" altLang="en-US" dirty="0"/>
              <a:t>技术一般采用普通的 </a:t>
            </a:r>
            <a:r>
              <a:rPr lang="en-US" altLang="zh-CN" dirty="0" err="1"/>
              <a:t>FokI-ZFN</a:t>
            </a:r>
            <a:r>
              <a:rPr lang="zh-CN" altLang="en-US" dirty="0"/>
              <a:t>二聚体形式来保证其切割效率，但使用过程中可能因同源二聚体效应（</a:t>
            </a:r>
            <a:r>
              <a:rPr lang="en-US" altLang="zh-CN" dirty="0"/>
              <a:t>homodimerization</a:t>
            </a:r>
            <a:r>
              <a:rPr lang="zh-CN" altLang="en-US" dirty="0"/>
              <a:t>）而导致脱靶，影响切割特异性。</a:t>
            </a:r>
            <a:r>
              <a:rPr lang="en-US" altLang="zh-CN" dirty="0"/>
              <a:t>Miller</a:t>
            </a:r>
            <a:r>
              <a:rPr lang="zh-CN" altLang="en-US" dirty="0"/>
              <a:t>等人和</a:t>
            </a:r>
            <a:r>
              <a:rPr lang="en-US" altLang="zh-CN" dirty="0" err="1"/>
              <a:t>Szczepek</a:t>
            </a:r>
            <a:r>
              <a:rPr lang="zh-CN" altLang="en-US" dirty="0"/>
              <a:t>等人在</a:t>
            </a:r>
            <a:r>
              <a:rPr lang="en-US" altLang="zh-CN" dirty="0"/>
              <a:t>2007</a:t>
            </a:r>
            <a:r>
              <a:rPr lang="zh-CN" altLang="en-US" dirty="0"/>
              <a:t>年分别开发出</a:t>
            </a:r>
            <a:r>
              <a:rPr lang="en-US" altLang="zh-CN" dirty="0" err="1"/>
              <a:t>FokI</a:t>
            </a:r>
            <a:r>
              <a:rPr lang="zh-CN" altLang="en-US" dirty="0"/>
              <a:t>的变体，使得</a:t>
            </a:r>
            <a:r>
              <a:rPr lang="en-US" altLang="zh-CN" dirty="0"/>
              <a:t>ZFN</a:t>
            </a:r>
            <a:r>
              <a:rPr lang="zh-CN" altLang="en-US" dirty="0"/>
              <a:t>可以在异源二聚体（</a:t>
            </a:r>
            <a:r>
              <a:rPr lang="en-US" altLang="zh-CN" dirty="0"/>
              <a:t>heterodimer</a:t>
            </a:r>
            <a:r>
              <a:rPr lang="zh-CN" altLang="en-US" dirty="0"/>
              <a:t>）形式下使用，从而在保证切割效率的前提下大大提升了特异性，并减少了细胞毒性，具有更优良的科研和应用价值。</a:t>
            </a:r>
          </a:p>
        </p:txBody>
      </p:sp>
      <p:sp>
        <p:nvSpPr>
          <p:cNvPr id="4" name="灯片编号占位符 3"/>
          <p:cNvSpPr>
            <a:spLocks noGrp="1"/>
          </p:cNvSpPr>
          <p:nvPr>
            <p:ph type="sldNum" sz="quarter" idx="5"/>
          </p:nvPr>
        </p:nvSpPr>
        <p:spPr/>
        <p:txBody>
          <a:bodyPr/>
          <a:lstStyle/>
          <a:p>
            <a:fld id="{B8B7A263-E924-4581-B58B-5F45429A0ECA}" type="slidenum">
              <a:rPr lang="zh-CN" altLang="en-US" smtClean="0"/>
              <a:t>35</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(a) </a:t>
            </a:r>
            <a:r>
              <a:rPr lang="zh-CN" altLang="en-US" b="1" dirty="0"/>
              <a:t>内源基因编辑实验的示意图</a:t>
            </a:r>
            <a:r>
              <a:rPr lang="zh-CN" altLang="en-US" dirty="0"/>
              <a:t>。天然</a:t>
            </a:r>
            <a:r>
              <a:rPr lang="en-US" altLang="zh-CN" dirty="0" err="1"/>
              <a:t>IL2Rg</a:t>
            </a:r>
            <a:r>
              <a:rPr lang="zh-CN" altLang="en-US" dirty="0"/>
              <a:t>基因的切割和切除（顶部和中部）为同源定向修复（</a:t>
            </a:r>
            <a:r>
              <a:rPr lang="en-US" altLang="zh-CN" dirty="0" err="1"/>
              <a:t>HDR</a:t>
            </a:r>
            <a:r>
              <a:rPr lang="zh-CN" altLang="en-US" dirty="0"/>
              <a:t>）提供了底物，</a:t>
            </a:r>
            <a:r>
              <a:rPr lang="en-US" altLang="zh-CN" dirty="0" err="1"/>
              <a:t>HDR</a:t>
            </a:r>
            <a:r>
              <a:rPr lang="zh-CN" altLang="en-US" dirty="0"/>
              <a:t>可以使用携带</a:t>
            </a:r>
            <a:r>
              <a:rPr lang="en-US" altLang="zh-CN" dirty="0" err="1"/>
              <a:t>BsrBI</a:t>
            </a:r>
            <a:r>
              <a:rPr lang="zh-CN" altLang="en-US" dirty="0"/>
              <a:t>限制酶切位点的供体</a:t>
            </a:r>
            <a:r>
              <a:rPr lang="en-US" altLang="zh-CN" dirty="0"/>
              <a:t>DNA</a:t>
            </a:r>
            <a:r>
              <a:rPr lang="zh-CN" altLang="en-US" dirty="0"/>
              <a:t>片段作为修复模板（中部和底部）。随后，使用结合在供体序列外部的引物对内源位点进行</a:t>
            </a:r>
            <a:r>
              <a:rPr lang="en-US" altLang="zh-CN" dirty="0"/>
              <a:t>PCR</a:t>
            </a:r>
            <a:r>
              <a:rPr lang="zh-CN" altLang="en-US" dirty="0"/>
              <a:t>扩增，再用</a:t>
            </a:r>
            <a:r>
              <a:rPr lang="en-US" altLang="zh-CN" dirty="0" err="1"/>
              <a:t>BsrBI</a:t>
            </a:r>
            <a:r>
              <a:rPr lang="zh-CN" altLang="en-US" dirty="0"/>
              <a:t>对</a:t>
            </a:r>
            <a:r>
              <a:rPr lang="en-US" altLang="zh-CN" dirty="0"/>
              <a:t>PCR</a:t>
            </a:r>
            <a:r>
              <a:rPr lang="zh-CN" altLang="en-US" dirty="0"/>
              <a:t>产物进行消化，以量化基因编辑效率。切除后的</a:t>
            </a:r>
            <a:r>
              <a:rPr lang="en-US" altLang="zh-CN" dirty="0" err="1"/>
              <a:t>IL2Rg</a:t>
            </a:r>
            <a:r>
              <a:rPr lang="zh-CN" altLang="en-US" dirty="0"/>
              <a:t>基因与供体之间的虚线表示</a:t>
            </a:r>
            <a:r>
              <a:rPr lang="en-US" altLang="zh-CN" dirty="0" err="1"/>
              <a:t>HDR</a:t>
            </a:r>
            <a:r>
              <a:rPr lang="zh-CN" altLang="en-US" dirty="0"/>
              <a:t>过程。</a:t>
            </a:r>
          </a:p>
          <a:p>
            <a:r>
              <a:rPr lang="en-US" altLang="zh-CN" b="1" dirty="0"/>
              <a:t>(b) </a:t>
            </a:r>
            <a:r>
              <a:rPr lang="zh-CN" altLang="en-US" b="1" dirty="0"/>
              <a:t>使用转染了指定构建体的人</a:t>
            </a:r>
            <a:r>
              <a:rPr lang="en-US" altLang="zh-CN" b="1" dirty="0" err="1"/>
              <a:t>K562</a:t>
            </a:r>
            <a:r>
              <a:rPr lang="zh-CN" altLang="en-US" b="1" dirty="0"/>
              <a:t>细胞进行内源基因编辑实验的结果</a:t>
            </a:r>
            <a:r>
              <a:rPr lang="zh-CN" altLang="en-US" dirty="0"/>
              <a:t>。“</a:t>
            </a:r>
            <a:r>
              <a:rPr lang="en-US" altLang="zh-CN" dirty="0" err="1"/>
              <a:t>GFP</a:t>
            </a:r>
            <a:r>
              <a:rPr lang="en-US" altLang="zh-CN" dirty="0"/>
              <a:t>”</a:t>
            </a:r>
            <a:r>
              <a:rPr lang="zh-CN" altLang="en-US" dirty="0"/>
              <a:t>表示</a:t>
            </a:r>
            <a:r>
              <a:rPr lang="en-US" altLang="zh-CN" dirty="0" err="1"/>
              <a:t>pmaxGFP</a:t>
            </a:r>
            <a:r>
              <a:rPr lang="zh-CN" altLang="en-US" dirty="0"/>
              <a:t>（</a:t>
            </a:r>
            <a:r>
              <a:rPr lang="en-US" altLang="zh-CN" dirty="0" err="1"/>
              <a:t>Amaxa</a:t>
            </a:r>
            <a:r>
              <a:rPr lang="zh-CN" altLang="en-US" dirty="0"/>
              <a:t>），而其他构建体的身份如图</a:t>
            </a:r>
            <a:r>
              <a:rPr lang="en-US" altLang="zh-CN" dirty="0" err="1"/>
              <a:t>2f</a:t>
            </a:r>
            <a:r>
              <a:rPr lang="zh-CN" altLang="en-US" dirty="0"/>
              <a:t>所述。“未切割”表示未消化的</a:t>
            </a:r>
            <a:r>
              <a:rPr lang="en-US" altLang="zh-CN" dirty="0"/>
              <a:t>PCR</a:t>
            </a:r>
            <a:r>
              <a:rPr lang="zh-CN" altLang="en-US" dirty="0"/>
              <a:t>产物的位置，“切割”表示由</a:t>
            </a:r>
            <a:r>
              <a:rPr lang="en-US" altLang="zh-CN" dirty="0" err="1"/>
              <a:t>BsrBI</a:t>
            </a:r>
            <a:r>
              <a:rPr lang="zh-CN" altLang="en-US" dirty="0"/>
              <a:t>消化产生的片段的位置（只有当</a:t>
            </a:r>
            <a:r>
              <a:rPr lang="en-US" altLang="zh-CN" dirty="0" err="1"/>
              <a:t>BsrBI</a:t>
            </a:r>
            <a:r>
              <a:rPr lang="zh-CN" altLang="en-US" dirty="0"/>
              <a:t>限制酶切位点从供体转移到基因上时才会出现）。在带有可见</a:t>
            </a:r>
            <a:r>
              <a:rPr lang="en-US" altLang="zh-CN" dirty="0" err="1"/>
              <a:t>BsrBI</a:t>
            </a:r>
            <a:r>
              <a:rPr lang="zh-CN" altLang="en-US" dirty="0"/>
              <a:t>条带的泳道下方的数字表示切割的</a:t>
            </a:r>
            <a:r>
              <a:rPr lang="en-US" altLang="zh-CN" dirty="0"/>
              <a:t>PCR</a:t>
            </a:r>
            <a:r>
              <a:rPr lang="zh-CN" altLang="en-US" dirty="0"/>
              <a:t>产物的百分比。</a:t>
            </a:r>
          </a:p>
          <a:p>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36</a:t>
            </a:fld>
            <a:endParaRPr lang="zh-CN" altLang="en-US"/>
          </a:p>
        </p:txBody>
      </p:sp>
    </p:spTree>
    <p:extLst>
      <p:ext uri="{BB962C8B-B14F-4D97-AF65-F5344CB8AC3E}">
        <p14:creationId xmlns:p14="http://schemas.microsoft.com/office/powerpoint/2010/main" val="11788260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8F168-87A7-31AA-747E-AEEAF63081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550678-7F73-C692-930B-C00E83A7723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A459810-60C7-B4E4-3DFB-E2DC4BA095FC}"/>
              </a:ext>
            </a:extLst>
          </p:cNvPr>
          <p:cNvSpPr>
            <a:spLocks noGrp="1"/>
          </p:cNvSpPr>
          <p:nvPr>
            <p:ph type="body" idx="3"/>
          </p:nvPr>
        </p:nvSpPr>
        <p:spPr/>
        <p:txBody>
          <a:bodyPr/>
          <a:lstStyle/>
          <a:p>
            <a:pPr algn="just"/>
            <a:r>
              <a:rPr lang="zh-CN" altLang="en-US" dirty="0">
                <a:effectLst/>
                <a:sym typeface="+mn-ea"/>
              </a:rPr>
              <a:t>大范围核酸酶（</a:t>
            </a:r>
            <a:r>
              <a:rPr lang="en-US" altLang="zh-CN" dirty="0" err="1">
                <a:effectLst/>
                <a:sym typeface="+mn-ea"/>
              </a:rPr>
              <a:t>meganuclease</a:t>
            </a:r>
            <a:r>
              <a:rPr lang="zh-CN" altLang="en-US" dirty="0">
                <a:effectLst/>
                <a:sym typeface="+mn-ea"/>
              </a:rPr>
              <a:t>）亦称归巢核酸内切酶（</a:t>
            </a:r>
            <a:r>
              <a:rPr lang="en-US" altLang="zh-CN" dirty="0">
                <a:effectLst/>
                <a:sym typeface="+mn-ea"/>
              </a:rPr>
              <a:t>homing endonuclease</a:t>
            </a:r>
            <a:r>
              <a:rPr lang="zh-CN" altLang="en-US" dirty="0">
                <a:effectLst/>
                <a:sym typeface="+mn-ea"/>
              </a:rPr>
              <a:t>）。大范围核酸酶可特异识别</a:t>
            </a:r>
            <a:r>
              <a:rPr lang="en-US" altLang="zh-CN" dirty="0">
                <a:effectLst/>
                <a:sym typeface="+mn-ea"/>
              </a:rPr>
              <a:t>DNA</a:t>
            </a:r>
            <a:r>
              <a:rPr lang="zh-CN" altLang="en-US" dirty="0">
                <a:effectLst/>
                <a:sym typeface="+mn-ea"/>
              </a:rPr>
              <a:t>长片段，一般在</a:t>
            </a:r>
            <a:r>
              <a:rPr lang="en-US" altLang="zh-CN" dirty="0">
                <a:effectLst/>
                <a:sym typeface="+mn-ea"/>
              </a:rPr>
              <a:t>12</a:t>
            </a:r>
            <a:r>
              <a:rPr lang="zh-CN" altLang="en-US" dirty="0">
                <a:effectLst/>
                <a:sym typeface="+mn-ea"/>
              </a:rPr>
              <a:t>～</a:t>
            </a:r>
            <a:r>
              <a:rPr lang="en-US" altLang="zh-CN" dirty="0" err="1">
                <a:effectLst/>
                <a:sym typeface="+mn-ea"/>
              </a:rPr>
              <a:t>40bp</a:t>
            </a:r>
            <a:r>
              <a:rPr lang="zh-CN" altLang="en-US" dirty="0">
                <a:effectLst/>
                <a:sym typeface="+mn-ea"/>
              </a:rPr>
              <a:t>之间，在数量上能满足需求。</a:t>
            </a:r>
            <a:r>
              <a:rPr lang="en-US" altLang="zh-CN" dirty="0">
                <a:effectLst/>
                <a:sym typeface="+mn-ea"/>
              </a:rPr>
              <a:t>1985</a:t>
            </a:r>
            <a:r>
              <a:rPr lang="zh-CN" altLang="en-US" dirty="0">
                <a:effectLst/>
                <a:sym typeface="+mn-ea"/>
              </a:rPr>
              <a:t>年，一种大范围核酸酶</a:t>
            </a:r>
            <a:r>
              <a:rPr lang="en-US" altLang="zh-CN" dirty="0">
                <a:effectLst/>
                <a:sym typeface="+mn-ea"/>
              </a:rPr>
              <a:t>I-</a:t>
            </a:r>
            <a:r>
              <a:rPr lang="en-US" altLang="zh-CN" dirty="0" err="1">
                <a:effectLst/>
                <a:sym typeface="+mn-ea"/>
              </a:rPr>
              <a:t>SceI</a:t>
            </a:r>
            <a:r>
              <a:rPr lang="zh-CN" altLang="en-US" dirty="0">
                <a:effectLst/>
                <a:sym typeface="+mn-ea"/>
              </a:rPr>
              <a:t>被发现，它可特异性识别</a:t>
            </a:r>
            <a:r>
              <a:rPr lang="en-US" altLang="zh-CN" dirty="0">
                <a:effectLst/>
                <a:sym typeface="+mn-ea"/>
              </a:rPr>
              <a:t>18 bp</a:t>
            </a:r>
            <a:r>
              <a:rPr lang="zh-CN" altLang="en-US" dirty="0">
                <a:effectLst/>
                <a:sym typeface="+mn-ea"/>
              </a:rPr>
              <a:t>的</a:t>
            </a:r>
            <a:r>
              <a:rPr lang="en-US" altLang="zh-CN" dirty="0">
                <a:effectLst/>
                <a:sym typeface="+mn-ea"/>
              </a:rPr>
              <a:t>DNA</a:t>
            </a:r>
            <a:r>
              <a:rPr lang="zh-CN" altLang="en-US" dirty="0">
                <a:effectLst/>
                <a:sym typeface="+mn-ea"/>
              </a:rPr>
              <a:t>片段，在此基础上将</a:t>
            </a:r>
            <a:r>
              <a:rPr lang="en-US" altLang="zh-CN" dirty="0">
                <a:effectLst/>
                <a:sym typeface="+mn-ea"/>
              </a:rPr>
              <a:t>DNA</a:t>
            </a:r>
            <a:r>
              <a:rPr lang="zh-CN" altLang="en-US" dirty="0">
                <a:effectLst/>
                <a:sym typeface="+mn-ea"/>
              </a:rPr>
              <a:t>切开而产生双链断裂。</a:t>
            </a:r>
            <a:r>
              <a:rPr lang="en-US" altLang="zh-CN" dirty="0">
                <a:effectLst/>
                <a:sym typeface="+mn-ea"/>
              </a:rPr>
              <a:t>1990</a:t>
            </a:r>
            <a:r>
              <a:rPr lang="zh-CN" altLang="en-US" dirty="0">
                <a:effectLst/>
                <a:sym typeface="+mn-ea"/>
              </a:rPr>
              <a:t>年代，</a:t>
            </a:r>
            <a:r>
              <a:rPr lang="en-US" altLang="zh-CN" dirty="0">
                <a:effectLst/>
                <a:sym typeface="+mn-ea"/>
              </a:rPr>
              <a:t>I-</a:t>
            </a:r>
            <a:r>
              <a:rPr lang="en-US" altLang="zh-CN" dirty="0" err="1">
                <a:effectLst/>
                <a:sym typeface="+mn-ea"/>
              </a:rPr>
              <a:t>SceI</a:t>
            </a:r>
            <a:r>
              <a:rPr lang="zh-CN" altLang="en-US" dirty="0">
                <a:effectLst/>
                <a:sym typeface="+mn-ea"/>
              </a:rPr>
              <a:t>被用于辅助基因编辑，可使传统基因打靶效率大大提高。</a:t>
            </a:r>
            <a:endParaRPr lang="en-US" altLang="zh-CN" dirty="0">
              <a:effectLst/>
              <a:sym typeface="+mn-ea"/>
            </a:endParaRPr>
          </a:p>
          <a:p>
            <a:pPr algn="just"/>
            <a:endParaRPr lang="en-US" altLang="zh-CN" dirty="0">
              <a:effectLst/>
              <a:sym typeface="+mn-ea"/>
            </a:endParaRPr>
          </a:p>
          <a:p>
            <a:pPr algn="just"/>
            <a:br>
              <a:rPr lang="zh-CN" altLang="en-US" dirty="0">
                <a:sym typeface="+mn-ea"/>
              </a:rPr>
            </a:br>
            <a:endParaRPr lang="zh-CN" altLang="en-US" dirty="0"/>
          </a:p>
          <a:p>
            <a:pPr marL="0" marR="0" lvl="0" indent="0" algn="just" defTabSz="914400" rtl="0" eaLnBrk="1" fontAlgn="auto" latinLnBrk="0" hangingPunct="1">
              <a:lnSpc>
                <a:spcPct val="100000"/>
              </a:lnSpc>
              <a:spcBef>
                <a:spcPts val="0"/>
              </a:spcBef>
              <a:spcAft>
                <a:spcPts val="0"/>
              </a:spcAft>
              <a:buClrTx/>
              <a:buSzTx/>
              <a:buFontTx/>
              <a:buNone/>
              <a:defRPr/>
            </a:pPr>
            <a:endParaRPr lang="zh-CN" altLang="en-US" dirty="0"/>
          </a:p>
          <a:p>
            <a:pPr algn="just"/>
            <a:endParaRPr lang="zh-CN" altLang="en-US" dirty="0">
              <a:effectLst/>
            </a:endParaRPr>
          </a:p>
          <a:p>
            <a:endParaRPr lang="zh-CN" altLang="en-US" dirty="0"/>
          </a:p>
          <a:p>
            <a:endParaRPr lang="zh-CN" altLang="en-US" dirty="0"/>
          </a:p>
        </p:txBody>
      </p:sp>
    </p:spTree>
    <p:extLst>
      <p:ext uri="{BB962C8B-B14F-4D97-AF65-F5344CB8AC3E}">
        <p14:creationId xmlns:p14="http://schemas.microsoft.com/office/powerpoint/2010/main" val="28040952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6142B-129B-4FAF-59BC-49F4C1880C3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26D0ED-5F92-2889-6428-8F205E36206D}"/>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6F3176CB-DB2D-E942-0820-CA0CA809F74C}"/>
              </a:ext>
            </a:extLst>
          </p:cNvPr>
          <p:cNvSpPr>
            <a:spLocks noGrp="1"/>
          </p:cNvSpPr>
          <p:nvPr>
            <p:ph type="body" idx="3"/>
          </p:nvPr>
        </p:nvSpPr>
        <p:spPr/>
        <p:txBody>
          <a:bodyPr/>
          <a:lstStyle/>
          <a:p>
            <a:r>
              <a:rPr lang="zh-CN" altLang="en-US" dirty="0"/>
              <a:t>TALE 蛋白最早报道于 1989 ，但是直到2009 年，才有两个研究小组同时在 Science 杂志上报道了 TALE 蛋白能特异性地识别 DNA 序列，并破译了 TALE 蛋白与 DNA 碱基识别的密码。2010 年，Christian 等 [44] 首次报道了 TALE 与 Fok I偶合形成 TALEN，并证明了其靶向切割能力。2012 年，TALE 蛋白特异识别 DNA 序列的晶体结构又获得解析。</a:t>
            </a:r>
            <a:endParaRPr lang="en-US" altLang="zh-CN" dirty="0"/>
          </a:p>
          <a:p>
            <a:endParaRPr lang="en-US" altLang="zh-CN" dirty="0"/>
          </a:p>
          <a:p>
            <a:pPr>
              <a:buFont typeface="Arial" panose="020B0604020202020204" pitchFamily="34" charset="0"/>
              <a:buChar char="•"/>
            </a:pPr>
            <a:r>
              <a:rPr lang="zh-CN" altLang="en-US" dirty="0"/>
              <a:t>研究发现，</a:t>
            </a:r>
            <a:r>
              <a:rPr lang="en-US" altLang="zh-CN" dirty="0"/>
              <a:t>TALE</a:t>
            </a:r>
            <a:r>
              <a:rPr lang="zh-CN" altLang="en-US" dirty="0"/>
              <a:t>蛋白与植物的转录激活因子类似，能够通过</a:t>
            </a:r>
            <a:r>
              <a:rPr lang="en-US" altLang="zh-CN" dirty="0"/>
              <a:t>III</a:t>
            </a:r>
            <a:r>
              <a:rPr lang="zh-CN" altLang="en-US" dirty="0"/>
              <a:t>型分泌系统注入宿主植物细胞并穿透核膜进入细胞核。</a:t>
            </a:r>
          </a:p>
          <a:p>
            <a:pPr>
              <a:buFont typeface="Arial" panose="020B0604020202020204" pitchFamily="34" charset="0"/>
              <a:buChar char="•"/>
            </a:pPr>
            <a:r>
              <a:rPr lang="zh-CN" altLang="en-US" dirty="0"/>
              <a:t>在细胞核内，</a:t>
            </a:r>
            <a:r>
              <a:rPr lang="en-US" altLang="zh-CN" dirty="0"/>
              <a:t>TALE</a:t>
            </a:r>
            <a:r>
              <a:rPr lang="zh-CN" altLang="en-US" dirty="0"/>
              <a:t>蛋白能够识别并结合植物基因组</a:t>
            </a:r>
            <a:r>
              <a:rPr lang="en-US" altLang="zh-CN" dirty="0"/>
              <a:t>DNA</a:t>
            </a:r>
            <a:r>
              <a:rPr lang="zh-CN" altLang="en-US" dirty="0"/>
              <a:t>的特定位点，激活特定基因的表达，从而提高植物的易感性。</a:t>
            </a:r>
          </a:p>
          <a:p>
            <a:endParaRPr lang="en-US" altLang="zh-CN" dirty="0"/>
          </a:p>
          <a:p>
            <a:endParaRPr lang="en-US" altLang="zh-CN" dirty="0"/>
          </a:p>
          <a:p>
            <a:endParaRPr lang="en-US" altLang="zh-CN" dirty="0"/>
          </a:p>
          <a:p>
            <a:endParaRPr lang="zh-CN" altLang="en-US" dirty="0"/>
          </a:p>
          <a:p>
            <a:r>
              <a:rPr lang="zh-CN" altLang="en-US" dirty="0"/>
              <a:t>与ZFNs一样，TALENs在形式和功能上也是模块化的，由FokⅠ切割结构域和TALE蛋白DNA结合结构域融合组成，同样利用限制性核酸内切酶FokⅠ进行基因编辑。TALE蛋白由33–35个氨基酸的重复单元组成，通过位于12位和13位的两个可变氨基酸残基识别并结合DNA序列，这两个位点的氨基酸残基称为重复可变的双氨基酸残基(repeat variable diresidue，RVD)，每个重复单元能特异性识别一个碱基对。TALENs的唯一靶向限制是对N端结构有5'T的要求，因此，通过构建不同的RVD和改变TALE的连接顺序，理论上可以使TALENs被用于几乎任何的序列。2011年TALENs技术开始用于人类细胞的基因编辑，如靶基因的敲除等。</a:t>
            </a:r>
          </a:p>
          <a:p>
            <a:endParaRPr lang="zh-CN" altLang="en-US" dirty="0"/>
          </a:p>
          <a:p>
            <a:r>
              <a:rPr lang="zh-CN" altLang="en-US" dirty="0"/>
              <a:t>与ZFNs相比，TALENs的毒性低，蛋白设计相对简单，是首个真正意义上的基因可编辑工具。但是TALENs重复序列更多，工作量巨大，此外，TALENs的体积比ZFNs大，这使得某些病毒传递系统的包装较困难，也无法用于高通量的编辑。</a:t>
            </a:r>
            <a:endParaRPr lang="en-US" altLang="zh-CN" dirty="0"/>
          </a:p>
          <a:p>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核酸酶 </a:t>
            </a:r>
            <a:r>
              <a:rPr lang="en-US" altLang="zh-CN" sz="1800" b="0" i="0" dirty="0">
                <a:solidFill>
                  <a:srgbClr val="231F20"/>
                </a:solidFill>
                <a:effectLst/>
                <a:latin typeface="TimesNewRomanPSMT"/>
              </a:rPr>
              <a:t>(TALE nuclease, TALEN) </a:t>
            </a:r>
            <a:r>
              <a:rPr lang="zh-CN" altLang="en-US" sz="1800" b="0" i="0" dirty="0">
                <a:solidFill>
                  <a:srgbClr val="231F20"/>
                </a:solidFill>
                <a:effectLst/>
                <a:latin typeface="SimSun" panose="02010600030101010101" pitchFamily="2" charset="-122"/>
                <a:ea typeface="SimSun" panose="02010600030101010101" pitchFamily="2" charset="-122"/>
              </a:rPr>
              <a:t>的构造</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类似于 </a:t>
            </a:r>
            <a:r>
              <a:rPr lang="en-US" altLang="zh-CN" sz="1800" b="0" i="0" dirty="0">
                <a:solidFill>
                  <a:srgbClr val="231F20"/>
                </a:solidFill>
                <a:effectLst/>
                <a:latin typeface="TimesNewRomanPSMT"/>
              </a:rPr>
              <a:t>ZFN</a:t>
            </a:r>
            <a:r>
              <a:rPr lang="zh-CN" altLang="en-US" sz="1800" b="0" i="0" dirty="0">
                <a:solidFill>
                  <a:srgbClr val="231F20"/>
                </a:solidFill>
                <a:effectLst/>
                <a:latin typeface="SimSun" panose="02010600030101010101" pitchFamily="2" charset="-122"/>
                <a:ea typeface="SimSun" panose="02010600030101010101" pitchFamily="2" charset="-122"/>
              </a:rPr>
              <a:t>，即将 </a:t>
            </a:r>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蛋白的 </a:t>
            </a:r>
            <a:r>
              <a:rPr lang="en-US" altLang="zh-CN" sz="1800" b="0" i="0" dirty="0">
                <a:solidFill>
                  <a:srgbClr val="231F20"/>
                </a:solidFill>
                <a:effectLst/>
                <a:latin typeface="TimesNewRomanPSMT"/>
              </a:rPr>
              <a:t>DNA </a:t>
            </a:r>
            <a:r>
              <a:rPr lang="zh-CN" altLang="en-US" sz="1800" b="0" i="0" dirty="0">
                <a:solidFill>
                  <a:srgbClr val="231F20"/>
                </a:solidFill>
                <a:effectLst/>
                <a:latin typeface="SimSun" panose="02010600030101010101" pitchFamily="2" charset="-122"/>
                <a:ea typeface="SimSun" panose="02010600030101010101" pitchFamily="2" charset="-122"/>
              </a:rPr>
              <a:t>结合结构域</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与 </a:t>
            </a:r>
            <a:r>
              <a:rPr lang="en-US" altLang="zh-CN" sz="1800" b="0" i="0" dirty="0">
                <a:solidFill>
                  <a:srgbClr val="231F20"/>
                </a:solidFill>
                <a:effectLst/>
                <a:latin typeface="TimesNewRomanPSMT"/>
              </a:rPr>
              <a:t>Fok I </a:t>
            </a:r>
            <a:r>
              <a:rPr lang="zh-CN" altLang="en-US" sz="1800" b="0" i="0" dirty="0">
                <a:solidFill>
                  <a:srgbClr val="231F20"/>
                </a:solidFill>
                <a:effectLst/>
                <a:latin typeface="SimSun" panose="02010600030101010101" pitchFamily="2" charset="-122"/>
                <a:ea typeface="SimSun" panose="02010600030101010101" pitchFamily="2" charset="-122"/>
              </a:rPr>
              <a:t>内切酶连接，从而实现在基因组特定位点</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实现靶向切割，诱导 </a:t>
            </a:r>
            <a:r>
              <a:rPr lang="en-US" altLang="zh-CN" sz="1800" b="0" i="0" dirty="0">
                <a:solidFill>
                  <a:srgbClr val="231F20"/>
                </a:solidFill>
                <a:effectLst/>
                <a:latin typeface="TimesNewRomanPSMT"/>
              </a:rPr>
              <a:t>DNA </a:t>
            </a:r>
            <a:r>
              <a:rPr lang="zh-CN" altLang="en-US" sz="1800" b="0" i="0" dirty="0">
                <a:solidFill>
                  <a:srgbClr val="231F20"/>
                </a:solidFill>
                <a:effectLst/>
                <a:latin typeface="SimSun" panose="02010600030101010101" pitchFamily="2" charset="-122"/>
                <a:ea typeface="SimSun" panose="02010600030101010101" pitchFamily="2" charset="-122"/>
              </a:rPr>
              <a:t>修复。目前， </a:t>
            </a:r>
            <a:r>
              <a:rPr lang="en-US" altLang="zh-CN" sz="1800" b="0" i="0" dirty="0">
                <a:solidFill>
                  <a:srgbClr val="231F20"/>
                </a:solidFill>
                <a:effectLst/>
                <a:latin typeface="TimesNewRomanPSMT"/>
              </a:rPr>
              <a:t>TALEN </a:t>
            </a:r>
            <a:r>
              <a:rPr lang="zh-CN" altLang="en-US" sz="1800" b="0" i="0" dirty="0">
                <a:solidFill>
                  <a:srgbClr val="231F20"/>
                </a:solidFill>
                <a:effectLst/>
                <a:latin typeface="SimSun" panose="02010600030101010101" pitchFamily="2" charset="-122"/>
                <a:ea typeface="SimSun" panose="02010600030101010101" pitchFamily="2" charset="-122"/>
              </a:rPr>
              <a:t>的</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构建也有多种方法，最常用的是 </a:t>
            </a:r>
            <a:r>
              <a:rPr lang="en-US" altLang="zh-CN" sz="1800" b="0" i="0" dirty="0">
                <a:solidFill>
                  <a:srgbClr val="231F20"/>
                </a:solidFill>
                <a:effectLst/>
                <a:latin typeface="TimesNewRomanPSMT"/>
              </a:rPr>
              <a:t>Cermak </a:t>
            </a:r>
            <a:r>
              <a:rPr lang="zh-CN" altLang="en-US" sz="1800" b="0" i="0" dirty="0">
                <a:solidFill>
                  <a:srgbClr val="231F20"/>
                </a:solidFill>
                <a:effectLst/>
                <a:latin typeface="SimSun" panose="02010600030101010101" pitchFamily="2" charset="-122"/>
                <a:ea typeface="SimSun" panose="02010600030101010101" pitchFamily="2" charset="-122"/>
              </a:rPr>
              <a:t>等 </a:t>
            </a:r>
            <a:r>
              <a:rPr lang="en-US" altLang="zh-CN" sz="1800" b="0" i="0" dirty="0">
                <a:solidFill>
                  <a:srgbClr val="231F20"/>
                </a:solidFill>
                <a:effectLst/>
                <a:latin typeface="TimesNewRomanPSMT"/>
              </a:rPr>
              <a:t>[46] </a:t>
            </a:r>
            <a:r>
              <a:rPr lang="zh-CN" altLang="en-US" sz="1800" b="0" i="0" dirty="0">
                <a:solidFill>
                  <a:srgbClr val="231F20"/>
                </a:solidFill>
                <a:effectLst/>
                <a:latin typeface="SimSun" panose="02010600030101010101" pitchFamily="2" charset="-122"/>
                <a:ea typeface="SimSun" panose="02010600030101010101" pitchFamily="2" charset="-122"/>
              </a:rPr>
              <a:t>发表</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的“ </a:t>
            </a:r>
            <a:r>
              <a:rPr lang="en-US" altLang="zh-CN" sz="1800" b="0" i="0" dirty="0">
                <a:solidFill>
                  <a:srgbClr val="231F20"/>
                </a:solidFill>
                <a:effectLst/>
                <a:latin typeface="TimesNewRomanPSMT"/>
              </a:rPr>
              <a:t>Goldengate Assembly</a:t>
            </a:r>
            <a:r>
              <a:rPr lang="en-US" altLang="zh-CN" sz="1800" b="0" i="0" dirty="0">
                <a:solidFill>
                  <a:srgbClr val="231F20"/>
                </a:solidFill>
                <a:effectLst/>
                <a:latin typeface="SimSun" panose="02010600030101010101" pitchFamily="2" charset="-122"/>
                <a:ea typeface="SimSun" panose="02010600030101010101" pitchFamily="2" charset="-122"/>
              </a:rPr>
              <a:t>”</a:t>
            </a:r>
            <a:r>
              <a:rPr lang="zh-CN" altLang="en-US" sz="1800" b="0" i="0" dirty="0">
                <a:solidFill>
                  <a:srgbClr val="231F20"/>
                </a:solidFill>
                <a:effectLst/>
                <a:latin typeface="SimSun" panose="02010600030101010101" pitchFamily="2" charset="-122"/>
                <a:ea typeface="SimSun" panose="02010600030101010101" pitchFamily="2" charset="-122"/>
              </a:rPr>
              <a:t>。其他的 </a:t>
            </a:r>
            <a:r>
              <a:rPr lang="en-US" altLang="zh-CN" sz="1800" b="0" i="0" dirty="0">
                <a:solidFill>
                  <a:srgbClr val="231F20"/>
                </a:solidFill>
                <a:effectLst/>
                <a:latin typeface="TimesNewRomanPSMT"/>
              </a:rPr>
              <a:t>TALEN </a:t>
            </a:r>
            <a:r>
              <a:rPr lang="zh-CN" altLang="en-US" sz="1800" b="0" i="0" dirty="0">
                <a:solidFill>
                  <a:srgbClr val="231F20"/>
                </a:solidFill>
                <a:effectLst/>
                <a:latin typeface="SimSun" panose="02010600030101010101" pitchFamily="2" charset="-122"/>
                <a:ea typeface="SimSun" panose="02010600030101010101" pitchFamily="2" charset="-122"/>
              </a:rPr>
              <a:t>构建方</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法多遵循同一个思路 ：首先将 </a:t>
            </a:r>
            <a:r>
              <a:rPr lang="en-US" altLang="zh-CN" sz="1800" b="0" i="0" dirty="0">
                <a:solidFill>
                  <a:srgbClr val="231F20"/>
                </a:solidFill>
                <a:effectLst/>
                <a:latin typeface="TimesNewRomanPSMT"/>
              </a:rPr>
              <a:t>4 </a:t>
            </a:r>
            <a:r>
              <a:rPr lang="zh-CN" altLang="en-US" sz="1800" b="0" i="0" dirty="0">
                <a:solidFill>
                  <a:srgbClr val="231F20"/>
                </a:solidFill>
                <a:effectLst/>
                <a:latin typeface="SimSun" panose="02010600030101010101" pitchFamily="2" charset="-122"/>
                <a:ea typeface="SimSun" panose="02010600030101010101" pitchFamily="2" charset="-122"/>
              </a:rPr>
              <a:t>种碱基对应的</a:t>
            </a:r>
            <a:br>
              <a:rPr lang="zh-CN" altLang="en-US" sz="1800" b="0" i="0" dirty="0">
                <a:solidFill>
                  <a:srgbClr val="231F20"/>
                </a:solidFill>
                <a:effectLst/>
                <a:latin typeface="SimSun" panose="02010600030101010101" pitchFamily="2" charset="-122"/>
                <a:ea typeface="SimSun" panose="02010600030101010101" pitchFamily="2" charset="-122"/>
              </a:rPr>
            </a:br>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的 </a:t>
            </a:r>
            <a:r>
              <a:rPr lang="en-US" altLang="zh-CN" sz="1800" b="0" i="0" dirty="0">
                <a:solidFill>
                  <a:srgbClr val="231F20"/>
                </a:solidFill>
                <a:effectLst/>
                <a:latin typeface="TimesNewRomanPSMT"/>
              </a:rPr>
              <a:t>DNA </a:t>
            </a:r>
            <a:r>
              <a:rPr lang="zh-CN" altLang="en-US" sz="1800" b="0" i="0" dirty="0">
                <a:solidFill>
                  <a:srgbClr val="231F20"/>
                </a:solidFill>
                <a:effectLst/>
                <a:latin typeface="SimSun" panose="02010600030101010101" pitchFamily="2" charset="-122"/>
                <a:ea typeface="SimSun" panose="02010600030101010101" pitchFamily="2" charset="-122"/>
              </a:rPr>
              <a:t>结构域序列连接到载体上，然后通</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过酶切连接将不同的单体 </a:t>
            </a:r>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组成一个阵列，最</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后 连 到 含 有 </a:t>
            </a:r>
            <a:r>
              <a:rPr lang="en-US" altLang="zh-CN" sz="1800" b="0" i="0" dirty="0">
                <a:solidFill>
                  <a:srgbClr val="231F20"/>
                </a:solidFill>
                <a:effectLst/>
                <a:latin typeface="TimesNewRomanPSMT"/>
              </a:rPr>
              <a:t>Fok I </a:t>
            </a:r>
            <a:r>
              <a:rPr lang="zh-CN" altLang="en-US" sz="1800" b="0" i="0" dirty="0">
                <a:solidFill>
                  <a:srgbClr val="231F20"/>
                </a:solidFill>
                <a:effectLst/>
                <a:latin typeface="SimSun" panose="02010600030101010101" pitchFamily="2" charset="-122"/>
                <a:ea typeface="SimSun" panose="02010600030101010101" pitchFamily="2" charset="-122"/>
              </a:rPr>
              <a:t>和 核 定 位 序 列 </a:t>
            </a:r>
            <a:r>
              <a:rPr lang="en-US" altLang="zh-CN" sz="1800" b="0" i="0" dirty="0">
                <a:solidFill>
                  <a:srgbClr val="231F20"/>
                </a:solidFill>
                <a:effectLst/>
                <a:latin typeface="TimesNewRomanPSMT"/>
              </a:rPr>
              <a:t>(nucleic locus</a:t>
            </a:r>
            <a:br>
              <a:rPr lang="en-US" altLang="zh-CN" sz="1800" b="0" i="0" dirty="0">
                <a:solidFill>
                  <a:srgbClr val="231F20"/>
                </a:solidFill>
                <a:effectLst/>
                <a:latin typeface="TimesNewRomanPSMT"/>
              </a:rPr>
            </a:br>
            <a:r>
              <a:rPr lang="en-US" altLang="zh-CN" sz="1800" b="0" i="0" dirty="0">
                <a:solidFill>
                  <a:srgbClr val="231F20"/>
                </a:solidFill>
                <a:effectLst/>
                <a:latin typeface="TimesNewRomanPSMT"/>
              </a:rPr>
              <a:t>sequence, NLS) </a:t>
            </a:r>
            <a:r>
              <a:rPr lang="zh-CN" altLang="en-US" sz="1800" b="0" i="0" dirty="0">
                <a:solidFill>
                  <a:srgbClr val="231F20"/>
                </a:solidFill>
                <a:effectLst/>
                <a:latin typeface="SimSun" panose="02010600030101010101" pitchFamily="2" charset="-122"/>
                <a:ea typeface="SimSun" panose="02010600030101010101" pitchFamily="2" charset="-122"/>
              </a:rPr>
              <a:t>的质粒中即完成了 </a:t>
            </a:r>
            <a:r>
              <a:rPr lang="en-US" altLang="zh-CN" sz="1800" b="0" i="0" dirty="0">
                <a:solidFill>
                  <a:srgbClr val="231F20"/>
                </a:solidFill>
                <a:effectLst/>
                <a:latin typeface="TimesNewRomanPSMT"/>
              </a:rPr>
              <a:t>TALEN </a:t>
            </a:r>
            <a:r>
              <a:rPr lang="zh-CN" altLang="en-US" sz="1800" b="0" i="0" dirty="0">
                <a:solidFill>
                  <a:srgbClr val="231F20"/>
                </a:solidFill>
                <a:effectLst/>
                <a:latin typeface="SimSun" panose="02010600030101010101" pitchFamily="2" charset="-122"/>
                <a:ea typeface="SimSun" panose="02010600030101010101" pitchFamily="2" charset="-122"/>
              </a:rPr>
              <a:t>的构建。</a:t>
            </a:r>
            <a:r>
              <a:rPr lang="zh-CN" altLang="en-US" dirty="0"/>
              <a:t> </a:t>
            </a:r>
            <a:br>
              <a:rPr lang="zh-CN" altLang="en-US" dirty="0"/>
            </a:br>
            <a:endParaRPr lang="zh-CN" altLang="en-US"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TALE</a:t>
            </a:r>
            <a:r>
              <a:rPr lang="zh-CN" altLang="en-US" dirty="0"/>
              <a:t>蛋白由多个部分组成，包括</a:t>
            </a:r>
            <a:r>
              <a:rPr lang="en-US" altLang="zh-CN" dirty="0"/>
              <a:t>N</a:t>
            </a:r>
            <a:r>
              <a:rPr lang="zh-CN" altLang="en-US" dirty="0"/>
              <a:t>端分泌信号、中央</a:t>
            </a:r>
            <a:r>
              <a:rPr lang="en-US" altLang="zh-CN" dirty="0"/>
              <a:t>DNA</a:t>
            </a:r>
            <a:r>
              <a:rPr lang="zh-CN" altLang="en-US" dirty="0"/>
              <a:t>结合域、核定位信号和</a:t>
            </a:r>
            <a:r>
              <a:rPr lang="en-US" altLang="zh-CN" dirty="0"/>
              <a:t>C</a:t>
            </a:r>
            <a:r>
              <a:rPr lang="zh-CN" altLang="en-US" dirty="0"/>
              <a:t>端激活域。其中，中央</a:t>
            </a:r>
            <a:r>
              <a:rPr lang="en-US" altLang="zh-CN" dirty="0"/>
              <a:t>DNA</a:t>
            </a:r>
            <a:r>
              <a:rPr lang="zh-CN" altLang="en-US" dirty="0"/>
              <a:t>结合域是</a:t>
            </a:r>
            <a:r>
              <a:rPr lang="en-US" altLang="zh-CN" dirty="0"/>
              <a:t>TALE</a:t>
            </a:r>
            <a:r>
              <a:rPr lang="zh-CN" altLang="en-US" dirty="0"/>
              <a:t>蛋白最为关键的部分，它决定了</a:t>
            </a:r>
            <a:r>
              <a:rPr lang="en-US" altLang="zh-CN" dirty="0"/>
              <a:t>TALE</a:t>
            </a:r>
            <a:r>
              <a:rPr lang="zh-CN" altLang="en-US" dirty="0"/>
              <a:t>蛋白与</a:t>
            </a:r>
            <a:r>
              <a:rPr lang="en-US" altLang="zh-CN" dirty="0"/>
              <a:t>DNA</a:t>
            </a:r>
            <a:r>
              <a:rPr lang="zh-CN" altLang="en-US" dirty="0"/>
              <a:t>的特异性结合。</a:t>
            </a:r>
            <a:endParaRPr lang="en-US" altLang="zh-CN" dirty="0"/>
          </a:p>
          <a:p>
            <a:r>
              <a:rPr lang="zh-CN" altLang="en-US" sz="1800" b="0" i="0" dirty="0">
                <a:solidFill>
                  <a:srgbClr val="231F20"/>
                </a:solidFill>
                <a:effectLst/>
                <a:latin typeface="SimSun" panose="02010600030101010101" pitchFamily="2" charset="-122"/>
                <a:ea typeface="SimSun" panose="02010600030101010101" pitchFamily="2" charset="-122"/>
              </a:rPr>
              <a:t>不同的 </a:t>
            </a:r>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蛋白其 </a:t>
            </a:r>
            <a:r>
              <a:rPr lang="en-US" altLang="zh-CN" sz="1800" b="0" i="0" dirty="0">
                <a:solidFill>
                  <a:srgbClr val="231F20"/>
                </a:solidFill>
                <a:effectLst/>
                <a:latin typeface="TimesNewRomanPSMT"/>
              </a:rPr>
              <a:t>DNA </a:t>
            </a:r>
            <a:r>
              <a:rPr lang="zh-CN" altLang="en-US" sz="1800" b="0" i="0" dirty="0">
                <a:solidFill>
                  <a:srgbClr val="231F20"/>
                </a:solidFill>
                <a:effectLst/>
                <a:latin typeface="SimSun" panose="02010600030101010101" pitchFamily="2" charset="-122"/>
                <a:ea typeface="SimSun" panose="02010600030101010101" pitchFamily="2" charset="-122"/>
              </a:rPr>
              <a:t>结构域由高度保守的重复单元组成，每个重复单元含有 </a:t>
            </a:r>
            <a:r>
              <a:rPr lang="en-US" altLang="zh-CN" sz="1800" b="0" i="0" dirty="0">
                <a:solidFill>
                  <a:srgbClr val="231F20"/>
                </a:solidFill>
                <a:effectLst/>
                <a:latin typeface="TimesNewRomanPSMT"/>
              </a:rPr>
              <a:t>33~35 </a:t>
            </a:r>
            <a:r>
              <a:rPr lang="zh-CN" altLang="en-US" sz="1800" b="0" i="0" dirty="0">
                <a:solidFill>
                  <a:srgbClr val="231F20"/>
                </a:solidFill>
                <a:effectLst/>
                <a:latin typeface="SimSun" panose="02010600030101010101" pitchFamily="2" charset="-122"/>
                <a:ea typeface="SimSun" panose="02010600030101010101" pitchFamily="2" charset="-122"/>
              </a:rPr>
              <a:t>个氨基酸，除了 </a:t>
            </a:r>
            <a:r>
              <a:rPr lang="en-US" altLang="zh-CN" sz="1800" b="0" i="0" dirty="0">
                <a:solidFill>
                  <a:srgbClr val="231F20"/>
                </a:solidFill>
                <a:effectLst/>
                <a:latin typeface="TimesNewRomanPSMT"/>
              </a:rPr>
              <a:t>12 </a:t>
            </a:r>
            <a:r>
              <a:rPr lang="zh-CN" altLang="en-US" sz="1800" b="0" i="0" dirty="0">
                <a:solidFill>
                  <a:srgbClr val="231F20"/>
                </a:solidFill>
                <a:effectLst/>
                <a:latin typeface="SimSun" panose="02010600030101010101" pitchFamily="2" charset="-122"/>
                <a:ea typeface="SimSun" panose="02010600030101010101" pitchFamily="2" charset="-122"/>
              </a:rPr>
              <a:t>和 </a:t>
            </a:r>
            <a:r>
              <a:rPr lang="en-US" altLang="zh-CN" sz="1800" b="0" i="0" dirty="0">
                <a:solidFill>
                  <a:srgbClr val="231F20"/>
                </a:solidFill>
                <a:effectLst/>
                <a:latin typeface="TimesNewRomanPSMT"/>
              </a:rPr>
              <a:t>13 </a:t>
            </a:r>
            <a:r>
              <a:rPr lang="zh-CN" altLang="en-US" sz="1800" b="0" i="0" dirty="0">
                <a:solidFill>
                  <a:srgbClr val="231F20"/>
                </a:solidFill>
                <a:effectLst/>
                <a:latin typeface="SimSun" panose="02010600030101010101" pitchFamily="2" charset="-122"/>
                <a:ea typeface="SimSun" panose="02010600030101010101" pitchFamily="2" charset="-122"/>
              </a:rPr>
              <a:t>位两个氨基酸不同外，其他氨基酸在不同 </a:t>
            </a:r>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中是高度保守的。这两个氨基酸被</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称为重复序列可变的双氨基酸残基 </a:t>
            </a:r>
            <a:r>
              <a:rPr lang="en-US" altLang="zh-CN" sz="1800" b="0" i="0" dirty="0">
                <a:solidFill>
                  <a:srgbClr val="231F20"/>
                </a:solidFill>
                <a:effectLst/>
                <a:latin typeface="TimesNewRomanPSMT"/>
              </a:rPr>
              <a:t>(repeat </a:t>
            </a:r>
            <a:r>
              <a:rPr lang="en-US" altLang="zh-CN" sz="1800" b="0" i="0" dirty="0" err="1">
                <a:solidFill>
                  <a:srgbClr val="231F20"/>
                </a:solidFill>
                <a:effectLst/>
                <a:latin typeface="TimesNewRomanPSMT"/>
              </a:rPr>
              <a:t>variablediresidues</a:t>
            </a:r>
            <a:r>
              <a:rPr lang="en-US" altLang="zh-CN" sz="1800" b="0" i="0" dirty="0">
                <a:solidFill>
                  <a:srgbClr val="231F20"/>
                </a:solidFill>
                <a:effectLst/>
                <a:latin typeface="TimesNewRomanPSMT"/>
              </a:rPr>
              <a:t>, </a:t>
            </a:r>
            <a:r>
              <a:rPr lang="en-US" altLang="zh-CN" sz="1800" b="0" i="0" dirty="0" err="1">
                <a:solidFill>
                  <a:srgbClr val="231F20"/>
                </a:solidFill>
                <a:effectLst/>
                <a:latin typeface="TimesNewRomanPSMT"/>
              </a:rPr>
              <a:t>RVD</a:t>
            </a:r>
            <a:r>
              <a:rPr lang="en-US" altLang="zh-CN" sz="1800" b="0" i="0" dirty="0">
                <a:solidFill>
                  <a:srgbClr val="231F20"/>
                </a:solidFill>
                <a:effectLst/>
                <a:latin typeface="TimesNewRomanPSMT"/>
              </a:rPr>
              <a:t>)</a:t>
            </a:r>
            <a:r>
              <a:rPr lang="zh-CN" altLang="en-US" sz="1800" b="0" i="0" dirty="0">
                <a:solidFill>
                  <a:srgbClr val="231F20"/>
                </a:solidFill>
                <a:effectLst/>
                <a:latin typeface="SimSun" panose="02010600030101010101" pitchFamily="2" charset="-122"/>
                <a:ea typeface="SimSun" panose="02010600030101010101" pitchFamily="2" charset="-122"/>
              </a:rPr>
              <a:t>，参与对 </a:t>
            </a:r>
            <a:r>
              <a:rPr lang="en-US" altLang="zh-CN" sz="1800" b="0" i="0" dirty="0">
                <a:solidFill>
                  <a:srgbClr val="231F20"/>
                </a:solidFill>
                <a:effectLst/>
                <a:latin typeface="TimesNewRomanPSMT"/>
              </a:rPr>
              <a:t>DNA </a:t>
            </a:r>
            <a:r>
              <a:rPr lang="zh-CN" altLang="en-US" sz="1800" b="0" i="0" dirty="0">
                <a:solidFill>
                  <a:srgbClr val="231F20"/>
                </a:solidFill>
                <a:effectLst/>
                <a:latin typeface="SimSun" panose="02010600030101010101" pitchFamily="2" charset="-122"/>
                <a:ea typeface="SimSun" panose="02010600030101010101" pitchFamily="2" charset="-122"/>
              </a:rPr>
              <a:t>双链上的碱基识别，每一个 </a:t>
            </a:r>
            <a:r>
              <a:rPr lang="en-US" altLang="zh-CN" sz="1800" b="0" i="0" dirty="0" err="1">
                <a:solidFill>
                  <a:srgbClr val="231F20"/>
                </a:solidFill>
                <a:effectLst/>
                <a:latin typeface="TimesNewRomanPSMT"/>
              </a:rPr>
              <a:t>RVD</a:t>
            </a:r>
            <a:r>
              <a:rPr lang="en-US" altLang="zh-CN" sz="1800" b="0" i="0" dirty="0">
                <a:solidFill>
                  <a:srgbClr val="231F20"/>
                </a:solidFill>
                <a:effectLst/>
                <a:latin typeface="TimesNewRomanPSMT"/>
              </a:rPr>
              <a:t> </a:t>
            </a:r>
            <a:r>
              <a:rPr lang="zh-CN" altLang="en-US" sz="1800" b="0" i="0" dirty="0">
                <a:solidFill>
                  <a:srgbClr val="231F20"/>
                </a:solidFill>
                <a:effectLst/>
                <a:latin typeface="SimSun" panose="02010600030101010101" pitchFamily="2" charset="-122"/>
                <a:ea typeface="SimSun" panose="02010600030101010101" pitchFamily="2" charset="-122"/>
              </a:rPr>
              <a:t>识别 </a:t>
            </a:r>
            <a:r>
              <a:rPr lang="en-US" altLang="zh-CN" sz="1800" b="0" i="0" dirty="0">
                <a:solidFill>
                  <a:srgbClr val="231F20"/>
                </a:solidFill>
                <a:effectLst/>
                <a:latin typeface="TimesNewRomanPSMT"/>
              </a:rPr>
              <a:t>4 </a:t>
            </a:r>
            <a:r>
              <a:rPr lang="zh-CN" altLang="en-US" sz="1800" b="0" i="0" dirty="0">
                <a:solidFill>
                  <a:srgbClr val="231F20"/>
                </a:solidFill>
                <a:effectLst/>
                <a:latin typeface="SimSun" panose="02010600030101010101" pitchFamily="2" charset="-122"/>
                <a:ea typeface="SimSun" panose="02010600030101010101" pitchFamily="2" charset="-122"/>
              </a:rPr>
              <a:t>种碱基中的一种或几种。虽然不同的 </a:t>
            </a:r>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蛋白具有多种 </a:t>
            </a:r>
            <a:r>
              <a:rPr lang="en-US" altLang="zh-CN" sz="1800" b="0" i="0" dirty="0" err="1">
                <a:solidFill>
                  <a:srgbClr val="231F20"/>
                </a:solidFill>
                <a:effectLst/>
                <a:latin typeface="TimesNewRomanPSMT"/>
              </a:rPr>
              <a:t>RVD</a:t>
            </a:r>
            <a:r>
              <a:rPr lang="zh-CN" altLang="en-US" sz="1800" b="0" i="0" dirty="0">
                <a:solidFill>
                  <a:srgbClr val="231F20"/>
                </a:solidFill>
                <a:effectLst/>
                <a:latin typeface="SimSun" panose="02010600030101010101" pitchFamily="2" charset="-122"/>
                <a:ea typeface="SimSun" panose="02010600030101010101" pitchFamily="2" charset="-122"/>
              </a:rPr>
              <a:t>，但目前最为广泛使用的为以下 </a:t>
            </a:r>
            <a:r>
              <a:rPr lang="en-US" altLang="zh-CN" sz="1800" b="0" i="0" dirty="0">
                <a:solidFill>
                  <a:srgbClr val="231F20"/>
                </a:solidFill>
                <a:effectLst/>
                <a:latin typeface="TimesNewRomanPSMT"/>
              </a:rPr>
              <a:t>5 </a:t>
            </a:r>
            <a:r>
              <a:rPr lang="zh-CN" altLang="en-US" sz="1800" b="0" i="0" dirty="0">
                <a:solidFill>
                  <a:srgbClr val="231F20"/>
                </a:solidFill>
                <a:effectLst/>
                <a:latin typeface="SimSun" panose="02010600030101010101" pitchFamily="2" charset="-122"/>
                <a:ea typeface="SimSun" panose="02010600030101010101" pitchFamily="2" charset="-122"/>
              </a:rPr>
              <a:t>种 </a:t>
            </a:r>
            <a:r>
              <a:rPr lang="en-US" altLang="zh-CN" sz="1800" b="0" i="0" dirty="0" err="1">
                <a:solidFill>
                  <a:srgbClr val="231F20"/>
                </a:solidFill>
                <a:effectLst/>
                <a:latin typeface="TimesNewRomanPSMT"/>
              </a:rPr>
              <a:t>RVD</a:t>
            </a:r>
            <a:r>
              <a:rPr lang="en-US" altLang="zh-CN" sz="1800" b="0" i="0" dirty="0">
                <a:solidFill>
                  <a:srgbClr val="231F20"/>
                </a:solidFill>
                <a:effectLst/>
                <a:latin typeface="TimesNewRomanPSMT"/>
              </a:rPr>
              <a:t>( </a:t>
            </a:r>
            <a:r>
              <a:rPr lang="zh-CN" altLang="en-US" sz="1800" b="0" i="0" dirty="0">
                <a:solidFill>
                  <a:srgbClr val="231F20"/>
                </a:solidFill>
                <a:effectLst/>
                <a:latin typeface="SimSun" panose="02010600030101010101" pitchFamily="2" charset="-122"/>
                <a:ea typeface="SimSun" panose="02010600030101010101" pitchFamily="2" charset="-122"/>
              </a:rPr>
              <a:t>表 </a:t>
            </a:r>
            <a:r>
              <a:rPr lang="en-US" altLang="zh-CN" sz="1800" b="0" i="0" dirty="0">
                <a:solidFill>
                  <a:srgbClr val="231F20"/>
                </a:solidFill>
                <a:effectLst/>
                <a:latin typeface="TimesNewRomanPSMT"/>
              </a:rPr>
              <a:t>1)</a:t>
            </a:r>
            <a:r>
              <a:rPr lang="zh-CN" altLang="en-US" sz="1800" b="0" i="0" dirty="0">
                <a:solidFill>
                  <a:srgbClr val="231F20"/>
                </a:solidFill>
                <a:effectLst/>
                <a:latin typeface="SimSun" panose="02010600030101010101" pitchFamily="2" charset="-122"/>
                <a:ea typeface="SimSun" panose="02010600030101010101" pitchFamily="2" charset="-122"/>
              </a:rPr>
              <a:t>。</a:t>
            </a:r>
            <a:r>
              <a:rPr lang="zh-CN" altLang="en-US" dirty="0"/>
              <a:t> </a:t>
            </a:r>
            <a:br>
              <a:rPr lang="zh-CN" altLang="en-US" dirty="0"/>
            </a:br>
            <a:endParaRPr lang="en-US" altLang="zh-CN" dirty="0"/>
          </a:p>
          <a:p>
            <a:endParaRPr lang="en-US" altLang="zh-CN" dirty="0"/>
          </a:p>
          <a:p>
            <a:r>
              <a:rPr lang="zh-CN" altLang="en-US" dirty="0"/>
              <a:t>串联重复序列一般由</a:t>
            </a:r>
            <a:r>
              <a:rPr lang="en-US" altLang="zh-CN" dirty="0"/>
              <a:t>34</a:t>
            </a:r>
            <a:r>
              <a:rPr lang="zh-CN" altLang="en-US" dirty="0"/>
              <a:t>个氨基酸重复单元组成，具有高度的保守性。其中</a:t>
            </a:r>
            <a:r>
              <a:rPr lang="en-US" altLang="zh-CN" dirty="0"/>
              <a:t>12</a:t>
            </a:r>
            <a:r>
              <a:rPr lang="zh-CN" altLang="en-US" dirty="0"/>
              <a:t>、</a:t>
            </a:r>
            <a:r>
              <a:rPr lang="en-US" altLang="zh-CN" dirty="0"/>
              <a:t>13</a:t>
            </a:r>
            <a:r>
              <a:rPr lang="zh-CN" altLang="en-US" dirty="0"/>
              <a:t>位的氨基酸具有高度可变性，为可变氨基酸（</a:t>
            </a:r>
            <a:r>
              <a:rPr lang="en-US" altLang="zh-CN" dirty="0" err="1"/>
              <a:t>RVD</a:t>
            </a:r>
            <a:r>
              <a:rPr lang="en-US" altLang="zh-CN" dirty="0"/>
              <a:t>)</a:t>
            </a:r>
            <a:r>
              <a:rPr lang="zh-CN" altLang="en-US" dirty="0"/>
              <a:t>，</a:t>
            </a:r>
            <a:r>
              <a:rPr lang="en-US" altLang="zh-CN" dirty="0" err="1"/>
              <a:t>RVD</a:t>
            </a:r>
            <a:r>
              <a:rPr lang="zh-CN" altLang="en-US" dirty="0"/>
              <a:t>可以识别四种不同的碱基。每一个重复序列对应识别一个核苷酸，如图</a:t>
            </a:r>
            <a:r>
              <a:rPr lang="en-US" altLang="zh-CN" dirty="0"/>
              <a:t>2</a:t>
            </a:r>
            <a:r>
              <a:rPr lang="zh-CN" altLang="en-US" dirty="0"/>
              <a:t>所示。</a:t>
            </a:r>
            <a:r>
              <a:rPr lang="en-US" altLang="zh-CN" dirty="0"/>
              <a:t>C</a:t>
            </a:r>
            <a:r>
              <a:rPr lang="zh-CN" altLang="en-US" dirty="0"/>
              <a:t>端的第一个重复序列只有前二十个氨基酸与其他重复单元相同，称为半重复性。</a:t>
            </a:r>
            <a:endParaRPr lang="en-US" altLang="zh-CN" dirty="0"/>
          </a:p>
          <a:p>
            <a:endParaRPr lang="en-US" altLang="zh-CN" dirty="0"/>
          </a:p>
          <a:p>
            <a:r>
              <a:rPr lang="zh-CN" altLang="en-US" dirty="0"/>
              <a:t>因为</a:t>
            </a:r>
            <a:r>
              <a:rPr lang="en-US" altLang="zh-CN" dirty="0"/>
              <a:t>TALE</a:t>
            </a:r>
            <a:r>
              <a:rPr lang="zh-CN" altLang="en-US" dirty="0"/>
              <a:t>具有特异性识别</a:t>
            </a:r>
            <a:r>
              <a:rPr lang="en-US" altLang="zh-CN" dirty="0"/>
              <a:t>DNA</a:t>
            </a:r>
            <a:r>
              <a:rPr lang="zh-CN" altLang="en-US" dirty="0"/>
              <a:t>序列的能力，类似于锌指蛋白核酸酶（</a:t>
            </a:r>
            <a:r>
              <a:rPr lang="en-US" altLang="zh-CN" dirty="0" err="1"/>
              <a:t>ZFNs</a:t>
            </a:r>
            <a:r>
              <a:rPr lang="zh-CN" altLang="en-US" dirty="0"/>
              <a:t>）。因此将</a:t>
            </a:r>
            <a:r>
              <a:rPr lang="en-US" altLang="zh-CN" dirty="0"/>
              <a:t>TALE</a:t>
            </a:r>
            <a:r>
              <a:rPr lang="zh-CN" altLang="en-US" dirty="0"/>
              <a:t>蛋白中特异性识别区域与</a:t>
            </a:r>
            <a:r>
              <a:rPr lang="en-US" altLang="zh-CN" dirty="0" err="1"/>
              <a:t>FokⅠ</a:t>
            </a:r>
            <a:r>
              <a:rPr lang="zh-CN" altLang="en-US" dirty="0"/>
              <a:t>核酸酶偶联即可构建新的</a:t>
            </a:r>
            <a:r>
              <a:rPr lang="en-US" altLang="zh-CN" dirty="0"/>
              <a:t>DNA</a:t>
            </a:r>
            <a:r>
              <a:rPr lang="zh-CN" altLang="en-US" dirty="0"/>
              <a:t>编辑工具，称为</a:t>
            </a:r>
            <a:r>
              <a:rPr lang="en-US" altLang="zh-CN" dirty="0" err="1"/>
              <a:t>TALENs</a:t>
            </a:r>
            <a:r>
              <a:rPr lang="zh-CN" altLang="en-US" dirty="0"/>
              <a:t>。由于</a:t>
            </a:r>
            <a:r>
              <a:rPr lang="en-US" altLang="zh-CN" dirty="0" err="1"/>
              <a:t>FokⅠ</a:t>
            </a:r>
            <a:r>
              <a:rPr lang="zh-CN" altLang="en-US" dirty="0"/>
              <a:t>核酸酶需要二聚才能发挥作用，</a:t>
            </a:r>
            <a:r>
              <a:rPr lang="en-US" altLang="zh-CN" dirty="0" err="1"/>
              <a:t>TALENs</a:t>
            </a:r>
            <a:r>
              <a:rPr lang="zh-CN" altLang="en-US" dirty="0"/>
              <a:t>也需要成对作用以切断目标</a:t>
            </a:r>
            <a:r>
              <a:rPr lang="en-US" altLang="zh-CN" dirty="0"/>
              <a:t>DNA</a:t>
            </a:r>
            <a:r>
              <a:rPr lang="zh-CN" altLang="en-US" dirty="0"/>
              <a:t>位点</a:t>
            </a:r>
            <a:endParaRPr lang="en-US" altLang="zh-CN" dirty="0"/>
          </a:p>
          <a:p>
            <a:endParaRPr lang="en-US" altLang="zh-CN" dirty="0"/>
          </a:p>
          <a:p>
            <a:r>
              <a:rPr lang="zh-CN" altLang="en-US" b="1" dirty="0"/>
              <a:t>二、识别机制</a:t>
            </a:r>
          </a:p>
          <a:p>
            <a:r>
              <a:rPr lang="en-US" altLang="zh-CN" dirty="0"/>
              <a:t>TALE</a:t>
            </a:r>
            <a:r>
              <a:rPr lang="zh-CN" altLang="en-US" dirty="0"/>
              <a:t>蛋白通过其</a:t>
            </a:r>
            <a:r>
              <a:rPr lang="en-US" altLang="zh-CN" dirty="0"/>
              <a:t>DNA</a:t>
            </a:r>
            <a:r>
              <a:rPr lang="zh-CN" altLang="en-US" dirty="0"/>
              <a:t>结合域与</a:t>
            </a:r>
            <a:r>
              <a:rPr lang="en-US" altLang="zh-CN" dirty="0"/>
              <a:t>DNA</a:t>
            </a:r>
            <a:r>
              <a:rPr lang="zh-CN" altLang="en-US" dirty="0"/>
              <a:t>双链进行特异性结合。每个</a:t>
            </a:r>
            <a:r>
              <a:rPr lang="en-US" altLang="zh-CN" dirty="0" err="1"/>
              <a:t>RVD</a:t>
            </a:r>
            <a:r>
              <a:rPr lang="zh-CN" altLang="en-US" dirty="0"/>
              <a:t>仅能识别一个碱基，并且与</a:t>
            </a:r>
            <a:r>
              <a:rPr lang="en-US" altLang="zh-CN" dirty="0"/>
              <a:t>DNA</a:t>
            </a:r>
            <a:r>
              <a:rPr lang="zh-CN" altLang="en-US" dirty="0"/>
              <a:t>碱基之间存在一一对应的关系。例如，某些</a:t>
            </a:r>
            <a:r>
              <a:rPr lang="en-US" altLang="zh-CN" dirty="0" err="1"/>
              <a:t>RVD</a:t>
            </a:r>
            <a:r>
              <a:rPr lang="zh-CN" altLang="en-US" dirty="0"/>
              <a:t>组合可以识别腺嘌呤（</a:t>
            </a:r>
            <a:r>
              <a:rPr lang="en-US" altLang="zh-CN" dirty="0"/>
              <a:t>A</a:t>
            </a:r>
            <a:r>
              <a:rPr lang="zh-CN" altLang="en-US" dirty="0"/>
              <a:t>）、胸腺嘧啶（</a:t>
            </a:r>
            <a:r>
              <a:rPr lang="en-US" altLang="zh-CN" dirty="0"/>
              <a:t>T</a:t>
            </a:r>
            <a:r>
              <a:rPr lang="zh-CN" altLang="en-US" dirty="0"/>
              <a:t>）、胞嘧啶（</a:t>
            </a:r>
            <a:r>
              <a:rPr lang="en-US" altLang="zh-CN" dirty="0"/>
              <a:t>C</a:t>
            </a:r>
            <a:r>
              <a:rPr lang="zh-CN" altLang="en-US" dirty="0"/>
              <a:t>）或鸟嘌呤（</a:t>
            </a:r>
            <a:r>
              <a:rPr lang="en-US" altLang="zh-CN" dirty="0"/>
              <a:t>G</a:t>
            </a:r>
            <a:r>
              <a:rPr lang="zh-CN" altLang="en-US" dirty="0"/>
              <a:t>）。因此，通过组合不同的</a:t>
            </a:r>
            <a:r>
              <a:rPr lang="en-US" altLang="zh-CN" dirty="0" err="1"/>
              <a:t>RVD</a:t>
            </a:r>
            <a:r>
              <a:rPr lang="zh-CN" altLang="en-US" dirty="0"/>
              <a:t>，可以构建出能够识别任意</a:t>
            </a:r>
            <a:r>
              <a:rPr lang="en-US" altLang="zh-CN" dirty="0"/>
              <a:t>DNA</a:t>
            </a:r>
            <a:r>
              <a:rPr lang="zh-CN" altLang="en-US" dirty="0"/>
              <a:t>序列的</a:t>
            </a:r>
            <a:r>
              <a:rPr lang="en-US" altLang="zh-CN" dirty="0"/>
              <a:t>TALE</a:t>
            </a:r>
            <a:r>
              <a:rPr lang="zh-CN" altLang="en-US" dirty="0"/>
              <a:t>蛋白。</a:t>
            </a:r>
          </a:p>
          <a:p>
            <a:endParaRPr lang="zh-CN" altLang="en-US" dirty="0"/>
          </a:p>
        </p:txBody>
      </p:sp>
    </p:spTree>
    <p:extLst>
      <p:ext uri="{BB962C8B-B14F-4D97-AF65-F5344CB8AC3E}">
        <p14:creationId xmlns:p14="http://schemas.microsoft.com/office/powerpoint/2010/main" val="4776211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BED34-AF9F-F8AF-3D6A-5EEBD9CD57F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8E8DE6-1E78-E71D-8B90-B9A441EC37B7}"/>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E24A391A-EDB0-3F3F-A724-A6EBA0A06959}"/>
              </a:ext>
            </a:extLst>
          </p:cNvPr>
          <p:cNvSpPr>
            <a:spLocks noGrp="1"/>
          </p:cNvSpPr>
          <p:nvPr>
            <p:ph type="body" idx="3"/>
          </p:nvPr>
        </p:nvSpPr>
        <p:spPr/>
        <p:txBody>
          <a:bodyPr/>
          <a:lstStyle/>
          <a:p>
            <a:r>
              <a:rPr lang="zh-CN" altLang="en-US" dirty="0"/>
              <a:t>与ZFNs一样，TALENs在形式和功能上也是模块化的，由FokⅠ切割结构域和TALE蛋白DNA结合结构域融合组成，同样利用限制性核酸内切酶FokⅠ进行基因编辑。TALE蛋白由33–35个氨基酸的重复单元组成，通过位于12位和13位的两个可变氨基酸残基识别并结合DNA序列，这两个位点的氨基酸残基称为重复可变的双氨基酸残基(repeat variable diresidue，RVD)，每个重复单元能特异性识别一个碱基对。TALENs的唯一靶向限制是对N端结构有5'T的要求，因此，通过构建不同的RVD和改变TALE的连接顺序，理论上可以使TALENs被用于几乎任何的序列。2011年TALENs技术开始用于人类细胞的基因编辑，如靶基因的敲除等。</a:t>
            </a:r>
          </a:p>
          <a:p>
            <a:endParaRPr lang="zh-CN" altLang="en-US" dirty="0"/>
          </a:p>
          <a:p>
            <a:r>
              <a:rPr lang="zh-CN" altLang="en-US" dirty="0"/>
              <a:t>与ZFNs相比，TALENs的毒性低，蛋白设计相对简单，是首个真正意义上的基因可编辑工具。但是TALENs重复序列更多，工作量巨大，此外，TALENs的体积比ZFNs大，这使得某些病毒传递系统的包装较困难，也无法用于高通量的编辑。</a:t>
            </a:r>
            <a:endParaRPr lang="en-US" altLang="zh-CN" dirty="0"/>
          </a:p>
          <a:p>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核酸酶 </a:t>
            </a:r>
            <a:r>
              <a:rPr lang="en-US" altLang="zh-CN" sz="1800" b="0" i="0" dirty="0">
                <a:solidFill>
                  <a:srgbClr val="231F20"/>
                </a:solidFill>
                <a:effectLst/>
                <a:latin typeface="TimesNewRomanPSMT"/>
              </a:rPr>
              <a:t>(TALE nuclease, TALEN) </a:t>
            </a:r>
            <a:r>
              <a:rPr lang="zh-CN" altLang="en-US" sz="1800" b="0" i="0" dirty="0">
                <a:solidFill>
                  <a:srgbClr val="231F20"/>
                </a:solidFill>
                <a:effectLst/>
                <a:latin typeface="SimSun" panose="02010600030101010101" pitchFamily="2" charset="-122"/>
                <a:ea typeface="SimSun" panose="02010600030101010101" pitchFamily="2" charset="-122"/>
              </a:rPr>
              <a:t>的构造</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类似于 </a:t>
            </a:r>
            <a:r>
              <a:rPr lang="en-US" altLang="zh-CN" sz="1800" b="0" i="0" dirty="0">
                <a:solidFill>
                  <a:srgbClr val="231F20"/>
                </a:solidFill>
                <a:effectLst/>
                <a:latin typeface="TimesNewRomanPSMT"/>
              </a:rPr>
              <a:t>ZFN</a:t>
            </a:r>
            <a:r>
              <a:rPr lang="zh-CN" altLang="en-US" sz="1800" b="0" i="0" dirty="0">
                <a:solidFill>
                  <a:srgbClr val="231F20"/>
                </a:solidFill>
                <a:effectLst/>
                <a:latin typeface="SimSun" panose="02010600030101010101" pitchFamily="2" charset="-122"/>
                <a:ea typeface="SimSun" panose="02010600030101010101" pitchFamily="2" charset="-122"/>
              </a:rPr>
              <a:t>，即将 </a:t>
            </a:r>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蛋白的 </a:t>
            </a:r>
            <a:r>
              <a:rPr lang="en-US" altLang="zh-CN" sz="1800" b="0" i="0" dirty="0">
                <a:solidFill>
                  <a:srgbClr val="231F20"/>
                </a:solidFill>
                <a:effectLst/>
                <a:latin typeface="TimesNewRomanPSMT"/>
              </a:rPr>
              <a:t>DNA </a:t>
            </a:r>
            <a:r>
              <a:rPr lang="zh-CN" altLang="en-US" sz="1800" b="0" i="0" dirty="0">
                <a:solidFill>
                  <a:srgbClr val="231F20"/>
                </a:solidFill>
                <a:effectLst/>
                <a:latin typeface="SimSun" panose="02010600030101010101" pitchFamily="2" charset="-122"/>
                <a:ea typeface="SimSun" panose="02010600030101010101" pitchFamily="2" charset="-122"/>
              </a:rPr>
              <a:t>结合结构域</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与 </a:t>
            </a:r>
            <a:r>
              <a:rPr lang="en-US" altLang="zh-CN" sz="1800" b="0" i="0" dirty="0">
                <a:solidFill>
                  <a:srgbClr val="231F20"/>
                </a:solidFill>
                <a:effectLst/>
                <a:latin typeface="TimesNewRomanPSMT"/>
              </a:rPr>
              <a:t>Fok I </a:t>
            </a:r>
            <a:r>
              <a:rPr lang="zh-CN" altLang="en-US" sz="1800" b="0" i="0" dirty="0">
                <a:solidFill>
                  <a:srgbClr val="231F20"/>
                </a:solidFill>
                <a:effectLst/>
                <a:latin typeface="SimSun" panose="02010600030101010101" pitchFamily="2" charset="-122"/>
                <a:ea typeface="SimSun" panose="02010600030101010101" pitchFamily="2" charset="-122"/>
              </a:rPr>
              <a:t>内切酶连接，从而实现在基因组特定位点</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实现靶向切割，诱导 </a:t>
            </a:r>
            <a:r>
              <a:rPr lang="en-US" altLang="zh-CN" sz="1800" b="0" i="0" dirty="0">
                <a:solidFill>
                  <a:srgbClr val="231F20"/>
                </a:solidFill>
                <a:effectLst/>
                <a:latin typeface="TimesNewRomanPSMT"/>
              </a:rPr>
              <a:t>DNA </a:t>
            </a:r>
            <a:r>
              <a:rPr lang="zh-CN" altLang="en-US" sz="1800" b="0" i="0" dirty="0">
                <a:solidFill>
                  <a:srgbClr val="231F20"/>
                </a:solidFill>
                <a:effectLst/>
                <a:latin typeface="SimSun" panose="02010600030101010101" pitchFamily="2" charset="-122"/>
                <a:ea typeface="SimSun" panose="02010600030101010101" pitchFamily="2" charset="-122"/>
              </a:rPr>
              <a:t>修复。目前， </a:t>
            </a:r>
            <a:r>
              <a:rPr lang="en-US" altLang="zh-CN" sz="1800" b="0" i="0" dirty="0">
                <a:solidFill>
                  <a:srgbClr val="231F20"/>
                </a:solidFill>
                <a:effectLst/>
                <a:latin typeface="TimesNewRomanPSMT"/>
              </a:rPr>
              <a:t>TALEN </a:t>
            </a:r>
            <a:r>
              <a:rPr lang="zh-CN" altLang="en-US" sz="1800" b="0" i="0" dirty="0">
                <a:solidFill>
                  <a:srgbClr val="231F20"/>
                </a:solidFill>
                <a:effectLst/>
                <a:latin typeface="SimSun" panose="02010600030101010101" pitchFamily="2" charset="-122"/>
                <a:ea typeface="SimSun" panose="02010600030101010101" pitchFamily="2" charset="-122"/>
              </a:rPr>
              <a:t>的</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构建也有多种方法，最常用的是 </a:t>
            </a:r>
            <a:r>
              <a:rPr lang="en-US" altLang="zh-CN" sz="1800" b="0" i="0" dirty="0">
                <a:solidFill>
                  <a:srgbClr val="231F20"/>
                </a:solidFill>
                <a:effectLst/>
                <a:latin typeface="TimesNewRomanPSMT"/>
              </a:rPr>
              <a:t>Cermak </a:t>
            </a:r>
            <a:r>
              <a:rPr lang="zh-CN" altLang="en-US" sz="1800" b="0" i="0" dirty="0">
                <a:solidFill>
                  <a:srgbClr val="231F20"/>
                </a:solidFill>
                <a:effectLst/>
                <a:latin typeface="SimSun" panose="02010600030101010101" pitchFamily="2" charset="-122"/>
                <a:ea typeface="SimSun" panose="02010600030101010101" pitchFamily="2" charset="-122"/>
              </a:rPr>
              <a:t>等 </a:t>
            </a:r>
            <a:r>
              <a:rPr lang="en-US" altLang="zh-CN" sz="1800" b="0" i="0" dirty="0">
                <a:solidFill>
                  <a:srgbClr val="231F20"/>
                </a:solidFill>
                <a:effectLst/>
                <a:latin typeface="TimesNewRomanPSMT"/>
              </a:rPr>
              <a:t>[46] </a:t>
            </a:r>
            <a:r>
              <a:rPr lang="zh-CN" altLang="en-US" sz="1800" b="0" i="0" dirty="0">
                <a:solidFill>
                  <a:srgbClr val="231F20"/>
                </a:solidFill>
                <a:effectLst/>
                <a:latin typeface="SimSun" panose="02010600030101010101" pitchFamily="2" charset="-122"/>
                <a:ea typeface="SimSun" panose="02010600030101010101" pitchFamily="2" charset="-122"/>
              </a:rPr>
              <a:t>发表</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的“ </a:t>
            </a:r>
            <a:r>
              <a:rPr lang="en-US" altLang="zh-CN" sz="1800" b="0" i="0" dirty="0">
                <a:solidFill>
                  <a:srgbClr val="231F20"/>
                </a:solidFill>
                <a:effectLst/>
                <a:latin typeface="TimesNewRomanPSMT"/>
              </a:rPr>
              <a:t>Goldengate Assembly</a:t>
            </a:r>
            <a:r>
              <a:rPr lang="en-US" altLang="zh-CN" sz="1800" b="0" i="0" dirty="0">
                <a:solidFill>
                  <a:srgbClr val="231F20"/>
                </a:solidFill>
                <a:effectLst/>
                <a:latin typeface="SimSun" panose="02010600030101010101" pitchFamily="2" charset="-122"/>
                <a:ea typeface="SimSun" panose="02010600030101010101" pitchFamily="2" charset="-122"/>
              </a:rPr>
              <a:t>”</a:t>
            </a:r>
            <a:r>
              <a:rPr lang="zh-CN" altLang="en-US" sz="1800" b="0" i="0" dirty="0">
                <a:solidFill>
                  <a:srgbClr val="231F20"/>
                </a:solidFill>
                <a:effectLst/>
                <a:latin typeface="SimSun" panose="02010600030101010101" pitchFamily="2" charset="-122"/>
                <a:ea typeface="SimSun" panose="02010600030101010101" pitchFamily="2" charset="-122"/>
              </a:rPr>
              <a:t>。其他的 </a:t>
            </a:r>
            <a:r>
              <a:rPr lang="en-US" altLang="zh-CN" sz="1800" b="0" i="0" dirty="0">
                <a:solidFill>
                  <a:srgbClr val="231F20"/>
                </a:solidFill>
                <a:effectLst/>
                <a:latin typeface="TimesNewRomanPSMT"/>
              </a:rPr>
              <a:t>TALEN </a:t>
            </a:r>
            <a:r>
              <a:rPr lang="zh-CN" altLang="en-US" sz="1800" b="0" i="0" dirty="0">
                <a:solidFill>
                  <a:srgbClr val="231F20"/>
                </a:solidFill>
                <a:effectLst/>
                <a:latin typeface="SimSun" panose="02010600030101010101" pitchFamily="2" charset="-122"/>
                <a:ea typeface="SimSun" panose="02010600030101010101" pitchFamily="2" charset="-122"/>
              </a:rPr>
              <a:t>构建方</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法多遵循同一个思路 ：首先将 </a:t>
            </a:r>
            <a:r>
              <a:rPr lang="en-US" altLang="zh-CN" sz="1800" b="0" i="0" dirty="0">
                <a:solidFill>
                  <a:srgbClr val="231F20"/>
                </a:solidFill>
                <a:effectLst/>
                <a:latin typeface="TimesNewRomanPSMT"/>
              </a:rPr>
              <a:t>4 </a:t>
            </a:r>
            <a:r>
              <a:rPr lang="zh-CN" altLang="en-US" sz="1800" b="0" i="0" dirty="0">
                <a:solidFill>
                  <a:srgbClr val="231F20"/>
                </a:solidFill>
                <a:effectLst/>
                <a:latin typeface="SimSun" panose="02010600030101010101" pitchFamily="2" charset="-122"/>
                <a:ea typeface="SimSun" panose="02010600030101010101" pitchFamily="2" charset="-122"/>
              </a:rPr>
              <a:t>种碱基对应的</a:t>
            </a:r>
            <a:br>
              <a:rPr lang="zh-CN" altLang="en-US" sz="1800" b="0" i="0" dirty="0">
                <a:solidFill>
                  <a:srgbClr val="231F20"/>
                </a:solidFill>
                <a:effectLst/>
                <a:latin typeface="SimSun" panose="02010600030101010101" pitchFamily="2" charset="-122"/>
                <a:ea typeface="SimSun" panose="02010600030101010101" pitchFamily="2" charset="-122"/>
              </a:rPr>
            </a:br>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的 </a:t>
            </a:r>
            <a:r>
              <a:rPr lang="en-US" altLang="zh-CN" sz="1800" b="0" i="0" dirty="0">
                <a:solidFill>
                  <a:srgbClr val="231F20"/>
                </a:solidFill>
                <a:effectLst/>
                <a:latin typeface="TimesNewRomanPSMT"/>
              </a:rPr>
              <a:t>DNA </a:t>
            </a:r>
            <a:r>
              <a:rPr lang="zh-CN" altLang="en-US" sz="1800" b="0" i="0" dirty="0">
                <a:solidFill>
                  <a:srgbClr val="231F20"/>
                </a:solidFill>
                <a:effectLst/>
                <a:latin typeface="SimSun" panose="02010600030101010101" pitchFamily="2" charset="-122"/>
                <a:ea typeface="SimSun" panose="02010600030101010101" pitchFamily="2" charset="-122"/>
              </a:rPr>
              <a:t>结构域序列连接到载体上，然后通</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过酶切连接将不同的单体 </a:t>
            </a:r>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组成一个阵列，最</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后 连 到 含 有 </a:t>
            </a:r>
            <a:r>
              <a:rPr lang="en-US" altLang="zh-CN" sz="1800" b="0" i="0" dirty="0">
                <a:solidFill>
                  <a:srgbClr val="231F20"/>
                </a:solidFill>
                <a:effectLst/>
                <a:latin typeface="TimesNewRomanPSMT"/>
              </a:rPr>
              <a:t>Fok I </a:t>
            </a:r>
            <a:r>
              <a:rPr lang="zh-CN" altLang="en-US" sz="1800" b="0" i="0" dirty="0">
                <a:solidFill>
                  <a:srgbClr val="231F20"/>
                </a:solidFill>
                <a:effectLst/>
                <a:latin typeface="SimSun" panose="02010600030101010101" pitchFamily="2" charset="-122"/>
                <a:ea typeface="SimSun" panose="02010600030101010101" pitchFamily="2" charset="-122"/>
              </a:rPr>
              <a:t>和 核 定 位 序 列 </a:t>
            </a:r>
            <a:r>
              <a:rPr lang="en-US" altLang="zh-CN" sz="1800" b="0" i="0" dirty="0">
                <a:solidFill>
                  <a:srgbClr val="231F20"/>
                </a:solidFill>
                <a:effectLst/>
                <a:latin typeface="TimesNewRomanPSMT"/>
              </a:rPr>
              <a:t>(nucleic locus</a:t>
            </a:r>
            <a:br>
              <a:rPr lang="en-US" altLang="zh-CN" sz="1800" b="0" i="0" dirty="0">
                <a:solidFill>
                  <a:srgbClr val="231F20"/>
                </a:solidFill>
                <a:effectLst/>
                <a:latin typeface="TimesNewRomanPSMT"/>
              </a:rPr>
            </a:br>
            <a:r>
              <a:rPr lang="en-US" altLang="zh-CN" sz="1800" b="0" i="0" dirty="0">
                <a:solidFill>
                  <a:srgbClr val="231F20"/>
                </a:solidFill>
                <a:effectLst/>
                <a:latin typeface="TimesNewRomanPSMT"/>
              </a:rPr>
              <a:t>sequence, NLS) </a:t>
            </a:r>
            <a:r>
              <a:rPr lang="zh-CN" altLang="en-US" sz="1800" b="0" i="0" dirty="0">
                <a:solidFill>
                  <a:srgbClr val="231F20"/>
                </a:solidFill>
                <a:effectLst/>
                <a:latin typeface="SimSun" panose="02010600030101010101" pitchFamily="2" charset="-122"/>
                <a:ea typeface="SimSun" panose="02010600030101010101" pitchFamily="2" charset="-122"/>
              </a:rPr>
              <a:t>的质粒中即完成了 </a:t>
            </a:r>
            <a:r>
              <a:rPr lang="en-US" altLang="zh-CN" sz="1800" b="0" i="0" dirty="0">
                <a:solidFill>
                  <a:srgbClr val="231F20"/>
                </a:solidFill>
                <a:effectLst/>
                <a:latin typeface="TimesNewRomanPSMT"/>
              </a:rPr>
              <a:t>TALEN </a:t>
            </a:r>
            <a:r>
              <a:rPr lang="zh-CN" altLang="en-US" sz="1800" b="0" i="0" dirty="0">
                <a:solidFill>
                  <a:srgbClr val="231F20"/>
                </a:solidFill>
                <a:effectLst/>
                <a:latin typeface="SimSun" panose="02010600030101010101" pitchFamily="2" charset="-122"/>
                <a:ea typeface="SimSun" panose="02010600030101010101" pitchFamily="2" charset="-122"/>
              </a:rPr>
              <a:t>的构建。</a:t>
            </a:r>
            <a:r>
              <a:rPr lang="zh-CN" altLang="en-US" dirty="0"/>
              <a:t> </a:t>
            </a:r>
            <a:endParaRPr lang="en-US" altLang="zh-CN" dirty="0"/>
          </a:p>
          <a:p>
            <a:r>
              <a:rPr lang="en-US" altLang="zh-CN" dirty="0"/>
              <a:t>TALE</a:t>
            </a:r>
            <a:r>
              <a:rPr lang="zh-CN" altLang="en-US" dirty="0"/>
              <a:t>蛋白由多个部分组成，包括</a:t>
            </a:r>
            <a:r>
              <a:rPr lang="en-US" altLang="zh-CN" dirty="0"/>
              <a:t>N</a:t>
            </a:r>
            <a:r>
              <a:rPr lang="zh-CN" altLang="en-US" dirty="0"/>
              <a:t>端分泌信号、中央</a:t>
            </a:r>
            <a:r>
              <a:rPr lang="en-US" altLang="zh-CN" dirty="0"/>
              <a:t>DNA</a:t>
            </a:r>
            <a:r>
              <a:rPr lang="zh-CN" altLang="en-US" dirty="0"/>
              <a:t>结合域、核定位信号和</a:t>
            </a:r>
            <a:r>
              <a:rPr lang="en-US" altLang="zh-CN" dirty="0"/>
              <a:t>C</a:t>
            </a:r>
            <a:r>
              <a:rPr lang="zh-CN" altLang="en-US" dirty="0"/>
              <a:t>端激活域。其中，中央</a:t>
            </a:r>
            <a:r>
              <a:rPr lang="en-US" altLang="zh-CN" dirty="0"/>
              <a:t>DNA</a:t>
            </a:r>
            <a:r>
              <a:rPr lang="zh-CN" altLang="en-US" dirty="0"/>
              <a:t>结合域是</a:t>
            </a:r>
            <a:r>
              <a:rPr lang="en-US" altLang="zh-CN" dirty="0"/>
              <a:t>TALE</a:t>
            </a:r>
            <a:r>
              <a:rPr lang="zh-CN" altLang="en-US" dirty="0"/>
              <a:t>蛋白最为关键的部分，它决定了</a:t>
            </a:r>
            <a:r>
              <a:rPr lang="en-US" altLang="zh-CN" dirty="0"/>
              <a:t>TALE</a:t>
            </a:r>
            <a:r>
              <a:rPr lang="zh-CN" altLang="en-US" dirty="0"/>
              <a:t>蛋白与</a:t>
            </a:r>
            <a:r>
              <a:rPr lang="en-US" altLang="zh-CN" dirty="0"/>
              <a:t>DNA</a:t>
            </a:r>
            <a:r>
              <a:rPr lang="zh-CN" altLang="en-US" dirty="0"/>
              <a:t>的特异性结合。</a:t>
            </a:r>
            <a:r>
              <a:rPr lang="en-US" altLang="zh-CN" dirty="0"/>
              <a:t>Tale</a:t>
            </a:r>
            <a:r>
              <a:rPr lang="zh-CN" altLang="en-US" dirty="0"/>
              <a:t>蛋白的</a:t>
            </a:r>
            <a:r>
              <a:rPr lang="en-US" altLang="zh-CN" dirty="0"/>
              <a:t>DNA</a:t>
            </a:r>
            <a:r>
              <a:rPr lang="zh-CN" altLang="en-US" dirty="0"/>
              <a:t>结合结构域是由不同数量的重复单元组成，每个重复单元特异识别一个</a:t>
            </a:r>
            <a:r>
              <a:rPr lang="en-US" altLang="zh-CN" dirty="0"/>
              <a:t>DNA</a:t>
            </a:r>
            <a:r>
              <a:rPr lang="zh-CN" altLang="en-US" dirty="0"/>
              <a:t>碱基对。这些重复单元大多数由</a:t>
            </a:r>
            <a:r>
              <a:rPr lang="en-US" altLang="zh-CN" dirty="0"/>
              <a:t>34</a:t>
            </a:r>
            <a:r>
              <a:rPr lang="zh-CN" altLang="en-US" dirty="0"/>
              <a:t>个氨基酸组成，其中第</a:t>
            </a:r>
            <a:r>
              <a:rPr lang="en-US" altLang="zh-CN" dirty="0"/>
              <a:t>12</a:t>
            </a:r>
            <a:r>
              <a:rPr lang="zh-CN" altLang="en-US" dirty="0"/>
              <a:t>位和第</a:t>
            </a:r>
            <a:r>
              <a:rPr lang="en-US" altLang="zh-CN" dirty="0"/>
              <a:t>13</a:t>
            </a:r>
            <a:r>
              <a:rPr lang="zh-CN" altLang="en-US" dirty="0"/>
              <a:t>位的氨基酸是可变的，被称为重复可变双残基（</a:t>
            </a:r>
            <a:r>
              <a:rPr lang="en-US" altLang="zh-CN" dirty="0" err="1"/>
              <a:t>RVD</a:t>
            </a:r>
            <a:r>
              <a:rPr lang="zh-CN" altLang="en-US" dirty="0"/>
              <a:t>）</a:t>
            </a:r>
            <a:endParaRPr lang="en-US" altLang="zh-CN" dirty="0"/>
          </a:p>
          <a:p>
            <a:r>
              <a:rPr lang="zh-CN" altLang="en-US" sz="1800" b="0" i="0" dirty="0">
                <a:solidFill>
                  <a:srgbClr val="231F20"/>
                </a:solidFill>
                <a:effectLst/>
                <a:latin typeface="SimSun" panose="02010600030101010101" pitchFamily="2" charset="-122"/>
                <a:ea typeface="SimSun" panose="02010600030101010101" pitchFamily="2" charset="-122"/>
              </a:rPr>
              <a:t>不同的 </a:t>
            </a:r>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蛋白其 </a:t>
            </a:r>
            <a:r>
              <a:rPr lang="en-US" altLang="zh-CN" sz="1800" b="0" i="0" dirty="0">
                <a:solidFill>
                  <a:srgbClr val="231F20"/>
                </a:solidFill>
                <a:effectLst/>
                <a:latin typeface="TimesNewRomanPSMT"/>
              </a:rPr>
              <a:t>DNA </a:t>
            </a:r>
            <a:r>
              <a:rPr lang="zh-CN" altLang="en-US" sz="1800" b="0" i="0" dirty="0">
                <a:solidFill>
                  <a:srgbClr val="231F20"/>
                </a:solidFill>
                <a:effectLst/>
                <a:latin typeface="SimSun" panose="02010600030101010101" pitchFamily="2" charset="-122"/>
                <a:ea typeface="SimSun" panose="02010600030101010101" pitchFamily="2" charset="-122"/>
              </a:rPr>
              <a:t>结构域由高度保守的重复单元组成，每个重复单元含有 </a:t>
            </a:r>
            <a:r>
              <a:rPr lang="en-US" altLang="zh-CN" sz="1800" b="0" i="0" dirty="0">
                <a:solidFill>
                  <a:srgbClr val="231F20"/>
                </a:solidFill>
                <a:effectLst/>
                <a:latin typeface="TimesNewRomanPSMT"/>
              </a:rPr>
              <a:t>33~35 </a:t>
            </a:r>
            <a:r>
              <a:rPr lang="zh-CN" altLang="en-US" sz="1800" b="0" i="0" dirty="0">
                <a:solidFill>
                  <a:srgbClr val="231F20"/>
                </a:solidFill>
                <a:effectLst/>
                <a:latin typeface="SimSun" panose="02010600030101010101" pitchFamily="2" charset="-122"/>
                <a:ea typeface="SimSun" panose="02010600030101010101" pitchFamily="2" charset="-122"/>
              </a:rPr>
              <a:t>个氨基酸，除了 </a:t>
            </a:r>
            <a:r>
              <a:rPr lang="en-US" altLang="zh-CN" sz="1800" b="0" i="0" dirty="0">
                <a:solidFill>
                  <a:srgbClr val="231F20"/>
                </a:solidFill>
                <a:effectLst/>
                <a:latin typeface="TimesNewRomanPSMT"/>
              </a:rPr>
              <a:t>12 </a:t>
            </a:r>
            <a:r>
              <a:rPr lang="zh-CN" altLang="en-US" sz="1800" b="0" i="0" dirty="0">
                <a:solidFill>
                  <a:srgbClr val="231F20"/>
                </a:solidFill>
                <a:effectLst/>
                <a:latin typeface="SimSun" panose="02010600030101010101" pitchFamily="2" charset="-122"/>
                <a:ea typeface="SimSun" panose="02010600030101010101" pitchFamily="2" charset="-122"/>
              </a:rPr>
              <a:t>和 </a:t>
            </a:r>
            <a:r>
              <a:rPr lang="en-US" altLang="zh-CN" sz="1800" b="0" i="0" dirty="0">
                <a:solidFill>
                  <a:srgbClr val="231F20"/>
                </a:solidFill>
                <a:effectLst/>
                <a:latin typeface="TimesNewRomanPSMT"/>
              </a:rPr>
              <a:t>13 </a:t>
            </a:r>
            <a:r>
              <a:rPr lang="zh-CN" altLang="en-US" sz="1800" b="0" i="0" dirty="0">
                <a:solidFill>
                  <a:srgbClr val="231F20"/>
                </a:solidFill>
                <a:effectLst/>
                <a:latin typeface="SimSun" panose="02010600030101010101" pitchFamily="2" charset="-122"/>
                <a:ea typeface="SimSun" panose="02010600030101010101" pitchFamily="2" charset="-122"/>
              </a:rPr>
              <a:t>位两个氨基酸不同外，其他氨基酸在不同 </a:t>
            </a:r>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中是高度保守的。这两个氨基酸被</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称为重复序列可变的双氨基酸残基 </a:t>
            </a:r>
            <a:r>
              <a:rPr lang="en-US" altLang="zh-CN" sz="1800" b="0" i="0" dirty="0">
                <a:solidFill>
                  <a:srgbClr val="231F20"/>
                </a:solidFill>
                <a:effectLst/>
                <a:latin typeface="TimesNewRomanPSMT"/>
              </a:rPr>
              <a:t>(repeat </a:t>
            </a:r>
            <a:r>
              <a:rPr lang="en-US" altLang="zh-CN" sz="1800" b="0" i="0" dirty="0" err="1">
                <a:solidFill>
                  <a:srgbClr val="231F20"/>
                </a:solidFill>
                <a:effectLst/>
                <a:latin typeface="TimesNewRomanPSMT"/>
              </a:rPr>
              <a:t>variablediresidues</a:t>
            </a:r>
            <a:r>
              <a:rPr lang="en-US" altLang="zh-CN" sz="1800" b="0" i="0" dirty="0">
                <a:solidFill>
                  <a:srgbClr val="231F20"/>
                </a:solidFill>
                <a:effectLst/>
                <a:latin typeface="TimesNewRomanPSMT"/>
              </a:rPr>
              <a:t>, </a:t>
            </a:r>
            <a:r>
              <a:rPr lang="en-US" altLang="zh-CN" sz="1800" b="0" i="0" dirty="0" err="1">
                <a:solidFill>
                  <a:srgbClr val="231F20"/>
                </a:solidFill>
                <a:effectLst/>
                <a:latin typeface="TimesNewRomanPSMT"/>
              </a:rPr>
              <a:t>RVD</a:t>
            </a:r>
            <a:r>
              <a:rPr lang="en-US" altLang="zh-CN" sz="1800" b="0" i="0" dirty="0">
                <a:solidFill>
                  <a:srgbClr val="231F20"/>
                </a:solidFill>
                <a:effectLst/>
                <a:latin typeface="TimesNewRomanPSMT"/>
              </a:rPr>
              <a:t>)</a:t>
            </a:r>
            <a:r>
              <a:rPr lang="zh-CN" altLang="en-US" sz="1800" b="0" i="0" dirty="0">
                <a:solidFill>
                  <a:srgbClr val="231F20"/>
                </a:solidFill>
                <a:effectLst/>
                <a:latin typeface="SimSun" panose="02010600030101010101" pitchFamily="2" charset="-122"/>
                <a:ea typeface="SimSun" panose="02010600030101010101" pitchFamily="2" charset="-122"/>
              </a:rPr>
              <a:t>，参与对 </a:t>
            </a:r>
            <a:r>
              <a:rPr lang="en-US" altLang="zh-CN" sz="1800" b="0" i="0" dirty="0">
                <a:solidFill>
                  <a:srgbClr val="231F20"/>
                </a:solidFill>
                <a:effectLst/>
                <a:latin typeface="TimesNewRomanPSMT"/>
              </a:rPr>
              <a:t>DNA </a:t>
            </a:r>
            <a:r>
              <a:rPr lang="zh-CN" altLang="en-US" sz="1800" b="0" i="0" dirty="0">
                <a:solidFill>
                  <a:srgbClr val="231F20"/>
                </a:solidFill>
                <a:effectLst/>
                <a:latin typeface="SimSun" panose="02010600030101010101" pitchFamily="2" charset="-122"/>
                <a:ea typeface="SimSun" panose="02010600030101010101" pitchFamily="2" charset="-122"/>
              </a:rPr>
              <a:t>双链上的碱基识别，每一个 </a:t>
            </a:r>
            <a:r>
              <a:rPr lang="en-US" altLang="zh-CN" sz="1800" b="0" i="0" dirty="0" err="1">
                <a:solidFill>
                  <a:srgbClr val="231F20"/>
                </a:solidFill>
                <a:effectLst/>
                <a:latin typeface="TimesNewRomanPSMT"/>
              </a:rPr>
              <a:t>RVD</a:t>
            </a:r>
            <a:r>
              <a:rPr lang="en-US" altLang="zh-CN" sz="1800" b="0" i="0" dirty="0">
                <a:solidFill>
                  <a:srgbClr val="231F20"/>
                </a:solidFill>
                <a:effectLst/>
                <a:latin typeface="TimesNewRomanPSMT"/>
              </a:rPr>
              <a:t> </a:t>
            </a:r>
            <a:r>
              <a:rPr lang="zh-CN" altLang="en-US" sz="1800" b="0" i="0" dirty="0">
                <a:solidFill>
                  <a:srgbClr val="231F20"/>
                </a:solidFill>
                <a:effectLst/>
                <a:latin typeface="SimSun" panose="02010600030101010101" pitchFamily="2" charset="-122"/>
                <a:ea typeface="SimSun" panose="02010600030101010101" pitchFamily="2" charset="-122"/>
              </a:rPr>
              <a:t>识别 </a:t>
            </a:r>
            <a:r>
              <a:rPr lang="en-US" altLang="zh-CN" sz="1800" b="0" i="0" dirty="0">
                <a:solidFill>
                  <a:srgbClr val="231F20"/>
                </a:solidFill>
                <a:effectLst/>
                <a:latin typeface="TimesNewRomanPSMT"/>
              </a:rPr>
              <a:t>4 </a:t>
            </a:r>
            <a:r>
              <a:rPr lang="zh-CN" altLang="en-US" sz="1800" b="0" i="0" dirty="0">
                <a:solidFill>
                  <a:srgbClr val="231F20"/>
                </a:solidFill>
                <a:effectLst/>
                <a:latin typeface="SimSun" panose="02010600030101010101" pitchFamily="2" charset="-122"/>
                <a:ea typeface="SimSun" panose="02010600030101010101" pitchFamily="2" charset="-122"/>
              </a:rPr>
              <a:t>种碱基中的一种或几种。虽然不同的 </a:t>
            </a:r>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蛋白具有多种 </a:t>
            </a:r>
            <a:r>
              <a:rPr lang="en-US" altLang="zh-CN" sz="1800" b="0" i="0" dirty="0" err="1">
                <a:solidFill>
                  <a:srgbClr val="231F20"/>
                </a:solidFill>
                <a:effectLst/>
                <a:latin typeface="TimesNewRomanPSMT"/>
              </a:rPr>
              <a:t>RVD</a:t>
            </a:r>
            <a:r>
              <a:rPr lang="zh-CN" altLang="en-US" sz="1800" b="0" i="0" dirty="0">
                <a:solidFill>
                  <a:srgbClr val="231F20"/>
                </a:solidFill>
                <a:effectLst/>
                <a:latin typeface="SimSun" panose="02010600030101010101" pitchFamily="2" charset="-122"/>
                <a:ea typeface="SimSun" panose="02010600030101010101" pitchFamily="2" charset="-122"/>
              </a:rPr>
              <a:t>，但目前最为广泛使用的为以下 </a:t>
            </a:r>
            <a:r>
              <a:rPr lang="en-US" altLang="zh-CN" sz="1800" b="0" i="0" dirty="0">
                <a:solidFill>
                  <a:srgbClr val="231F20"/>
                </a:solidFill>
                <a:effectLst/>
                <a:latin typeface="TimesNewRomanPSMT"/>
              </a:rPr>
              <a:t>5 </a:t>
            </a:r>
            <a:r>
              <a:rPr lang="zh-CN" altLang="en-US" sz="1800" b="0" i="0" dirty="0">
                <a:solidFill>
                  <a:srgbClr val="231F20"/>
                </a:solidFill>
                <a:effectLst/>
                <a:latin typeface="SimSun" panose="02010600030101010101" pitchFamily="2" charset="-122"/>
                <a:ea typeface="SimSun" panose="02010600030101010101" pitchFamily="2" charset="-122"/>
              </a:rPr>
              <a:t>种 </a:t>
            </a:r>
            <a:r>
              <a:rPr lang="en-US" altLang="zh-CN" sz="1800" b="0" i="0" dirty="0" err="1">
                <a:solidFill>
                  <a:srgbClr val="231F20"/>
                </a:solidFill>
                <a:effectLst/>
                <a:latin typeface="TimesNewRomanPSMT"/>
              </a:rPr>
              <a:t>RVD</a:t>
            </a:r>
            <a:r>
              <a:rPr lang="en-US" altLang="zh-CN" sz="1800" b="0" i="0" dirty="0">
                <a:solidFill>
                  <a:srgbClr val="231F20"/>
                </a:solidFill>
                <a:effectLst/>
                <a:latin typeface="TimesNewRomanPSMT"/>
              </a:rPr>
              <a:t>( </a:t>
            </a:r>
            <a:r>
              <a:rPr lang="zh-CN" altLang="en-US" sz="1800" b="0" i="0" dirty="0">
                <a:solidFill>
                  <a:srgbClr val="231F20"/>
                </a:solidFill>
                <a:effectLst/>
                <a:latin typeface="SimSun" panose="02010600030101010101" pitchFamily="2" charset="-122"/>
                <a:ea typeface="SimSun" panose="02010600030101010101" pitchFamily="2" charset="-122"/>
              </a:rPr>
              <a:t>表 </a:t>
            </a:r>
            <a:r>
              <a:rPr lang="en-US" altLang="zh-CN" sz="1800" b="0" i="0" dirty="0">
                <a:solidFill>
                  <a:srgbClr val="231F20"/>
                </a:solidFill>
                <a:effectLst/>
                <a:latin typeface="TimesNewRomanPSMT"/>
              </a:rPr>
              <a:t>1)</a:t>
            </a:r>
            <a:r>
              <a:rPr lang="zh-CN" altLang="en-US" sz="1800" b="0" i="0" dirty="0">
                <a:solidFill>
                  <a:srgbClr val="231F20"/>
                </a:solidFill>
                <a:effectLst/>
                <a:latin typeface="SimSun" panose="02010600030101010101" pitchFamily="2" charset="-122"/>
                <a:ea typeface="SimSun" panose="02010600030101010101" pitchFamily="2" charset="-122"/>
              </a:rPr>
              <a:t>。</a:t>
            </a:r>
            <a:r>
              <a:rPr lang="zh-CN" altLang="en-US" dirty="0"/>
              <a:t> </a:t>
            </a:r>
            <a:endParaRPr lang="en-US" altLang="zh-CN" dirty="0"/>
          </a:p>
          <a:p>
            <a:r>
              <a:rPr lang="zh-CN" altLang="en-US" dirty="0"/>
              <a:t>串联重复序列一般由</a:t>
            </a:r>
            <a:r>
              <a:rPr lang="en-US" altLang="zh-CN" dirty="0"/>
              <a:t>34</a:t>
            </a:r>
            <a:r>
              <a:rPr lang="zh-CN" altLang="en-US" dirty="0"/>
              <a:t>个氨基酸重复单元组成，具有高度的保守性。其中</a:t>
            </a:r>
            <a:r>
              <a:rPr lang="en-US" altLang="zh-CN" dirty="0"/>
              <a:t>12</a:t>
            </a:r>
            <a:r>
              <a:rPr lang="zh-CN" altLang="en-US" dirty="0"/>
              <a:t>、</a:t>
            </a:r>
            <a:r>
              <a:rPr lang="en-US" altLang="zh-CN" dirty="0"/>
              <a:t>13</a:t>
            </a:r>
            <a:r>
              <a:rPr lang="zh-CN" altLang="en-US" dirty="0"/>
              <a:t>位的氨基酸具有高度可变性，为可变氨基酸（</a:t>
            </a:r>
            <a:r>
              <a:rPr lang="en-US" altLang="zh-CN" dirty="0" err="1"/>
              <a:t>RVD</a:t>
            </a:r>
            <a:r>
              <a:rPr lang="en-US" altLang="zh-CN" dirty="0"/>
              <a:t>)</a:t>
            </a:r>
            <a:r>
              <a:rPr lang="zh-CN" altLang="en-US" dirty="0"/>
              <a:t>，</a:t>
            </a:r>
            <a:r>
              <a:rPr lang="en-US" altLang="zh-CN" dirty="0" err="1"/>
              <a:t>RVD</a:t>
            </a:r>
            <a:r>
              <a:rPr lang="zh-CN" altLang="en-US" dirty="0"/>
              <a:t>可以识别四种不同的碱基。每一个重复序列对应识别一个核苷酸，如图</a:t>
            </a:r>
            <a:r>
              <a:rPr lang="en-US" altLang="zh-CN" dirty="0"/>
              <a:t>2</a:t>
            </a:r>
            <a:r>
              <a:rPr lang="zh-CN" altLang="en-US" dirty="0"/>
              <a:t>所示。</a:t>
            </a:r>
            <a:r>
              <a:rPr lang="en-US" altLang="zh-CN" dirty="0"/>
              <a:t>C</a:t>
            </a:r>
            <a:r>
              <a:rPr lang="zh-CN" altLang="en-US" dirty="0"/>
              <a:t>端的第一个重复序列只有前二十个氨基酸与其他重复单元相同，称为半重复性。</a:t>
            </a:r>
            <a:endParaRPr lang="en-US" altLang="zh-CN" dirty="0"/>
          </a:p>
          <a:p>
            <a:endParaRPr lang="en-US" altLang="zh-CN" dirty="0"/>
          </a:p>
          <a:p>
            <a:r>
              <a:rPr lang="zh-CN" altLang="en-US" dirty="0"/>
              <a:t>因为</a:t>
            </a:r>
            <a:r>
              <a:rPr lang="en-US" altLang="zh-CN" dirty="0"/>
              <a:t>TALE</a:t>
            </a:r>
            <a:r>
              <a:rPr lang="zh-CN" altLang="en-US" dirty="0"/>
              <a:t>具有特异性识别</a:t>
            </a:r>
            <a:r>
              <a:rPr lang="en-US" altLang="zh-CN" dirty="0"/>
              <a:t>DNA</a:t>
            </a:r>
            <a:r>
              <a:rPr lang="zh-CN" altLang="en-US" dirty="0"/>
              <a:t>序列的能力，类似于锌指蛋白核酸酶（</a:t>
            </a:r>
            <a:r>
              <a:rPr lang="en-US" altLang="zh-CN" dirty="0" err="1"/>
              <a:t>ZFNs</a:t>
            </a:r>
            <a:r>
              <a:rPr lang="zh-CN" altLang="en-US" dirty="0"/>
              <a:t>）。因此将</a:t>
            </a:r>
            <a:r>
              <a:rPr lang="en-US" altLang="zh-CN" dirty="0"/>
              <a:t>TALE</a:t>
            </a:r>
            <a:r>
              <a:rPr lang="zh-CN" altLang="en-US" dirty="0"/>
              <a:t>蛋白中特异性识别区域与</a:t>
            </a:r>
            <a:r>
              <a:rPr lang="en-US" altLang="zh-CN" dirty="0" err="1"/>
              <a:t>FokⅠ</a:t>
            </a:r>
            <a:r>
              <a:rPr lang="zh-CN" altLang="en-US" dirty="0"/>
              <a:t>核酸酶偶联即可构建新的</a:t>
            </a:r>
            <a:r>
              <a:rPr lang="en-US" altLang="zh-CN" dirty="0"/>
              <a:t>DNA</a:t>
            </a:r>
            <a:r>
              <a:rPr lang="zh-CN" altLang="en-US" dirty="0"/>
              <a:t>编辑工具，称为</a:t>
            </a:r>
            <a:r>
              <a:rPr lang="en-US" altLang="zh-CN" dirty="0" err="1"/>
              <a:t>TALENs</a:t>
            </a:r>
            <a:r>
              <a:rPr lang="zh-CN" altLang="en-US" dirty="0"/>
              <a:t>。由于</a:t>
            </a:r>
            <a:r>
              <a:rPr lang="en-US" altLang="zh-CN" dirty="0" err="1"/>
              <a:t>FokⅠ</a:t>
            </a:r>
            <a:r>
              <a:rPr lang="zh-CN" altLang="en-US" dirty="0"/>
              <a:t>核酸酶需要二聚才能发挥作用，</a:t>
            </a:r>
            <a:r>
              <a:rPr lang="en-US" altLang="zh-CN" dirty="0" err="1"/>
              <a:t>TALENs</a:t>
            </a:r>
            <a:r>
              <a:rPr lang="zh-CN" altLang="en-US" dirty="0"/>
              <a:t>也需要成对作用以切断目标</a:t>
            </a:r>
            <a:r>
              <a:rPr lang="en-US" altLang="zh-CN" dirty="0"/>
              <a:t>DNA</a:t>
            </a:r>
            <a:r>
              <a:rPr lang="zh-CN" altLang="en-US" dirty="0"/>
              <a:t>位点</a:t>
            </a:r>
            <a:endParaRPr lang="en-US" altLang="zh-CN" dirty="0"/>
          </a:p>
          <a:p>
            <a:endParaRPr lang="en-US" altLang="zh-CN" dirty="0"/>
          </a:p>
          <a:p>
            <a:r>
              <a:rPr lang="zh-CN" altLang="en-US" b="1" dirty="0"/>
              <a:t>二、识别机制</a:t>
            </a:r>
          </a:p>
          <a:p>
            <a:r>
              <a:rPr lang="en-US" altLang="zh-CN" dirty="0"/>
              <a:t>TALE</a:t>
            </a:r>
            <a:r>
              <a:rPr lang="zh-CN" altLang="en-US" dirty="0"/>
              <a:t>蛋白通过其</a:t>
            </a:r>
            <a:r>
              <a:rPr lang="en-US" altLang="zh-CN" dirty="0"/>
              <a:t>DNA</a:t>
            </a:r>
            <a:r>
              <a:rPr lang="zh-CN" altLang="en-US" dirty="0"/>
              <a:t>结合域与</a:t>
            </a:r>
            <a:r>
              <a:rPr lang="en-US" altLang="zh-CN" dirty="0"/>
              <a:t>DNA</a:t>
            </a:r>
            <a:r>
              <a:rPr lang="zh-CN" altLang="en-US" dirty="0"/>
              <a:t>双链进行特异性结合。每个</a:t>
            </a:r>
            <a:r>
              <a:rPr lang="en-US" altLang="zh-CN" dirty="0" err="1"/>
              <a:t>RVD</a:t>
            </a:r>
            <a:r>
              <a:rPr lang="zh-CN" altLang="en-US" dirty="0"/>
              <a:t>仅能识别一个碱基，并且与</a:t>
            </a:r>
            <a:r>
              <a:rPr lang="en-US" altLang="zh-CN" dirty="0"/>
              <a:t>DNA</a:t>
            </a:r>
            <a:r>
              <a:rPr lang="zh-CN" altLang="en-US" dirty="0"/>
              <a:t>碱基之间存在一一对应的关系。例如，某些</a:t>
            </a:r>
            <a:r>
              <a:rPr lang="en-US" altLang="zh-CN" dirty="0" err="1"/>
              <a:t>RVD</a:t>
            </a:r>
            <a:r>
              <a:rPr lang="zh-CN" altLang="en-US" dirty="0"/>
              <a:t>组合可以识别腺嘌呤（</a:t>
            </a:r>
            <a:r>
              <a:rPr lang="en-US" altLang="zh-CN" dirty="0"/>
              <a:t>A</a:t>
            </a:r>
            <a:r>
              <a:rPr lang="zh-CN" altLang="en-US" dirty="0"/>
              <a:t>）、胸腺嘧啶（</a:t>
            </a:r>
            <a:r>
              <a:rPr lang="en-US" altLang="zh-CN" dirty="0"/>
              <a:t>T</a:t>
            </a:r>
            <a:r>
              <a:rPr lang="zh-CN" altLang="en-US" dirty="0"/>
              <a:t>）、胞嘧啶（</a:t>
            </a:r>
            <a:r>
              <a:rPr lang="en-US" altLang="zh-CN" dirty="0"/>
              <a:t>C</a:t>
            </a:r>
            <a:r>
              <a:rPr lang="zh-CN" altLang="en-US" dirty="0"/>
              <a:t>）或鸟嘌呤（</a:t>
            </a:r>
            <a:r>
              <a:rPr lang="en-US" altLang="zh-CN" dirty="0"/>
              <a:t>G</a:t>
            </a:r>
            <a:r>
              <a:rPr lang="zh-CN" altLang="en-US" dirty="0"/>
              <a:t>）。因此，通过组合不同的</a:t>
            </a:r>
            <a:r>
              <a:rPr lang="en-US" altLang="zh-CN" dirty="0" err="1"/>
              <a:t>RVD</a:t>
            </a:r>
            <a:r>
              <a:rPr lang="zh-CN" altLang="en-US" dirty="0"/>
              <a:t>，可以构建出能够识别任意</a:t>
            </a:r>
            <a:r>
              <a:rPr lang="en-US" altLang="zh-CN" dirty="0"/>
              <a:t>DNA</a:t>
            </a:r>
            <a:r>
              <a:rPr lang="zh-CN" altLang="en-US" dirty="0"/>
              <a:t>序列的</a:t>
            </a:r>
            <a:r>
              <a:rPr lang="en-US" altLang="zh-CN" dirty="0"/>
              <a:t>TALE</a:t>
            </a:r>
            <a:r>
              <a:rPr lang="zh-CN" altLang="en-US" dirty="0"/>
              <a:t>蛋白。</a:t>
            </a:r>
            <a:endParaRPr lang="en-US" altLang="zh-CN" dirty="0"/>
          </a:p>
          <a:p>
            <a:endParaRPr lang="en-US" altLang="zh-CN" dirty="0"/>
          </a:p>
          <a:p>
            <a:r>
              <a:rPr lang="en-US" altLang="zh-CN" dirty="0"/>
              <a:t>TALE</a:t>
            </a:r>
            <a:r>
              <a:rPr lang="zh-CN" altLang="en-US" dirty="0"/>
              <a:t>蛋白（</a:t>
            </a:r>
            <a:r>
              <a:rPr lang="en-US" altLang="zh-CN" dirty="0"/>
              <a:t>Transcription </a:t>
            </a:r>
            <a:r>
              <a:rPr lang="en-US" altLang="zh-CN" dirty="0" err="1"/>
              <a:t>Activ</a:t>
            </a:r>
            <a:endParaRPr lang="en-US" altLang="zh-CN" dirty="0"/>
          </a:p>
          <a:p>
            <a:r>
              <a:rPr lang="zh-CN" altLang="en-US" b="1" dirty="0"/>
              <a:t>二、</a:t>
            </a:r>
            <a:r>
              <a:rPr lang="en-US" altLang="zh-CN" b="1" dirty="0" err="1"/>
              <a:t>RVD</a:t>
            </a:r>
            <a:r>
              <a:rPr lang="zh-CN" altLang="en-US" b="1" dirty="0"/>
              <a:t>与</a:t>
            </a:r>
            <a:r>
              <a:rPr lang="en-US" altLang="zh-CN" b="1" dirty="0"/>
              <a:t>DNA</a:t>
            </a:r>
            <a:r>
              <a:rPr lang="zh-CN" altLang="en-US" b="1" dirty="0"/>
              <a:t>碱基的对应关系</a:t>
            </a:r>
          </a:p>
          <a:p>
            <a:r>
              <a:rPr lang="en-US" altLang="zh-CN" dirty="0"/>
              <a:t>TALE</a:t>
            </a:r>
            <a:r>
              <a:rPr lang="zh-CN" altLang="en-US" dirty="0"/>
              <a:t>蛋白通过</a:t>
            </a:r>
            <a:r>
              <a:rPr lang="en-US" altLang="zh-CN" dirty="0" err="1"/>
              <a:t>RVD</a:t>
            </a:r>
            <a:r>
              <a:rPr lang="zh-CN" altLang="en-US" dirty="0"/>
              <a:t>与</a:t>
            </a:r>
            <a:r>
              <a:rPr lang="en-US" altLang="zh-CN" dirty="0"/>
              <a:t>DNA</a:t>
            </a:r>
            <a:r>
              <a:rPr lang="zh-CN" altLang="en-US" dirty="0"/>
              <a:t>碱基之间的一一对应关系来识别</a:t>
            </a:r>
            <a:r>
              <a:rPr lang="en-US" altLang="zh-CN" dirty="0"/>
              <a:t>DNA</a:t>
            </a:r>
            <a:r>
              <a:rPr lang="zh-CN" altLang="en-US" dirty="0"/>
              <a:t>序列。具体来说，</a:t>
            </a:r>
            <a:r>
              <a:rPr lang="en-US" altLang="zh-CN" dirty="0" err="1"/>
              <a:t>RVD</a:t>
            </a:r>
            <a:r>
              <a:rPr lang="zh-CN" altLang="en-US" dirty="0"/>
              <a:t>与</a:t>
            </a:r>
            <a:r>
              <a:rPr lang="en-US" altLang="zh-CN" dirty="0"/>
              <a:t>DNA</a:t>
            </a:r>
            <a:r>
              <a:rPr lang="zh-CN" altLang="en-US" dirty="0"/>
              <a:t>碱基的对应关系如下：</a:t>
            </a:r>
          </a:p>
          <a:p>
            <a:pPr>
              <a:buFont typeface="Arial" panose="020B0604020202020204" pitchFamily="34" charset="0"/>
              <a:buChar char="•"/>
            </a:pPr>
            <a:r>
              <a:rPr lang="en-US" altLang="zh-CN" dirty="0"/>
              <a:t>NI</a:t>
            </a:r>
            <a:r>
              <a:rPr lang="zh-CN" altLang="en-US" dirty="0"/>
              <a:t>对应腺嘌呤（</a:t>
            </a:r>
            <a:r>
              <a:rPr lang="en-US" altLang="zh-CN" dirty="0"/>
              <a:t>A</a:t>
            </a:r>
            <a:r>
              <a:rPr lang="zh-CN" altLang="en-US" dirty="0"/>
              <a:t>）</a:t>
            </a:r>
          </a:p>
          <a:p>
            <a:pPr>
              <a:buFont typeface="Arial" panose="020B0604020202020204" pitchFamily="34" charset="0"/>
              <a:buChar char="•"/>
            </a:pPr>
            <a:r>
              <a:rPr lang="en-US" altLang="zh-CN" dirty="0"/>
              <a:t>HD</a:t>
            </a:r>
            <a:r>
              <a:rPr lang="zh-CN" altLang="en-US" dirty="0"/>
              <a:t>对应胞嘧啶（</a:t>
            </a:r>
            <a:r>
              <a:rPr lang="en-US" altLang="zh-CN" dirty="0"/>
              <a:t>C</a:t>
            </a:r>
            <a:r>
              <a:rPr lang="zh-CN" altLang="en-US" dirty="0"/>
              <a:t>）</a:t>
            </a:r>
          </a:p>
          <a:p>
            <a:pPr>
              <a:buFont typeface="Arial" panose="020B0604020202020204" pitchFamily="34" charset="0"/>
              <a:buChar char="•"/>
            </a:pPr>
            <a:r>
              <a:rPr lang="en-US" altLang="zh-CN" dirty="0"/>
              <a:t>NG</a:t>
            </a:r>
            <a:r>
              <a:rPr lang="zh-CN" altLang="en-US" dirty="0"/>
              <a:t>对应胸腺嘧啶（</a:t>
            </a:r>
            <a:r>
              <a:rPr lang="en-US" altLang="zh-CN" dirty="0"/>
              <a:t>T</a:t>
            </a:r>
            <a:r>
              <a:rPr lang="zh-CN" altLang="en-US" dirty="0"/>
              <a:t>）</a:t>
            </a:r>
          </a:p>
          <a:p>
            <a:pPr>
              <a:buFont typeface="Arial" panose="020B0604020202020204" pitchFamily="34" charset="0"/>
              <a:buChar char="•"/>
            </a:pPr>
            <a:r>
              <a:rPr lang="en-US" altLang="zh-CN" dirty="0"/>
              <a:t>NN</a:t>
            </a:r>
            <a:r>
              <a:rPr lang="zh-CN" altLang="en-US" dirty="0"/>
              <a:t>（或有时为</a:t>
            </a:r>
            <a:r>
              <a:rPr lang="en-US" altLang="zh-CN" dirty="0"/>
              <a:t>NA</a:t>
            </a:r>
            <a:r>
              <a:rPr lang="zh-CN" altLang="en-US" dirty="0"/>
              <a:t>）对应鸟嘌呤（</a:t>
            </a:r>
            <a:r>
              <a:rPr lang="en-US" altLang="zh-CN" dirty="0"/>
              <a:t>G</a:t>
            </a:r>
            <a:r>
              <a:rPr lang="zh-CN" altLang="en-US" dirty="0"/>
              <a:t>）</a:t>
            </a:r>
          </a:p>
          <a:p>
            <a:r>
              <a:rPr lang="zh-CN" altLang="en-US" dirty="0"/>
              <a:t>这种对应关系使得科学家们可以根据目标</a:t>
            </a:r>
            <a:r>
              <a:rPr lang="en-US" altLang="zh-CN" dirty="0"/>
              <a:t>DNA</a:t>
            </a:r>
            <a:r>
              <a:rPr lang="zh-CN" altLang="en-US" dirty="0"/>
              <a:t>序列设计出特定的</a:t>
            </a:r>
            <a:r>
              <a:rPr lang="en-US" altLang="zh-CN" dirty="0"/>
              <a:t>TALE</a:t>
            </a:r>
            <a:r>
              <a:rPr lang="zh-CN" altLang="en-US" dirty="0"/>
              <a:t>蛋白，从而实现对</a:t>
            </a:r>
            <a:r>
              <a:rPr lang="en-US" altLang="zh-CN" dirty="0"/>
              <a:t>DNA</a:t>
            </a:r>
            <a:r>
              <a:rPr lang="zh-CN" altLang="en-US" dirty="0"/>
              <a:t>的精确识别。</a:t>
            </a:r>
          </a:p>
          <a:p>
            <a:r>
              <a:rPr lang="zh-CN" altLang="en-US" b="1" dirty="0"/>
              <a:t>三、识别机制</a:t>
            </a:r>
          </a:p>
          <a:p>
            <a:r>
              <a:rPr lang="zh-CN" altLang="en-US" dirty="0"/>
              <a:t>当</a:t>
            </a:r>
            <a:r>
              <a:rPr lang="en-US" altLang="zh-CN" dirty="0"/>
              <a:t>TALE</a:t>
            </a:r>
            <a:r>
              <a:rPr lang="zh-CN" altLang="en-US" dirty="0"/>
              <a:t>蛋白与</a:t>
            </a:r>
            <a:r>
              <a:rPr lang="en-US" altLang="zh-CN" dirty="0"/>
              <a:t>DNA</a:t>
            </a:r>
            <a:r>
              <a:rPr lang="zh-CN" altLang="en-US" dirty="0"/>
              <a:t>结合时，其重复单元会围绕</a:t>
            </a:r>
            <a:r>
              <a:rPr lang="en-US" altLang="zh-CN" dirty="0"/>
              <a:t>DNA</a:t>
            </a:r>
            <a:r>
              <a:rPr lang="zh-CN" altLang="en-US" dirty="0"/>
              <a:t>双螺旋形成右手螺旋状排列。每个重复单元中的</a:t>
            </a:r>
            <a:r>
              <a:rPr lang="en-US" altLang="zh-CN" dirty="0" err="1"/>
              <a:t>RVD</a:t>
            </a:r>
            <a:r>
              <a:rPr lang="zh-CN" altLang="en-US" dirty="0"/>
              <a:t>会与</a:t>
            </a:r>
            <a:r>
              <a:rPr lang="en-US" altLang="zh-CN" dirty="0"/>
              <a:t>DNA</a:t>
            </a:r>
            <a:r>
              <a:rPr lang="zh-CN" altLang="en-US" dirty="0"/>
              <a:t>链上的特定碱基形成氢键或其他相互作用，从而稳定</a:t>
            </a:r>
            <a:r>
              <a:rPr lang="en-US" altLang="zh-CN" dirty="0"/>
              <a:t>TALE</a:t>
            </a:r>
            <a:r>
              <a:rPr lang="zh-CN" altLang="en-US" dirty="0"/>
              <a:t>蛋白与</a:t>
            </a:r>
            <a:r>
              <a:rPr lang="en-US" altLang="zh-CN" dirty="0"/>
              <a:t>DNA</a:t>
            </a:r>
            <a:r>
              <a:rPr lang="zh-CN" altLang="en-US" dirty="0"/>
              <a:t>的结合。由于</a:t>
            </a:r>
            <a:r>
              <a:rPr lang="en-US" altLang="zh-CN" dirty="0" err="1"/>
              <a:t>RVD</a:t>
            </a:r>
            <a:r>
              <a:rPr lang="zh-CN" altLang="en-US" dirty="0"/>
              <a:t>的特异性，</a:t>
            </a:r>
            <a:r>
              <a:rPr lang="en-US" altLang="zh-CN" dirty="0"/>
              <a:t>TALE</a:t>
            </a:r>
            <a:r>
              <a:rPr lang="zh-CN" altLang="en-US" dirty="0"/>
              <a:t>蛋白能够精确地识别并结合目标</a:t>
            </a:r>
            <a:r>
              <a:rPr lang="en-US" altLang="zh-CN" dirty="0"/>
              <a:t>DNA</a:t>
            </a:r>
            <a:r>
              <a:rPr lang="zh-CN" altLang="en-US" dirty="0"/>
              <a:t>序列。</a:t>
            </a:r>
          </a:p>
          <a:p>
            <a:r>
              <a:rPr lang="en-US" altLang="zh-CN" dirty="0" err="1"/>
              <a:t>ator</a:t>
            </a:r>
            <a:r>
              <a:rPr lang="en-US" altLang="zh-CN" dirty="0"/>
              <a:t> Like Effectors</a:t>
            </a:r>
            <a:r>
              <a:rPr lang="zh-CN" altLang="en-US" dirty="0"/>
              <a:t>）识别</a:t>
            </a:r>
            <a:r>
              <a:rPr lang="en-US" altLang="zh-CN" dirty="0"/>
              <a:t>DNA</a:t>
            </a:r>
            <a:r>
              <a:rPr lang="zh-CN" altLang="en-US" dirty="0"/>
              <a:t>的机制具有高度的特异性和灵活性，这一机制主要基于</a:t>
            </a:r>
            <a:r>
              <a:rPr lang="en-US" altLang="zh-CN" dirty="0"/>
              <a:t>TALE</a:t>
            </a:r>
            <a:r>
              <a:rPr lang="zh-CN" altLang="en-US" dirty="0"/>
              <a:t>蛋白的</a:t>
            </a:r>
            <a:r>
              <a:rPr lang="en-US" altLang="zh-CN" dirty="0"/>
              <a:t>DNA</a:t>
            </a:r>
            <a:r>
              <a:rPr lang="zh-CN" altLang="en-US" dirty="0"/>
              <a:t>结合结构域。以下是对</a:t>
            </a:r>
            <a:r>
              <a:rPr lang="en-US" altLang="zh-CN" dirty="0"/>
              <a:t>TALE</a:t>
            </a:r>
            <a:r>
              <a:rPr lang="zh-CN" altLang="en-US" dirty="0"/>
              <a:t>蛋白识别</a:t>
            </a:r>
            <a:r>
              <a:rPr lang="en-US" altLang="zh-CN" dirty="0"/>
              <a:t>DNA</a:t>
            </a:r>
            <a:r>
              <a:rPr lang="zh-CN" altLang="en-US" dirty="0"/>
              <a:t>机制的详细阐述：</a:t>
            </a:r>
          </a:p>
          <a:p>
            <a:endParaRPr lang="zh-CN" altLang="en-US" dirty="0"/>
          </a:p>
          <a:p>
            <a:endParaRPr lang="zh-CN" altLang="en-US" dirty="0"/>
          </a:p>
        </p:txBody>
      </p:sp>
    </p:spTree>
    <p:extLst>
      <p:ext uri="{BB962C8B-B14F-4D97-AF65-F5344CB8AC3E}">
        <p14:creationId xmlns:p14="http://schemas.microsoft.com/office/powerpoint/2010/main" val="39206984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79410-8B06-F26E-9ABE-20BE87078F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D3A3D5-5B05-1BB2-E4D5-87BCD8F3331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1168B8D-595F-D34C-76D6-8FADDA700E7F}"/>
              </a:ext>
            </a:extLst>
          </p:cNvPr>
          <p:cNvSpPr>
            <a:spLocks noGrp="1"/>
          </p:cNvSpPr>
          <p:nvPr>
            <p:ph type="body" idx="3"/>
          </p:nvPr>
        </p:nvSpPr>
        <p:spPr/>
        <p:txBody>
          <a:bodyPr/>
          <a:lstStyle/>
          <a:p>
            <a:r>
              <a:rPr lang="zh-CN" altLang="en-US" dirty="0"/>
              <a:t>与ZFNs一样，TALENs在形式和功能上也是模块化的，由FokⅠ切割结构域和TALE蛋白DNA结合结构域融合组成，同样利用限制性核酸内切酶FokⅠ进行基因编辑。TALE蛋白由33–35个氨基酸的重复单元组成，通过位于12位和13位的两个可变氨基酸残基识别并结合DNA序列，这两个位点的氨基酸残基称为重复可变的双氨基酸残基(repeat variable diresidue，RVD)，每个重复单元能特异性识别一个碱基对。TALENs的唯一靶向限制是对N端结构有5'T的要求，因此，通过构建不同的RVD和改变TALE的连接顺序，理论上可以使TALENs被用于几乎任何的序列。2011年TALENs技术开始用于人类细胞的基因编辑，如靶基因的敲除等。</a:t>
            </a:r>
          </a:p>
          <a:p>
            <a:endParaRPr lang="zh-CN" altLang="en-US" dirty="0"/>
          </a:p>
          <a:p>
            <a:r>
              <a:rPr lang="zh-CN" altLang="en-US" dirty="0"/>
              <a:t>与ZFNs相比，TALENs的毒性低，蛋白设计相对简单，是首个真正意义上的基因可编辑工具。但是TALENs重复序列更多，工作量巨大，此外，TALENs的体积比ZFNs大，这使得某些病毒传递系统的包装较困难，也无法用于高通量的编辑。</a:t>
            </a:r>
            <a:endParaRPr lang="en-US" altLang="zh-CN" dirty="0"/>
          </a:p>
          <a:p>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核酸酶 </a:t>
            </a:r>
            <a:r>
              <a:rPr lang="en-US" altLang="zh-CN" sz="1800" b="0" i="0" dirty="0">
                <a:solidFill>
                  <a:srgbClr val="231F20"/>
                </a:solidFill>
                <a:effectLst/>
                <a:latin typeface="TimesNewRomanPSMT"/>
              </a:rPr>
              <a:t>(TALE nuclease, TALEN) </a:t>
            </a:r>
            <a:r>
              <a:rPr lang="zh-CN" altLang="en-US" sz="1800" b="0" i="0" dirty="0">
                <a:solidFill>
                  <a:srgbClr val="231F20"/>
                </a:solidFill>
                <a:effectLst/>
                <a:latin typeface="SimSun" panose="02010600030101010101" pitchFamily="2" charset="-122"/>
                <a:ea typeface="SimSun" panose="02010600030101010101" pitchFamily="2" charset="-122"/>
              </a:rPr>
              <a:t>的构造</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类似于 </a:t>
            </a:r>
            <a:r>
              <a:rPr lang="en-US" altLang="zh-CN" sz="1800" b="0" i="0" dirty="0">
                <a:solidFill>
                  <a:srgbClr val="231F20"/>
                </a:solidFill>
                <a:effectLst/>
                <a:latin typeface="TimesNewRomanPSMT"/>
              </a:rPr>
              <a:t>ZFN</a:t>
            </a:r>
            <a:r>
              <a:rPr lang="zh-CN" altLang="en-US" sz="1800" b="0" i="0" dirty="0">
                <a:solidFill>
                  <a:srgbClr val="231F20"/>
                </a:solidFill>
                <a:effectLst/>
                <a:latin typeface="SimSun" panose="02010600030101010101" pitchFamily="2" charset="-122"/>
                <a:ea typeface="SimSun" panose="02010600030101010101" pitchFamily="2" charset="-122"/>
              </a:rPr>
              <a:t>，即将 </a:t>
            </a:r>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蛋白的 </a:t>
            </a:r>
            <a:r>
              <a:rPr lang="en-US" altLang="zh-CN" sz="1800" b="0" i="0" dirty="0">
                <a:solidFill>
                  <a:srgbClr val="231F20"/>
                </a:solidFill>
                <a:effectLst/>
                <a:latin typeface="TimesNewRomanPSMT"/>
              </a:rPr>
              <a:t>DNA </a:t>
            </a:r>
            <a:r>
              <a:rPr lang="zh-CN" altLang="en-US" sz="1800" b="0" i="0" dirty="0">
                <a:solidFill>
                  <a:srgbClr val="231F20"/>
                </a:solidFill>
                <a:effectLst/>
                <a:latin typeface="SimSun" panose="02010600030101010101" pitchFamily="2" charset="-122"/>
                <a:ea typeface="SimSun" panose="02010600030101010101" pitchFamily="2" charset="-122"/>
              </a:rPr>
              <a:t>结合结构域</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与 </a:t>
            </a:r>
            <a:r>
              <a:rPr lang="en-US" altLang="zh-CN" sz="1800" b="0" i="0" dirty="0">
                <a:solidFill>
                  <a:srgbClr val="231F20"/>
                </a:solidFill>
                <a:effectLst/>
                <a:latin typeface="TimesNewRomanPSMT"/>
              </a:rPr>
              <a:t>Fok I </a:t>
            </a:r>
            <a:r>
              <a:rPr lang="zh-CN" altLang="en-US" sz="1800" b="0" i="0" dirty="0">
                <a:solidFill>
                  <a:srgbClr val="231F20"/>
                </a:solidFill>
                <a:effectLst/>
                <a:latin typeface="SimSun" panose="02010600030101010101" pitchFamily="2" charset="-122"/>
                <a:ea typeface="SimSun" panose="02010600030101010101" pitchFamily="2" charset="-122"/>
              </a:rPr>
              <a:t>内切酶连接，从而实现在基因组特定位点</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实现靶向切割，诱导 </a:t>
            </a:r>
            <a:r>
              <a:rPr lang="en-US" altLang="zh-CN" sz="1800" b="0" i="0" dirty="0">
                <a:solidFill>
                  <a:srgbClr val="231F20"/>
                </a:solidFill>
                <a:effectLst/>
                <a:latin typeface="TimesNewRomanPSMT"/>
              </a:rPr>
              <a:t>DNA </a:t>
            </a:r>
            <a:r>
              <a:rPr lang="zh-CN" altLang="en-US" sz="1800" b="0" i="0" dirty="0">
                <a:solidFill>
                  <a:srgbClr val="231F20"/>
                </a:solidFill>
                <a:effectLst/>
                <a:latin typeface="SimSun" panose="02010600030101010101" pitchFamily="2" charset="-122"/>
                <a:ea typeface="SimSun" panose="02010600030101010101" pitchFamily="2" charset="-122"/>
              </a:rPr>
              <a:t>修复。目前， </a:t>
            </a:r>
            <a:r>
              <a:rPr lang="en-US" altLang="zh-CN" sz="1800" b="0" i="0" dirty="0">
                <a:solidFill>
                  <a:srgbClr val="231F20"/>
                </a:solidFill>
                <a:effectLst/>
                <a:latin typeface="TimesNewRomanPSMT"/>
              </a:rPr>
              <a:t>TALEN </a:t>
            </a:r>
            <a:r>
              <a:rPr lang="zh-CN" altLang="en-US" sz="1800" b="0" i="0" dirty="0">
                <a:solidFill>
                  <a:srgbClr val="231F20"/>
                </a:solidFill>
                <a:effectLst/>
                <a:latin typeface="SimSun" panose="02010600030101010101" pitchFamily="2" charset="-122"/>
                <a:ea typeface="SimSun" panose="02010600030101010101" pitchFamily="2" charset="-122"/>
              </a:rPr>
              <a:t>的</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构建也有多种方法，最常用的是 </a:t>
            </a:r>
            <a:r>
              <a:rPr lang="en-US" altLang="zh-CN" sz="1800" b="0" i="0" dirty="0">
                <a:solidFill>
                  <a:srgbClr val="231F20"/>
                </a:solidFill>
                <a:effectLst/>
                <a:latin typeface="TimesNewRomanPSMT"/>
              </a:rPr>
              <a:t>Cermak </a:t>
            </a:r>
            <a:r>
              <a:rPr lang="zh-CN" altLang="en-US" sz="1800" b="0" i="0" dirty="0">
                <a:solidFill>
                  <a:srgbClr val="231F20"/>
                </a:solidFill>
                <a:effectLst/>
                <a:latin typeface="SimSun" panose="02010600030101010101" pitchFamily="2" charset="-122"/>
                <a:ea typeface="SimSun" panose="02010600030101010101" pitchFamily="2" charset="-122"/>
              </a:rPr>
              <a:t>等 </a:t>
            </a:r>
            <a:r>
              <a:rPr lang="en-US" altLang="zh-CN" sz="1800" b="0" i="0" dirty="0">
                <a:solidFill>
                  <a:srgbClr val="231F20"/>
                </a:solidFill>
                <a:effectLst/>
                <a:latin typeface="TimesNewRomanPSMT"/>
              </a:rPr>
              <a:t>[46] </a:t>
            </a:r>
            <a:r>
              <a:rPr lang="zh-CN" altLang="en-US" sz="1800" b="0" i="0" dirty="0">
                <a:solidFill>
                  <a:srgbClr val="231F20"/>
                </a:solidFill>
                <a:effectLst/>
                <a:latin typeface="SimSun" panose="02010600030101010101" pitchFamily="2" charset="-122"/>
                <a:ea typeface="SimSun" panose="02010600030101010101" pitchFamily="2" charset="-122"/>
              </a:rPr>
              <a:t>发表</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的“ </a:t>
            </a:r>
            <a:r>
              <a:rPr lang="en-US" altLang="zh-CN" sz="1800" b="0" i="0" dirty="0">
                <a:solidFill>
                  <a:srgbClr val="231F20"/>
                </a:solidFill>
                <a:effectLst/>
                <a:latin typeface="TimesNewRomanPSMT"/>
              </a:rPr>
              <a:t>Goldengate Assembly</a:t>
            </a:r>
            <a:r>
              <a:rPr lang="en-US" altLang="zh-CN" sz="1800" b="0" i="0" dirty="0">
                <a:solidFill>
                  <a:srgbClr val="231F20"/>
                </a:solidFill>
                <a:effectLst/>
                <a:latin typeface="SimSun" panose="02010600030101010101" pitchFamily="2" charset="-122"/>
                <a:ea typeface="SimSun" panose="02010600030101010101" pitchFamily="2" charset="-122"/>
              </a:rPr>
              <a:t>”</a:t>
            </a:r>
            <a:r>
              <a:rPr lang="zh-CN" altLang="en-US" sz="1800" b="0" i="0" dirty="0">
                <a:solidFill>
                  <a:srgbClr val="231F20"/>
                </a:solidFill>
                <a:effectLst/>
                <a:latin typeface="SimSun" panose="02010600030101010101" pitchFamily="2" charset="-122"/>
                <a:ea typeface="SimSun" panose="02010600030101010101" pitchFamily="2" charset="-122"/>
              </a:rPr>
              <a:t>。其他的 </a:t>
            </a:r>
            <a:r>
              <a:rPr lang="en-US" altLang="zh-CN" sz="1800" b="0" i="0" dirty="0">
                <a:solidFill>
                  <a:srgbClr val="231F20"/>
                </a:solidFill>
                <a:effectLst/>
                <a:latin typeface="TimesNewRomanPSMT"/>
              </a:rPr>
              <a:t>TALEN </a:t>
            </a:r>
            <a:r>
              <a:rPr lang="zh-CN" altLang="en-US" sz="1800" b="0" i="0" dirty="0">
                <a:solidFill>
                  <a:srgbClr val="231F20"/>
                </a:solidFill>
                <a:effectLst/>
                <a:latin typeface="SimSun" panose="02010600030101010101" pitchFamily="2" charset="-122"/>
                <a:ea typeface="SimSun" panose="02010600030101010101" pitchFamily="2" charset="-122"/>
              </a:rPr>
              <a:t>构建方</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法多遵循同一个思路 ：首先将 </a:t>
            </a:r>
            <a:r>
              <a:rPr lang="en-US" altLang="zh-CN" sz="1800" b="0" i="0" dirty="0">
                <a:solidFill>
                  <a:srgbClr val="231F20"/>
                </a:solidFill>
                <a:effectLst/>
                <a:latin typeface="TimesNewRomanPSMT"/>
              </a:rPr>
              <a:t>4 </a:t>
            </a:r>
            <a:r>
              <a:rPr lang="zh-CN" altLang="en-US" sz="1800" b="0" i="0" dirty="0">
                <a:solidFill>
                  <a:srgbClr val="231F20"/>
                </a:solidFill>
                <a:effectLst/>
                <a:latin typeface="SimSun" panose="02010600030101010101" pitchFamily="2" charset="-122"/>
                <a:ea typeface="SimSun" panose="02010600030101010101" pitchFamily="2" charset="-122"/>
              </a:rPr>
              <a:t>种碱基对应的</a:t>
            </a:r>
            <a:br>
              <a:rPr lang="zh-CN" altLang="en-US" sz="1800" b="0" i="0" dirty="0">
                <a:solidFill>
                  <a:srgbClr val="231F20"/>
                </a:solidFill>
                <a:effectLst/>
                <a:latin typeface="SimSun" panose="02010600030101010101" pitchFamily="2" charset="-122"/>
                <a:ea typeface="SimSun" panose="02010600030101010101" pitchFamily="2" charset="-122"/>
              </a:rPr>
            </a:br>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的 </a:t>
            </a:r>
            <a:r>
              <a:rPr lang="en-US" altLang="zh-CN" sz="1800" b="0" i="0" dirty="0">
                <a:solidFill>
                  <a:srgbClr val="231F20"/>
                </a:solidFill>
                <a:effectLst/>
                <a:latin typeface="TimesNewRomanPSMT"/>
              </a:rPr>
              <a:t>DNA </a:t>
            </a:r>
            <a:r>
              <a:rPr lang="zh-CN" altLang="en-US" sz="1800" b="0" i="0" dirty="0">
                <a:solidFill>
                  <a:srgbClr val="231F20"/>
                </a:solidFill>
                <a:effectLst/>
                <a:latin typeface="SimSun" panose="02010600030101010101" pitchFamily="2" charset="-122"/>
                <a:ea typeface="SimSun" panose="02010600030101010101" pitchFamily="2" charset="-122"/>
              </a:rPr>
              <a:t>结构域序列连接到载体上，然后通</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过酶切连接将不同的单体 </a:t>
            </a:r>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组成一个阵列，最</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后 连 到 含 有 </a:t>
            </a:r>
            <a:r>
              <a:rPr lang="en-US" altLang="zh-CN" sz="1800" b="0" i="0" dirty="0">
                <a:solidFill>
                  <a:srgbClr val="231F20"/>
                </a:solidFill>
                <a:effectLst/>
                <a:latin typeface="TimesNewRomanPSMT"/>
              </a:rPr>
              <a:t>Fok I </a:t>
            </a:r>
            <a:r>
              <a:rPr lang="zh-CN" altLang="en-US" sz="1800" b="0" i="0" dirty="0">
                <a:solidFill>
                  <a:srgbClr val="231F20"/>
                </a:solidFill>
                <a:effectLst/>
                <a:latin typeface="SimSun" panose="02010600030101010101" pitchFamily="2" charset="-122"/>
                <a:ea typeface="SimSun" panose="02010600030101010101" pitchFamily="2" charset="-122"/>
              </a:rPr>
              <a:t>和 核 定 位 序 列 </a:t>
            </a:r>
            <a:r>
              <a:rPr lang="en-US" altLang="zh-CN" sz="1800" b="0" i="0" dirty="0">
                <a:solidFill>
                  <a:srgbClr val="231F20"/>
                </a:solidFill>
                <a:effectLst/>
                <a:latin typeface="TimesNewRomanPSMT"/>
              </a:rPr>
              <a:t>(nucleic locus</a:t>
            </a:r>
            <a:br>
              <a:rPr lang="en-US" altLang="zh-CN" sz="1800" b="0" i="0" dirty="0">
                <a:solidFill>
                  <a:srgbClr val="231F20"/>
                </a:solidFill>
                <a:effectLst/>
                <a:latin typeface="TimesNewRomanPSMT"/>
              </a:rPr>
            </a:br>
            <a:r>
              <a:rPr lang="en-US" altLang="zh-CN" sz="1800" b="0" i="0" dirty="0">
                <a:solidFill>
                  <a:srgbClr val="231F20"/>
                </a:solidFill>
                <a:effectLst/>
                <a:latin typeface="TimesNewRomanPSMT"/>
              </a:rPr>
              <a:t>sequence, NLS) </a:t>
            </a:r>
            <a:r>
              <a:rPr lang="zh-CN" altLang="en-US" sz="1800" b="0" i="0" dirty="0">
                <a:solidFill>
                  <a:srgbClr val="231F20"/>
                </a:solidFill>
                <a:effectLst/>
                <a:latin typeface="SimSun" panose="02010600030101010101" pitchFamily="2" charset="-122"/>
                <a:ea typeface="SimSun" panose="02010600030101010101" pitchFamily="2" charset="-122"/>
              </a:rPr>
              <a:t>的质粒中即完成了 </a:t>
            </a:r>
            <a:r>
              <a:rPr lang="en-US" altLang="zh-CN" sz="1800" b="0" i="0" dirty="0">
                <a:solidFill>
                  <a:srgbClr val="231F20"/>
                </a:solidFill>
                <a:effectLst/>
                <a:latin typeface="TimesNewRomanPSMT"/>
              </a:rPr>
              <a:t>TALEN </a:t>
            </a:r>
            <a:r>
              <a:rPr lang="zh-CN" altLang="en-US" sz="1800" b="0" i="0" dirty="0">
                <a:solidFill>
                  <a:srgbClr val="231F20"/>
                </a:solidFill>
                <a:effectLst/>
                <a:latin typeface="SimSun" panose="02010600030101010101" pitchFamily="2" charset="-122"/>
                <a:ea typeface="SimSun" panose="02010600030101010101" pitchFamily="2" charset="-122"/>
              </a:rPr>
              <a:t>的构建。</a:t>
            </a:r>
            <a:r>
              <a:rPr lang="zh-CN" altLang="en-US" dirty="0"/>
              <a:t> </a:t>
            </a:r>
            <a:br>
              <a:rPr lang="zh-CN" altLang="en-US" dirty="0"/>
            </a:br>
            <a:endParaRPr lang="zh-CN" altLang="en-US"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TALE</a:t>
            </a:r>
            <a:r>
              <a:rPr lang="zh-CN" altLang="en-US" dirty="0"/>
              <a:t>蛋白由多个部分组成，包括</a:t>
            </a:r>
            <a:r>
              <a:rPr lang="en-US" altLang="zh-CN" dirty="0"/>
              <a:t>N</a:t>
            </a:r>
            <a:r>
              <a:rPr lang="zh-CN" altLang="en-US" dirty="0"/>
              <a:t>端分泌信号、中央</a:t>
            </a:r>
            <a:r>
              <a:rPr lang="en-US" altLang="zh-CN" dirty="0"/>
              <a:t>DNA</a:t>
            </a:r>
            <a:r>
              <a:rPr lang="zh-CN" altLang="en-US" dirty="0"/>
              <a:t>结合域、核定位信号和</a:t>
            </a:r>
            <a:r>
              <a:rPr lang="en-US" altLang="zh-CN" dirty="0"/>
              <a:t>C</a:t>
            </a:r>
            <a:r>
              <a:rPr lang="zh-CN" altLang="en-US" dirty="0"/>
              <a:t>端激活域。其中，中央</a:t>
            </a:r>
            <a:r>
              <a:rPr lang="en-US" altLang="zh-CN" dirty="0"/>
              <a:t>DNA</a:t>
            </a:r>
            <a:r>
              <a:rPr lang="zh-CN" altLang="en-US" dirty="0"/>
              <a:t>结合域是</a:t>
            </a:r>
            <a:r>
              <a:rPr lang="en-US" altLang="zh-CN" dirty="0"/>
              <a:t>TALE</a:t>
            </a:r>
            <a:r>
              <a:rPr lang="zh-CN" altLang="en-US" dirty="0"/>
              <a:t>蛋白最为关键的部分，它决定了</a:t>
            </a:r>
            <a:r>
              <a:rPr lang="en-US" altLang="zh-CN" dirty="0"/>
              <a:t>TALE</a:t>
            </a:r>
            <a:r>
              <a:rPr lang="zh-CN" altLang="en-US" dirty="0"/>
              <a:t>蛋白与</a:t>
            </a:r>
            <a:r>
              <a:rPr lang="en-US" altLang="zh-CN" dirty="0"/>
              <a:t>DNA</a:t>
            </a:r>
            <a:r>
              <a:rPr lang="zh-CN" altLang="en-US" dirty="0"/>
              <a:t>的特异性结合。</a:t>
            </a:r>
            <a:endParaRPr lang="en-US" altLang="zh-CN" dirty="0"/>
          </a:p>
          <a:p>
            <a:r>
              <a:rPr lang="zh-CN" altLang="en-US" sz="1800" b="0" i="0" dirty="0">
                <a:solidFill>
                  <a:srgbClr val="231F20"/>
                </a:solidFill>
                <a:effectLst/>
                <a:latin typeface="SimSun" panose="02010600030101010101" pitchFamily="2" charset="-122"/>
                <a:ea typeface="SimSun" panose="02010600030101010101" pitchFamily="2" charset="-122"/>
              </a:rPr>
              <a:t>不同的 </a:t>
            </a:r>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蛋白其 </a:t>
            </a:r>
            <a:r>
              <a:rPr lang="en-US" altLang="zh-CN" sz="1800" b="0" i="0" dirty="0">
                <a:solidFill>
                  <a:srgbClr val="231F20"/>
                </a:solidFill>
                <a:effectLst/>
                <a:latin typeface="TimesNewRomanPSMT"/>
              </a:rPr>
              <a:t>DNA </a:t>
            </a:r>
            <a:r>
              <a:rPr lang="zh-CN" altLang="en-US" sz="1800" b="0" i="0" dirty="0">
                <a:solidFill>
                  <a:srgbClr val="231F20"/>
                </a:solidFill>
                <a:effectLst/>
                <a:latin typeface="SimSun" panose="02010600030101010101" pitchFamily="2" charset="-122"/>
                <a:ea typeface="SimSun" panose="02010600030101010101" pitchFamily="2" charset="-122"/>
              </a:rPr>
              <a:t>结构域由高度保守的重复单元组成，每个重复单元含有 </a:t>
            </a:r>
            <a:r>
              <a:rPr lang="en-US" altLang="zh-CN" sz="1800" b="0" i="0" dirty="0">
                <a:solidFill>
                  <a:srgbClr val="231F20"/>
                </a:solidFill>
                <a:effectLst/>
                <a:latin typeface="TimesNewRomanPSMT"/>
              </a:rPr>
              <a:t>33~35 </a:t>
            </a:r>
            <a:r>
              <a:rPr lang="zh-CN" altLang="en-US" sz="1800" b="0" i="0" dirty="0">
                <a:solidFill>
                  <a:srgbClr val="231F20"/>
                </a:solidFill>
                <a:effectLst/>
                <a:latin typeface="SimSun" panose="02010600030101010101" pitchFamily="2" charset="-122"/>
                <a:ea typeface="SimSun" panose="02010600030101010101" pitchFamily="2" charset="-122"/>
              </a:rPr>
              <a:t>个氨基酸，除了 </a:t>
            </a:r>
            <a:r>
              <a:rPr lang="en-US" altLang="zh-CN" sz="1800" b="0" i="0" dirty="0">
                <a:solidFill>
                  <a:srgbClr val="231F20"/>
                </a:solidFill>
                <a:effectLst/>
                <a:latin typeface="TimesNewRomanPSMT"/>
              </a:rPr>
              <a:t>12 </a:t>
            </a:r>
            <a:r>
              <a:rPr lang="zh-CN" altLang="en-US" sz="1800" b="0" i="0" dirty="0">
                <a:solidFill>
                  <a:srgbClr val="231F20"/>
                </a:solidFill>
                <a:effectLst/>
                <a:latin typeface="SimSun" panose="02010600030101010101" pitchFamily="2" charset="-122"/>
                <a:ea typeface="SimSun" panose="02010600030101010101" pitchFamily="2" charset="-122"/>
              </a:rPr>
              <a:t>和 </a:t>
            </a:r>
            <a:r>
              <a:rPr lang="en-US" altLang="zh-CN" sz="1800" b="0" i="0" dirty="0">
                <a:solidFill>
                  <a:srgbClr val="231F20"/>
                </a:solidFill>
                <a:effectLst/>
                <a:latin typeface="TimesNewRomanPSMT"/>
              </a:rPr>
              <a:t>13 </a:t>
            </a:r>
            <a:r>
              <a:rPr lang="zh-CN" altLang="en-US" sz="1800" b="0" i="0" dirty="0">
                <a:solidFill>
                  <a:srgbClr val="231F20"/>
                </a:solidFill>
                <a:effectLst/>
                <a:latin typeface="SimSun" panose="02010600030101010101" pitchFamily="2" charset="-122"/>
                <a:ea typeface="SimSun" panose="02010600030101010101" pitchFamily="2" charset="-122"/>
              </a:rPr>
              <a:t>位两个氨基酸不同外，其他氨基酸在不同 </a:t>
            </a:r>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中是高度保守的。这两个氨基酸被</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称为重复序列可变的双氨基酸残基 </a:t>
            </a:r>
            <a:r>
              <a:rPr lang="en-US" altLang="zh-CN" sz="1800" b="0" i="0" dirty="0">
                <a:solidFill>
                  <a:srgbClr val="231F20"/>
                </a:solidFill>
                <a:effectLst/>
                <a:latin typeface="TimesNewRomanPSMT"/>
              </a:rPr>
              <a:t>(repeat </a:t>
            </a:r>
            <a:r>
              <a:rPr lang="en-US" altLang="zh-CN" sz="1800" b="0" i="0" dirty="0" err="1">
                <a:solidFill>
                  <a:srgbClr val="231F20"/>
                </a:solidFill>
                <a:effectLst/>
                <a:latin typeface="TimesNewRomanPSMT"/>
              </a:rPr>
              <a:t>variablediresidues</a:t>
            </a:r>
            <a:r>
              <a:rPr lang="en-US" altLang="zh-CN" sz="1800" b="0" i="0" dirty="0">
                <a:solidFill>
                  <a:srgbClr val="231F20"/>
                </a:solidFill>
                <a:effectLst/>
                <a:latin typeface="TimesNewRomanPSMT"/>
              </a:rPr>
              <a:t>, </a:t>
            </a:r>
            <a:r>
              <a:rPr lang="en-US" altLang="zh-CN" sz="1800" b="0" i="0" dirty="0" err="1">
                <a:solidFill>
                  <a:srgbClr val="231F20"/>
                </a:solidFill>
                <a:effectLst/>
                <a:latin typeface="TimesNewRomanPSMT"/>
              </a:rPr>
              <a:t>RVD</a:t>
            </a:r>
            <a:r>
              <a:rPr lang="en-US" altLang="zh-CN" sz="1800" b="0" i="0" dirty="0">
                <a:solidFill>
                  <a:srgbClr val="231F20"/>
                </a:solidFill>
                <a:effectLst/>
                <a:latin typeface="TimesNewRomanPSMT"/>
              </a:rPr>
              <a:t>)</a:t>
            </a:r>
            <a:r>
              <a:rPr lang="zh-CN" altLang="en-US" sz="1800" b="0" i="0" dirty="0">
                <a:solidFill>
                  <a:srgbClr val="231F20"/>
                </a:solidFill>
                <a:effectLst/>
                <a:latin typeface="SimSun" panose="02010600030101010101" pitchFamily="2" charset="-122"/>
                <a:ea typeface="SimSun" panose="02010600030101010101" pitchFamily="2" charset="-122"/>
              </a:rPr>
              <a:t>，参与对 </a:t>
            </a:r>
            <a:r>
              <a:rPr lang="en-US" altLang="zh-CN" sz="1800" b="0" i="0" dirty="0">
                <a:solidFill>
                  <a:srgbClr val="231F20"/>
                </a:solidFill>
                <a:effectLst/>
                <a:latin typeface="TimesNewRomanPSMT"/>
              </a:rPr>
              <a:t>DNA </a:t>
            </a:r>
            <a:r>
              <a:rPr lang="zh-CN" altLang="en-US" sz="1800" b="0" i="0" dirty="0">
                <a:solidFill>
                  <a:srgbClr val="231F20"/>
                </a:solidFill>
                <a:effectLst/>
                <a:latin typeface="SimSun" panose="02010600030101010101" pitchFamily="2" charset="-122"/>
                <a:ea typeface="SimSun" panose="02010600030101010101" pitchFamily="2" charset="-122"/>
              </a:rPr>
              <a:t>双链上的碱基识别，每一个 </a:t>
            </a:r>
            <a:r>
              <a:rPr lang="en-US" altLang="zh-CN" sz="1800" b="0" i="0" dirty="0" err="1">
                <a:solidFill>
                  <a:srgbClr val="231F20"/>
                </a:solidFill>
                <a:effectLst/>
                <a:latin typeface="TimesNewRomanPSMT"/>
              </a:rPr>
              <a:t>RVD</a:t>
            </a:r>
            <a:r>
              <a:rPr lang="en-US" altLang="zh-CN" sz="1800" b="0" i="0" dirty="0">
                <a:solidFill>
                  <a:srgbClr val="231F20"/>
                </a:solidFill>
                <a:effectLst/>
                <a:latin typeface="TimesNewRomanPSMT"/>
              </a:rPr>
              <a:t> </a:t>
            </a:r>
            <a:r>
              <a:rPr lang="zh-CN" altLang="en-US" sz="1800" b="0" i="0" dirty="0">
                <a:solidFill>
                  <a:srgbClr val="231F20"/>
                </a:solidFill>
                <a:effectLst/>
                <a:latin typeface="SimSun" panose="02010600030101010101" pitchFamily="2" charset="-122"/>
                <a:ea typeface="SimSun" panose="02010600030101010101" pitchFamily="2" charset="-122"/>
              </a:rPr>
              <a:t>识别 </a:t>
            </a:r>
            <a:r>
              <a:rPr lang="en-US" altLang="zh-CN" sz="1800" b="0" i="0" dirty="0">
                <a:solidFill>
                  <a:srgbClr val="231F20"/>
                </a:solidFill>
                <a:effectLst/>
                <a:latin typeface="TimesNewRomanPSMT"/>
              </a:rPr>
              <a:t>4 </a:t>
            </a:r>
            <a:r>
              <a:rPr lang="zh-CN" altLang="en-US" sz="1800" b="0" i="0" dirty="0">
                <a:solidFill>
                  <a:srgbClr val="231F20"/>
                </a:solidFill>
                <a:effectLst/>
                <a:latin typeface="SimSun" panose="02010600030101010101" pitchFamily="2" charset="-122"/>
                <a:ea typeface="SimSun" panose="02010600030101010101" pitchFamily="2" charset="-122"/>
              </a:rPr>
              <a:t>种碱基中的一种或几种。虽然不同的 </a:t>
            </a:r>
            <a:r>
              <a:rPr lang="en-US" altLang="zh-CN" sz="1800" b="0" i="0" dirty="0">
                <a:solidFill>
                  <a:srgbClr val="231F20"/>
                </a:solidFill>
                <a:effectLst/>
                <a:latin typeface="TimesNewRomanPSMT"/>
              </a:rPr>
              <a:t>TALE </a:t>
            </a:r>
            <a:r>
              <a:rPr lang="zh-CN" altLang="en-US" sz="1800" b="0" i="0" dirty="0">
                <a:solidFill>
                  <a:srgbClr val="231F20"/>
                </a:solidFill>
                <a:effectLst/>
                <a:latin typeface="SimSun" panose="02010600030101010101" pitchFamily="2" charset="-122"/>
                <a:ea typeface="SimSun" panose="02010600030101010101" pitchFamily="2" charset="-122"/>
              </a:rPr>
              <a:t>蛋白具有多种 </a:t>
            </a:r>
            <a:r>
              <a:rPr lang="en-US" altLang="zh-CN" sz="1800" b="0" i="0" dirty="0" err="1">
                <a:solidFill>
                  <a:srgbClr val="231F20"/>
                </a:solidFill>
                <a:effectLst/>
                <a:latin typeface="TimesNewRomanPSMT"/>
              </a:rPr>
              <a:t>RVD</a:t>
            </a:r>
            <a:r>
              <a:rPr lang="zh-CN" altLang="en-US" sz="1800" b="0" i="0" dirty="0">
                <a:solidFill>
                  <a:srgbClr val="231F20"/>
                </a:solidFill>
                <a:effectLst/>
                <a:latin typeface="SimSun" panose="02010600030101010101" pitchFamily="2" charset="-122"/>
                <a:ea typeface="SimSun" panose="02010600030101010101" pitchFamily="2" charset="-122"/>
              </a:rPr>
              <a:t>，但目前最为广泛使用的为以下 </a:t>
            </a:r>
            <a:r>
              <a:rPr lang="en-US" altLang="zh-CN" sz="1800" b="0" i="0" dirty="0">
                <a:solidFill>
                  <a:srgbClr val="231F20"/>
                </a:solidFill>
                <a:effectLst/>
                <a:latin typeface="TimesNewRomanPSMT"/>
              </a:rPr>
              <a:t>5 </a:t>
            </a:r>
            <a:r>
              <a:rPr lang="zh-CN" altLang="en-US" sz="1800" b="0" i="0" dirty="0">
                <a:solidFill>
                  <a:srgbClr val="231F20"/>
                </a:solidFill>
                <a:effectLst/>
                <a:latin typeface="SimSun" panose="02010600030101010101" pitchFamily="2" charset="-122"/>
                <a:ea typeface="SimSun" panose="02010600030101010101" pitchFamily="2" charset="-122"/>
              </a:rPr>
              <a:t>种 </a:t>
            </a:r>
            <a:r>
              <a:rPr lang="en-US" altLang="zh-CN" sz="1800" b="0" i="0" dirty="0" err="1">
                <a:solidFill>
                  <a:srgbClr val="231F20"/>
                </a:solidFill>
                <a:effectLst/>
                <a:latin typeface="TimesNewRomanPSMT"/>
              </a:rPr>
              <a:t>RVD</a:t>
            </a:r>
            <a:r>
              <a:rPr lang="en-US" altLang="zh-CN" sz="1800" b="0" i="0" dirty="0">
                <a:solidFill>
                  <a:srgbClr val="231F20"/>
                </a:solidFill>
                <a:effectLst/>
                <a:latin typeface="TimesNewRomanPSMT"/>
              </a:rPr>
              <a:t>( </a:t>
            </a:r>
            <a:r>
              <a:rPr lang="zh-CN" altLang="en-US" sz="1800" b="0" i="0" dirty="0">
                <a:solidFill>
                  <a:srgbClr val="231F20"/>
                </a:solidFill>
                <a:effectLst/>
                <a:latin typeface="SimSun" panose="02010600030101010101" pitchFamily="2" charset="-122"/>
                <a:ea typeface="SimSun" panose="02010600030101010101" pitchFamily="2" charset="-122"/>
              </a:rPr>
              <a:t>表 </a:t>
            </a:r>
            <a:r>
              <a:rPr lang="en-US" altLang="zh-CN" sz="1800" b="0" i="0" dirty="0">
                <a:solidFill>
                  <a:srgbClr val="231F20"/>
                </a:solidFill>
                <a:effectLst/>
                <a:latin typeface="TimesNewRomanPSMT"/>
              </a:rPr>
              <a:t>1)</a:t>
            </a:r>
            <a:r>
              <a:rPr lang="zh-CN" altLang="en-US" sz="1800" b="0" i="0" dirty="0">
                <a:solidFill>
                  <a:srgbClr val="231F20"/>
                </a:solidFill>
                <a:effectLst/>
                <a:latin typeface="SimSun" panose="02010600030101010101" pitchFamily="2" charset="-122"/>
                <a:ea typeface="SimSun" panose="02010600030101010101" pitchFamily="2" charset="-122"/>
              </a:rPr>
              <a:t>。</a:t>
            </a:r>
            <a:r>
              <a:rPr lang="zh-CN" altLang="en-US" dirty="0"/>
              <a:t> </a:t>
            </a:r>
            <a:br>
              <a:rPr lang="zh-CN" altLang="en-US" dirty="0"/>
            </a:br>
            <a:endParaRPr lang="en-US" altLang="zh-CN" dirty="0"/>
          </a:p>
          <a:p>
            <a:endParaRPr lang="en-US" altLang="zh-CN" dirty="0"/>
          </a:p>
          <a:p>
            <a:r>
              <a:rPr lang="zh-CN" altLang="en-US" dirty="0"/>
              <a:t>串联重复序列一般由</a:t>
            </a:r>
            <a:r>
              <a:rPr lang="en-US" altLang="zh-CN" dirty="0"/>
              <a:t>34</a:t>
            </a:r>
            <a:r>
              <a:rPr lang="zh-CN" altLang="en-US" dirty="0"/>
              <a:t>个氨基酸重复单元组成，具有高度的保守性。其中</a:t>
            </a:r>
            <a:r>
              <a:rPr lang="en-US" altLang="zh-CN" dirty="0"/>
              <a:t>12</a:t>
            </a:r>
            <a:r>
              <a:rPr lang="zh-CN" altLang="en-US" dirty="0"/>
              <a:t>、</a:t>
            </a:r>
            <a:r>
              <a:rPr lang="en-US" altLang="zh-CN" dirty="0"/>
              <a:t>13</a:t>
            </a:r>
            <a:r>
              <a:rPr lang="zh-CN" altLang="en-US" dirty="0"/>
              <a:t>位的氨基酸具有高度可变性，为可变氨基酸（</a:t>
            </a:r>
            <a:r>
              <a:rPr lang="en-US" altLang="zh-CN" dirty="0" err="1"/>
              <a:t>RVD</a:t>
            </a:r>
            <a:r>
              <a:rPr lang="en-US" altLang="zh-CN" dirty="0"/>
              <a:t>)</a:t>
            </a:r>
            <a:r>
              <a:rPr lang="zh-CN" altLang="en-US" dirty="0"/>
              <a:t>，</a:t>
            </a:r>
            <a:r>
              <a:rPr lang="en-US" altLang="zh-CN" dirty="0" err="1"/>
              <a:t>RVD</a:t>
            </a:r>
            <a:r>
              <a:rPr lang="zh-CN" altLang="en-US" dirty="0"/>
              <a:t>可以识别四种不同的碱基。每一个重复序列对应识别一个核苷酸，如图</a:t>
            </a:r>
            <a:r>
              <a:rPr lang="en-US" altLang="zh-CN" dirty="0"/>
              <a:t>2</a:t>
            </a:r>
            <a:r>
              <a:rPr lang="zh-CN" altLang="en-US" dirty="0"/>
              <a:t>所示。</a:t>
            </a:r>
            <a:r>
              <a:rPr lang="en-US" altLang="zh-CN" dirty="0"/>
              <a:t>C</a:t>
            </a:r>
            <a:r>
              <a:rPr lang="zh-CN" altLang="en-US" dirty="0"/>
              <a:t>端的第一个重复序列只有前二十个氨基酸与其他重复单元相同，称为半重复性。</a:t>
            </a:r>
            <a:endParaRPr lang="en-US" altLang="zh-CN" dirty="0"/>
          </a:p>
          <a:p>
            <a:endParaRPr lang="en-US" altLang="zh-CN" dirty="0"/>
          </a:p>
          <a:p>
            <a:r>
              <a:rPr lang="zh-CN" altLang="en-US" dirty="0"/>
              <a:t>因为</a:t>
            </a:r>
            <a:r>
              <a:rPr lang="en-US" altLang="zh-CN" dirty="0"/>
              <a:t>TALE</a:t>
            </a:r>
            <a:r>
              <a:rPr lang="zh-CN" altLang="en-US" dirty="0"/>
              <a:t>具有特异性识别</a:t>
            </a:r>
            <a:r>
              <a:rPr lang="en-US" altLang="zh-CN" dirty="0"/>
              <a:t>DNA</a:t>
            </a:r>
            <a:r>
              <a:rPr lang="zh-CN" altLang="en-US" dirty="0"/>
              <a:t>序列的能力，类似于锌指蛋白核酸酶（</a:t>
            </a:r>
            <a:r>
              <a:rPr lang="en-US" altLang="zh-CN" dirty="0" err="1"/>
              <a:t>ZFNs</a:t>
            </a:r>
            <a:r>
              <a:rPr lang="zh-CN" altLang="en-US" dirty="0"/>
              <a:t>）。因此将</a:t>
            </a:r>
            <a:r>
              <a:rPr lang="en-US" altLang="zh-CN" dirty="0"/>
              <a:t>TALE</a:t>
            </a:r>
            <a:r>
              <a:rPr lang="zh-CN" altLang="en-US" dirty="0"/>
              <a:t>蛋白中特异性识别区域与</a:t>
            </a:r>
            <a:r>
              <a:rPr lang="en-US" altLang="zh-CN" dirty="0" err="1"/>
              <a:t>FokⅠ</a:t>
            </a:r>
            <a:r>
              <a:rPr lang="zh-CN" altLang="en-US" dirty="0"/>
              <a:t>核酸酶偶联即可构建新的</a:t>
            </a:r>
            <a:r>
              <a:rPr lang="en-US" altLang="zh-CN" dirty="0"/>
              <a:t>DNA</a:t>
            </a:r>
            <a:r>
              <a:rPr lang="zh-CN" altLang="en-US" dirty="0"/>
              <a:t>编辑工具，称为</a:t>
            </a:r>
            <a:r>
              <a:rPr lang="en-US" altLang="zh-CN" dirty="0" err="1"/>
              <a:t>TALENs</a:t>
            </a:r>
            <a:r>
              <a:rPr lang="zh-CN" altLang="en-US" dirty="0"/>
              <a:t>。由于</a:t>
            </a:r>
            <a:r>
              <a:rPr lang="en-US" altLang="zh-CN" dirty="0" err="1"/>
              <a:t>FokⅠ</a:t>
            </a:r>
            <a:r>
              <a:rPr lang="zh-CN" altLang="en-US" dirty="0"/>
              <a:t>核酸酶需要二聚才能发挥作用，</a:t>
            </a:r>
            <a:r>
              <a:rPr lang="en-US" altLang="zh-CN" dirty="0" err="1"/>
              <a:t>TALENs</a:t>
            </a:r>
            <a:r>
              <a:rPr lang="zh-CN" altLang="en-US" dirty="0"/>
              <a:t>也需要成对作用以切断目标</a:t>
            </a:r>
            <a:r>
              <a:rPr lang="en-US" altLang="zh-CN" dirty="0"/>
              <a:t>DNA</a:t>
            </a:r>
            <a:r>
              <a:rPr lang="zh-CN" altLang="en-US" dirty="0"/>
              <a:t>位点</a:t>
            </a:r>
            <a:endParaRPr lang="en-US" altLang="zh-CN" dirty="0"/>
          </a:p>
          <a:p>
            <a:endParaRPr lang="en-US" altLang="zh-CN" dirty="0"/>
          </a:p>
          <a:p>
            <a:r>
              <a:rPr lang="zh-CN" altLang="en-US" b="1" dirty="0"/>
              <a:t>二、识别机制</a:t>
            </a:r>
          </a:p>
          <a:p>
            <a:r>
              <a:rPr lang="en-US" altLang="zh-CN" dirty="0"/>
              <a:t>TALE</a:t>
            </a:r>
            <a:r>
              <a:rPr lang="zh-CN" altLang="en-US" dirty="0"/>
              <a:t>蛋白通过其</a:t>
            </a:r>
            <a:r>
              <a:rPr lang="en-US" altLang="zh-CN" dirty="0"/>
              <a:t>DNA</a:t>
            </a:r>
            <a:r>
              <a:rPr lang="zh-CN" altLang="en-US" dirty="0"/>
              <a:t>结合域与</a:t>
            </a:r>
            <a:r>
              <a:rPr lang="en-US" altLang="zh-CN" dirty="0"/>
              <a:t>DNA</a:t>
            </a:r>
            <a:r>
              <a:rPr lang="zh-CN" altLang="en-US" dirty="0"/>
              <a:t>双链进行特异性结合。每个</a:t>
            </a:r>
            <a:r>
              <a:rPr lang="en-US" altLang="zh-CN" dirty="0" err="1"/>
              <a:t>RVD</a:t>
            </a:r>
            <a:r>
              <a:rPr lang="zh-CN" altLang="en-US" dirty="0"/>
              <a:t>仅能识别一个碱基，并且与</a:t>
            </a:r>
            <a:r>
              <a:rPr lang="en-US" altLang="zh-CN" dirty="0"/>
              <a:t>DNA</a:t>
            </a:r>
            <a:r>
              <a:rPr lang="zh-CN" altLang="en-US" dirty="0"/>
              <a:t>碱基之间存在一一对应的关系。例如，某些</a:t>
            </a:r>
            <a:r>
              <a:rPr lang="en-US" altLang="zh-CN" dirty="0" err="1"/>
              <a:t>RVD</a:t>
            </a:r>
            <a:r>
              <a:rPr lang="zh-CN" altLang="en-US" dirty="0"/>
              <a:t>组合可以识别腺嘌呤（</a:t>
            </a:r>
            <a:r>
              <a:rPr lang="en-US" altLang="zh-CN" dirty="0"/>
              <a:t>A</a:t>
            </a:r>
            <a:r>
              <a:rPr lang="zh-CN" altLang="en-US" dirty="0"/>
              <a:t>）、胸腺嘧啶（</a:t>
            </a:r>
            <a:r>
              <a:rPr lang="en-US" altLang="zh-CN" dirty="0"/>
              <a:t>T</a:t>
            </a:r>
            <a:r>
              <a:rPr lang="zh-CN" altLang="en-US" dirty="0"/>
              <a:t>）、胞嘧啶（</a:t>
            </a:r>
            <a:r>
              <a:rPr lang="en-US" altLang="zh-CN" dirty="0"/>
              <a:t>C</a:t>
            </a:r>
            <a:r>
              <a:rPr lang="zh-CN" altLang="en-US" dirty="0"/>
              <a:t>）或鸟嘌呤（</a:t>
            </a:r>
            <a:r>
              <a:rPr lang="en-US" altLang="zh-CN" dirty="0"/>
              <a:t>G</a:t>
            </a:r>
            <a:r>
              <a:rPr lang="zh-CN" altLang="en-US" dirty="0"/>
              <a:t>）。因此，通过组合不同的</a:t>
            </a:r>
            <a:r>
              <a:rPr lang="en-US" altLang="zh-CN" dirty="0" err="1"/>
              <a:t>RVD</a:t>
            </a:r>
            <a:r>
              <a:rPr lang="zh-CN" altLang="en-US" dirty="0"/>
              <a:t>，可以构建出能够识别任意</a:t>
            </a:r>
            <a:r>
              <a:rPr lang="en-US" altLang="zh-CN" dirty="0"/>
              <a:t>DNA</a:t>
            </a:r>
            <a:r>
              <a:rPr lang="zh-CN" altLang="en-US" dirty="0"/>
              <a:t>序列的</a:t>
            </a:r>
            <a:r>
              <a:rPr lang="en-US" altLang="zh-CN" dirty="0"/>
              <a:t>TALE</a:t>
            </a:r>
            <a:r>
              <a:rPr lang="zh-CN" altLang="en-US" dirty="0"/>
              <a:t>蛋白。</a:t>
            </a:r>
          </a:p>
          <a:p>
            <a:endParaRPr lang="zh-CN" altLang="en-US" dirty="0"/>
          </a:p>
        </p:txBody>
      </p:sp>
    </p:spTree>
    <p:extLst>
      <p:ext uri="{BB962C8B-B14F-4D97-AF65-F5344CB8AC3E}">
        <p14:creationId xmlns:p14="http://schemas.microsoft.com/office/powerpoint/2010/main" val="19136515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mj-lt"/>
              <a:buAutoNum type="arabicPeriod"/>
            </a:pPr>
            <a:r>
              <a:rPr lang="en-US" altLang="zh-CN" b="1" dirty="0"/>
              <a:t>https://</a:t>
            </a:r>
            <a:r>
              <a:rPr lang="en-US" altLang="zh-CN" b="1" dirty="0" err="1"/>
              <a:t>www.thermofisher.cn</a:t>
            </a:r>
            <a:r>
              <a:rPr lang="en-US" altLang="zh-CN" b="1" dirty="0"/>
              <a:t>/</a:t>
            </a:r>
            <a:r>
              <a:rPr lang="en-US" altLang="zh-CN" b="1" dirty="0" err="1"/>
              <a:t>cn</a:t>
            </a:r>
            <a:r>
              <a:rPr lang="en-US" altLang="zh-CN" b="1" dirty="0"/>
              <a:t>/</a:t>
            </a:r>
            <a:r>
              <a:rPr lang="en-US" altLang="zh-CN" b="1" dirty="0" err="1"/>
              <a:t>zh</a:t>
            </a:r>
            <a:r>
              <a:rPr lang="en-US" altLang="zh-CN" b="1" dirty="0"/>
              <a:t>/home/life-science/genome-editing/genome-editing-learning-center/designer-</a:t>
            </a:r>
            <a:r>
              <a:rPr lang="en-US" altLang="zh-CN" b="1" dirty="0" err="1"/>
              <a:t>talen</a:t>
            </a:r>
            <a:r>
              <a:rPr lang="en-US" altLang="zh-CN" b="1" dirty="0"/>
              <a:t>-technology-</a:t>
            </a:r>
            <a:r>
              <a:rPr lang="en-US" altLang="zh-CN" b="1" dirty="0" err="1"/>
              <a:t>information.html</a:t>
            </a:r>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44</a:t>
            </a:fld>
            <a:endParaRPr lang="zh-CN" altLang="en-US"/>
          </a:p>
        </p:txBody>
      </p:sp>
    </p:spTree>
    <p:extLst>
      <p:ext uri="{BB962C8B-B14F-4D97-AF65-F5344CB8AC3E}">
        <p14:creationId xmlns:p14="http://schemas.microsoft.com/office/powerpoint/2010/main" val="20680238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C5488-59BB-B812-6625-6DAE97ED0A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0B80212-2DEB-7167-ABE0-B5AF39C09EB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C2C520E7-4C63-33B6-9664-D8AD090F24DA}"/>
              </a:ext>
            </a:extLst>
          </p:cNvPr>
          <p:cNvSpPr>
            <a:spLocks noGrp="1"/>
          </p:cNvSpPr>
          <p:nvPr>
            <p:ph type="body" idx="3"/>
          </p:nvPr>
        </p:nvSpPr>
        <p:spPr/>
        <p:txBody>
          <a:bodyPr/>
          <a:lstStyle/>
          <a:p>
            <a:r>
              <a:rPr lang="zh-CN" altLang="en-US" dirty="0">
                <a:sym typeface="+mn-ea"/>
              </a:rPr>
              <a:t>但是蛋白设计复杂，费时费力，并且无法实现对任意靶基因的结合，也无法实现高通量的基因编辑。作为新型基因编辑工具，ZFNs从1996年问世，在2001年开始被陆续用于不同物种的基因编辑。</a:t>
            </a:r>
          </a:p>
          <a:p>
            <a:endParaRPr lang="zh-CN" altLang="en-US" dirty="0">
              <a:sym typeface="+mn-ea"/>
            </a:endParaRPr>
          </a:p>
          <a:p>
            <a:r>
              <a:rPr lang="en-US" altLang="zh-CN" dirty="0">
                <a:effectLst/>
                <a:latin typeface="PingFang SC"/>
                <a:sym typeface="+mn-ea"/>
              </a:rPr>
              <a:t>ZFN</a:t>
            </a:r>
            <a:r>
              <a:rPr lang="zh-CN" altLang="en-US" dirty="0">
                <a:effectLst/>
                <a:latin typeface="PingFang SC"/>
                <a:sym typeface="+mn-ea"/>
              </a:rPr>
              <a:t>的切割域与</a:t>
            </a:r>
            <a:r>
              <a:rPr lang="en-US" altLang="zh-CN" dirty="0">
                <a:effectLst/>
                <a:latin typeface="PingFang SC"/>
                <a:sym typeface="+mn-ea"/>
              </a:rPr>
              <a:t>DNA</a:t>
            </a:r>
            <a:r>
              <a:rPr lang="zh-CN" altLang="en-US" dirty="0">
                <a:effectLst/>
                <a:latin typeface="PingFang SC"/>
                <a:sym typeface="+mn-ea"/>
              </a:rPr>
              <a:t>结合域通过连接区（</a:t>
            </a:r>
            <a:r>
              <a:rPr lang="en-US" altLang="zh-CN" dirty="0">
                <a:effectLst/>
                <a:latin typeface="PingFang SC"/>
                <a:sym typeface="+mn-ea"/>
              </a:rPr>
              <a:t>linker</a:t>
            </a:r>
            <a:r>
              <a:rPr lang="zh-CN" altLang="en-US" dirty="0">
                <a:effectLst/>
                <a:latin typeface="PingFang SC"/>
                <a:sym typeface="+mn-ea"/>
              </a:rPr>
              <a:t>）结合。在</a:t>
            </a:r>
            <a:r>
              <a:rPr lang="en-US" altLang="zh-CN" dirty="0">
                <a:effectLst/>
                <a:latin typeface="PingFang SC"/>
                <a:sym typeface="+mn-ea"/>
              </a:rPr>
              <a:t>ZFN</a:t>
            </a:r>
            <a:r>
              <a:rPr lang="zh-CN" altLang="en-US" dirty="0">
                <a:effectLst/>
                <a:latin typeface="PingFang SC"/>
                <a:sym typeface="+mn-ea"/>
              </a:rPr>
              <a:t>中应用最广泛的</a:t>
            </a:r>
            <a:r>
              <a:rPr lang="en-US" altLang="zh-CN" dirty="0">
                <a:effectLst/>
                <a:latin typeface="PingFang SC"/>
                <a:sym typeface="+mn-ea"/>
              </a:rPr>
              <a:t>DNA</a:t>
            </a:r>
            <a:r>
              <a:rPr lang="zh-CN" altLang="en-US" dirty="0">
                <a:effectLst/>
                <a:latin typeface="PingFang SC"/>
                <a:sym typeface="+mn-ea"/>
              </a:rPr>
              <a:t>切割域来自</a:t>
            </a:r>
            <a:r>
              <a:rPr lang="en-US" altLang="zh-CN" dirty="0">
                <a:effectLst/>
                <a:latin typeface="PingFang SC"/>
                <a:sym typeface="+mn-ea"/>
              </a:rPr>
              <a:t>IIS</a:t>
            </a:r>
            <a:r>
              <a:rPr lang="zh-CN" altLang="en-US" dirty="0">
                <a:effectLst/>
                <a:latin typeface="PingFang SC"/>
                <a:sym typeface="+mn-ea"/>
              </a:rPr>
              <a:t>型限制性内切酶</a:t>
            </a:r>
            <a:r>
              <a:rPr lang="en-US" altLang="zh-CN" dirty="0" err="1">
                <a:effectLst/>
                <a:latin typeface="PingFang SC"/>
                <a:sym typeface="+mn-ea"/>
              </a:rPr>
              <a:t>FokI</a:t>
            </a:r>
            <a:r>
              <a:rPr lang="zh-CN" altLang="en-US" dirty="0">
                <a:effectLst/>
                <a:latin typeface="PingFang SC"/>
                <a:sym typeface="+mn-ea"/>
              </a:rPr>
              <a:t>。由于切割域与</a:t>
            </a:r>
            <a:r>
              <a:rPr lang="en-US" altLang="zh-CN" dirty="0">
                <a:effectLst/>
                <a:latin typeface="PingFang SC"/>
                <a:sym typeface="+mn-ea"/>
              </a:rPr>
              <a:t>DNA</a:t>
            </a:r>
            <a:r>
              <a:rPr lang="zh-CN" altLang="en-US" dirty="0">
                <a:effectLst/>
                <a:latin typeface="PingFang SC"/>
                <a:sym typeface="+mn-ea"/>
              </a:rPr>
              <a:t>链的结合能力较弱，因此</a:t>
            </a:r>
            <a:r>
              <a:rPr lang="en-US" altLang="zh-CN" dirty="0">
                <a:effectLst/>
                <a:latin typeface="PingFang SC"/>
                <a:sym typeface="+mn-ea"/>
              </a:rPr>
              <a:t>DNA</a:t>
            </a:r>
            <a:r>
              <a:rPr lang="zh-CN" altLang="en-US" dirty="0">
                <a:effectLst/>
                <a:latin typeface="PingFang SC"/>
                <a:sym typeface="+mn-ea"/>
              </a:rPr>
              <a:t>切割域必须以二聚体的形式发挥作用。构建锌指核酸酶时，应针对</a:t>
            </a:r>
            <a:r>
              <a:rPr lang="en-US" altLang="zh-CN" dirty="0">
                <a:effectLst/>
                <a:latin typeface="PingFang SC"/>
                <a:sym typeface="+mn-ea"/>
              </a:rPr>
              <a:t>DNA</a:t>
            </a:r>
            <a:r>
              <a:rPr lang="zh-CN" altLang="en-US" dirty="0">
                <a:effectLst/>
                <a:latin typeface="PingFang SC"/>
                <a:sym typeface="+mn-ea"/>
              </a:rPr>
              <a:t>各链上的邻近区域设计两条</a:t>
            </a:r>
            <a:r>
              <a:rPr lang="en-US" altLang="zh-CN" dirty="0">
                <a:effectLst/>
                <a:latin typeface="PingFang SC"/>
                <a:sym typeface="+mn-ea"/>
              </a:rPr>
              <a:t>ZFN</a:t>
            </a:r>
            <a:r>
              <a:rPr lang="zh-CN" altLang="en-US" dirty="0">
                <a:effectLst/>
                <a:latin typeface="PingFang SC"/>
                <a:sym typeface="+mn-ea"/>
              </a:rPr>
              <a:t>，使其</a:t>
            </a:r>
            <a:r>
              <a:rPr lang="en-US" altLang="zh-CN" dirty="0">
                <a:effectLst/>
                <a:latin typeface="PingFang SC"/>
                <a:sym typeface="+mn-ea"/>
              </a:rPr>
              <a:t>DNA</a:t>
            </a:r>
            <a:r>
              <a:rPr lang="zh-CN" altLang="en-US" dirty="0">
                <a:effectLst/>
                <a:latin typeface="PingFang SC"/>
                <a:sym typeface="+mn-ea"/>
              </a:rPr>
              <a:t>切割域能够位于双链的同一位置，以达到最佳的切割效果。两条</a:t>
            </a:r>
            <a:r>
              <a:rPr lang="en-US" altLang="zh-CN" dirty="0">
                <a:effectLst/>
                <a:latin typeface="PingFang SC"/>
                <a:sym typeface="+mn-ea"/>
              </a:rPr>
              <a:t>ZFN</a:t>
            </a:r>
            <a:r>
              <a:rPr lang="zh-CN" altLang="en-US" dirty="0">
                <a:effectLst/>
                <a:latin typeface="PingFang SC"/>
                <a:sym typeface="+mn-ea"/>
              </a:rPr>
              <a:t>之间具有被称为“间隔区”的</a:t>
            </a:r>
            <a:r>
              <a:rPr lang="en-US" altLang="zh-CN" dirty="0">
                <a:effectLst/>
                <a:latin typeface="PingFang SC"/>
                <a:sym typeface="+mn-ea"/>
              </a:rPr>
              <a:t>spacer</a:t>
            </a:r>
            <a:r>
              <a:rPr lang="zh-CN" altLang="en-US" dirty="0">
                <a:effectLst/>
                <a:latin typeface="PingFang SC"/>
                <a:sym typeface="+mn-ea"/>
              </a:rPr>
              <a:t>结构，该结构的长度以</a:t>
            </a:r>
            <a:r>
              <a:rPr lang="en-US" altLang="zh-CN" dirty="0">
                <a:effectLst/>
                <a:latin typeface="PingFang SC"/>
                <a:sym typeface="+mn-ea"/>
              </a:rPr>
              <a:t>5</a:t>
            </a:r>
            <a:r>
              <a:rPr lang="zh-CN" altLang="en-US" dirty="0">
                <a:effectLst/>
                <a:latin typeface="PingFang SC"/>
                <a:sym typeface="+mn-ea"/>
              </a:rPr>
              <a:t>～</a:t>
            </a:r>
            <a:r>
              <a:rPr lang="en-US" altLang="zh-CN" dirty="0" err="1">
                <a:effectLst/>
                <a:latin typeface="PingFang SC"/>
                <a:sym typeface="+mn-ea"/>
              </a:rPr>
              <a:t>6bp</a:t>
            </a:r>
            <a:r>
              <a:rPr lang="zh-CN" altLang="en-US" dirty="0">
                <a:effectLst/>
                <a:latin typeface="PingFang SC"/>
                <a:sym typeface="+mn-ea"/>
              </a:rPr>
              <a:t>为宜，</a:t>
            </a:r>
            <a:r>
              <a:rPr lang="en-US" altLang="zh-CN" dirty="0" err="1">
                <a:effectLst/>
                <a:latin typeface="PingFang SC"/>
                <a:sym typeface="+mn-ea"/>
              </a:rPr>
              <a:t>7bp</a:t>
            </a:r>
            <a:r>
              <a:rPr lang="zh-CN" altLang="en-US" dirty="0">
                <a:effectLst/>
                <a:latin typeface="PingFang SC"/>
                <a:sym typeface="+mn-ea"/>
              </a:rPr>
              <a:t>也能正常工作，合理的“间隔区”设计才能保证</a:t>
            </a:r>
            <a:r>
              <a:rPr lang="en-US" altLang="zh-CN" dirty="0">
                <a:effectLst/>
                <a:latin typeface="PingFang SC"/>
                <a:sym typeface="+mn-ea"/>
              </a:rPr>
              <a:t>ZFN</a:t>
            </a:r>
            <a:r>
              <a:rPr lang="zh-CN" altLang="en-US" dirty="0">
                <a:effectLst/>
                <a:latin typeface="PingFang SC"/>
                <a:sym typeface="+mn-ea"/>
              </a:rPr>
              <a:t>二聚体拥有最佳的工作空间（图</a:t>
            </a:r>
            <a:r>
              <a:rPr lang="en-US" altLang="zh-CN" dirty="0">
                <a:effectLst/>
                <a:latin typeface="PingFang SC"/>
                <a:sym typeface="+mn-ea"/>
              </a:rPr>
              <a:t>7</a:t>
            </a:r>
            <a:r>
              <a:rPr lang="zh-CN" altLang="en-US" dirty="0">
                <a:effectLst/>
                <a:latin typeface="PingFang SC"/>
                <a:sym typeface="+mn-ea"/>
              </a:rPr>
              <a:t>）。</a:t>
            </a:r>
            <a:endParaRPr lang="en-US" altLang="zh-CN" b="0" i="0" dirty="0">
              <a:effectLst/>
              <a:latin typeface="PingFang SC"/>
            </a:endParaRPr>
          </a:p>
          <a:p>
            <a:endParaRPr lang="en-US" altLang="zh-CN" b="0" i="0" dirty="0">
              <a:effectLst/>
              <a:latin typeface="PingFang SC"/>
            </a:endParaRPr>
          </a:p>
          <a:p>
            <a:endParaRPr lang="zh-CN" altLang="en-US" dirty="0"/>
          </a:p>
          <a:p>
            <a:endParaRPr lang="zh-CN" altLang="en-US" dirty="0"/>
          </a:p>
        </p:txBody>
      </p:sp>
    </p:spTree>
    <p:extLst>
      <p:ext uri="{BB962C8B-B14F-4D97-AF65-F5344CB8AC3E}">
        <p14:creationId xmlns:p14="http://schemas.microsoft.com/office/powerpoint/2010/main" val="18687417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5D2A5-BD90-3D5F-6C1A-6C3F9F9B72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24BBF6-1CEF-3495-71FF-E543C92E93C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AEA12556-0356-E71A-4361-9E5F0AE4DC43}"/>
              </a:ext>
            </a:extLst>
          </p:cNvPr>
          <p:cNvSpPr>
            <a:spLocks noGrp="1"/>
          </p:cNvSpPr>
          <p:nvPr>
            <p:ph type="body" idx="3"/>
          </p:nvPr>
        </p:nvSpPr>
        <p:spPr/>
        <p:txBody>
          <a:bodyPr/>
          <a:lstStyle/>
          <a:p>
            <a:r>
              <a:rPr lang="zh-CN" altLang="en-US" dirty="0">
                <a:sym typeface="+mn-ea"/>
              </a:rPr>
              <a:t>但是蛋白设计复杂，费时费力，并且无法实现对任意靶基因的结合，也无法实现高通量的基因编辑。作为新型基因编辑工具，ZFNs从1996年问世，在2001年开始被陆续用于不同物种的基因编辑。</a:t>
            </a:r>
          </a:p>
          <a:p>
            <a:endParaRPr lang="zh-CN" altLang="en-US" dirty="0">
              <a:sym typeface="+mn-ea"/>
            </a:endParaRPr>
          </a:p>
          <a:p>
            <a:r>
              <a:rPr lang="en-US" altLang="zh-CN" dirty="0">
                <a:effectLst/>
                <a:latin typeface="PingFang SC"/>
                <a:sym typeface="+mn-ea"/>
              </a:rPr>
              <a:t>ZFN</a:t>
            </a:r>
            <a:r>
              <a:rPr lang="zh-CN" altLang="en-US" dirty="0">
                <a:effectLst/>
                <a:latin typeface="PingFang SC"/>
                <a:sym typeface="+mn-ea"/>
              </a:rPr>
              <a:t>的切割域与</a:t>
            </a:r>
            <a:r>
              <a:rPr lang="en-US" altLang="zh-CN" dirty="0">
                <a:effectLst/>
                <a:latin typeface="PingFang SC"/>
                <a:sym typeface="+mn-ea"/>
              </a:rPr>
              <a:t>DNA</a:t>
            </a:r>
            <a:r>
              <a:rPr lang="zh-CN" altLang="en-US" dirty="0">
                <a:effectLst/>
                <a:latin typeface="PingFang SC"/>
                <a:sym typeface="+mn-ea"/>
              </a:rPr>
              <a:t>结合域通过连接区（</a:t>
            </a:r>
            <a:r>
              <a:rPr lang="en-US" altLang="zh-CN" dirty="0">
                <a:effectLst/>
                <a:latin typeface="PingFang SC"/>
                <a:sym typeface="+mn-ea"/>
              </a:rPr>
              <a:t>linker</a:t>
            </a:r>
            <a:r>
              <a:rPr lang="zh-CN" altLang="en-US" dirty="0">
                <a:effectLst/>
                <a:latin typeface="PingFang SC"/>
                <a:sym typeface="+mn-ea"/>
              </a:rPr>
              <a:t>）结合。在</a:t>
            </a:r>
            <a:r>
              <a:rPr lang="en-US" altLang="zh-CN" dirty="0">
                <a:effectLst/>
                <a:latin typeface="PingFang SC"/>
                <a:sym typeface="+mn-ea"/>
              </a:rPr>
              <a:t>ZFN</a:t>
            </a:r>
            <a:r>
              <a:rPr lang="zh-CN" altLang="en-US" dirty="0">
                <a:effectLst/>
                <a:latin typeface="PingFang SC"/>
                <a:sym typeface="+mn-ea"/>
              </a:rPr>
              <a:t>中应用最广泛的</a:t>
            </a:r>
            <a:r>
              <a:rPr lang="en-US" altLang="zh-CN" dirty="0">
                <a:effectLst/>
                <a:latin typeface="PingFang SC"/>
                <a:sym typeface="+mn-ea"/>
              </a:rPr>
              <a:t>DNA</a:t>
            </a:r>
            <a:r>
              <a:rPr lang="zh-CN" altLang="en-US" dirty="0">
                <a:effectLst/>
                <a:latin typeface="PingFang SC"/>
                <a:sym typeface="+mn-ea"/>
              </a:rPr>
              <a:t>切割域来自</a:t>
            </a:r>
            <a:r>
              <a:rPr lang="en-US" altLang="zh-CN" dirty="0">
                <a:effectLst/>
                <a:latin typeface="PingFang SC"/>
                <a:sym typeface="+mn-ea"/>
              </a:rPr>
              <a:t>IIS</a:t>
            </a:r>
            <a:r>
              <a:rPr lang="zh-CN" altLang="en-US" dirty="0">
                <a:effectLst/>
                <a:latin typeface="PingFang SC"/>
                <a:sym typeface="+mn-ea"/>
              </a:rPr>
              <a:t>型限制性内切酶</a:t>
            </a:r>
            <a:r>
              <a:rPr lang="en-US" altLang="zh-CN" dirty="0" err="1">
                <a:effectLst/>
                <a:latin typeface="PingFang SC"/>
                <a:sym typeface="+mn-ea"/>
              </a:rPr>
              <a:t>FokI</a:t>
            </a:r>
            <a:r>
              <a:rPr lang="zh-CN" altLang="en-US" dirty="0">
                <a:effectLst/>
                <a:latin typeface="PingFang SC"/>
                <a:sym typeface="+mn-ea"/>
              </a:rPr>
              <a:t>。由于切割域与</a:t>
            </a:r>
            <a:r>
              <a:rPr lang="en-US" altLang="zh-CN" dirty="0">
                <a:effectLst/>
                <a:latin typeface="PingFang SC"/>
                <a:sym typeface="+mn-ea"/>
              </a:rPr>
              <a:t>DNA</a:t>
            </a:r>
            <a:r>
              <a:rPr lang="zh-CN" altLang="en-US" dirty="0">
                <a:effectLst/>
                <a:latin typeface="PingFang SC"/>
                <a:sym typeface="+mn-ea"/>
              </a:rPr>
              <a:t>链的结合能力较弱，因此</a:t>
            </a:r>
            <a:r>
              <a:rPr lang="en-US" altLang="zh-CN" dirty="0">
                <a:effectLst/>
                <a:latin typeface="PingFang SC"/>
                <a:sym typeface="+mn-ea"/>
              </a:rPr>
              <a:t>DNA</a:t>
            </a:r>
            <a:r>
              <a:rPr lang="zh-CN" altLang="en-US" dirty="0">
                <a:effectLst/>
                <a:latin typeface="PingFang SC"/>
                <a:sym typeface="+mn-ea"/>
              </a:rPr>
              <a:t>切割域必须以二聚体的形式发挥作用。构建锌指核酸酶时，应针对</a:t>
            </a:r>
            <a:r>
              <a:rPr lang="en-US" altLang="zh-CN" dirty="0">
                <a:effectLst/>
                <a:latin typeface="PingFang SC"/>
                <a:sym typeface="+mn-ea"/>
              </a:rPr>
              <a:t>DNA</a:t>
            </a:r>
            <a:r>
              <a:rPr lang="zh-CN" altLang="en-US" dirty="0">
                <a:effectLst/>
                <a:latin typeface="PingFang SC"/>
                <a:sym typeface="+mn-ea"/>
              </a:rPr>
              <a:t>各链上的邻近区域设计两条</a:t>
            </a:r>
            <a:r>
              <a:rPr lang="en-US" altLang="zh-CN" dirty="0">
                <a:effectLst/>
                <a:latin typeface="PingFang SC"/>
                <a:sym typeface="+mn-ea"/>
              </a:rPr>
              <a:t>ZFN</a:t>
            </a:r>
            <a:r>
              <a:rPr lang="zh-CN" altLang="en-US" dirty="0">
                <a:effectLst/>
                <a:latin typeface="PingFang SC"/>
                <a:sym typeface="+mn-ea"/>
              </a:rPr>
              <a:t>，使其</a:t>
            </a:r>
            <a:r>
              <a:rPr lang="en-US" altLang="zh-CN" dirty="0">
                <a:effectLst/>
                <a:latin typeface="PingFang SC"/>
                <a:sym typeface="+mn-ea"/>
              </a:rPr>
              <a:t>DNA</a:t>
            </a:r>
            <a:r>
              <a:rPr lang="zh-CN" altLang="en-US" dirty="0">
                <a:effectLst/>
                <a:latin typeface="PingFang SC"/>
                <a:sym typeface="+mn-ea"/>
              </a:rPr>
              <a:t>切割域能够位于双链的同一位置，以达到最佳的切割效果。两条</a:t>
            </a:r>
            <a:r>
              <a:rPr lang="en-US" altLang="zh-CN" dirty="0">
                <a:effectLst/>
                <a:latin typeface="PingFang SC"/>
                <a:sym typeface="+mn-ea"/>
              </a:rPr>
              <a:t>ZFN</a:t>
            </a:r>
            <a:r>
              <a:rPr lang="zh-CN" altLang="en-US" dirty="0">
                <a:effectLst/>
                <a:latin typeface="PingFang SC"/>
                <a:sym typeface="+mn-ea"/>
              </a:rPr>
              <a:t>之间具有被称为“间隔区”的</a:t>
            </a:r>
            <a:r>
              <a:rPr lang="en-US" altLang="zh-CN" dirty="0">
                <a:effectLst/>
                <a:latin typeface="PingFang SC"/>
                <a:sym typeface="+mn-ea"/>
              </a:rPr>
              <a:t>spacer</a:t>
            </a:r>
            <a:r>
              <a:rPr lang="zh-CN" altLang="en-US" dirty="0">
                <a:effectLst/>
                <a:latin typeface="PingFang SC"/>
                <a:sym typeface="+mn-ea"/>
              </a:rPr>
              <a:t>结构，该结构的长度以</a:t>
            </a:r>
            <a:r>
              <a:rPr lang="en-US" altLang="zh-CN" dirty="0">
                <a:effectLst/>
                <a:latin typeface="PingFang SC"/>
                <a:sym typeface="+mn-ea"/>
              </a:rPr>
              <a:t>5</a:t>
            </a:r>
            <a:r>
              <a:rPr lang="zh-CN" altLang="en-US" dirty="0">
                <a:effectLst/>
                <a:latin typeface="PingFang SC"/>
                <a:sym typeface="+mn-ea"/>
              </a:rPr>
              <a:t>～</a:t>
            </a:r>
            <a:r>
              <a:rPr lang="en-US" altLang="zh-CN" dirty="0" err="1">
                <a:effectLst/>
                <a:latin typeface="PingFang SC"/>
                <a:sym typeface="+mn-ea"/>
              </a:rPr>
              <a:t>6bp</a:t>
            </a:r>
            <a:r>
              <a:rPr lang="zh-CN" altLang="en-US" dirty="0">
                <a:effectLst/>
                <a:latin typeface="PingFang SC"/>
                <a:sym typeface="+mn-ea"/>
              </a:rPr>
              <a:t>为宜，</a:t>
            </a:r>
            <a:r>
              <a:rPr lang="en-US" altLang="zh-CN" dirty="0" err="1">
                <a:effectLst/>
                <a:latin typeface="PingFang SC"/>
                <a:sym typeface="+mn-ea"/>
              </a:rPr>
              <a:t>7bp</a:t>
            </a:r>
            <a:r>
              <a:rPr lang="zh-CN" altLang="en-US" dirty="0">
                <a:effectLst/>
                <a:latin typeface="PingFang SC"/>
                <a:sym typeface="+mn-ea"/>
              </a:rPr>
              <a:t>也能正常工作，合理的“间隔区”设计才能保证</a:t>
            </a:r>
            <a:r>
              <a:rPr lang="en-US" altLang="zh-CN" dirty="0">
                <a:effectLst/>
                <a:latin typeface="PingFang SC"/>
                <a:sym typeface="+mn-ea"/>
              </a:rPr>
              <a:t>ZFN</a:t>
            </a:r>
            <a:r>
              <a:rPr lang="zh-CN" altLang="en-US" dirty="0">
                <a:effectLst/>
                <a:latin typeface="PingFang SC"/>
                <a:sym typeface="+mn-ea"/>
              </a:rPr>
              <a:t>二聚体拥有最佳的工作空间（图</a:t>
            </a:r>
            <a:r>
              <a:rPr lang="en-US" altLang="zh-CN" dirty="0">
                <a:effectLst/>
                <a:latin typeface="PingFang SC"/>
                <a:sym typeface="+mn-ea"/>
              </a:rPr>
              <a:t>7</a:t>
            </a:r>
            <a:r>
              <a:rPr lang="zh-CN" altLang="en-US" dirty="0">
                <a:effectLst/>
                <a:latin typeface="PingFang SC"/>
                <a:sym typeface="+mn-ea"/>
              </a:rPr>
              <a:t>）。</a:t>
            </a:r>
            <a:endParaRPr lang="en-US" altLang="zh-CN" b="0" i="0" dirty="0">
              <a:effectLst/>
              <a:latin typeface="PingFang SC"/>
            </a:endParaRPr>
          </a:p>
          <a:p>
            <a:endParaRPr lang="en-US" altLang="zh-CN" b="0" i="0" dirty="0">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但 </a:t>
            </a:r>
            <a:r>
              <a:rPr lang="en-US" altLang="zh-CN" sz="1200" dirty="0"/>
              <a:t>ZFN </a:t>
            </a:r>
            <a:r>
              <a:rPr lang="zh-CN" altLang="en-US" sz="1200" dirty="0"/>
              <a:t>的构建耗时耗力， 且构建费用较高，而且现在尚不能针对任意靶点设 计相应的 </a:t>
            </a:r>
            <a:r>
              <a:rPr lang="en-US" altLang="zh-CN" sz="1200" dirty="0"/>
              <a:t>ZFN </a:t>
            </a:r>
            <a:r>
              <a:rPr lang="zh-CN" altLang="en-US" sz="1200" dirty="0"/>
              <a:t>实现特异切割 </a:t>
            </a:r>
            <a:r>
              <a:rPr lang="en-US" altLang="zh-CN" sz="1200" dirty="0"/>
              <a:t>[40]</a:t>
            </a:r>
            <a:r>
              <a:rPr lang="zh-CN" altLang="en-US" sz="1200" dirty="0"/>
              <a:t>。另外，</a:t>
            </a:r>
            <a:r>
              <a:rPr lang="en-US" altLang="zh-CN" sz="1200" dirty="0"/>
              <a:t>ZFN </a:t>
            </a:r>
            <a:r>
              <a:rPr lang="zh-CN" altLang="en-US" sz="1200" dirty="0"/>
              <a:t>存在 一定的脱靶效应，也限制了 </a:t>
            </a:r>
            <a:r>
              <a:rPr lang="en-US" altLang="zh-CN" sz="1200" dirty="0"/>
              <a:t>ZFN </a:t>
            </a:r>
            <a:r>
              <a:rPr lang="zh-CN" altLang="en-US" sz="1200" dirty="0"/>
              <a:t>的广泛应用</a:t>
            </a:r>
            <a:endParaRPr lang="en-US" altLang="zh-CN" sz="1200" dirty="0"/>
          </a:p>
          <a:p>
            <a:r>
              <a:rPr lang="zh-CN" altLang="en-US" sz="1200" dirty="0"/>
              <a:t>但由于不同锌指在连接后常常无法维持各自原有的特异性，因此，合成一段识别 18 个碱基的锌指链</a:t>
            </a:r>
          </a:p>
          <a:p>
            <a:r>
              <a:rPr lang="zh-CN" altLang="en-US" sz="1200" dirty="0"/>
              <a:t>往往需要进行锌指文库的大规模筛选。同时，并非</a:t>
            </a:r>
          </a:p>
          <a:p>
            <a:r>
              <a:rPr lang="zh-CN" altLang="en-US" sz="1200" dirty="0"/>
              <a:t>所有的目标序列都能找到高效特异的锌指蛋白，因</a:t>
            </a:r>
          </a:p>
          <a:p>
            <a:r>
              <a:rPr lang="zh-CN" altLang="en-US" sz="1200" dirty="0"/>
              <a:t>此，在目标位点的选择上有一定限制。</a:t>
            </a:r>
          </a:p>
          <a:p>
            <a:r>
              <a:rPr lang="zh-CN" altLang="en-US" dirty="0"/>
              <a:t>锌指核酸酶技术也存在一定的局限性，如锌指中各个锌指蛋白可以相互作用，影响识别和结合特定核苷酸序列，导致在多个锌脂蛋白串联成组时可能会错误地切割到两个目的片段之间的片段，该上下文依赖效应将可能导致潜在的脱靶效应。锌指酶识别的目标序列长度是一定的，一些小基因和同源性高的基因可能无法被锌指核酸酶技术有效敲除，大片段基因也难以通过锌指酶技术敲入。此外，锌指核酸酶的装配过程非模块化，锌脂蛋白合成时间长，在大肠杆菌中组装困难，成本高、专利壁垒等一系列问题限制锌指核酸酶技术广泛应用。</a:t>
            </a:r>
            <a:endParaRPr lang="en-US" altLang="zh-CN" dirty="0"/>
          </a:p>
          <a:p>
            <a:endParaRPr lang="en-US" altLang="zh-CN" dirty="0"/>
          </a:p>
          <a:p>
            <a:r>
              <a:rPr lang="zh-CN" altLang="en-US" sz="1800" b="0" i="0" dirty="0">
                <a:solidFill>
                  <a:srgbClr val="231F20"/>
                </a:solidFill>
                <a:effectLst/>
                <a:latin typeface="SimSun" panose="02010600030101010101" pitchFamily="2" charset="-122"/>
                <a:ea typeface="SimSun" panose="02010600030101010101" pitchFamily="2" charset="-122"/>
              </a:rPr>
              <a:t>但由于不同锌指在连接后常常无法维持各自原有的特异性，因此，合成一段识别 </a:t>
            </a:r>
            <a:r>
              <a:rPr lang="en-US" altLang="zh-CN" sz="1800" b="0" i="0" dirty="0">
                <a:solidFill>
                  <a:srgbClr val="231F20"/>
                </a:solidFill>
                <a:effectLst/>
                <a:latin typeface="TimesNewRomanPSMT"/>
              </a:rPr>
              <a:t>18 </a:t>
            </a:r>
            <a:r>
              <a:rPr lang="zh-CN" altLang="en-US" sz="1800" b="0" i="0" dirty="0">
                <a:solidFill>
                  <a:srgbClr val="231F20"/>
                </a:solidFill>
                <a:effectLst/>
                <a:latin typeface="SimSun" panose="02010600030101010101" pitchFamily="2" charset="-122"/>
                <a:ea typeface="SimSun" panose="02010600030101010101" pitchFamily="2" charset="-122"/>
              </a:rPr>
              <a:t>个碱基的锌指链</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往往需要进行锌指文库的大规模筛选。同时，并非</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所有的目标序列都能找到高效特异的锌指蛋白，因</a:t>
            </a:r>
            <a:br>
              <a:rPr lang="zh-CN" altLang="en-US" sz="1800" b="0" i="0" dirty="0">
                <a:solidFill>
                  <a:srgbClr val="231F20"/>
                </a:solidFill>
                <a:effectLst/>
                <a:latin typeface="SimSun" panose="02010600030101010101" pitchFamily="2" charset="-122"/>
                <a:ea typeface="SimSun" panose="02010600030101010101" pitchFamily="2" charset="-122"/>
              </a:rPr>
            </a:br>
            <a:r>
              <a:rPr lang="zh-CN" altLang="en-US" sz="1800" b="0" i="0" dirty="0">
                <a:solidFill>
                  <a:srgbClr val="231F20"/>
                </a:solidFill>
                <a:effectLst/>
                <a:latin typeface="SimSun" panose="02010600030101010101" pitchFamily="2" charset="-122"/>
                <a:ea typeface="SimSun" panose="02010600030101010101" pitchFamily="2" charset="-122"/>
              </a:rPr>
              <a:t>此，在目标位点的选择上有一定限制。</a:t>
            </a:r>
            <a:r>
              <a:rPr lang="zh-CN" altLang="en-US" dirty="0"/>
              <a:t> </a:t>
            </a:r>
            <a:br>
              <a:rPr lang="zh-CN" altLang="en-US" dirty="0"/>
            </a:br>
            <a:br>
              <a:rPr lang="zh-CN" altLang="en-US" dirty="0"/>
            </a:br>
            <a:endParaRPr lang="zh-CN" altLang="en-US" dirty="0"/>
          </a:p>
          <a:p>
            <a:endParaRPr lang="en-US" altLang="zh-CN" b="0" i="0" dirty="0">
              <a:effectLst/>
              <a:latin typeface="PingFang SC"/>
            </a:endParaRPr>
          </a:p>
          <a:p>
            <a:endParaRPr lang="zh-CN" altLang="en-US" dirty="0"/>
          </a:p>
          <a:p>
            <a:endParaRPr lang="zh-CN" altLang="en-US" dirty="0"/>
          </a:p>
        </p:txBody>
      </p:sp>
    </p:spTree>
    <p:extLst>
      <p:ext uri="{BB962C8B-B14F-4D97-AF65-F5344CB8AC3E}">
        <p14:creationId xmlns:p14="http://schemas.microsoft.com/office/powerpoint/2010/main" val="15437867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47</a:t>
            </a:fld>
            <a:endParaRPr lang="zh-CN" altLang="en-US"/>
          </a:p>
        </p:txBody>
      </p:sp>
    </p:spTree>
    <p:extLst>
      <p:ext uri="{BB962C8B-B14F-4D97-AF65-F5344CB8AC3E}">
        <p14:creationId xmlns:p14="http://schemas.microsoft.com/office/powerpoint/2010/main" val="1635435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二、优缺点</a:t>
            </a:r>
          </a:p>
          <a:p>
            <a:pPr>
              <a:buFont typeface="+mj-lt"/>
              <a:buAutoNum type="arabicPeriod"/>
            </a:pPr>
            <a:r>
              <a:rPr lang="en-US" altLang="zh-CN" b="1" dirty="0"/>
              <a:t>ZFN</a:t>
            </a:r>
            <a:r>
              <a:rPr lang="zh-CN" altLang="en-US" b="1" dirty="0"/>
              <a:t>技术</a:t>
            </a:r>
            <a:r>
              <a:rPr lang="zh-CN" altLang="en-US" dirty="0"/>
              <a:t>：</a:t>
            </a:r>
          </a:p>
          <a:p>
            <a:pPr marL="742950" lvl="1" indent="-285750">
              <a:buFont typeface="+mj-lt"/>
              <a:buAutoNum type="arabicPeriod"/>
            </a:pPr>
            <a:r>
              <a:rPr lang="zh-CN" altLang="en-US" b="1" dirty="0"/>
              <a:t>优点</a:t>
            </a:r>
            <a:r>
              <a:rPr lang="zh-CN" altLang="en-US" dirty="0"/>
              <a:t>： </a:t>
            </a:r>
          </a:p>
          <a:p>
            <a:pPr marL="1143000" lvl="2" indent="-228600">
              <a:buFont typeface="+mj-lt"/>
              <a:buAutoNum type="arabicPeriod"/>
            </a:pPr>
            <a:r>
              <a:rPr lang="zh-CN" altLang="en-US" dirty="0"/>
              <a:t>高效：</a:t>
            </a:r>
            <a:r>
              <a:rPr lang="en-US" altLang="zh-CN" dirty="0"/>
              <a:t>ZFN</a:t>
            </a:r>
            <a:r>
              <a:rPr lang="zh-CN" altLang="en-US" dirty="0"/>
              <a:t>技术的编辑效率较高，可以在较短的时间内实现理想的编辑效果。</a:t>
            </a:r>
          </a:p>
          <a:p>
            <a:pPr marL="1143000" lvl="2" indent="-228600">
              <a:buFont typeface="+mj-lt"/>
              <a:buAutoNum type="arabicPeriod"/>
            </a:pPr>
            <a:r>
              <a:rPr lang="zh-CN" altLang="en-US" dirty="0"/>
              <a:t>精确：通过设计锌指蛋白与</a:t>
            </a:r>
            <a:r>
              <a:rPr lang="en-US" altLang="zh-CN" dirty="0"/>
              <a:t>DNA</a:t>
            </a:r>
            <a:r>
              <a:rPr lang="zh-CN" altLang="en-US" dirty="0"/>
              <a:t>结合的序列，</a:t>
            </a:r>
            <a:r>
              <a:rPr lang="en-US" altLang="zh-CN" dirty="0"/>
              <a:t>ZFN</a:t>
            </a:r>
            <a:r>
              <a:rPr lang="zh-CN" altLang="en-US" dirty="0"/>
              <a:t>技术可以实现对特定基因的精确编辑。</a:t>
            </a:r>
          </a:p>
          <a:p>
            <a:pPr marL="742950" lvl="1" indent="-285750">
              <a:buFont typeface="+mj-lt"/>
              <a:buAutoNum type="arabicPeriod"/>
            </a:pPr>
            <a:r>
              <a:rPr lang="zh-CN" altLang="en-US" b="1" dirty="0"/>
              <a:t>缺点</a:t>
            </a:r>
            <a:r>
              <a:rPr lang="zh-CN" altLang="en-US" dirty="0"/>
              <a:t>： </a:t>
            </a:r>
          </a:p>
          <a:p>
            <a:pPr marL="1143000" lvl="2" indent="-228600">
              <a:buFont typeface="+mj-lt"/>
              <a:buAutoNum type="arabicPeriod"/>
            </a:pPr>
            <a:r>
              <a:rPr lang="zh-CN" altLang="en-US" dirty="0"/>
              <a:t>设计复杂：</a:t>
            </a:r>
            <a:r>
              <a:rPr lang="en-US" altLang="zh-CN" dirty="0"/>
              <a:t>ZFN</a:t>
            </a:r>
            <a:r>
              <a:rPr lang="zh-CN" altLang="en-US" dirty="0"/>
              <a:t>技术的设计需要考虑到锌指蛋白与</a:t>
            </a:r>
            <a:r>
              <a:rPr lang="en-US" altLang="zh-CN" dirty="0"/>
              <a:t>DNA</a:t>
            </a:r>
            <a:r>
              <a:rPr lang="zh-CN" altLang="en-US" dirty="0"/>
              <a:t>结合序列的选择和设计，相对复杂且昂贵。</a:t>
            </a:r>
          </a:p>
          <a:p>
            <a:pPr marL="1143000" lvl="2" indent="-228600">
              <a:buFont typeface="+mj-lt"/>
              <a:buAutoNum type="arabicPeriod"/>
            </a:pPr>
            <a:r>
              <a:rPr lang="zh-CN" altLang="en-US" dirty="0"/>
              <a:t>潜在毒性：</a:t>
            </a:r>
            <a:r>
              <a:rPr lang="en-US" altLang="zh-CN" dirty="0"/>
              <a:t>ZFN</a:t>
            </a:r>
            <a:r>
              <a:rPr lang="zh-CN" altLang="en-US" dirty="0"/>
              <a:t>技术在一些细胞中可能会引起细胞毒性反应，需要谨慎使用。</a:t>
            </a:r>
          </a:p>
          <a:p>
            <a:pPr>
              <a:buFont typeface="+mj-lt"/>
              <a:buAutoNum type="arabicPeriod"/>
            </a:pPr>
            <a:r>
              <a:rPr lang="en-US" altLang="zh-CN" b="1" dirty="0"/>
              <a:t>TALEN</a:t>
            </a:r>
            <a:r>
              <a:rPr lang="zh-CN" altLang="en-US" b="1" dirty="0"/>
              <a:t>技术</a:t>
            </a:r>
            <a:r>
              <a:rPr lang="zh-CN" altLang="en-US" dirty="0"/>
              <a:t>：</a:t>
            </a:r>
          </a:p>
          <a:p>
            <a:pPr marL="742950" lvl="1" indent="-285750">
              <a:buFont typeface="+mj-lt"/>
              <a:buAutoNum type="arabicPeriod"/>
            </a:pPr>
            <a:r>
              <a:rPr lang="zh-CN" altLang="en-US" b="1" dirty="0"/>
              <a:t>优点</a:t>
            </a:r>
            <a:r>
              <a:rPr lang="zh-CN" altLang="en-US" dirty="0"/>
              <a:t>： </a:t>
            </a:r>
          </a:p>
          <a:p>
            <a:pPr marL="1143000" lvl="2" indent="-228600">
              <a:buFont typeface="+mj-lt"/>
              <a:buAutoNum type="arabicPeriod"/>
            </a:pPr>
            <a:r>
              <a:rPr lang="zh-CN" altLang="en-US" dirty="0"/>
              <a:t>特异性高：</a:t>
            </a:r>
            <a:r>
              <a:rPr lang="en-US" altLang="zh-CN" dirty="0"/>
              <a:t>TALEN</a:t>
            </a:r>
            <a:r>
              <a:rPr lang="zh-CN" altLang="en-US" dirty="0"/>
              <a:t>技术能够通过设计不同的核酸序列，实现对特定基因的编辑，具有较高的特异性。</a:t>
            </a:r>
          </a:p>
          <a:p>
            <a:pPr marL="1143000" lvl="2" indent="-228600">
              <a:buFont typeface="+mj-lt"/>
              <a:buAutoNum type="arabicPeriod"/>
            </a:pPr>
            <a:r>
              <a:rPr lang="zh-CN" altLang="en-US" dirty="0"/>
              <a:t>灵便性：</a:t>
            </a:r>
            <a:r>
              <a:rPr lang="en-US" altLang="zh-CN" dirty="0"/>
              <a:t>TALEN</a:t>
            </a:r>
            <a:r>
              <a:rPr lang="zh-CN" altLang="en-US" dirty="0"/>
              <a:t>技术可以根据需要设计不同的</a:t>
            </a:r>
            <a:r>
              <a:rPr lang="en-US" altLang="zh-CN" dirty="0"/>
              <a:t>DNA</a:t>
            </a:r>
            <a:r>
              <a:rPr lang="zh-CN" altLang="en-US" dirty="0"/>
              <a:t>结合结构域，以适应不同的基因编辑需求。</a:t>
            </a:r>
          </a:p>
          <a:p>
            <a:pPr marL="1143000" lvl="2" indent="-228600">
              <a:buFont typeface="+mj-lt"/>
              <a:buAutoNum type="arabicPeriod"/>
            </a:pPr>
            <a:r>
              <a:rPr lang="zh-CN" altLang="en-US" dirty="0"/>
              <a:t>相对容易实施：相比较其他基因编辑技术，</a:t>
            </a:r>
            <a:r>
              <a:rPr lang="en-US" altLang="zh-CN" dirty="0"/>
              <a:t>TALEN</a:t>
            </a:r>
            <a:r>
              <a:rPr lang="zh-CN" altLang="en-US" dirty="0"/>
              <a:t>技术的实施相对容易，不需要复杂的设备和技术。</a:t>
            </a:r>
          </a:p>
          <a:p>
            <a:pPr marL="742950" lvl="1" indent="-285750">
              <a:buFont typeface="+mj-lt"/>
              <a:buAutoNum type="arabicPeriod"/>
            </a:pPr>
            <a:r>
              <a:rPr lang="zh-CN" altLang="en-US" b="1" dirty="0"/>
              <a:t>缺点</a:t>
            </a:r>
            <a:r>
              <a:rPr lang="zh-CN" altLang="en-US" dirty="0"/>
              <a:t>： </a:t>
            </a:r>
          </a:p>
          <a:p>
            <a:pPr marL="1143000" lvl="2" indent="-228600">
              <a:buFont typeface="+mj-lt"/>
              <a:buAutoNum type="arabicPeriod"/>
            </a:pPr>
            <a:r>
              <a:rPr lang="zh-CN" altLang="en-US" dirty="0"/>
              <a:t>设计复杂：虽然不如</a:t>
            </a:r>
            <a:r>
              <a:rPr lang="en-US" altLang="zh-CN" dirty="0"/>
              <a:t>ZFN</a:t>
            </a:r>
            <a:r>
              <a:rPr lang="zh-CN" altLang="en-US" dirty="0"/>
              <a:t>技术复杂，但</a:t>
            </a:r>
            <a:r>
              <a:rPr lang="en-US" altLang="zh-CN" dirty="0"/>
              <a:t>TALEN</a:t>
            </a:r>
            <a:r>
              <a:rPr lang="zh-CN" altLang="en-US" dirty="0"/>
              <a:t>技术的设计也需要考虑到多个因素，如核酸序列的选择、结合结构域的设计等。</a:t>
            </a:r>
          </a:p>
          <a:p>
            <a:pPr marL="1143000" lvl="2" indent="-228600">
              <a:buFont typeface="+mj-lt"/>
              <a:buAutoNum type="arabicPeriod"/>
            </a:pPr>
            <a:r>
              <a:rPr lang="zh-CN" altLang="en-US" dirty="0"/>
              <a:t>效率较低：相比较其他基因编辑技术，</a:t>
            </a:r>
            <a:r>
              <a:rPr lang="en-US" altLang="zh-CN" dirty="0"/>
              <a:t>TALEN</a:t>
            </a:r>
            <a:r>
              <a:rPr lang="zh-CN" altLang="en-US" dirty="0"/>
              <a:t>技术的编辑效率较低，可能需要进行多轮转染才能达到理想的编辑效果。</a:t>
            </a:r>
          </a:p>
          <a:p>
            <a:endParaRPr lang="zh-CN" altLang="en-US" dirty="0"/>
          </a:p>
        </p:txBody>
      </p:sp>
      <p:sp>
        <p:nvSpPr>
          <p:cNvPr id="4" name="灯片编号占位符 3"/>
          <p:cNvSpPr>
            <a:spLocks noGrp="1"/>
          </p:cNvSpPr>
          <p:nvPr>
            <p:ph type="sldNum" sz="quarter" idx="5"/>
          </p:nvPr>
        </p:nvSpPr>
        <p:spPr/>
        <p:txBody>
          <a:bodyPr/>
          <a:lstStyle/>
          <a:p>
            <a:fld id="{B8B7A263-E924-4581-B58B-5F45429A0ECA}" type="slidenum">
              <a:rPr lang="zh-CN" altLang="en-US" smtClean="0"/>
              <a:t>48</a:t>
            </a:fld>
            <a:endParaRPr lang="zh-CN" altLang="en-US"/>
          </a:p>
        </p:txBody>
      </p:sp>
    </p:spTree>
    <p:extLst>
      <p:ext uri="{BB962C8B-B14F-4D97-AF65-F5344CB8AC3E}">
        <p14:creationId xmlns:p14="http://schemas.microsoft.com/office/powerpoint/2010/main" val="33390510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79BEF-8D18-E908-6D7A-D000A413BA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AEBE1F5-EF91-2565-4C78-8B20DC4A2F9D}"/>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DD25143-3F61-0F43-96A2-69CFA24135ED}"/>
              </a:ext>
            </a:extLst>
          </p:cNvPr>
          <p:cNvSpPr>
            <a:spLocks noGrp="1"/>
          </p:cNvSpPr>
          <p:nvPr>
            <p:ph type="body" idx="3"/>
          </p:nvPr>
        </p:nvSpPr>
        <p:spPr/>
        <p:txBody>
          <a:bodyPr/>
          <a:lstStyle/>
          <a:p>
            <a:pPr algn="just"/>
            <a:r>
              <a:rPr lang="zh-CN" altLang="en-US" dirty="0">
                <a:effectLst/>
                <a:sym typeface="+mn-ea"/>
              </a:rPr>
              <a:t>大范围核酸酶（</a:t>
            </a:r>
            <a:r>
              <a:rPr lang="en-US" altLang="zh-CN" dirty="0" err="1">
                <a:effectLst/>
                <a:sym typeface="+mn-ea"/>
              </a:rPr>
              <a:t>meganuclease</a:t>
            </a:r>
            <a:r>
              <a:rPr lang="zh-CN" altLang="en-US" dirty="0">
                <a:effectLst/>
                <a:sym typeface="+mn-ea"/>
              </a:rPr>
              <a:t>）亦称归巢核酸内切酶（</a:t>
            </a:r>
            <a:r>
              <a:rPr lang="en-US" altLang="zh-CN" dirty="0">
                <a:effectLst/>
                <a:sym typeface="+mn-ea"/>
              </a:rPr>
              <a:t>homing endonuclease</a:t>
            </a:r>
            <a:r>
              <a:rPr lang="zh-CN" altLang="en-US" dirty="0">
                <a:effectLst/>
                <a:sym typeface="+mn-ea"/>
              </a:rPr>
              <a:t>）。大范围核酸酶可特异识别</a:t>
            </a:r>
            <a:r>
              <a:rPr lang="en-US" altLang="zh-CN" dirty="0">
                <a:effectLst/>
                <a:sym typeface="+mn-ea"/>
              </a:rPr>
              <a:t>DNA</a:t>
            </a:r>
            <a:r>
              <a:rPr lang="zh-CN" altLang="en-US" dirty="0">
                <a:effectLst/>
                <a:sym typeface="+mn-ea"/>
              </a:rPr>
              <a:t>长片段，一般在</a:t>
            </a:r>
            <a:r>
              <a:rPr lang="en-US" altLang="zh-CN" dirty="0">
                <a:effectLst/>
                <a:sym typeface="+mn-ea"/>
              </a:rPr>
              <a:t>12</a:t>
            </a:r>
            <a:r>
              <a:rPr lang="zh-CN" altLang="en-US" dirty="0">
                <a:effectLst/>
                <a:sym typeface="+mn-ea"/>
              </a:rPr>
              <a:t>～</a:t>
            </a:r>
            <a:r>
              <a:rPr lang="en-US" altLang="zh-CN" dirty="0" err="1">
                <a:effectLst/>
                <a:sym typeface="+mn-ea"/>
              </a:rPr>
              <a:t>40bp</a:t>
            </a:r>
            <a:r>
              <a:rPr lang="zh-CN" altLang="en-US" dirty="0">
                <a:effectLst/>
                <a:sym typeface="+mn-ea"/>
              </a:rPr>
              <a:t>之间，在数量上能满足需求。</a:t>
            </a:r>
            <a:r>
              <a:rPr lang="en-US" altLang="zh-CN" dirty="0">
                <a:effectLst/>
                <a:sym typeface="+mn-ea"/>
              </a:rPr>
              <a:t>1985</a:t>
            </a:r>
            <a:r>
              <a:rPr lang="zh-CN" altLang="en-US" dirty="0">
                <a:effectLst/>
                <a:sym typeface="+mn-ea"/>
              </a:rPr>
              <a:t>年，一种大范围核酸酶</a:t>
            </a:r>
            <a:r>
              <a:rPr lang="en-US" altLang="zh-CN" dirty="0">
                <a:effectLst/>
                <a:sym typeface="+mn-ea"/>
              </a:rPr>
              <a:t>I-</a:t>
            </a:r>
            <a:r>
              <a:rPr lang="en-US" altLang="zh-CN" dirty="0" err="1">
                <a:effectLst/>
                <a:sym typeface="+mn-ea"/>
              </a:rPr>
              <a:t>SceI</a:t>
            </a:r>
            <a:r>
              <a:rPr lang="zh-CN" altLang="en-US" dirty="0">
                <a:effectLst/>
                <a:sym typeface="+mn-ea"/>
              </a:rPr>
              <a:t>被发现，它可特异性识别</a:t>
            </a:r>
            <a:r>
              <a:rPr lang="en-US" altLang="zh-CN" dirty="0">
                <a:effectLst/>
                <a:sym typeface="+mn-ea"/>
              </a:rPr>
              <a:t>18 bp</a:t>
            </a:r>
            <a:r>
              <a:rPr lang="zh-CN" altLang="en-US" dirty="0">
                <a:effectLst/>
                <a:sym typeface="+mn-ea"/>
              </a:rPr>
              <a:t>的</a:t>
            </a:r>
            <a:r>
              <a:rPr lang="en-US" altLang="zh-CN" dirty="0">
                <a:effectLst/>
                <a:sym typeface="+mn-ea"/>
              </a:rPr>
              <a:t>DNA</a:t>
            </a:r>
            <a:r>
              <a:rPr lang="zh-CN" altLang="en-US" dirty="0">
                <a:effectLst/>
                <a:sym typeface="+mn-ea"/>
              </a:rPr>
              <a:t>片段，在此基础上将</a:t>
            </a:r>
            <a:r>
              <a:rPr lang="en-US" altLang="zh-CN" dirty="0">
                <a:effectLst/>
                <a:sym typeface="+mn-ea"/>
              </a:rPr>
              <a:t>DNA</a:t>
            </a:r>
            <a:r>
              <a:rPr lang="zh-CN" altLang="en-US" dirty="0">
                <a:effectLst/>
                <a:sym typeface="+mn-ea"/>
              </a:rPr>
              <a:t>切开而产生双链断裂。</a:t>
            </a:r>
            <a:r>
              <a:rPr lang="en-US" altLang="zh-CN" dirty="0">
                <a:effectLst/>
                <a:sym typeface="+mn-ea"/>
              </a:rPr>
              <a:t>1990</a:t>
            </a:r>
            <a:r>
              <a:rPr lang="zh-CN" altLang="en-US" dirty="0">
                <a:effectLst/>
                <a:sym typeface="+mn-ea"/>
              </a:rPr>
              <a:t>年代，</a:t>
            </a:r>
            <a:r>
              <a:rPr lang="en-US" altLang="zh-CN" dirty="0">
                <a:effectLst/>
                <a:sym typeface="+mn-ea"/>
              </a:rPr>
              <a:t>I-</a:t>
            </a:r>
            <a:r>
              <a:rPr lang="en-US" altLang="zh-CN" dirty="0" err="1">
                <a:effectLst/>
                <a:sym typeface="+mn-ea"/>
              </a:rPr>
              <a:t>SceI</a:t>
            </a:r>
            <a:r>
              <a:rPr lang="zh-CN" altLang="en-US" dirty="0">
                <a:effectLst/>
                <a:sym typeface="+mn-ea"/>
              </a:rPr>
              <a:t>被用于辅助基因编辑，可使传统基因打靶效率大大提高。</a:t>
            </a:r>
            <a:endParaRPr lang="en-US" altLang="zh-CN" dirty="0">
              <a:effectLst/>
              <a:sym typeface="+mn-ea"/>
            </a:endParaRPr>
          </a:p>
          <a:p>
            <a:pPr algn="just"/>
            <a:endParaRPr lang="en-US" altLang="zh-CN" dirty="0">
              <a:effectLst/>
              <a:sym typeface="+mn-ea"/>
            </a:endParaRPr>
          </a:p>
          <a:p>
            <a:pPr algn="just"/>
            <a:br>
              <a:rPr lang="zh-CN" altLang="en-US" dirty="0">
                <a:sym typeface="+mn-ea"/>
              </a:rPr>
            </a:br>
            <a:endParaRPr lang="zh-CN" altLang="en-US" dirty="0"/>
          </a:p>
          <a:p>
            <a:pPr marL="0" marR="0" lvl="0" indent="0" algn="just" defTabSz="914400" rtl="0" eaLnBrk="1" fontAlgn="auto" latinLnBrk="0" hangingPunct="1">
              <a:lnSpc>
                <a:spcPct val="100000"/>
              </a:lnSpc>
              <a:spcBef>
                <a:spcPts val="0"/>
              </a:spcBef>
              <a:spcAft>
                <a:spcPts val="0"/>
              </a:spcAft>
              <a:buClrTx/>
              <a:buSzTx/>
              <a:buFontTx/>
              <a:buNone/>
              <a:defRPr/>
            </a:pPr>
            <a:endParaRPr lang="zh-CN" altLang="en-US" dirty="0"/>
          </a:p>
          <a:p>
            <a:pPr algn="just"/>
            <a:endParaRPr lang="zh-CN" altLang="en-US" dirty="0">
              <a:effectLst/>
            </a:endParaRPr>
          </a:p>
          <a:p>
            <a:endParaRPr lang="zh-CN" altLang="en-US" dirty="0"/>
          </a:p>
          <a:p>
            <a:endParaRPr lang="zh-CN" altLang="en-US" dirty="0"/>
          </a:p>
        </p:txBody>
      </p:sp>
    </p:spTree>
    <p:extLst>
      <p:ext uri="{BB962C8B-B14F-4D97-AF65-F5344CB8AC3E}">
        <p14:creationId xmlns:p14="http://schemas.microsoft.com/office/powerpoint/2010/main" val="1982457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EE0DA5F-3706-45CA-A708-FF7CE3792226}" type="datetimeFigureOut">
              <a:rPr lang="zh-CN" altLang="en-US" smtClean="0"/>
              <a:t>2024/11/4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278EB9-172F-4E05-9970-18C9612B04B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E0DA5F-3706-45CA-A708-FF7CE3792226}" type="datetimeFigureOut">
              <a:rPr lang="zh-CN" altLang="en-US" smtClean="0"/>
              <a:t>2024/11/4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278EB9-172F-4E05-9970-18C9612B04B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E0DA5F-3706-45CA-A708-FF7CE3792226}" type="datetimeFigureOut">
              <a:rPr lang="zh-CN" altLang="en-US" smtClean="0"/>
              <a:t>2024/11/4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278EB9-172F-4E05-9970-18C9612B04B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21.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28.jpe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5.png"/><Relationship Id="rId5" Type="http://schemas.openxmlformats.org/officeDocument/2006/relationships/tags" Target="../tags/tag6.xml"/><Relationship Id="rId10" Type="http://schemas.openxmlformats.org/officeDocument/2006/relationships/notesSlide" Target="../notesSlides/notesSlide24.xml"/><Relationship Id="rId4" Type="http://schemas.openxmlformats.org/officeDocument/2006/relationships/tags" Target="../tags/tag5.xml"/><Relationship Id="rId9"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33.jpeg"/><Relationship Id="rId4"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7.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41.png"/></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25000"/>
          </a:schemeClr>
        </a:solid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011"/>
            <a:ext cx="12192000" cy="6932022"/>
          </a:xfrm>
          <a:prstGeom prst="rect">
            <a:avLst/>
          </a:prstGeom>
        </p:spPr>
      </p:pic>
      <p:sp>
        <p:nvSpPr>
          <p:cNvPr id="5" name="文本框 4"/>
          <p:cNvSpPr txBox="1"/>
          <p:nvPr/>
        </p:nvSpPr>
        <p:spPr>
          <a:xfrm>
            <a:off x="-135925" y="2696072"/>
            <a:ext cx="12192000" cy="769441"/>
          </a:xfrm>
          <a:prstGeom prst="rect">
            <a:avLst/>
          </a:prstGeom>
          <a:noFill/>
        </p:spPr>
        <p:txBody>
          <a:bodyPr wrap="square">
            <a:spAutoFit/>
          </a:bodyPr>
          <a:lstStyle/>
          <a:p>
            <a:pPr algn="ctr"/>
            <a:r>
              <a:rPr lang="zh-CN" altLang="en-US" sz="4400" b="1" dirty="0">
                <a:latin typeface="微软雅黑" panose="020B0503020204020204" pitchFamily="34" charset="-122"/>
                <a:ea typeface="微软雅黑" panose="020B0503020204020204" pitchFamily="34" charset="-122"/>
              </a:rPr>
              <a:t>基因组编辑技术研究进展与应用</a:t>
            </a:r>
            <a:endParaRPr lang="zh-CN" altLang="en-US" sz="4400" dirty="0">
              <a:latin typeface="微软雅黑" panose="020B0503020204020204" pitchFamily="34" charset="-122"/>
              <a:ea typeface="微软雅黑" panose="020B0503020204020204" pitchFamily="34" charset="-122"/>
            </a:endParaRPr>
          </a:p>
        </p:txBody>
      </p:sp>
      <p:sp>
        <p:nvSpPr>
          <p:cNvPr id="4" name="矩形 3"/>
          <p:cNvSpPr/>
          <p:nvPr/>
        </p:nvSpPr>
        <p:spPr>
          <a:xfrm>
            <a:off x="0" y="-32554"/>
            <a:ext cx="12192000" cy="6970734"/>
          </a:xfrm>
          <a:prstGeom prst="rect">
            <a:avLst/>
          </a:prstGeom>
          <a:solidFill>
            <a:schemeClr val="bg2">
              <a:lumMod val="90000"/>
              <a:shade val="30000"/>
              <a:satMod val="115000"/>
              <a:alpha val="2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200000"/>
              </a:lnSpc>
            </a:pPr>
            <a:endParaRPr lang="zh-CN" altLang="en-US" sz="24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文本框 5"/>
          <p:cNvSpPr txBox="1"/>
          <p:nvPr/>
        </p:nvSpPr>
        <p:spPr>
          <a:xfrm>
            <a:off x="4802439" y="3897999"/>
            <a:ext cx="2388795" cy="3108543"/>
          </a:xfrm>
          <a:prstGeom prst="rect">
            <a:avLst/>
          </a:prstGeom>
          <a:noFill/>
        </p:spPr>
        <p:txBody>
          <a:bodyPr wrap="none" rtlCol="0">
            <a:spAutoFit/>
          </a:bodyPr>
          <a:lstStyle/>
          <a:p>
            <a:pPr algn="ctr">
              <a:lnSpc>
                <a:spcPct val="200000"/>
              </a:lnSpc>
            </a:pPr>
            <a:r>
              <a:rPr lang="zh-CN" altLang="en-US" sz="2800" b="1" dirty="0">
                <a:solidFill>
                  <a:schemeClr val="tx1"/>
                </a:solidFill>
                <a:latin typeface="微软雅黑" panose="020B0503020204020204" pitchFamily="34" charset="-122"/>
                <a:ea typeface="微软雅黑" panose="020B0503020204020204" pitchFamily="34" charset="-122"/>
                <a:cs typeface="Arial" panose="020B0604020202020204" pitchFamily="34" charset="0"/>
              </a:rPr>
              <a:t>王芸</a:t>
            </a:r>
            <a:endParaRPr lang="en-US" altLang="zh-CN" sz="2800" b="1"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a:p>
            <a:pPr algn="ctr">
              <a:lnSpc>
                <a:spcPct val="200000"/>
              </a:lnSpc>
            </a:pPr>
            <a:r>
              <a:rPr lang="en-US" altLang="zh-CN" sz="2800" b="1" dirty="0">
                <a:solidFill>
                  <a:schemeClr val="tx1"/>
                </a:solidFill>
                <a:latin typeface="Arial" panose="020B0604020202020204" pitchFamily="34" charset="0"/>
                <a:ea typeface="微软雅黑" panose="020B0503020204020204" pitchFamily="34" charset="-122"/>
                <a:cs typeface="Arial" panose="020B0604020202020204" pitchFamily="34" charset="0"/>
              </a:rPr>
              <a:t>18810522880</a:t>
            </a:r>
          </a:p>
          <a:p>
            <a:pPr algn="ctr">
              <a:lnSpc>
                <a:spcPct val="200000"/>
              </a:lnSpc>
            </a:pPr>
            <a:r>
              <a:rPr lang="en-US" altLang="zh-CN" sz="2800" b="1" dirty="0">
                <a:solidFill>
                  <a:schemeClr val="tx1"/>
                </a:solidFill>
                <a:latin typeface="Arial" panose="020B0604020202020204" pitchFamily="34" charset="0"/>
                <a:ea typeface="微软雅黑" panose="020B0503020204020204" pitchFamily="34" charset="-122"/>
                <a:cs typeface="Arial" panose="020B0604020202020204" pitchFamily="34" charset="0"/>
              </a:rPr>
              <a:t>12#413</a:t>
            </a:r>
            <a:endParaRPr lang="zh-CN" altLang="en-US" sz="28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p>
            <a:endParaRPr lang="zh-CN"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箭头: 下 1"/>
          <p:cNvSpPr/>
          <p:nvPr/>
        </p:nvSpPr>
        <p:spPr>
          <a:xfrm>
            <a:off x="629815" y="1401374"/>
            <a:ext cx="349482" cy="4368402"/>
          </a:xfrm>
          <a:prstGeom prst="downArrow">
            <a:avLst/>
          </a:prstGeom>
          <a:gradFill>
            <a:gsLst>
              <a:gs pos="49532">
                <a:srgbClr val="C8EFE7"/>
              </a:gs>
              <a:gs pos="12844">
                <a:srgbClr val="77A3B3"/>
              </a:gs>
              <a:gs pos="88992">
                <a:srgbClr val="DBE1E2"/>
              </a:gs>
              <a:gs pos="68000">
                <a:schemeClr val="accent1">
                  <a:lumMod val="45000"/>
                  <a:lumOff val="55000"/>
                </a:schemeClr>
              </a:gs>
              <a:gs pos="41000">
                <a:schemeClr val="accent1">
                  <a:lumMod val="45000"/>
                  <a:lumOff val="55000"/>
                </a:schemeClr>
              </a:gs>
              <a:gs pos="100000">
                <a:schemeClr val="accent3">
                  <a:lumMod val="85000"/>
                </a:schemeClr>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011194" y="1522014"/>
            <a:ext cx="3859619"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基因编辑技术系统的发现</a:t>
            </a:r>
          </a:p>
        </p:txBody>
      </p:sp>
      <p:sp>
        <p:nvSpPr>
          <p:cNvPr id="4" name="文本框 3"/>
          <p:cNvSpPr txBox="1"/>
          <p:nvPr/>
        </p:nvSpPr>
        <p:spPr>
          <a:xfrm>
            <a:off x="1001001" y="2679296"/>
            <a:ext cx="3859619"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基因编辑技术系统的发展</a:t>
            </a:r>
          </a:p>
        </p:txBody>
      </p:sp>
      <p:sp>
        <p:nvSpPr>
          <p:cNvPr id="6" name="文本框 5"/>
          <p:cNvSpPr txBox="1"/>
          <p:nvPr/>
        </p:nvSpPr>
        <p:spPr>
          <a:xfrm>
            <a:off x="1018280" y="3870629"/>
            <a:ext cx="6351183"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基因编辑技术的应用：医疗、农业、工业</a:t>
            </a:r>
          </a:p>
        </p:txBody>
      </p:sp>
      <p:sp>
        <p:nvSpPr>
          <p:cNvPr id="7" name="文本框 6"/>
          <p:cNvSpPr txBox="1"/>
          <p:nvPr/>
        </p:nvSpPr>
        <p:spPr>
          <a:xfrm>
            <a:off x="1002629" y="5013924"/>
            <a:ext cx="5635257"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基因编辑技术的伦理、法律与社会影响</a:t>
            </a:r>
          </a:p>
        </p:txBody>
      </p:sp>
      <p:sp>
        <p:nvSpPr>
          <p:cNvPr id="8" name="矩形 7"/>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p:cNvSpPr txBox="1"/>
          <p:nvPr/>
        </p:nvSpPr>
        <p:spPr>
          <a:xfrm>
            <a:off x="0" y="38100"/>
            <a:ext cx="12192000" cy="58477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主要内容</a:t>
            </a:r>
          </a:p>
        </p:txBody>
      </p:sp>
      <p:sp>
        <p:nvSpPr>
          <p:cNvPr id="5" name="矩形 4"/>
          <p:cNvSpPr/>
          <p:nvPr/>
        </p:nvSpPr>
        <p:spPr>
          <a:xfrm>
            <a:off x="596900" y="2547895"/>
            <a:ext cx="6095999" cy="72904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左大括号 9"/>
          <p:cNvSpPr/>
          <p:nvPr/>
        </p:nvSpPr>
        <p:spPr>
          <a:xfrm>
            <a:off x="6907428" y="1556951"/>
            <a:ext cx="333632" cy="2780271"/>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文本框 10"/>
          <p:cNvSpPr txBox="1"/>
          <p:nvPr/>
        </p:nvSpPr>
        <p:spPr>
          <a:xfrm>
            <a:off x="7354329" y="1340782"/>
            <a:ext cx="3859619" cy="400110"/>
          </a:xfrm>
          <a:prstGeom prst="rect">
            <a:avLst/>
          </a:prstGeom>
          <a:noFill/>
        </p:spPr>
        <p:txBody>
          <a:bodyPr wrap="square" rtlCol="0">
            <a:spAutoFit/>
          </a:bodyPr>
          <a:lstStyle/>
          <a:p>
            <a:r>
              <a:rPr lang="en-US" altLang="zh-CN" sz="2000" b="1" dirty="0">
                <a:latin typeface="微软雅黑" panose="020B0503020204020204" pitchFamily="34" charset="-122"/>
                <a:ea typeface="微软雅黑" panose="020B0503020204020204" pitchFamily="34" charset="-122"/>
              </a:rPr>
              <a:t>Cas</a:t>
            </a:r>
            <a:r>
              <a:rPr lang="zh-CN" altLang="en-US" sz="2000" b="1" dirty="0">
                <a:latin typeface="微软雅黑" panose="020B0503020204020204" pitchFamily="34" charset="-122"/>
                <a:ea typeface="微软雅黑" panose="020B0503020204020204" pitchFamily="34" charset="-122"/>
              </a:rPr>
              <a:t>家族成员</a:t>
            </a:r>
          </a:p>
        </p:txBody>
      </p:sp>
      <p:sp>
        <p:nvSpPr>
          <p:cNvPr id="13" name="文本框 12"/>
          <p:cNvSpPr txBox="1"/>
          <p:nvPr/>
        </p:nvSpPr>
        <p:spPr>
          <a:xfrm>
            <a:off x="7324467" y="2002481"/>
            <a:ext cx="2808073" cy="400110"/>
          </a:xfrm>
          <a:prstGeom prst="rect">
            <a:avLst/>
          </a:prstGeom>
          <a:noFill/>
        </p:spPr>
        <p:txBody>
          <a:bodyPr wrap="square">
            <a:spAutoFit/>
          </a:bodyPr>
          <a:lstStyle/>
          <a:p>
            <a:r>
              <a:rPr lang="zh-CN" altLang="zh-CN" sz="2000" b="1" dirty="0">
                <a:latin typeface="微软雅黑" panose="020B0503020204020204" pitchFamily="34" charset="-122"/>
                <a:ea typeface="微软雅黑" panose="020B0503020204020204" pitchFamily="34" charset="-122"/>
              </a:rPr>
              <a:t>高保真</a:t>
            </a:r>
            <a:r>
              <a:rPr lang="en-US" altLang="zh-CN" sz="2000" b="1" dirty="0" err="1">
                <a:latin typeface="微软雅黑" panose="020B0503020204020204" pitchFamily="34" charset="-122"/>
                <a:ea typeface="微软雅黑" panose="020B0503020204020204" pitchFamily="34" charset="-122"/>
              </a:rPr>
              <a:t>Cas9</a:t>
            </a:r>
            <a:r>
              <a:rPr lang="zh-CN" altLang="zh-CN" sz="2000" b="1" dirty="0">
                <a:latin typeface="微软雅黑" panose="020B0503020204020204" pitchFamily="34" charset="-122"/>
                <a:ea typeface="微软雅黑" panose="020B0503020204020204" pitchFamily="34" charset="-122"/>
              </a:rPr>
              <a:t>变体</a:t>
            </a:r>
            <a:endParaRPr lang="zh-CN" altLang="en-US" sz="2000" b="1"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340943" y="2735648"/>
            <a:ext cx="3384723" cy="400110"/>
          </a:xfrm>
          <a:prstGeom prst="rect">
            <a:avLst/>
          </a:prstGeom>
          <a:noFill/>
        </p:spPr>
        <p:txBody>
          <a:bodyPr wrap="square">
            <a:spAutoFit/>
          </a:bodyPr>
          <a:lstStyle/>
          <a:p>
            <a:r>
              <a:rPr lang="zh-CN" altLang="en-US" sz="2000" b="1" dirty="0">
                <a:latin typeface="微软雅黑" panose="020B0503020204020204" pitchFamily="34" charset="-122"/>
                <a:ea typeface="微软雅黑" panose="020B0503020204020204" pitchFamily="34" charset="-122"/>
              </a:rPr>
              <a:t>单碱基编辑器</a:t>
            </a:r>
          </a:p>
        </p:txBody>
      </p:sp>
      <p:sp>
        <p:nvSpPr>
          <p:cNvPr id="15" name="文本框 14"/>
          <p:cNvSpPr txBox="1"/>
          <p:nvPr/>
        </p:nvSpPr>
        <p:spPr>
          <a:xfrm>
            <a:off x="7320348" y="3450580"/>
            <a:ext cx="3384723" cy="400110"/>
          </a:xfrm>
          <a:prstGeom prst="rect">
            <a:avLst/>
          </a:prstGeom>
          <a:noFill/>
        </p:spPr>
        <p:txBody>
          <a:bodyPr wrap="square">
            <a:spAutoFit/>
          </a:bodyPr>
          <a:lstStyle/>
          <a:p>
            <a:r>
              <a:rPr lang="zh-CN" altLang="en-US" sz="2000" b="1" dirty="0">
                <a:latin typeface="微软雅黑" panose="020B0503020204020204" pitchFamily="34" charset="-122"/>
                <a:ea typeface="微软雅黑" panose="020B0503020204020204" pitchFamily="34" charset="-122"/>
              </a:rPr>
              <a:t>双碱基编辑器</a:t>
            </a:r>
          </a:p>
        </p:txBody>
      </p:sp>
      <p:sp>
        <p:nvSpPr>
          <p:cNvPr id="16" name="文本框 15"/>
          <p:cNvSpPr txBox="1"/>
          <p:nvPr/>
        </p:nvSpPr>
        <p:spPr>
          <a:xfrm>
            <a:off x="7336824" y="4146678"/>
            <a:ext cx="3384723" cy="400110"/>
          </a:xfrm>
          <a:prstGeom prst="rect">
            <a:avLst/>
          </a:prstGeom>
          <a:noFill/>
        </p:spPr>
        <p:txBody>
          <a:bodyPr wrap="square">
            <a:spAutoFit/>
          </a:bodyPr>
          <a:lstStyle/>
          <a:p>
            <a:r>
              <a:rPr lang="en-US" altLang="zh-CN" sz="2000" b="1"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7287397" y="4430872"/>
            <a:ext cx="6098058" cy="581057"/>
          </a:xfrm>
          <a:prstGeom prst="rect">
            <a:avLst/>
          </a:prstGeom>
          <a:noFill/>
        </p:spPr>
        <p:txBody>
          <a:bodyPr wrap="square">
            <a:spAutoFit/>
          </a:bodyPr>
          <a:lstStyle/>
          <a:p>
            <a:pPr lvl="0" algn="just">
              <a:lnSpc>
                <a:spcPct val="150000"/>
              </a:lnSpc>
            </a:pPr>
            <a:r>
              <a:rPr lang="zh-CN" altLang="zh-CN" sz="2400" b="1" dirty="0">
                <a:latin typeface="微软雅黑" panose="020B0503020204020204" pitchFamily="34" charset="-122"/>
                <a:ea typeface="微软雅黑" panose="020B0503020204020204" pitchFamily="34" charset="-122"/>
              </a:rPr>
              <a:t>基因编辑工具的定向进化与优化</a:t>
            </a:r>
          </a:p>
        </p:txBody>
      </p:sp>
      <p:sp>
        <p:nvSpPr>
          <p:cNvPr id="20" name="矩形 19"/>
          <p:cNvSpPr/>
          <p:nvPr/>
        </p:nvSpPr>
        <p:spPr>
          <a:xfrm>
            <a:off x="6882027" y="1185219"/>
            <a:ext cx="4930346" cy="4015946"/>
          </a:xfrm>
          <a:prstGeom prst="rect">
            <a:avLst/>
          </a:prstGeom>
          <a:solidFill>
            <a:schemeClr val="bg2">
              <a:lumMod val="90000"/>
              <a:alpha val="2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1573" y="2997390"/>
            <a:ext cx="7189427" cy="3694875"/>
          </a:xfrm>
          <a:prstGeom prst="rect">
            <a:avLst/>
          </a:prstGeom>
        </p:spPr>
      </p:pic>
      <p:sp>
        <p:nvSpPr>
          <p:cNvPr id="6" name="矩形 5"/>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p:cNvSpPr txBox="1"/>
          <p:nvPr/>
        </p:nvSpPr>
        <p:spPr>
          <a:xfrm>
            <a:off x="0" y="38100"/>
            <a:ext cx="12192000" cy="58477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站在巨人肩膀上的技术</a:t>
            </a:r>
          </a:p>
        </p:txBody>
      </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33498" y="764328"/>
            <a:ext cx="6525003" cy="2091267"/>
          </a:xfrm>
          <a:prstGeom prst="rect">
            <a:avLst/>
          </a:prstGeom>
          <a:ln>
            <a:noFill/>
          </a:ln>
          <a:effectLst>
            <a:softEdge rad="11250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p:cNvSpPr txBox="1"/>
          <p:nvPr/>
        </p:nvSpPr>
        <p:spPr>
          <a:xfrm>
            <a:off x="0" y="38100"/>
            <a:ext cx="12192000" cy="58356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基因组编辑技术</a:t>
            </a:r>
          </a:p>
        </p:txBody>
      </p:sp>
      <p:pic>
        <p:nvPicPr>
          <p:cNvPr id="3" name="图片 2"/>
          <p:cNvPicPr>
            <a:picLocks noChangeAspect="1"/>
          </p:cNvPicPr>
          <p:nvPr/>
        </p:nvPicPr>
        <p:blipFill>
          <a:blip r:embed="rId2"/>
          <a:srcRect b="17099"/>
          <a:stretch>
            <a:fillRect/>
          </a:stretch>
        </p:blipFill>
        <p:spPr>
          <a:xfrm>
            <a:off x="1793875" y="2261235"/>
            <a:ext cx="9092565" cy="2736850"/>
          </a:xfrm>
          <a:prstGeom prst="rect">
            <a:avLst/>
          </a:prstGeom>
        </p:spPr>
      </p:pic>
      <p:sp>
        <p:nvSpPr>
          <p:cNvPr id="4" name="文本框 3"/>
          <p:cNvSpPr txBox="1"/>
          <p:nvPr/>
        </p:nvSpPr>
        <p:spPr>
          <a:xfrm>
            <a:off x="1292860" y="1282700"/>
            <a:ext cx="10287000" cy="398780"/>
          </a:xfrm>
          <a:prstGeom prst="rect">
            <a:avLst/>
          </a:prstGeom>
        </p:spPr>
        <p:txBody>
          <a:bodyPr wrap="square">
            <a:spAutoFit/>
          </a:bodyPr>
          <a:lstStyle/>
          <a:p>
            <a:pPr marL="0" indent="0" algn="just"/>
            <a:r>
              <a:rPr lang="zh-CN" altLang="en-US" sz="2000" b="1" i="0">
                <a:latin typeface="微软雅黑" panose="020B0503020204020204" pitchFamily="34" charset="-122"/>
                <a:ea typeface="微软雅黑" panose="020B0503020204020204" pitchFamily="34" charset="-122"/>
              </a:rPr>
              <a:t>对生物体遗传物质进行精确和有针对性的修改，是分子生物学领域最重大的进展之一。</a:t>
            </a:r>
          </a:p>
        </p:txBody>
      </p:sp>
      <p:sp>
        <p:nvSpPr>
          <p:cNvPr id="8" name="文本框 7"/>
          <p:cNvSpPr txBox="1"/>
          <p:nvPr/>
        </p:nvSpPr>
        <p:spPr>
          <a:xfrm>
            <a:off x="3051175" y="4998085"/>
            <a:ext cx="939800" cy="398780"/>
          </a:xfrm>
          <a:prstGeom prst="rect">
            <a:avLst/>
          </a:prstGeom>
        </p:spPr>
        <p:txBody>
          <a:bodyPr wrap="square">
            <a:spAutoFit/>
          </a:bodyPr>
          <a:lstStyle/>
          <a:p>
            <a:pPr marL="0" indent="0" algn="just"/>
            <a:r>
              <a:rPr lang="zh-CN" altLang="en-US" sz="2000" b="1" i="0">
                <a:latin typeface="微软雅黑" panose="020B0503020204020204" pitchFamily="34" charset="-122"/>
                <a:ea typeface="微软雅黑" panose="020B0503020204020204" pitchFamily="34" charset="-122"/>
              </a:rPr>
              <a:t>定位</a:t>
            </a:r>
          </a:p>
        </p:txBody>
      </p:sp>
      <p:sp>
        <p:nvSpPr>
          <p:cNvPr id="9" name="文本框 8"/>
          <p:cNvSpPr txBox="1"/>
          <p:nvPr/>
        </p:nvSpPr>
        <p:spPr>
          <a:xfrm>
            <a:off x="5969430" y="5035155"/>
            <a:ext cx="939800" cy="398780"/>
          </a:xfrm>
          <a:prstGeom prst="rect">
            <a:avLst/>
          </a:prstGeom>
        </p:spPr>
        <p:txBody>
          <a:bodyPr wrap="square">
            <a:spAutoFit/>
          </a:bodyPr>
          <a:lstStyle/>
          <a:p>
            <a:pPr marL="0" indent="0" algn="just"/>
            <a:r>
              <a:rPr lang="zh-CN" altLang="en-US" sz="2000" b="1" i="0" dirty="0">
                <a:latin typeface="微软雅黑" panose="020B0503020204020204" pitchFamily="34" charset="-122"/>
                <a:ea typeface="微软雅黑" panose="020B0503020204020204" pitchFamily="34" charset="-122"/>
              </a:rPr>
              <a:t>切除</a:t>
            </a:r>
          </a:p>
        </p:txBody>
      </p:sp>
      <p:sp>
        <p:nvSpPr>
          <p:cNvPr id="10" name="文本框 9"/>
          <p:cNvSpPr txBox="1"/>
          <p:nvPr/>
        </p:nvSpPr>
        <p:spPr>
          <a:xfrm>
            <a:off x="8978299" y="5035155"/>
            <a:ext cx="939800" cy="398780"/>
          </a:xfrm>
          <a:prstGeom prst="rect">
            <a:avLst/>
          </a:prstGeom>
        </p:spPr>
        <p:txBody>
          <a:bodyPr wrap="square">
            <a:spAutoFit/>
          </a:bodyPr>
          <a:lstStyle/>
          <a:p>
            <a:pPr marL="0" indent="0" algn="just"/>
            <a:r>
              <a:rPr lang="zh-CN" altLang="en-US" sz="2000" b="1" i="0" dirty="0">
                <a:latin typeface="微软雅黑" panose="020B0503020204020204" pitchFamily="34" charset="-122"/>
                <a:ea typeface="微软雅黑" panose="020B0503020204020204" pitchFamily="34" charset="-122"/>
              </a:rPr>
              <a:t>改造</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618524" y="99242"/>
            <a:ext cx="2184053" cy="3156766"/>
          </a:xfrm>
          <a:prstGeom prst="rect">
            <a:avLst/>
          </a:prstGeom>
          <a:ln>
            <a:noFill/>
          </a:ln>
          <a:effectLst>
            <a:softEdge rad="112500"/>
          </a:effectLst>
        </p:spPr>
      </p:pic>
      <p:pic>
        <p:nvPicPr>
          <p:cNvPr id="3" name="图片 2"/>
          <p:cNvPicPr>
            <a:picLocks noChangeAspect="1"/>
          </p:cNvPicPr>
          <p:nvPr/>
        </p:nvPicPr>
        <p:blipFill>
          <a:blip r:embed="rId4"/>
          <a:stretch>
            <a:fillRect/>
          </a:stretch>
        </p:blipFill>
        <p:spPr>
          <a:xfrm>
            <a:off x="5056940" y="91894"/>
            <a:ext cx="2167019" cy="3164114"/>
          </a:xfrm>
          <a:prstGeom prst="rect">
            <a:avLst/>
          </a:prstGeom>
          <a:ln>
            <a:noFill/>
          </a:ln>
          <a:effectLst>
            <a:softEdge rad="112500"/>
          </a:effectLst>
        </p:spPr>
      </p:pic>
      <p:pic>
        <p:nvPicPr>
          <p:cNvPr id="4" name="图片 3"/>
          <p:cNvPicPr>
            <a:picLocks noChangeAspect="1"/>
          </p:cNvPicPr>
          <p:nvPr/>
        </p:nvPicPr>
        <p:blipFill>
          <a:blip r:embed="rId5"/>
          <a:stretch>
            <a:fillRect/>
          </a:stretch>
        </p:blipFill>
        <p:spPr>
          <a:xfrm>
            <a:off x="8368394" y="71499"/>
            <a:ext cx="2202460" cy="3184509"/>
          </a:xfrm>
          <a:prstGeom prst="rect">
            <a:avLst/>
          </a:prstGeom>
          <a:ln>
            <a:noFill/>
          </a:ln>
          <a:effectLst>
            <a:softEdge rad="112500"/>
          </a:effectLst>
        </p:spPr>
      </p:pic>
      <p:pic>
        <p:nvPicPr>
          <p:cNvPr id="6" name="图片 5"/>
          <p:cNvPicPr>
            <a:picLocks noChangeAspect="1"/>
          </p:cNvPicPr>
          <p:nvPr/>
        </p:nvPicPr>
        <p:blipFill>
          <a:blip r:embed="rId6"/>
          <a:stretch>
            <a:fillRect/>
          </a:stretch>
        </p:blipFill>
        <p:spPr>
          <a:xfrm>
            <a:off x="1622789" y="3455352"/>
            <a:ext cx="2216530" cy="3193143"/>
          </a:xfrm>
          <a:prstGeom prst="rect">
            <a:avLst/>
          </a:prstGeom>
          <a:ln>
            <a:noFill/>
          </a:ln>
          <a:effectLst>
            <a:softEdge rad="112500"/>
          </a:effectLst>
        </p:spPr>
      </p:pic>
      <p:pic>
        <p:nvPicPr>
          <p:cNvPr id="11" name="图片 10"/>
          <p:cNvPicPr>
            <a:picLocks noChangeAspect="1"/>
          </p:cNvPicPr>
          <p:nvPr/>
        </p:nvPicPr>
        <p:blipFill>
          <a:blip r:embed="rId7"/>
          <a:stretch>
            <a:fillRect/>
          </a:stretch>
        </p:blipFill>
        <p:spPr>
          <a:xfrm>
            <a:off x="5053149" y="3457158"/>
            <a:ext cx="2195830" cy="3191337"/>
          </a:xfrm>
          <a:prstGeom prst="rect">
            <a:avLst/>
          </a:prstGeom>
          <a:ln>
            <a:noFill/>
          </a:ln>
          <a:effectLst>
            <a:softEdge rad="112500"/>
          </a:effectLst>
        </p:spPr>
      </p:pic>
      <p:pic>
        <p:nvPicPr>
          <p:cNvPr id="13" name="图片 12"/>
          <p:cNvPicPr>
            <a:picLocks noChangeAspect="1"/>
          </p:cNvPicPr>
          <p:nvPr/>
        </p:nvPicPr>
        <p:blipFill>
          <a:blip r:embed="rId8"/>
          <a:stretch>
            <a:fillRect/>
          </a:stretch>
        </p:blipFill>
        <p:spPr>
          <a:xfrm>
            <a:off x="8386989" y="3465513"/>
            <a:ext cx="2233839" cy="3182982"/>
          </a:xfrm>
          <a:prstGeom prst="rect">
            <a:avLst/>
          </a:prstGeom>
          <a:ln>
            <a:noFill/>
          </a:ln>
          <a:effectLst>
            <a:softEdge rad="1125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10"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0" y="1668163"/>
            <a:ext cx="9045146" cy="584775"/>
          </a:xfrm>
          <a:prstGeom prst="rect">
            <a:avLst/>
          </a:prstGeom>
          <a:noFill/>
        </p:spPr>
        <p:txBody>
          <a:bodyPr wrap="square" rtlCol="0">
            <a:spAutoFit/>
          </a:bodyPr>
          <a:lstStyle/>
          <a:p>
            <a:pPr marL="457200" indent="-457200" algn="ctr">
              <a:buFont typeface="Wingdings" panose="05000000000000000000" pitchFamily="2" charset="2"/>
              <a:buChar char="n"/>
            </a:pPr>
            <a:r>
              <a:rPr lang="zh-CN" altLang="en-US" sz="3200" b="1" dirty="0">
                <a:latin typeface="微软雅黑" panose="020B0503020204020204" pitchFamily="34" charset="-122"/>
                <a:ea typeface="微软雅黑" panose="020B0503020204020204" pitchFamily="34" charset="-122"/>
                <a:cs typeface="Arial" panose="020B0604020202020204" pitchFamily="34" charset="0"/>
              </a:rPr>
              <a:t>细胞</a:t>
            </a:r>
            <a:r>
              <a:rPr lang="en-US" altLang="zh-CN" sz="3200" b="1" dirty="0">
                <a:latin typeface="微软雅黑" panose="020B0503020204020204" pitchFamily="34" charset="-122"/>
                <a:ea typeface="微软雅黑" panose="020B0503020204020204" pitchFamily="34" charset="-122"/>
                <a:cs typeface="Arial" panose="020B0604020202020204" pitchFamily="34" charset="0"/>
              </a:rPr>
              <a:t>DNA</a:t>
            </a:r>
            <a:r>
              <a:rPr lang="zh-CN" altLang="en-US" sz="3200" b="1" dirty="0">
                <a:latin typeface="微软雅黑" panose="020B0503020204020204" pitchFamily="34" charset="-122"/>
                <a:ea typeface="微软雅黑" panose="020B0503020204020204" pitchFamily="34" charset="-122"/>
                <a:cs typeface="Arial" panose="020B0604020202020204" pitchFamily="34" charset="0"/>
              </a:rPr>
              <a:t>的损伤与修复</a:t>
            </a:r>
          </a:p>
        </p:txBody>
      </p:sp>
      <p:sp>
        <p:nvSpPr>
          <p:cNvPr id="7" name="文本框 6"/>
          <p:cNvSpPr txBox="1"/>
          <p:nvPr/>
        </p:nvSpPr>
        <p:spPr>
          <a:xfrm>
            <a:off x="0" y="3303374"/>
            <a:ext cx="8872151" cy="584775"/>
          </a:xfrm>
          <a:prstGeom prst="rect">
            <a:avLst/>
          </a:prstGeom>
          <a:noFill/>
        </p:spPr>
        <p:txBody>
          <a:bodyPr wrap="square" rtlCol="0">
            <a:spAutoFit/>
          </a:bodyPr>
          <a:lstStyle/>
          <a:p>
            <a:pPr marL="457200" indent="-457200" algn="ctr">
              <a:buFont typeface="Wingdings" panose="05000000000000000000" pitchFamily="2" charset="2"/>
              <a:buChar char="n"/>
            </a:pPr>
            <a:r>
              <a:rPr lang="zh-CN" altLang="en-US" sz="3200" b="1" dirty="0">
                <a:latin typeface="微软雅黑" panose="020B0503020204020204" pitchFamily="34" charset="-122"/>
                <a:ea typeface="微软雅黑" panose="020B0503020204020204" pitchFamily="34" charset="-122"/>
                <a:cs typeface="Arial" panose="020B0604020202020204" pitchFamily="34" charset="0"/>
              </a:rPr>
              <a:t>早期的基因组编辑技术</a:t>
            </a:r>
          </a:p>
        </p:txBody>
      </p:sp>
      <p:sp>
        <p:nvSpPr>
          <p:cNvPr id="9" name="文本框 8"/>
          <p:cNvSpPr txBox="1"/>
          <p:nvPr/>
        </p:nvSpPr>
        <p:spPr>
          <a:xfrm>
            <a:off x="3361038" y="2564713"/>
            <a:ext cx="576904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effectLst/>
                <a:latin typeface="Arial" panose="020B0604020202020204" pitchFamily="34" charset="0"/>
                <a:ea typeface="微软雅黑" panose="020B0503020204020204" pitchFamily="34" charset="-122"/>
                <a:cs typeface="Arial" panose="020B0604020202020204" pitchFamily="34" charset="0"/>
              </a:rPr>
              <a:t>基因编辑最初源于真核生物</a:t>
            </a:r>
            <a:r>
              <a:rPr lang="en-US" altLang="zh-CN" sz="1800" dirty="0">
                <a:latin typeface="Arial" panose="020B0604020202020204" pitchFamily="34" charset="0"/>
                <a:ea typeface="微软雅黑" panose="020B0503020204020204" pitchFamily="34" charset="-122"/>
                <a:cs typeface="Arial" panose="020B0604020202020204" pitchFamily="34" charset="0"/>
              </a:rPr>
              <a:t>DNA</a:t>
            </a:r>
            <a:r>
              <a:rPr lang="zh-CN" altLang="en-US" sz="1800" dirty="0">
                <a:effectLst/>
                <a:latin typeface="Arial" panose="020B0604020202020204" pitchFamily="34" charset="0"/>
                <a:ea typeface="微软雅黑" panose="020B0503020204020204" pitchFamily="34" charset="-122"/>
                <a:cs typeface="Arial" panose="020B0604020202020204" pitchFamily="34" charset="0"/>
              </a:rPr>
              <a:t>修复领域的进步</a:t>
            </a:r>
            <a:endParaRPr lang="en-US" altLang="zh-CN" sz="1800" dirty="0">
              <a:effectLst/>
              <a:latin typeface="Arial" panose="020B0604020202020204" pitchFamily="34" charset="0"/>
              <a:ea typeface="微软雅黑" panose="020B0503020204020204" pitchFamily="34" charset="-122"/>
              <a:cs typeface="Arial" panose="020B0604020202020204" pitchFamily="34" charset="0"/>
            </a:endParaRPr>
          </a:p>
        </p:txBody>
      </p:sp>
      <p:sp>
        <p:nvSpPr>
          <p:cNvPr id="11" name="文本框 10"/>
          <p:cNvSpPr txBox="1"/>
          <p:nvPr/>
        </p:nvSpPr>
        <p:spPr>
          <a:xfrm>
            <a:off x="861884" y="412063"/>
            <a:ext cx="1868959" cy="584775"/>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sz="3200" b="1" dirty="0">
                <a:latin typeface="微软雅黑" panose="020B0503020204020204" pitchFamily="34" charset="-122"/>
                <a:ea typeface="微软雅黑" panose="020B0503020204020204" pitchFamily="34" charset="-122"/>
                <a:cs typeface="Arial" panose="020B0604020202020204" pitchFamily="34" charset="0"/>
              </a:rPr>
              <a:t>主要内容</a:t>
            </a:r>
          </a:p>
        </p:txBody>
      </p:sp>
      <p:sp>
        <p:nvSpPr>
          <p:cNvPr id="12" name="文本框 11"/>
          <p:cNvSpPr txBox="1"/>
          <p:nvPr/>
        </p:nvSpPr>
        <p:spPr>
          <a:xfrm>
            <a:off x="3386782" y="4014572"/>
            <a:ext cx="4524100" cy="1668405"/>
          </a:xfrm>
          <a:prstGeom prst="rect">
            <a:avLst/>
          </a:prstGeom>
          <a:noFill/>
        </p:spPr>
        <p:txBody>
          <a:bodyPr wrap="square">
            <a:spAutoFit/>
          </a:bodyPr>
          <a:lstStyle/>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p"/>
              <a:defRPr/>
            </a:pPr>
            <a:r>
              <a:rPr lang="zh-CN" altLang="en-US" dirty="0">
                <a:sym typeface="+mn-ea"/>
              </a:rPr>
              <a:t>归巢核酸内切酶</a:t>
            </a:r>
            <a:endParaRPr lang="en-US" altLang="zh-CN" dirty="0">
              <a:sym typeface="+mn-ea"/>
            </a:endParaRP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p"/>
              <a:defRPr/>
            </a:pPr>
            <a:r>
              <a:rPr lang="en-US" altLang="zh-CN" dirty="0">
                <a:latin typeface="Arial" panose="020B0604020202020204" pitchFamily="34" charset="0"/>
                <a:ea typeface="微软雅黑" panose="020B0503020204020204" pitchFamily="34" charset="-122"/>
                <a:cs typeface="Arial" panose="020B0604020202020204" pitchFamily="34" charset="0"/>
              </a:rPr>
              <a:t>ZEN</a:t>
            </a:r>
            <a:endParaRPr lang="en-US" altLang="zh-CN" sz="1800" dirty="0">
              <a:effectLst/>
              <a:latin typeface="Arial" panose="020B0604020202020204" pitchFamily="34" charset="0"/>
              <a:ea typeface="微软雅黑" panose="020B0503020204020204" pitchFamily="34" charset="-122"/>
              <a:cs typeface="Arial" panose="020B0604020202020204" pitchFamily="34" charset="0"/>
            </a:endParaRP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p"/>
              <a:defRPr/>
            </a:pPr>
            <a:r>
              <a:rPr lang="en-US" altLang="zh-CN" dirty="0">
                <a:latin typeface="Arial" panose="020B0604020202020204" pitchFamily="34" charset="0"/>
                <a:ea typeface="微软雅黑" panose="020B0503020204020204" pitchFamily="34" charset="-122"/>
                <a:cs typeface="Arial" panose="020B0604020202020204" pitchFamily="34" charset="0"/>
              </a:rPr>
              <a:t>TALEN</a:t>
            </a:r>
            <a:endParaRPr lang="en-US" altLang="zh-CN" sz="1800" dirty="0">
              <a:effectLst/>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7" grpId="1"/>
      <p:bldP spid="9" grpId="0"/>
      <p:bldP spid="9" grpId="1"/>
      <p:bldP spid="12" grpId="0"/>
      <p:bldP spid="12"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1308100" y="868151"/>
            <a:ext cx="9842500" cy="4934373"/>
            <a:chOff x="1397000" y="1207854"/>
            <a:chExt cx="9842500" cy="4934373"/>
          </a:xfrm>
        </p:grpSpPr>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7000" y="1207854"/>
              <a:ext cx="9842500" cy="4934373"/>
            </a:xfrm>
            <a:prstGeom prst="rect">
              <a:avLst/>
            </a:prstGeom>
          </p:spPr>
        </p:pic>
        <p:sp>
          <p:nvSpPr>
            <p:cNvPr id="8" name="矩形 7"/>
            <p:cNvSpPr/>
            <p:nvPr/>
          </p:nvSpPr>
          <p:spPr>
            <a:xfrm>
              <a:off x="10071100" y="1320800"/>
              <a:ext cx="1079500" cy="9779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2" name="矩形 11"/>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p:cNvSpPr txBox="1"/>
          <p:nvPr/>
        </p:nvSpPr>
        <p:spPr>
          <a:xfrm>
            <a:off x="0" y="0"/>
            <a:ext cx="12192000" cy="58477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细胞</a:t>
            </a: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DNA</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的损伤</a:t>
            </a:r>
          </a:p>
        </p:txBody>
      </p:sp>
      <p:sp>
        <p:nvSpPr>
          <p:cNvPr id="2" name="文本框 1"/>
          <p:cNvSpPr txBox="1"/>
          <p:nvPr/>
        </p:nvSpPr>
        <p:spPr>
          <a:xfrm>
            <a:off x="1773555" y="5802630"/>
            <a:ext cx="1261110"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effectLst/>
                <a:latin typeface="Arial" panose="020B0604020202020204" pitchFamily="34" charset="0"/>
                <a:ea typeface="微软雅黑" panose="020B0503020204020204" pitchFamily="34" charset="-122"/>
                <a:cs typeface="Arial" panose="020B0604020202020204" pitchFamily="34" charset="0"/>
                <a:sym typeface="+mn-ea"/>
              </a:rPr>
              <a:t>碱基错配</a:t>
            </a:r>
            <a:endParaRPr lang="zh-CN" altLang="en-US" sz="1800" b="1" dirty="0">
              <a:effectLst/>
              <a:latin typeface="Arial" panose="020B0604020202020204" pitchFamily="34" charset="0"/>
              <a:ea typeface="微软雅黑" panose="020B0503020204020204" pitchFamily="34" charset="-122"/>
              <a:cs typeface="Arial" panose="020B0604020202020204" pitchFamily="34" charset="0"/>
            </a:endParaRPr>
          </a:p>
        </p:txBody>
      </p:sp>
      <p:sp>
        <p:nvSpPr>
          <p:cNvPr id="3" name="文本框 2"/>
          <p:cNvSpPr txBox="1"/>
          <p:nvPr/>
        </p:nvSpPr>
        <p:spPr>
          <a:xfrm>
            <a:off x="3602355" y="5802630"/>
            <a:ext cx="1261110"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effectLst/>
                <a:latin typeface="Arial" panose="020B0604020202020204" pitchFamily="34" charset="0"/>
                <a:ea typeface="微软雅黑" panose="020B0503020204020204" pitchFamily="34" charset="-122"/>
                <a:cs typeface="Arial" panose="020B0604020202020204" pitchFamily="34" charset="0"/>
                <a:sym typeface="+mn-ea"/>
              </a:rPr>
              <a:t>单链断裂</a:t>
            </a:r>
          </a:p>
        </p:txBody>
      </p:sp>
      <p:sp>
        <p:nvSpPr>
          <p:cNvPr id="4" name="文本框 3"/>
          <p:cNvSpPr txBox="1"/>
          <p:nvPr/>
        </p:nvSpPr>
        <p:spPr>
          <a:xfrm>
            <a:off x="5598795" y="5802630"/>
            <a:ext cx="1261110"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effectLst/>
                <a:latin typeface="Arial" panose="020B0604020202020204" pitchFamily="34" charset="0"/>
                <a:ea typeface="微软雅黑" panose="020B0503020204020204" pitchFamily="34" charset="-122"/>
                <a:cs typeface="Arial" panose="020B0604020202020204" pitchFamily="34" charset="0"/>
                <a:sym typeface="+mn-ea"/>
              </a:rPr>
              <a:t>双链断裂</a:t>
            </a:r>
          </a:p>
        </p:txBody>
      </p:sp>
      <p:sp>
        <p:nvSpPr>
          <p:cNvPr id="5" name="文本框 4"/>
          <p:cNvSpPr txBox="1"/>
          <p:nvPr/>
        </p:nvSpPr>
        <p:spPr>
          <a:xfrm>
            <a:off x="7402195" y="5802630"/>
            <a:ext cx="1261110"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effectLst/>
                <a:latin typeface="Arial" panose="020B0604020202020204" pitchFamily="34" charset="0"/>
                <a:ea typeface="微软雅黑" panose="020B0503020204020204" pitchFamily="34" charset="-122"/>
                <a:cs typeface="Arial" panose="020B0604020202020204" pitchFamily="34" charset="0"/>
                <a:sym typeface="+mn-ea"/>
              </a:rPr>
              <a:t>交叉连接</a:t>
            </a:r>
          </a:p>
        </p:txBody>
      </p:sp>
      <p:sp>
        <p:nvSpPr>
          <p:cNvPr id="11" name="文本框 10"/>
          <p:cNvSpPr txBox="1"/>
          <p:nvPr/>
        </p:nvSpPr>
        <p:spPr>
          <a:xfrm>
            <a:off x="9435647" y="5798275"/>
            <a:ext cx="1261110" cy="3683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effectLst/>
                <a:latin typeface="Arial" panose="020B0604020202020204" pitchFamily="34" charset="0"/>
                <a:ea typeface="微软雅黑" panose="020B0503020204020204" pitchFamily="34" charset="-122"/>
                <a:cs typeface="Arial" panose="020B0604020202020204" pitchFamily="34" charset="0"/>
                <a:sym typeface="+mn-ea"/>
              </a:rPr>
              <a:t>链内交联</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44DD638-504C-5FC4-F6D8-4EC4A0E26073}"/>
              </a:ext>
            </a:extLst>
          </p:cNvPr>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18E5422D-3C7A-754D-C5DA-E87D4C9AFEE0}"/>
              </a:ext>
            </a:extLst>
          </p:cNvPr>
          <p:cNvSpPr txBox="1"/>
          <p:nvPr/>
        </p:nvSpPr>
        <p:spPr>
          <a:xfrm>
            <a:off x="0" y="0"/>
            <a:ext cx="12192000" cy="584775"/>
          </a:xfrm>
          <a:prstGeom prst="rect">
            <a:avLst/>
          </a:prstGeom>
          <a:noFill/>
        </p:spPr>
        <p:txBody>
          <a:bodyPr wrap="square" rtlCol="0">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DNA</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损伤的修复</a:t>
            </a:r>
          </a:p>
        </p:txBody>
      </p:sp>
      <p:graphicFrame>
        <p:nvGraphicFramePr>
          <p:cNvPr id="6" name="表格 5">
            <a:extLst>
              <a:ext uri="{FF2B5EF4-FFF2-40B4-BE49-F238E27FC236}">
                <a16:creationId xmlns:a16="http://schemas.microsoft.com/office/drawing/2014/main" id="{2527E2F4-46D6-076F-BE08-B2D713F95CFD}"/>
              </a:ext>
            </a:extLst>
          </p:cNvPr>
          <p:cNvGraphicFramePr>
            <a:graphicFrameLocks noGrp="1"/>
          </p:cNvGraphicFramePr>
          <p:nvPr>
            <p:extLst>
              <p:ext uri="{D42A27DB-BD31-4B8C-83A1-F6EECF244321}">
                <p14:modId xmlns:p14="http://schemas.microsoft.com/office/powerpoint/2010/main" val="378278329"/>
              </p:ext>
            </p:extLst>
          </p:nvPr>
        </p:nvGraphicFramePr>
        <p:xfrm>
          <a:off x="1039491" y="1870385"/>
          <a:ext cx="10109844" cy="2961640"/>
        </p:xfrm>
        <a:graphic>
          <a:graphicData uri="http://schemas.openxmlformats.org/drawingml/2006/table">
            <a:tbl>
              <a:tblPr firstRow="1" bandRow="1">
                <a:tableStyleId>{5C22544A-7EE6-4342-B048-85BDC9FD1C3A}</a:tableStyleId>
              </a:tblPr>
              <a:tblGrid>
                <a:gridCol w="3369948">
                  <a:extLst>
                    <a:ext uri="{9D8B030D-6E8A-4147-A177-3AD203B41FA5}">
                      <a16:colId xmlns:a16="http://schemas.microsoft.com/office/drawing/2014/main" val="3984317916"/>
                    </a:ext>
                  </a:extLst>
                </a:gridCol>
                <a:gridCol w="3369948">
                  <a:extLst>
                    <a:ext uri="{9D8B030D-6E8A-4147-A177-3AD203B41FA5}">
                      <a16:colId xmlns:a16="http://schemas.microsoft.com/office/drawing/2014/main" val="2411184189"/>
                    </a:ext>
                  </a:extLst>
                </a:gridCol>
                <a:gridCol w="3369948">
                  <a:extLst>
                    <a:ext uri="{9D8B030D-6E8A-4147-A177-3AD203B41FA5}">
                      <a16:colId xmlns:a16="http://schemas.microsoft.com/office/drawing/2014/main" val="564869895"/>
                    </a:ext>
                  </a:extLst>
                </a:gridCol>
              </a:tblGrid>
              <a:tr h="370840">
                <a:tc>
                  <a:txBody>
                    <a:bodyPr/>
                    <a:lstStyle/>
                    <a:p>
                      <a:pPr algn="ctr"/>
                      <a:r>
                        <a:rPr lang="en-US" altLang="zh-CN" b="1" dirty="0">
                          <a:latin typeface="微软雅黑" panose="020B0503020204020204" pitchFamily="34" charset="-122"/>
                          <a:ea typeface="微软雅黑" panose="020B0503020204020204" pitchFamily="34" charset="-122"/>
                        </a:rPr>
                        <a:t>DNA</a:t>
                      </a:r>
                      <a:r>
                        <a:rPr lang="zh-CN" altLang="en-US" b="1" dirty="0">
                          <a:latin typeface="微软雅黑" panose="020B0503020204020204" pitchFamily="34" charset="-122"/>
                          <a:ea typeface="微软雅黑" panose="020B0503020204020204" pitchFamily="34" charset="-122"/>
                        </a:rPr>
                        <a:t>的修复系统</a:t>
                      </a:r>
                    </a:p>
                  </a:txBody>
                  <a:tcPr/>
                </a:tc>
                <a:tc>
                  <a:txBody>
                    <a:bodyPr/>
                    <a:lstStyle/>
                    <a:p>
                      <a:pPr algn="ctr"/>
                      <a:r>
                        <a:rPr lang="zh-CN" altLang="en-US" b="1" dirty="0">
                          <a:latin typeface="微软雅黑" panose="020B0503020204020204" pitchFamily="34" charset="-122"/>
                          <a:ea typeface="微软雅黑" panose="020B0503020204020204" pitchFamily="34" charset="-122"/>
                        </a:rPr>
                        <a:t>应对的损伤类型</a:t>
                      </a:r>
                    </a:p>
                  </a:txBody>
                  <a:tcPr/>
                </a:tc>
                <a:tc>
                  <a:txBody>
                    <a:bodyPr/>
                    <a:lstStyle/>
                    <a:p>
                      <a:pPr algn="ctr"/>
                      <a:r>
                        <a:rPr lang="zh-CN" altLang="en-US" b="1" dirty="0">
                          <a:latin typeface="微软雅黑" panose="020B0503020204020204" pitchFamily="34" charset="-122"/>
                          <a:ea typeface="微软雅黑" panose="020B0503020204020204" pitchFamily="34" charset="-122"/>
                        </a:rPr>
                        <a:t>功能</a:t>
                      </a:r>
                    </a:p>
                  </a:txBody>
                  <a:tcPr/>
                </a:tc>
                <a:extLst>
                  <a:ext uri="{0D108BD9-81ED-4DB2-BD59-A6C34878D82A}">
                    <a16:rowId xmlns:a16="http://schemas.microsoft.com/office/drawing/2014/main" val="4069644919"/>
                  </a:ext>
                </a:extLst>
              </a:tr>
              <a:tr h="370840">
                <a:tc>
                  <a:txBody>
                    <a:bodyPr/>
                    <a:lstStyle/>
                    <a:p>
                      <a:pPr algn="ctr"/>
                      <a:r>
                        <a:rPr lang="zh-CN" altLang="en-US" dirty="0">
                          <a:latin typeface="微软雅黑" panose="020B0503020204020204" pitchFamily="34" charset="-122"/>
                          <a:ea typeface="微软雅黑" panose="020B0503020204020204" pitchFamily="34" charset="-122"/>
                        </a:rPr>
                        <a:t>错配修复</a:t>
                      </a:r>
                    </a:p>
                  </a:txBody>
                  <a:tcPr/>
                </a:tc>
                <a:tc>
                  <a:txBody>
                    <a:bodyPr/>
                    <a:lstStyle/>
                    <a:p>
                      <a:pPr algn="ctr"/>
                      <a:r>
                        <a:rPr lang="zh-CN" altLang="en-US" dirty="0">
                          <a:latin typeface="微软雅黑" panose="020B0503020204020204" pitchFamily="34" charset="-122"/>
                          <a:ea typeface="微软雅黑" panose="020B0503020204020204" pitchFamily="34" charset="-122"/>
                        </a:rPr>
                        <a:t>复制错误</a:t>
                      </a:r>
                    </a:p>
                  </a:txBody>
                  <a:tcPr/>
                </a:tc>
                <a:tc>
                  <a:txBody>
                    <a:bodyPr/>
                    <a:lstStyle/>
                    <a:p>
                      <a:pPr algn="ctr"/>
                      <a:r>
                        <a:rPr lang="zh-CN" altLang="en-US" dirty="0">
                          <a:latin typeface="微软雅黑" panose="020B0503020204020204" pitchFamily="34" charset="-122"/>
                          <a:ea typeface="微软雅黑" panose="020B0503020204020204" pitchFamily="34" charset="-122"/>
                        </a:rPr>
                        <a:t>恢复错配</a:t>
                      </a:r>
                    </a:p>
                  </a:txBody>
                  <a:tcPr/>
                </a:tc>
                <a:extLst>
                  <a:ext uri="{0D108BD9-81ED-4DB2-BD59-A6C34878D82A}">
                    <a16:rowId xmlns:a16="http://schemas.microsoft.com/office/drawing/2014/main" val="3030765431"/>
                  </a:ext>
                </a:extLst>
              </a:tr>
              <a:tr h="370840">
                <a:tc>
                  <a:txBody>
                    <a:bodyPr/>
                    <a:lstStyle/>
                    <a:p>
                      <a:pPr algn="ctr"/>
                      <a:r>
                        <a:rPr lang="zh-CN" altLang="en-US" dirty="0">
                          <a:latin typeface="微软雅黑" panose="020B0503020204020204" pitchFamily="34" charset="-122"/>
                          <a:ea typeface="微软雅黑" panose="020B0503020204020204" pitchFamily="34" charset="-122"/>
                        </a:rPr>
                        <a:t>碱基切除修复</a:t>
                      </a:r>
                    </a:p>
                  </a:txBody>
                  <a:tcPr/>
                </a:tc>
                <a:tc>
                  <a:txBody>
                    <a:bodyPr/>
                    <a:lstStyle/>
                    <a:p>
                      <a:pPr algn="ctr"/>
                      <a:r>
                        <a:rPr lang="zh-CN" altLang="en-US" dirty="0">
                          <a:latin typeface="微软雅黑" panose="020B0503020204020204" pitchFamily="34" charset="-122"/>
                          <a:ea typeface="微软雅黑" panose="020B0503020204020204" pitchFamily="34" charset="-122"/>
                        </a:rPr>
                        <a:t>受损的碱基</a:t>
                      </a:r>
                    </a:p>
                  </a:txBody>
                  <a:tcPr/>
                </a:tc>
                <a:tc>
                  <a:txBody>
                    <a:bodyPr/>
                    <a:lstStyle/>
                    <a:p>
                      <a:pPr algn="ctr"/>
                      <a:r>
                        <a:rPr lang="zh-CN" altLang="en-US" dirty="0">
                          <a:latin typeface="微软雅黑" panose="020B0503020204020204" pitchFamily="34" charset="-122"/>
                          <a:ea typeface="微软雅黑" panose="020B0503020204020204" pitchFamily="34" charset="-122"/>
                        </a:rPr>
                        <a:t>切除突变的碱基</a:t>
                      </a:r>
                    </a:p>
                  </a:txBody>
                  <a:tcPr/>
                </a:tc>
                <a:extLst>
                  <a:ext uri="{0D108BD9-81ED-4DB2-BD59-A6C34878D82A}">
                    <a16:rowId xmlns:a16="http://schemas.microsoft.com/office/drawing/2014/main" val="1992054630"/>
                  </a:ext>
                </a:extLst>
              </a:tr>
              <a:tr h="370840">
                <a:tc>
                  <a:txBody>
                    <a:bodyPr/>
                    <a:lstStyle/>
                    <a:p>
                      <a:pPr algn="ctr"/>
                      <a:r>
                        <a:rPr lang="zh-CN" altLang="en-US" dirty="0">
                          <a:latin typeface="微软雅黑" panose="020B0503020204020204" pitchFamily="34" charset="-122"/>
                          <a:ea typeface="微软雅黑" panose="020B0503020204020204" pitchFamily="34" charset="-122"/>
                        </a:rPr>
                        <a:t>核苷酸切除修复</a:t>
                      </a:r>
                    </a:p>
                  </a:txBody>
                  <a:tcPr/>
                </a:tc>
                <a:tc>
                  <a:txBody>
                    <a:bodyPr/>
                    <a:lstStyle/>
                    <a:p>
                      <a:pPr algn="ctr"/>
                      <a:r>
                        <a:rPr lang="zh-CN" altLang="en-US" dirty="0">
                          <a:latin typeface="微软雅黑" panose="020B0503020204020204" pitchFamily="34" charset="-122"/>
                          <a:ea typeface="微软雅黑" panose="020B0503020204020204" pitchFamily="34" charset="-122"/>
                        </a:rPr>
                        <a:t>嘧啶二聚体</a:t>
                      </a:r>
                    </a:p>
                  </a:txBody>
                  <a:tcPr/>
                </a:tc>
                <a:tc>
                  <a:txBody>
                    <a:bodyPr/>
                    <a:lstStyle/>
                    <a:p>
                      <a:pPr algn="ctr"/>
                      <a:r>
                        <a:rPr lang="zh-CN" altLang="en-US" dirty="0">
                          <a:latin typeface="微软雅黑" panose="020B0503020204020204" pitchFamily="34" charset="-122"/>
                          <a:ea typeface="微软雅黑" panose="020B0503020204020204" pitchFamily="34" charset="-122"/>
                        </a:rPr>
                        <a:t>切除突变的核苷酸片段</a:t>
                      </a:r>
                    </a:p>
                  </a:txBody>
                  <a:tcPr/>
                </a:tc>
                <a:extLst>
                  <a:ext uri="{0D108BD9-81ED-4DB2-BD59-A6C34878D82A}">
                    <a16:rowId xmlns:a16="http://schemas.microsoft.com/office/drawing/2014/main" val="1741296797"/>
                  </a:ext>
                </a:extLst>
              </a:tr>
              <a:tr h="370840">
                <a:tc>
                  <a:txBody>
                    <a:bodyPr/>
                    <a:lstStyle/>
                    <a:p>
                      <a:pPr algn="ctr"/>
                      <a:r>
                        <a:rPr lang="zh-CN" altLang="en-US" dirty="0">
                          <a:latin typeface="微软雅黑" panose="020B0503020204020204" pitchFamily="34" charset="-122"/>
                          <a:ea typeface="微软雅黑" panose="020B0503020204020204" pitchFamily="34" charset="-122"/>
                        </a:rPr>
                        <a:t>双链断裂修复</a:t>
                      </a:r>
                    </a:p>
                  </a:txBody>
                  <a:tcPr/>
                </a:tc>
                <a:tc>
                  <a:txBody>
                    <a:bodyPr/>
                    <a:lstStyle/>
                    <a:p>
                      <a:pPr algn="ctr"/>
                      <a:r>
                        <a:rPr lang="zh-CN" altLang="en-US" dirty="0">
                          <a:latin typeface="微软雅黑" panose="020B0503020204020204" pitchFamily="34" charset="-122"/>
                          <a:ea typeface="微软雅黑" panose="020B0503020204020204" pitchFamily="34" charset="-122"/>
                        </a:rPr>
                        <a:t>双链断裂</a:t>
                      </a:r>
                    </a:p>
                  </a:txBody>
                  <a:tcPr/>
                </a:tc>
                <a:tc>
                  <a:txBody>
                    <a:bodyPr/>
                    <a:lstStyle/>
                    <a:p>
                      <a:pPr algn="ctr"/>
                      <a:r>
                        <a:rPr lang="zh-CN" altLang="en-US" dirty="0">
                          <a:latin typeface="微软雅黑" panose="020B0503020204020204" pitchFamily="34" charset="-122"/>
                          <a:ea typeface="微软雅黑" panose="020B0503020204020204" pitchFamily="34" charset="-122"/>
                        </a:rPr>
                        <a:t>修复</a:t>
                      </a:r>
                      <a:r>
                        <a:rPr lang="en-US" altLang="zh-CN" dirty="0">
                          <a:latin typeface="微软雅黑" panose="020B0503020204020204" pitchFamily="34" charset="-122"/>
                          <a:ea typeface="微软雅黑" panose="020B0503020204020204" pitchFamily="34" charset="-122"/>
                        </a:rPr>
                        <a:t>DNA</a:t>
                      </a:r>
                      <a:r>
                        <a:rPr lang="zh-CN" altLang="en-US" dirty="0">
                          <a:latin typeface="微软雅黑" panose="020B0503020204020204" pitchFamily="34" charset="-122"/>
                          <a:ea typeface="微软雅黑" panose="020B0503020204020204" pitchFamily="34" charset="-122"/>
                        </a:rPr>
                        <a:t>的损伤</a:t>
                      </a:r>
                    </a:p>
                  </a:txBody>
                  <a:tcPr/>
                </a:tc>
                <a:extLst>
                  <a:ext uri="{0D108BD9-81ED-4DB2-BD59-A6C34878D82A}">
                    <a16:rowId xmlns:a16="http://schemas.microsoft.com/office/drawing/2014/main" val="1069408614"/>
                  </a:ext>
                </a:extLst>
              </a:tr>
              <a:tr h="141809">
                <a:tc>
                  <a:txBody>
                    <a:bodyPr/>
                    <a:lstStyle/>
                    <a:p>
                      <a:pPr algn="ctr"/>
                      <a:r>
                        <a:rPr lang="zh-CN" altLang="en-US" dirty="0">
                          <a:latin typeface="微软雅黑" panose="020B0503020204020204" pitchFamily="34" charset="-122"/>
                          <a:ea typeface="微软雅黑" panose="020B0503020204020204" pitchFamily="34" charset="-122"/>
                        </a:rPr>
                        <a:t>光复活作用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ea typeface="微软雅黑" panose="020B0503020204020204" pitchFamily="34" charset="-122"/>
                        </a:rPr>
                        <a:t>嘧啶二聚体和甲基化</a:t>
                      </a:r>
                      <a:r>
                        <a:rPr lang="en-US" altLang="zh-CN" dirty="0">
                          <a:latin typeface="微软雅黑" panose="020B0503020204020204" pitchFamily="34" charset="-122"/>
                          <a:ea typeface="微软雅黑" panose="020B0503020204020204" pitchFamily="34" charset="-122"/>
                        </a:rPr>
                        <a:t>DNA</a:t>
                      </a:r>
                      <a:endParaRPr lang="zh-CN" altLang="en-US" dirty="0">
                        <a:latin typeface="微软雅黑" panose="020B0503020204020204" pitchFamily="34" charset="-122"/>
                        <a:ea typeface="微软雅黑" panose="020B0503020204020204" pitchFamily="34"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latin typeface="微软雅黑" panose="020B0503020204020204" pitchFamily="34" charset="-122"/>
                          <a:ea typeface="微软雅黑" panose="020B0503020204020204" pitchFamily="34" charset="-122"/>
                        </a:rPr>
                        <a:t>修复嘧啶二聚体和甲基化</a:t>
                      </a:r>
                      <a:r>
                        <a:rPr lang="en-US" altLang="zh-CN" dirty="0">
                          <a:latin typeface="微软雅黑" panose="020B0503020204020204" pitchFamily="34" charset="-122"/>
                          <a:ea typeface="微软雅黑" panose="020B0503020204020204" pitchFamily="34" charset="-122"/>
                        </a:rPr>
                        <a:t>DNA</a:t>
                      </a: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996545116"/>
                  </a:ext>
                </a:extLst>
              </a:tr>
              <a:tr h="370840">
                <a:tc>
                  <a:txBody>
                    <a:bodyPr/>
                    <a:lstStyle/>
                    <a:p>
                      <a:pPr algn="ctr"/>
                      <a:r>
                        <a:rPr lang="en-US" altLang="zh-CN" dirty="0">
                          <a:latin typeface="微软雅黑" panose="020B0503020204020204" pitchFamily="34" charset="-122"/>
                          <a:ea typeface="微软雅黑" panose="020B0503020204020204" pitchFamily="34" charset="-122"/>
                        </a:rPr>
                        <a:t>SOS</a:t>
                      </a:r>
                      <a:r>
                        <a:rPr lang="zh-CN" altLang="en-US" dirty="0">
                          <a:latin typeface="微软雅黑" panose="020B0503020204020204" pitchFamily="34" charset="-122"/>
                          <a:ea typeface="微软雅黑" panose="020B0503020204020204" pitchFamily="34" charset="-122"/>
                        </a:rPr>
                        <a:t>修复</a:t>
                      </a:r>
                    </a:p>
                  </a:txBody>
                  <a:tcPr/>
                </a:tc>
                <a:tc>
                  <a:txBody>
                    <a:bodyPr/>
                    <a:lstStyle/>
                    <a:p>
                      <a:pPr algn="ctr"/>
                      <a:r>
                        <a:rPr lang="zh-CN" altLang="en-US" dirty="0">
                          <a:latin typeface="微软雅黑" panose="020B0503020204020204" pitchFamily="34" charset="-122"/>
                          <a:ea typeface="微软雅黑" panose="020B0503020204020204" pitchFamily="34" charset="-122"/>
                        </a:rPr>
                        <a:t>嘧啶二聚体</a:t>
                      </a:r>
                    </a:p>
                  </a:txBody>
                  <a:tcPr/>
                </a:tc>
                <a:tc>
                  <a:txBody>
                    <a:bodyPr/>
                    <a:lstStyle/>
                    <a:p>
                      <a:pPr algn="ctr"/>
                      <a:r>
                        <a:rPr lang="zh-CN" altLang="en-US" dirty="0">
                          <a:latin typeface="微软雅黑" panose="020B0503020204020204" pitchFamily="34" charset="-122"/>
                          <a:ea typeface="微软雅黑" panose="020B0503020204020204" pitchFamily="34" charset="-122"/>
                        </a:rPr>
                        <a:t>维持基因组的完整性</a:t>
                      </a:r>
                    </a:p>
                  </a:txBody>
                  <a:tcPr/>
                </a:tc>
                <a:extLst>
                  <a:ext uri="{0D108BD9-81ED-4DB2-BD59-A6C34878D82A}">
                    <a16:rowId xmlns:a16="http://schemas.microsoft.com/office/drawing/2014/main" val="151141368"/>
                  </a:ext>
                </a:extLst>
              </a:tr>
              <a:tr h="370840">
                <a:tc>
                  <a:txBody>
                    <a:bodyPr/>
                    <a:lstStyle/>
                    <a:p>
                      <a:pPr algn="ct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txBody>
                  <a:tcPr/>
                </a:tc>
                <a:tc>
                  <a:txBody>
                    <a:bodyPr/>
                    <a:lstStyle/>
                    <a:p>
                      <a:pPr algn="ctr"/>
                      <a:endParaRPr lang="zh-CN" altLang="en-US">
                        <a:latin typeface="微软雅黑" panose="020B0503020204020204" pitchFamily="34" charset="-122"/>
                        <a:ea typeface="微软雅黑" panose="020B0503020204020204" pitchFamily="34" charset="-122"/>
                      </a:endParaRPr>
                    </a:p>
                  </a:txBody>
                  <a:tcPr/>
                </a:tc>
                <a:tc>
                  <a:txBody>
                    <a:bodyPr/>
                    <a:lstStyle/>
                    <a:p>
                      <a:pPr algn="ctr"/>
                      <a:endParaRPr lang="zh-CN" altLang="en-US"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232794238"/>
                  </a:ext>
                </a:extLst>
              </a:tr>
            </a:tbl>
          </a:graphicData>
        </a:graphic>
      </p:graphicFrame>
      <p:sp>
        <p:nvSpPr>
          <p:cNvPr id="7" name="矩形 6">
            <a:extLst>
              <a:ext uri="{FF2B5EF4-FFF2-40B4-BE49-F238E27FC236}">
                <a16:creationId xmlns:a16="http://schemas.microsoft.com/office/drawing/2014/main" id="{19470661-46E5-79E8-0FE4-B332907757E5}"/>
              </a:ext>
            </a:extLst>
          </p:cNvPr>
          <p:cNvSpPr/>
          <p:nvPr/>
        </p:nvSpPr>
        <p:spPr>
          <a:xfrm>
            <a:off x="381965" y="3310359"/>
            <a:ext cx="11505235" cy="381966"/>
          </a:xfrm>
          <a:prstGeom prst="rect">
            <a:avLst/>
          </a:prstGeom>
          <a:noFill/>
          <a:ln w="38100" cmpd="sng">
            <a:solidFill>
              <a:srgbClr val="FF0000"/>
            </a:solidFill>
            <a:prstDash val="solid"/>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2916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p:cNvSpPr txBox="1"/>
          <p:nvPr/>
        </p:nvSpPr>
        <p:spPr>
          <a:xfrm>
            <a:off x="0" y="0"/>
            <a:ext cx="12192000" cy="58356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双链断裂</a:t>
            </a: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(Double strand break,</a:t>
            </a:r>
            <a:r>
              <a:rPr lang="en-US" altLang="zh-CN" sz="3200" b="1" dirty="0" err="1">
                <a:solidFill>
                  <a:schemeClr val="bg1"/>
                </a:solidFill>
                <a:latin typeface="微软雅黑" panose="020B0503020204020204" pitchFamily="34" charset="-122"/>
                <a:ea typeface="微软雅黑" panose="020B0503020204020204" pitchFamily="34" charset="-122"/>
                <a:cs typeface="Arial" panose="020B0604020202020204" pitchFamily="34" charset="0"/>
              </a:rPr>
              <a:t>DSB</a:t>
            </a: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endPar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文本框 10"/>
          <p:cNvSpPr txBox="1"/>
          <p:nvPr/>
        </p:nvSpPr>
        <p:spPr>
          <a:xfrm>
            <a:off x="3228975" y="3278762"/>
            <a:ext cx="6070600" cy="2956579"/>
          </a:xfrm>
          <a:prstGeom prst="rect">
            <a:avLst/>
          </a:prstGeom>
          <a:noFill/>
        </p:spPr>
        <p:txBody>
          <a:bodyPr wrap="square">
            <a:spAutoFit/>
          </a:bodyPr>
          <a:lstStyle/>
          <a:p>
            <a:pPr>
              <a:lnSpc>
                <a:spcPct val="150000"/>
              </a:lnSpc>
              <a:spcBef>
                <a:spcPct val="0"/>
              </a:spcBef>
              <a:spcAft>
                <a:spcPct val="0"/>
              </a:spcAft>
            </a:pPr>
            <a:r>
              <a:rPr lang="en-US" altLang="zh-CN" sz="2400" b="1" dirty="0">
                <a:solidFill>
                  <a:srgbClr val="120649"/>
                </a:solidFill>
                <a:latin typeface="Calibri" panose="020F0502020204030204" pitchFamily="34" charset="0"/>
                <a:ea typeface="微软雅黑" panose="020B0503020204020204" pitchFamily="34" charset="-122"/>
                <a:cs typeface="Calibri" panose="020F0502020204030204" pitchFamily="34" charset="0"/>
              </a:rPr>
              <a:t>1</a:t>
            </a:r>
            <a:r>
              <a:rPr lang="zh-CN" altLang="en-US" sz="2400" b="1" dirty="0">
                <a:solidFill>
                  <a:srgbClr val="120649"/>
                </a:solidFill>
                <a:latin typeface="Calibri" panose="020F0502020204030204" pitchFamily="34" charset="0"/>
                <a:ea typeface="微软雅黑" panose="020B0503020204020204" pitchFamily="34" charset="-122"/>
                <a:cs typeface="Calibri" panose="020F0502020204030204" pitchFamily="34" charset="0"/>
              </a:rPr>
              <a:t> 、辐射原因</a:t>
            </a:r>
            <a:endParaRPr lang="en-US" altLang="zh-CN" sz="2400" b="1" dirty="0">
              <a:solidFill>
                <a:srgbClr val="120649"/>
              </a:solidFill>
              <a:latin typeface="Calibri" panose="020F0502020204030204" pitchFamily="34" charset="0"/>
              <a:ea typeface="微软雅黑" panose="020B0503020204020204" pitchFamily="34" charset="-122"/>
              <a:cs typeface="Calibri" panose="020F0502020204030204" pitchFamily="34" charset="0"/>
            </a:endParaRPr>
          </a:p>
          <a:p>
            <a:pPr>
              <a:lnSpc>
                <a:spcPct val="150000"/>
              </a:lnSpc>
            </a:pPr>
            <a:r>
              <a:rPr lang="en-US" altLang="zh-CN" dirty="0">
                <a:effectLst/>
                <a:latin typeface="Calibri" panose="020F0502020204030204" pitchFamily="34" charset="0"/>
                <a:ea typeface="微软雅黑" panose="020B0503020204020204" pitchFamily="34" charset="-122"/>
                <a:cs typeface="Calibri" panose="020F0502020204030204" pitchFamily="34" charset="0"/>
              </a:rPr>
              <a:t>X-ray</a:t>
            </a:r>
            <a:r>
              <a:rPr lang="zh-CN" altLang="en-US" dirty="0">
                <a:effectLst/>
                <a:latin typeface="Calibri" panose="020F0502020204030204" pitchFamily="34" charset="0"/>
                <a:ea typeface="微软雅黑" panose="020B0503020204020204" pitchFamily="34" charset="-122"/>
                <a:cs typeface="Calibri" panose="020F0502020204030204" pitchFamily="34" charset="0"/>
              </a:rPr>
              <a:t>、</a:t>
            </a:r>
            <a:r>
              <a:rPr lang="en-US" altLang="zh-CN" dirty="0">
                <a:effectLst/>
                <a:latin typeface="Calibri" panose="020F0502020204030204" pitchFamily="34" charset="0"/>
                <a:ea typeface="微软雅黑" panose="020B0503020204020204" pitchFamily="34" charset="-122"/>
                <a:cs typeface="Calibri" panose="020F0502020204030204" pitchFamily="34" charset="0"/>
              </a:rPr>
              <a:t>γ-ray</a:t>
            </a:r>
            <a:r>
              <a:rPr lang="zh-CN" altLang="en-US" dirty="0">
                <a:effectLst/>
                <a:latin typeface="Calibri" panose="020F0502020204030204" pitchFamily="34" charset="0"/>
                <a:ea typeface="微软雅黑" panose="020B0503020204020204" pitchFamily="34" charset="-122"/>
                <a:cs typeface="Calibri" panose="020F0502020204030204" pitchFamily="34" charset="0"/>
                <a:sym typeface="+mn-ea"/>
              </a:rPr>
              <a:t>、</a:t>
            </a:r>
            <a:r>
              <a:rPr lang="zh-CN" altLang="en-US" dirty="0">
                <a:effectLst/>
                <a:latin typeface="Calibri" panose="020F0502020204030204" pitchFamily="34" charset="0"/>
                <a:ea typeface="微软雅黑" panose="020B0503020204020204" pitchFamily="34" charset="-122"/>
                <a:cs typeface="Calibri" panose="020F0502020204030204" pitchFamily="34" charset="0"/>
              </a:rPr>
              <a:t>辐射会直接导致</a:t>
            </a:r>
            <a:r>
              <a:rPr lang="en-US" altLang="zh-CN" dirty="0">
                <a:effectLst/>
                <a:latin typeface="Calibri" panose="020F0502020204030204" pitchFamily="34" charset="0"/>
                <a:ea typeface="微软雅黑" panose="020B0503020204020204" pitchFamily="34" charset="-122"/>
                <a:cs typeface="Calibri" panose="020F0502020204030204" pitchFamily="34" charset="0"/>
              </a:rPr>
              <a:t>DNA</a:t>
            </a:r>
            <a:r>
              <a:rPr lang="zh-CN" altLang="en-US" dirty="0">
                <a:effectLst/>
                <a:latin typeface="Calibri" panose="020F0502020204030204" pitchFamily="34" charset="0"/>
                <a:ea typeface="微软雅黑" panose="020B0503020204020204" pitchFamily="34" charset="-122"/>
                <a:cs typeface="Calibri" panose="020F0502020204030204" pitchFamily="34" charset="0"/>
              </a:rPr>
              <a:t>双链断裂</a:t>
            </a:r>
            <a:endParaRPr lang="en-US" altLang="zh-CN" sz="2800" b="1" dirty="0">
              <a:solidFill>
                <a:srgbClr val="021EAA"/>
              </a:solidFill>
              <a:latin typeface="Calibri" panose="020F0502020204030204" pitchFamily="34" charset="0"/>
              <a:ea typeface="微软雅黑" panose="020B0503020204020204" pitchFamily="34" charset="-122"/>
              <a:cs typeface="Calibri" panose="020F0502020204030204" pitchFamily="34" charset="0"/>
            </a:endParaRPr>
          </a:p>
          <a:p>
            <a:pPr>
              <a:lnSpc>
                <a:spcPct val="150000"/>
              </a:lnSpc>
              <a:spcBef>
                <a:spcPct val="0"/>
              </a:spcBef>
              <a:spcAft>
                <a:spcPct val="0"/>
              </a:spcAft>
            </a:pPr>
            <a:r>
              <a:rPr lang="en-US" altLang="zh-CN" sz="2400" b="1" dirty="0">
                <a:solidFill>
                  <a:srgbClr val="120649"/>
                </a:solidFill>
                <a:latin typeface="Calibri" panose="020F0502020204030204" pitchFamily="34" charset="0"/>
                <a:ea typeface="微软雅黑" panose="020B0503020204020204" pitchFamily="34" charset="-122"/>
                <a:cs typeface="Calibri" panose="020F0502020204030204" pitchFamily="34" charset="0"/>
              </a:rPr>
              <a:t>2</a:t>
            </a:r>
            <a:r>
              <a:rPr lang="zh-CN" altLang="en-US" sz="2400" b="1" dirty="0">
                <a:solidFill>
                  <a:srgbClr val="120649"/>
                </a:solidFill>
                <a:latin typeface="Calibri" panose="020F0502020204030204" pitchFamily="34" charset="0"/>
                <a:ea typeface="微软雅黑" panose="020B0503020204020204" pitchFamily="34" charset="-122"/>
                <a:cs typeface="Calibri" panose="020F0502020204030204" pitchFamily="34" charset="0"/>
              </a:rPr>
              <a:t> 、化学原因</a:t>
            </a:r>
            <a:endParaRPr lang="en-US" altLang="zh-CN" sz="2400" b="1" dirty="0">
              <a:solidFill>
                <a:srgbClr val="120649"/>
              </a:solidFill>
              <a:latin typeface="Calibri" panose="020F0502020204030204" pitchFamily="34" charset="0"/>
              <a:ea typeface="微软雅黑" panose="020B0503020204020204" pitchFamily="34" charset="-122"/>
              <a:cs typeface="Calibri" panose="020F0502020204030204" pitchFamily="34" charset="0"/>
            </a:endParaRPr>
          </a:p>
          <a:p>
            <a:pPr>
              <a:lnSpc>
                <a:spcPct val="150000"/>
              </a:lnSpc>
            </a:pPr>
            <a:r>
              <a:rPr lang="zh-CN" altLang="en-US" dirty="0">
                <a:effectLst/>
                <a:latin typeface="Calibri" panose="020F0502020204030204" pitchFamily="34" charset="0"/>
                <a:ea typeface="微软雅黑" panose="020B0503020204020204" pitchFamily="34" charset="-122"/>
                <a:cs typeface="Calibri" panose="020F0502020204030204" pitchFamily="34" charset="0"/>
              </a:rPr>
              <a:t>核苷类诱变剂破坏</a:t>
            </a:r>
            <a:r>
              <a:rPr lang="en-US" altLang="zh-CN" dirty="0">
                <a:effectLst/>
                <a:latin typeface="Calibri" panose="020F0502020204030204" pitchFamily="34" charset="0"/>
                <a:ea typeface="微软雅黑" panose="020B0503020204020204" pitchFamily="34" charset="-122"/>
                <a:cs typeface="Calibri" panose="020F0502020204030204" pitchFamily="34" charset="0"/>
              </a:rPr>
              <a:t>DNA</a:t>
            </a:r>
            <a:r>
              <a:rPr lang="zh-CN" altLang="en-US" dirty="0">
                <a:effectLst/>
                <a:latin typeface="Calibri" panose="020F0502020204030204" pitchFamily="34" charset="0"/>
                <a:ea typeface="微软雅黑" panose="020B0503020204020204" pitchFamily="34" charset="-122"/>
                <a:cs typeface="Calibri" panose="020F0502020204030204" pitchFamily="34" charset="0"/>
              </a:rPr>
              <a:t>分子结构或影响核苷合成代谢过程</a:t>
            </a:r>
            <a:endParaRPr lang="en-US" altLang="zh-CN" sz="2800" b="1" dirty="0">
              <a:solidFill>
                <a:srgbClr val="021EAA"/>
              </a:solidFill>
              <a:effectLst/>
              <a:latin typeface="Calibri" panose="020F0502020204030204" pitchFamily="34" charset="0"/>
              <a:ea typeface="微软雅黑" panose="020B0503020204020204" pitchFamily="34" charset="-122"/>
              <a:cs typeface="Calibri" panose="020F0502020204030204" pitchFamily="34" charset="0"/>
            </a:endParaRPr>
          </a:p>
          <a:p>
            <a:pPr>
              <a:lnSpc>
                <a:spcPct val="150000"/>
              </a:lnSpc>
              <a:spcBef>
                <a:spcPct val="0"/>
              </a:spcBef>
              <a:spcAft>
                <a:spcPct val="0"/>
              </a:spcAft>
            </a:pPr>
            <a:r>
              <a:rPr lang="en-US" altLang="zh-CN" sz="2400" b="1" dirty="0">
                <a:solidFill>
                  <a:srgbClr val="120649"/>
                </a:solidFill>
                <a:latin typeface="Calibri" panose="020F0502020204030204" pitchFamily="34" charset="0"/>
                <a:ea typeface="微软雅黑" panose="020B0503020204020204" pitchFamily="34" charset="-122"/>
                <a:cs typeface="Calibri" panose="020F0502020204030204" pitchFamily="34" charset="0"/>
              </a:rPr>
              <a:t>3</a:t>
            </a:r>
            <a:r>
              <a:rPr lang="zh-CN" altLang="en-US" sz="2400" b="1" dirty="0">
                <a:solidFill>
                  <a:srgbClr val="120649"/>
                </a:solidFill>
                <a:latin typeface="Calibri" panose="020F0502020204030204" pitchFamily="34" charset="0"/>
                <a:ea typeface="微软雅黑" panose="020B0503020204020204" pitchFamily="34" charset="-122"/>
                <a:cs typeface="Calibri" panose="020F0502020204030204" pitchFamily="34" charset="0"/>
              </a:rPr>
              <a:t> 、通路原因</a:t>
            </a:r>
            <a:endParaRPr lang="en-US" altLang="zh-CN" sz="2400" b="1" dirty="0">
              <a:solidFill>
                <a:srgbClr val="120649"/>
              </a:solidFill>
              <a:latin typeface="Calibri" panose="020F0502020204030204" pitchFamily="34" charset="0"/>
              <a:ea typeface="微软雅黑" panose="020B0503020204020204" pitchFamily="34" charset="-122"/>
              <a:cs typeface="Calibri" panose="020F0502020204030204" pitchFamily="34" charset="0"/>
            </a:endParaRPr>
          </a:p>
          <a:p>
            <a:pPr>
              <a:lnSpc>
                <a:spcPct val="150000"/>
              </a:lnSpc>
            </a:pPr>
            <a:r>
              <a:rPr lang="zh-CN" altLang="en-US" dirty="0">
                <a:latin typeface="Calibri" panose="020F0502020204030204" pitchFamily="34" charset="0"/>
                <a:ea typeface="微软雅黑" panose="020B0503020204020204" pitchFamily="34" charset="-122"/>
                <a:cs typeface="Calibri" panose="020F0502020204030204" pitchFamily="34" charset="0"/>
              </a:rPr>
              <a:t>细胞信号转导通路的异常或干扰，导致</a:t>
            </a:r>
            <a:r>
              <a:rPr lang="en-US" altLang="zh-CN" dirty="0">
                <a:latin typeface="Calibri" panose="020F0502020204030204" pitchFamily="34" charset="0"/>
                <a:ea typeface="微软雅黑" panose="020B0503020204020204" pitchFamily="34" charset="-122"/>
                <a:cs typeface="Calibri" panose="020F0502020204030204" pitchFamily="34" charset="0"/>
              </a:rPr>
              <a:t>DNA</a:t>
            </a:r>
            <a:r>
              <a:rPr lang="zh-CN" altLang="en-US" dirty="0">
                <a:latin typeface="Calibri" panose="020F0502020204030204" pitchFamily="34" charset="0"/>
                <a:ea typeface="微软雅黑" panose="020B0503020204020204" pitchFamily="34" charset="-122"/>
                <a:cs typeface="Calibri" panose="020F0502020204030204" pitchFamily="34" charset="0"/>
              </a:rPr>
              <a:t>复制叉停滞</a:t>
            </a:r>
          </a:p>
        </p:txBody>
      </p:sp>
      <p:pic>
        <p:nvPicPr>
          <p:cNvPr id="14" name="图片 13"/>
          <p:cNvPicPr>
            <a:picLocks noChangeAspect="1"/>
          </p:cNvPicPr>
          <p:nvPr/>
        </p:nvPicPr>
        <p:blipFill>
          <a:blip r:embed="rId3">
            <a:extLst>
              <a:ext uri="{28A0092B-C50C-407E-A947-70E740481C1C}">
                <a14:useLocalDpi xmlns:a14="http://schemas.microsoft.com/office/drawing/2010/main" val="0"/>
              </a:ext>
            </a:extLst>
          </a:blip>
          <a:srcRect b="40124"/>
          <a:stretch>
            <a:fillRect/>
          </a:stretch>
        </p:blipFill>
        <p:spPr>
          <a:xfrm>
            <a:off x="3347085" y="871220"/>
            <a:ext cx="5835015" cy="22694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rcRect b="34363"/>
          <a:stretch/>
        </p:blipFill>
        <p:spPr>
          <a:xfrm>
            <a:off x="999502" y="914732"/>
            <a:ext cx="10368354" cy="5104103"/>
          </a:xfrm>
          <a:prstGeom prst="rect">
            <a:avLst/>
          </a:prstGeom>
        </p:spPr>
      </p:pic>
      <p:sp>
        <p:nvSpPr>
          <p:cNvPr id="8" name="矩形 7"/>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4" name="文本框 3"/>
          <p:cNvSpPr txBox="1"/>
          <p:nvPr/>
        </p:nvSpPr>
        <p:spPr>
          <a:xfrm>
            <a:off x="0" y="0"/>
            <a:ext cx="12192000" cy="58477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双链断裂的修复机制</a:t>
            </a:r>
          </a:p>
        </p:txBody>
      </p:sp>
      <p:sp>
        <p:nvSpPr>
          <p:cNvPr id="10" name="文本框 9"/>
          <p:cNvSpPr txBox="1"/>
          <p:nvPr/>
        </p:nvSpPr>
        <p:spPr>
          <a:xfrm>
            <a:off x="2384924" y="6195607"/>
            <a:ext cx="2443211" cy="369332"/>
          </a:xfrm>
          <a:prstGeom prst="rect">
            <a:avLst/>
          </a:prstGeom>
          <a:noFill/>
        </p:spPr>
        <p:txBody>
          <a:bodyPr wrap="square" rtlCol="0" anchor="t">
            <a:spAutoFit/>
          </a:bodyPr>
          <a:lstStyle/>
          <a:p>
            <a:pPr marL="0" indent="0" algn="l">
              <a:spcBef>
                <a:spcPct val="0"/>
              </a:spcBef>
              <a:spcAft>
                <a:spcPct val="0"/>
              </a:spcAft>
            </a:pPr>
            <a:r>
              <a:rPr lang="zh-CN" altLang="en-US" b="1" dirty="0">
                <a:solidFill>
                  <a:srgbClr val="120649"/>
                </a:solidFill>
                <a:latin typeface="Calibri" panose="020F0502020204030204" pitchFamily="34" charset="0"/>
                <a:ea typeface="微软雅黑" panose="020B0503020204020204" pitchFamily="34" charset="-122"/>
                <a:cs typeface="Calibri" panose="020F0502020204030204" pitchFamily="34" charset="0"/>
                <a:sym typeface="+mn-ea"/>
              </a:rPr>
              <a:t>非同源末端连接</a:t>
            </a:r>
          </a:p>
        </p:txBody>
      </p:sp>
      <p:sp>
        <p:nvSpPr>
          <p:cNvPr id="5" name="文本框 4"/>
          <p:cNvSpPr txBox="1"/>
          <p:nvPr/>
        </p:nvSpPr>
        <p:spPr>
          <a:xfrm>
            <a:off x="8501671" y="6182545"/>
            <a:ext cx="2443211" cy="369332"/>
          </a:xfrm>
          <a:prstGeom prst="rect">
            <a:avLst/>
          </a:prstGeom>
          <a:noFill/>
        </p:spPr>
        <p:txBody>
          <a:bodyPr wrap="square" rtlCol="0" anchor="t">
            <a:spAutoFit/>
          </a:bodyPr>
          <a:lstStyle/>
          <a:p>
            <a:pPr marL="0" indent="0" algn="l">
              <a:spcBef>
                <a:spcPct val="0"/>
              </a:spcBef>
              <a:spcAft>
                <a:spcPct val="0"/>
              </a:spcAft>
            </a:pPr>
            <a:r>
              <a:rPr lang="zh-CN" altLang="en-US" b="1" dirty="0">
                <a:solidFill>
                  <a:srgbClr val="120649"/>
                </a:solidFill>
                <a:latin typeface="Calibri" panose="020F0502020204030204" pitchFamily="34" charset="0"/>
                <a:ea typeface="微软雅黑" panose="020B0503020204020204" pitchFamily="34" charset="-122"/>
                <a:cs typeface="Calibri" panose="020F0502020204030204" pitchFamily="34" charset="0"/>
                <a:sym typeface="+mn-ea"/>
              </a:rPr>
              <a:t>同源重组修复</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rcRect l="19908" r="42527"/>
          <a:stretch/>
        </p:blipFill>
        <p:spPr>
          <a:xfrm>
            <a:off x="4255156" y="1048328"/>
            <a:ext cx="3588151" cy="5017770"/>
          </a:xfrm>
          <a:prstGeom prst="rect">
            <a:avLst/>
          </a:prstGeom>
        </p:spPr>
      </p:pic>
      <p:sp>
        <p:nvSpPr>
          <p:cNvPr id="8" name="文本框 7"/>
          <p:cNvSpPr txBox="1"/>
          <p:nvPr/>
        </p:nvSpPr>
        <p:spPr>
          <a:xfrm>
            <a:off x="4305304" y="6085638"/>
            <a:ext cx="1789430" cy="368300"/>
          </a:xfrm>
          <a:prstGeom prst="rect">
            <a:avLst/>
          </a:prstGeom>
          <a:noFill/>
        </p:spPr>
        <p:txBody>
          <a:bodyPr wrap="square" rtlCol="0" anchor="t">
            <a:spAutoFit/>
          </a:bodyPr>
          <a:lstStyle/>
          <a:p>
            <a:pPr marL="0" indent="0" algn="l">
              <a:spcBef>
                <a:spcPct val="0"/>
              </a:spcBef>
              <a:spcAft>
                <a:spcPct val="0"/>
              </a:spcAft>
            </a:pPr>
            <a:r>
              <a:rPr lang="zh-CN" altLang="en-US" b="1">
                <a:solidFill>
                  <a:srgbClr val="120649"/>
                </a:solidFill>
                <a:latin typeface="Calibri" panose="020F0502020204030204" pitchFamily="34" charset="0"/>
                <a:ea typeface="微软雅黑" panose="020B0503020204020204" pitchFamily="34" charset="-122"/>
                <a:cs typeface="Calibri" panose="020F0502020204030204" pitchFamily="34" charset="0"/>
                <a:sym typeface="+mn-ea"/>
              </a:rPr>
              <a:t>非同源末端连接</a:t>
            </a:r>
          </a:p>
        </p:txBody>
      </p:sp>
      <p:sp>
        <p:nvSpPr>
          <p:cNvPr id="9" name="文本框 8"/>
          <p:cNvSpPr txBox="1"/>
          <p:nvPr/>
        </p:nvSpPr>
        <p:spPr>
          <a:xfrm>
            <a:off x="6221734" y="6085638"/>
            <a:ext cx="1789430" cy="368300"/>
          </a:xfrm>
          <a:prstGeom prst="rect">
            <a:avLst/>
          </a:prstGeom>
          <a:noFill/>
        </p:spPr>
        <p:txBody>
          <a:bodyPr wrap="square" rtlCol="0" anchor="t">
            <a:spAutoFit/>
          </a:bodyPr>
          <a:lstStyle/>
          <a:p>
            <a:pPr marL="0" indent="0" algn="l">
              <a:spcBef>
                <a:spcPct val="0"/>
              </a:spcBef>
              <a:spcAft>
                <a:spcPct val="0"/>
              </a:spcAft>
            </a:pPr>
            <a:r>
              <a:rPr lang="zh-CN" altLang="en-US" b="1" dirty="0">
                <a:solidFill>
                  <a:srgbClr val="120649"/>
                </a:solidFill>
                <a:latin typeface="Calibri" panose="020F0502020204030204" pitchFamily="34" charset="0"/>
                <a:ea typeface="微软雅黑" panose="020B0503020204020204" pitchFamily="34" charset="-122"/>
                <a:cs typeface="Calibri" panose="020F0502020204030204" pitchFamily="34" charset="0"/>
                <a:sym typeface="+mn-ea"/>
              </a:rPr>
              <a:t>同源重组修复</a:t>
            </a:r>
          </a:p>
        </p:txBody>
      </p:sp>
      <p:sp>
        <p:nvSpPr>
          <p:cNvPr id="2" name="矩形 1">
            <a:extLst>
              <a:ext uri="{FF2B5EF4-FFF2-40B4-BE49-F238E27FC236}">
                <a16:creationId xmlns:a16="http://schemas.microsoft.com/office/drawing/2014/main" id="{AD5173BC-A089-D86B-C04B-994F7C0C34E4}"/>
              </a:ext>
            </a:extLst>
          </p:cNvPr>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3" name="文本框 2">
            <a:extLst>
              <a:ext uri="{FF2B5EF4-FFF2-40B4-BE49-F238E27FC236}">
                <a16:creationId xmlns:a16="http://schemas.microsoft.com/office/drawing/2014/main" id="{782F60D9-D741-683D-F2DE-EE86D41F6F60}"/>
              </a:ext>
            </a:extLst>
          </p:cNvPr>
          <p:cNvSpPr txBox="1"/>
          <p:nvPr/>
        </p:nvSpPr>
        <p:spPr>
          <a:xfrm>
            <a:off x="0" y="0"/>
            <a:ext cx="12192000" cy="58477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双链断裂的修复机制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p:cNvSpPr txBox="1"/>
          <p:nvPr/>
        </p:nvSpPr>
        <p:spPr>
          <a:xfrm>
            <a:off x="0" y="0"/>
            <a:ext cx="12192000" cy="58477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非同源末端连接</a:t>
            </a:r>
          </a:p>
        </p:txBody>
      </p:sp>
      <p:sp>
        <p:nvSpPr>
          <p:cNvPr id="3" name="文本框 2"/>
          <p:cNvSpPr txBox="1"/>
          <p:nvPr/>
        </p:nvSpPr>
        <p:spPr>
          <a:xfrm>
            <a:off x="747713" y="1544487"/>
            <a:ext cx="10714972" cy="458459"/>
          </a:xfrm>
          <a:prstGeom prst="rect">
            <a:avLst/>
          </a:prstGeom>
          <a:noFill/>
        </p:spPr>
        <p:txBody>
          <a:bodyPr wrap="square">
            <a:spAutoFit/>
          </a:bodyPr>
          <a:lstStyle/>
          <a:p>
            <a:pPr algn="just">
              <a:lnSpc>
                <a:spcPct val="150000"/>
              </a:lnSpc>
            </a:pPr>
            <a:r>
              <a:rPr lang="zh-CN" altLang="en-US" dirty="0">
                <a:latin typeface="Arial" panose="020B0604020202020204" pitchFamily="34" charset="0"/>
                <a:ea typeface="微软雅黑" panose="020B0503020204020204" pitchFamily="34" charset="-122"/>
                <a:cs typeface="Arial" panose="020B0604020202020204" pitchFamily="34" charset="0"/>
              </a:rPr>
              <a:t>不需要同源序列，特定蛋白把</a:t>
            </a:r>
            <a:r>
              <a:rPr lang="en-US" altLang="zh-CN" dirty="0" err="1">
                <a:latin typeface="Arial" panose="020B0604020202020204" pitchFamily="34" charset="0"/>
                <a:ea typeface="微软雅黑" panose="020B0503020204020204" pitchFamily="34" charset="-122"/>
                <a:cs typeface="Arial" panose="020B0604020202020204" pitchFamily="34" charset="0"/>
              </a:rPr>
              <a:t>DSB</a:t>
            </a:r>
            <a:r>
              <a:rPr lang="zh-CN" altLang="en-US" dirty="0">
                <a:latin typeface="Arial" panose="020B0604020202020204" pitchFamily="34" charset="0"/>
                <a:ea typeface="微软雅黑" panose="020B0503020204020204" pitchFamily="34" charset="-122"/>
                <a:cs typeface="Arial" panose="020B0604020202020204" pitchFamily="34" charset="0"/>
              </a:rPr>
              <a:t>断端“抓”在一起，经过核酸酶的修剪和</a:t>
            </a:r>
            <a:r>
              <a:rPr lang="en-US" altLang="zh-CN" dirty="0">
                <a:latin typeface="Arial" panose="020B0604020202020204" pitchFamily="34" charset="0"/>
                <a:ea typeface="微软雅黑" panose="020B0503020204020204" pitchFamily="34" charset="-122"/>
                <a:cs typeface="Arial" panose="020B0604020202020204" pitchFamily="34" charset="0"/>
              </a:rPr>
              <a:t>DNA</a:t>
            </a:r>
            <a:r>
              <a:rPr lang="zh-CN" altLang="en-US" dirty="0">
                <a:latin typeface="Arial" panose="020B0604020202020204" pitchFamily="34" charset="0"/>
                <a:ea typeface="微软雅黑" panose="020B0503020204020204" pitchFamily="34" charset="-122"/>
                <a:cs typeface="Arial" panose="020B0604020202020204" pitchFamily="34" charset="0"/>
              </a:rPr>
              <a:t>聚合酶的填平空隙。</a:t>
            </a:r>
            <a:endParaRPr lang="en-US" altLang="zh-CN" dirty="0">
              <a:latin typeface="Arial" panose="020B0604020202020204" pitchFamily="34" charset="0"/>
              <a:ea typeface="微软雅黑" panose="020B0503020204020204" pitchFamily="34" charset="-122"/>
              <a:cs typeface="Arial" panose="020B0604020202020204" pitchFamily="34" charset="0"/>
            </a:endParaRPr>
          </a:p>
        </p:txBody>
      </p:sp>
      <p:sp>
        <p:nvSpPr>
          <p:cNvPr id="2" name="文本框 1"/>
          <p:cNvSpPr txBox="1"/>
          <p:nvPr/>
        </p:nvSpPr>
        <p:spPr>
          <a:xfrm>
            <a:off x="286884" y="1144805"/>
            <a:ext cx="687516" cy="369332"/>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b="1" dirty="0">
                <a:latin typeface="微软雅黑" panose="020B0503020204020204" pitchFamily="34" charset="-122"/>
                <a:ea typeface="微软雅黑" panose="020B0503020204020204" pitchFamily="34" charset="-122"/>
                <a:cs typeface="Arial" panose="020B0604020202020204" pitchFamily="34" charset="0"/>
              </a:rPr>
              <a:t>概念</a:t>
            </a:r>
          </a:p>
        </p:txBody>
      </p:sp>
      <p:sp>
        <p:nvSpPr>
          <p:cNvPr id="7" name="文本框 6"/>
          <p:cNvSpPr txBox="1"/>
          <p:nvPr/>
        </p:nvSpPr>
        <p:spPr>
          <a:xfrm>
            <a:off x="312283" y="2234432"/>
            <a:ext cx="671565" cy="369332"/>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b="1" dirty="0">
                <a:latin typeface="微软雅黑" panose="020B0503020204020204" pitchFamily="34" charset="-122"/>
                <a:ea typeface="微软雅黑" panose="020B0503020204020204" pitchFamily="34" charset="-122"/>
                <a:cs typeface="Arial" panose="020B0604020202020204" pitchFamily="34" charset="0"/>
              </a:rPr>
              <a:t>特点</a:t>
            </a:r>
          </a:p>
        </p:txBody>
      </p:sp>
      <p:sp>
        <p:nvSpPr>
          <p:cNvPr id="8" name="文本框 7"/>
          <p:cNvSpPr txBox="1"/>
          <p:nvPr/>
        </p:nvSpPr>
        <p:spPr>
          <a:xfrm>
            <a:off x="775027" y="2653566"/>
            <a:ext cx="10638772" cy="1120948"/>
          </a:xfrm>
          <a:prstGeom prst="rect">
            <a:avLst/>
          </a:prstGeom>
          <a:noFill/>
        </p:spPr>
        <p:txBody>
          <a:bodyPr wrap="square">
            <a:spAutoFit/>
          </a:bodyPr>
          <a:lstStyle/>
          <a:p>
            <a:pPr marL="285750" indent="-285750" algn="just" fontAlgn="auto">
              <a:lnSpc>
                <a:spcPct val="200000"/>
              </a:lnSpc>
              <a:buFont typeface="Wingdings" panose="05000000000000000000" pitchFamily="2" charset="2"/>
              <a:buChar char="n"/>
            </a:pPr>
            <a:r>
              <a:rPr lang="zh-CN" altLang="en-US" dirty="0">
                <a:latin typeface="Arial" panose="020B0604020202020204" pitchFamily="34" charset="0"/>
                <a:ea typeface="微软雅黑" panose="020B0503020204020204" pitchFamily="34" charset="-122"/>
                <a:cs typeface="Arial" panose="020B0604020202020204" pitchFamily="34" charset="0"/>
              </a:rPr>
              <a:t>迅速高效，不依赖于同源模板</a:t>
            </a:r>
            <a:endParaRPr lang="en-US" altLang="zh-CN" dirty="0">
              <a:latin typeface="Arial" panose="020B0604020202020204" pitchFamily="34" charset="0"/>
              <a:ea typeface="微软雅黑" panose="020B0503020204020204" pitchFamily="34" charset="-122"/>
              <a:cs typeface="Arial" panose="020B0604020202020204" pitchFamily="34" charset="0"/>
            </a:endParaRPr>
          </a:p>
          <a:p>
            <a:pPr marL="285750" indent="-285750" algn="just" fontAlgn="auto">
              <a:lnSpc>
                <a:spcPct val="200000"/>
              </a:lnSpc>
              <a:buFont typeface="Wingdings" panose="05000000000000000000" pitchFamily="2" charset="2"/>
              <a:buChar char="n"/>
            </a:pPr>
            <a:r>
              <a:rPr lang="zh-CN" altLang="en-US" dirty="0">
                <a:latin typeface="Arial" panose="020B0604020202020204" pitchFamily="34" charset="0"/>
                <a:ea typeface="微软雅黑" panose="020B0503020204020204" pitchFamily="34" charset="-122"/>
                <a:cs typeface="Arial" panose="020B0604020202020204" pitchFamily="34" charset="0"/>
              </a:rPr>
              <a:t>NHEJ是高度诱变性的，会有</a:t>
            </a:r>
            <a:r>
              <a:rPr lang="zh-CN" altLang="en-US" b="1" dirty="0">
                <a:solidFill>
                  <a:srgbClr val="120649"/>
                </a:solidFill>
                <a:latin typeface="Calibri" panose="020F0502020204030204" pitchFamily="34" charset="0"/>
                <a:ea typeface="微软雅黑" panose="020B0503020204020204" pitchFamily="34" charset="-122"/>
                <a:cs typeface="Calibri" panose="020F0502020204030204" pitchFamily="34" charset="0"/>
              </a:rPr>
              <a:t>“伤痕” 。</a:t>
            </a:r>
            <a:r>
              <a:rPr lang="zh-CN" altLang="en-US" dirty="0">
                <a:latin typeface="Calibri" panose="020F0502020204030204" pitchFamily="34" charset="0"/>
                <a:ea typeface="微软雅黑" panose="020B0503020204020204" pitchFamily="34" charset="-122"/>
                <a:cs typeface="Calibri" panose="020F0502020204030204" pitchFamily="34" charset="0"/>
              </a:rPr>
              <a:t>可能</a:t>
            </a:r>
            <a:r>
              <a:rPr lang="zh-CN" altLang="en-US" dirty="0">
                <a:solidFill>
                  <a:schemeClr val="tx1"/>
                </a:solidFill>
                <a:latin typeface="Arial" panose="020B0604020202020204" pitchFamily="34" charset="0"/>
                <a:ea typeface="微软雅黑" panose="020B0503020204020204" pitchFamily="34" charset="-122"/>
                <a:cs typeface="Arial" panose="020B0604020202020204" pitchFamily="34" charset="0"/>
              </a:rPr>
              <a:t>新加入几个核苷酸，或者是切除了一些核苷酸。</a:t>
            </a:r>
          </a:p>
        </p:txBody>
      </p:sp>
      <p:grpSp>
        <p:nvGrpSpPr>
          <p:cNvPr id="11" name="组合 10"/>
          <p:cNvGrpSpPr/>
          <p:nvPr/>
        </p:nvGrpSpPr>
        <p:grpSpPr>
          <a:xfrm>
            <a:off x="2925128" y="4121584"/>
            <a:ext cx="6338570" cy="2108200"/>
            <a:chOff x="5802" y="6680"/>
            <a:chExt cx="8840" cy="2940"/>
          </a:xfrm>
        </p:grpSpPr>
        <p:pic>
          <p:nvPicPr>
            <p:cNvPr id="4" name="图片 3"/>
            <p:cNvPicPr>
              <a:picLocks noChangeAspect="1"/>
            </p:cNvPicPr>
            <p:nvPr/>
          </p:nvPicPr>
          <p:blipFill>
            <a:blip r:embed="rId3"/>
            <a:srcRect t="5681"/>
            <a:stretch>
              <a:fillRect/>
            </a:stretch>
          </p:blipFill>
          <p:spPr>
            <a:xfrm>
              <a:off x="5802" y="6680"/>
              <a:ext cx="8841" cy="2872"/>
            </a:xfrm>
            <a:prstGeom prst="rect">
              <a:avLst/>
            </a:prstGeom>
          </p:spPr>
        </p:pic>
        <p:sp>
          <p:nvSpPr>
            <p:cNvPr id="10" name="矩形 9"/>
            <p:cNvSpPr/>
            <p:nvPr/>
          </p:nvSpPr>
          <p:spPr>
            <a:xfrm>
              <a:off x="9060" y="9140"/>
              <a:ext cx="2160" cy="48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4" name="文本框 13"/>
          <p:cNvSpPr txBox="1"/>
          <p:nvPr/>
        </p:nvSpPr>
        <p:spPr>
          <a:xfrm>
            <a:off x="5532698" y="5908763"/>
            <a:ext cx="1311806" cy="369332"/>
          </a:xfrm>
          <a:prstGeom prst="rect">
            <a:avLst/>
          </a:prstGeom>
          <a:noFill/>
        </p:spPr>
        <p:txBody>
          <a:bodyPr wrap="square" rtlCol="0" anchor="t">
            <a:spAutoFit/>
          </a:bodyPr>
          <a:lstStyle/>
          <a:p>
            <a:pPr marL="0" indent="0" algn="l">
              <a:spcBef>
                <a:spcPct val="0"/>
              </a:spcBef>
              <a:spcAft>
                <a:spcPct val="0"/>
              </a:spcAft>
            </a:pPr>
            <a:r>
              <a:rPr lang="zh-CN" altLang="en-US" b="1" dirty="0">
                <a:latin typeface="Arial" panose="020B0604020202020204" pitchFamily="34" charset="0"/>
                <a:ea typeface="微软雅黑" panose="020B0503020204020204" pitchFamily="34" charset="-122"/>
                <a:cs typeface="Arial" panose="020B0604020202020204" pitchFamily="34" charset="0"/>
                <a:sym typeface="+mn-ea"/>
              </a:rPr>
              <a:t>断口补平</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p:cNvSpPr txBox="1"/>
          <p:nvPr/>
        </p:nvSpPr>
        <p:spPr>
          <a:xfrm>
            <a:off x="0" y="0"/>
            <a:ext cx="12192000" cy="58477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非同源末端连接的过程</a:t>
            </a:r>
          </a:p>
        </p:txBody>
      </p:sp>
      <p:sp>
        <p:nvSpPr>
          <p:cNvPr id="7" name="文本框 6"/>
          <p:cNvSpPr txBox="1"/>
          <p:nvPr/>
        </p:nvSpPr>
        <p:spPr>
          <a:xfrm>
            <a:off x="302895" y="969645"/>
            <a:ext cx="2769870" cy="36830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b="1" dirty="0">
                <a:latin typeface="微软雅黑" panose="020B0503020204020204" pitchFamily="34" charset="-122"/>
                <a:ea typeface="微软雅黑" panose="020B0503020204020204" pitchFamily="34" charset="-122"/>
                <a:cs typeface="Arial" panose="020B0604020202020204" pitchFamily="34" charset="0"/>
              </a:rPr>
              <a:t>修复过程（哺乳动物为例）</a:t>
            </a:r>
          </a:p>
        </p:txBody>
      </p:sp>
      <p:sp>
        <p:nvSpPr>
          <p:cNvPr id="8" name="文本框 7"/>
          <p:cNvSpPr txBox="1"/>
          <p:nvPr/>
        </p:nvSpPr>
        <p:spPr>
          <a:xfrm>
            <a:off x="158554" y="2113233"/>
            <a:ext cx="6444127" cy="2783326"/>
          </a:xfrm>
          <a:prstGeom prst="rect">
            <a:avLst/>
          </a:prstGeom>
          <a:noFill/>
        </p:spPr>
        <p:txBody>
          <a:bodyPr wrap="square">
            <a:spAutoFit/>
          </a:bodyPr>
          <a:lstStyle/>
          <a:p>
            <a:pPr marL="342900" indent="-342900" algn="just" fontAlgn="auto">
              <a:lnSpc>
                <a:spcPct val="200000"/>
              </a:lnSpc>
              <a:buFont typeface="+mj-lt"/>
              <a:buAutoNum type="arabicPeriod"/>
            </a:pPr>
            <a:r>
              <a:rPr lang="en-US" altLang="zh-CN" b="1" dirty="0">
                <a:latin typeface="Arial" panose="020B0604020202020204" pitchFamily="34" charset="0"/>
                <a:ea typeface="微软雅黑" panose="020B0503020204020204" pitchFamily="34" charset="-122"/>
                <a:cs typeface="Arial" panose="020B0604020202020204" pitchFamily="34" charset="0"/>
              </a:rPr>
              <a:t>Ku70</a:t>
            </a:r>
            <a:r>
              <a:rPr lang="zh-CN" altLang="en-US" b="1" dirty="0">
                <a:latin typeface="Arial" panose="020B0604020202020204" pitchFamily="34" charset="0"/>
                <a:ea typeface="微软雅黑" panose="020B0503020204020204" pitchFamily="34" charset="-122"/>
                <a:cs typeface="Arial" panose="020B0604020202020204" pitchFamily="34" charset="0"/>
              </a:rPr>
              <a:t>、</a:t>
            </a:r>
            <a:r>
              <a:rPr lang="en-US" altLang="zh-CN" b="1" dirty="0">
                <a:latin typeface="Arial" panose="020B0604020202020204" pitchFamily="34" charset="0"/>
                <a:ea typeface="微软雅黑" panose="020B0503020204020204" pitchFamily="34" charset="-122"/>
                <a:cs typeface="Arial" panose="020B0604020202020204" pitchFamily="34" charset="0"/>
              </a:rPr>
              <a:t>Ku80</a:t>
            </a:r>
            <a:r>
              <a:rPr lang="zh-CN" altLang="en-US" b="1" dirty="0">
                <a:latin typeface="Arial" panose="020B0604020202020204" pitchFamily="34" charset="0"/>
                <a:ea typeface="微软雅黑" panose="020B0503020204020204" pitchFamily="34" charset="-122"/>
                <a:cs typeface="Arial" panose="020B0604020202020204" pitchFamily="34" charset="0"/>
              </a:rPr>
              <a:t>结合断端</a:t>
            </a:r>
          </a:p>
          <a:p>
            <a:pPr marL="342900" indent="-342900" algn="just" fontAlgn="auto">
              <a:lnSpc>
                <a:spcPct val="200000"/>
              </a:lnSpc>
              <a:buFont typeface="+mj-lt"/>
              <a:buAutoNum type="arabicPeriod"/>
            </a:pPr>
            <a:r>
              <a:rPr lang="zh-CN" altLang="en-US" b="1" dirty="0">
                <a:latin typeface="Arial" panose="020B0604020202020204" pitchFamily="34" charset="0"/>
                <a:ea typeface="微软雅黑" panose="020B0503020204020204" pitchFamily="34" charset="-122"/>
                <a:cs typeface="Arial" panose="020B0604020202020204" pitchFamily="34" charset="0"/>
              </a:rPr>
              <a:t>募集蛋白激酶</a:t>
            </a:r>
            <a:r>
              <a:rPr lang="en-US" altLang="zh-CN" b="1" dirty="0">
                <a:latin typeface="Arial" panose="020B0604020202020204" pitchFamily="34" charset="0"/>
                <a:ea typeface="微软雅黑" panose="020B0503020204020204" pitchFamily="34" charset="-122"/>
                <a:cs typeface="Arial" panose="020B0604020202020204" pitchFamily="34" charset="0"/>
              </a:rPr>
              <a:t>DNA-PKcs</a:t>
            </a:r>
          </a:p>
          <a:p>
            <a:pPr marL="342900" indent="-342900" algn="just" fontAlgn="auto">
              <a:lnSpc>
                <a:spcPct val="200000"/>
              </a:lnSpc>
              <a:buFont typeface="+mj-lt"/>
              <a:buAutoNum type="arabicPeriod"/>
            </a:pPr>
            <a:r>
              <a:rPr lang="en-US" altLang="zh-CN" b="1" dirty="0">
                <a:latin typeface="Arial" panose="020B0604020202020204" pitchFamily="34" charset="0"/>
                <a:ea typeface="微软雅黑" panose="020B0503020204020204" pitchFamily="34" charset="-122"/>
                <a:cs typeface="Arial" panose="020B0604020202020204" pitchFamily="34" charset="0"/>
              </a:rPr>
              <a:t>Ku-DNA-PKcs</a:t>
            </a:r>
            <a:r>
              <a:rPr lang="zh-CN" altLang="en-US" b="1" dirty="0">
                <a:latin typeface="Arial" panose="020B0604020202020204" pitchFamily="34" charset="0"/>
                <a:ea typeface="微软雅黑" panose="020B0503020204020204" pitchFamily="34" charset="-122"/>
                <a:cs typeface="Arial" panose="020B0604020202020204" pitchFamily="34" charset="0"/>
              </a:rPr>
              <a:t>募集</a:t>
            </a:r>
            <a:r>
              <a:rPr lang="en-US" altLang="zh-CN" b="1" dirty="0">
                <a:latin typeface="Arial" panose="020B0604020202020204" pitchFamily="34" charset="0"/>
                <a:ea typeface="微软雅黑" panose="020B0503020204020204" pitchFamily="34" charset="-122"/>
                <a:cs typeface="Arial" panose="020B0604020202020204" pitchFamily="34" charset="0"/>
              </a:rPr>
              <a:t>Artemis:</a:t>
            </a:r>
            <a:r>
              <a:rPr lang="zh-CN" altLang="en-US" dirty="0">
                <a:latin typeface="Arial" panose="020B0604020202020204" pitchFamily="34" charset="0"/>
                <a:ea typeface="微软雅黑" panose="020B0503020204020204" pitchFamily="34" charset="-122"/>
                <a:cs typeface="Arial" panose="020B0604020202020204" pitchFamily="34" charset="0"/>
              </a:rPr>
              <a:t>具有</a:t>
            </a:r>
            <a:r>
              <a:rPr lang="zh-CN" altLang="en-US" dirty="0">
                <a:latin typeface="Arial" panose="020B0604020202020204" pitchFamily="34" charset="0"/>
                <a:ea typeface="微软雅黑" panose="020B0503020204020204" pitchFamily="34" charset="-122"/>
                <a:cs typeface="Arial" panose="020B0604020202020204" pitchFamily="34" charset="0"/>
                <a:sym typeface="+mn-ea"/>
              </a:rPr>
              <a:t>内切酶和外切酶活性</a:t>
            </a:r>
            <a:endParaRPr lang="en-US" altLang="zh-CN" b="1" dirty="0">
              <a:latin typeface="Arial" panose="020B0604020202020204" pitchFamily="34" charset="0"/>
              <a:ea typeface="微软雅黑" panose="020B0503020204020204" pitchFamily="34" charset="-122"/>
              <a:cs typeface="Arial" panose="020B0604020202020204" pitchFamily="34" charset="0"/>
            </a:endParaRPr>
          </a:p>
          <a:p>
            <a:pPr marL="342900" indent="-342900" algn="just" fontAlgn="auto">
              <a:lnSpc>
                <a:spcPct val="200000"/>
              </a:lnSpc>
              <a:buFont typeface="+mj-lt"/>
              <a:buAutoNum type="arabicPeriod"/>
            </a:pPr>
            <a:r>
              <a:rPr lang="en-US" altLang="zh-CN" b="1" dirty="0">
                <a:latin typeface="Arial" panose="020B0604020202020204" pitchFamily="34" charset="0"/>
                <a:ea typeface="微软雅黑" panose="020B0503020204020204" pitchFamily="34" charset="-122"/>
                <a:cs typeface="Arial" panose="020B0604020202020204" pitchFamily="34" charset="0"/>
              </a:rPr>
              <a:t>Artemis</a:t>
            </a:r>
            <a:r>
              <a:rPr lang="zh-CN" altLang="en-US" b="1" dirty="0">
                <a:latin typeface="Arial" panose="020B0604020202020204" pitchFamily="34" charset="0"/>
                <a:ea typeface="微软雅黑" panose="020B0503020204020204" pitchFamily="34" charset="-122"/>
                <a:cs typeface="Arial" panose="020B0604020202020204" pitchFamily="34" charset="0"/>
              </a:rPr>
              <a:t>处理</a:t>
            </a:r>
            <a:r>
              <a:rPr lang="en-US" altLang="zh-CN" b="1" dirty="0">
                <a:latin typeface="Arial" panose="020B0604020202020204" pitchFamily="34" charset="0"/>
                <a:ea typeface="微软雅黑" panose="020B0503020204020204" pitchFamily="34" charset="-122"/>
                <a:cs typeface="Arial" panose="020B0604020202020204" pitchFamily="34" charset="0"/>
              </a:rPr>
              <a:t>DNA</a:t>
            </a:r>
            <a:r>
              <a:rPr lang="zh-CN" altLang="en-US" b="1" dirty="0">
                <a:latin typeface="Arial" panose="020B0604020202020204" pitchFamily="34" charset="0"/>
                <a:ea typeface="微软雅黑" panose="020B0503020204020204" pitchFamily="34" charset="-122"/>
                <a:cs typeface="Arial" panose="020B0604020202020204" pitchFamily="34" charset="0"/>
              </a:rPr>
              <a:t>断端（抹平）</a:t>
            </a:r>
          </a:p>
          <a:p>
            <a:pPr marL="342900" indent="-342900" algn="just" fontAlgn="auto">
              <a:lnSpc>
                <a:spcPct val="200000"/>
              </a:lnSpc>
              <a:buFont typeface="+mj-lt"/>
              <a:buAutoNum type="arabicPeriod"/>
            </a:pPr>
            <a:r>
              <a:rPr lang="zh-CN" altLang="en-US" b="1" dirty="0">
                <a:latin typeface="Arial" panose="020B0604020202020204" pitchFamily="34" charset="0"/>
                <a:ea typeface="微软雅黑" panose="020B0503020204020204" pitchFamily="34" charset="-122"/>
                <a:cs typeface="Arial" panose="020B0604020202020204" pitchFamily="34" charset="0"/>
              </a:rPr>
              <a:t>连接酶</a:t>
            </a:r>
            <a:r>
              <a:rPr lang="en-US" altLang="zh-CN" b="1" dirty="0">
                <a:latin typeface="Arial" panose="020B0604020202020204" pitchFamily="34" charset="0"/>
                <a:ea typeface="微软雅黑" panose="020B0503020204020204" pitchFamily="34" charset="-122"/>
                <a:cs typeface="Arial" panose="020B0604020202020204" pitchFamily="34" charset="0"/>
              </a:rPr>
              <a:t>Ⅳ(</a:t>
            </a:r>
            <a:r>
              <a:rPr lang="zh-CN" altLang="en-US" b="1" dirty="0">
                <a:latin typeface="Arial" panose="020B0604020202020204" pitchFamily="34" charset="0"/>
                <a:ea typeface="微软雅黑" panose="020B0503020204020204" pitchFamily="34" charset="-122"/>
                <a:cs typeface="Arial" panose="020B0604020202020204" pitchFamily="34" charset="0"/>
              </a:rPr>
              <a:t>与</a:t>
            </a:r>
            <a:r>
              <a:rPr lang="en-US" altLang="zh-CN" b="1" dirty="0">
                <a:latin typeface="Arial" panose="020B0604020202020204" pitchFamily="34" charset="0"/>
                <a:ea typeface="微软雅黑" panose="020B0503020204020204" pitchFamily="34" charset="-122"/>
                <a:cs typeface="Arial" panose="020B0604020202020204" pitchFamily="34" charset="0"/>
              </a:rPr>
              <a:t>XLF</a:t>
            </a:r>
            <a:r>
              <a:rPr lang="zh-CN" altLang="en-US" b="1" dirty="0">
                <a:latin typeface="Arial" panose="020B0604020202020204" pitchFamily="34" charset="0"/>
                <a:ea typeface="微软雅黑" panose="020B0503020204020204" pitchFamily="34" charset="-122"/>
                <a:cs typeface="Arial" panose="020B0604020202020204" pitchFamily="34" charset="0"/>
              </a:rPr>
              <a:t>和</a:t>
            </a:r>
            <a:r>
              <a:rPr lang="en-US" altLang="zh-CN" b="1" dirty="0">
                <a:latin typeface="Arial" panose="020B0604020202020204" pitchFamily="34" charset="0"/>
                <a:ea typeface="微软雅黑" panose="020B0503020204020204" pitchFamily="34" charset="-122"/>
                <a:cs typeface="Arial" panose="020B0604020202020204" pitchFamily="34" charset="0"/>
              </a:rPr>
              <a:t>XRCC4</a:t>
            </a:r>
            <a:r>
              <a:rPr lang="zh-CN" altLang="en-US" b="1" dirty="0">
                <a:latin typeface="Arial" panose="020B0604020202020204" pitchFamily="34" charset="0"/>
                <a:ea typeface="微软雅黑" panose="020B0503020204020204" pitchFamily="34" charset="-122"/>
                <a:cs typeface="Arial" panose="020B0604020202020204" pitchFamily="34" charset="0"/>
              </a:rPr>
              <a:t>一起）连接</a:t>
            </a:r>
            <a:r>
              <a:rPr lang="en-US" altLang="zh-CN" b="1" dirty="0">
                <a:latin typeface="Arial" panose="020B0604020202020204" pitchFamily="34" charset="0"/>
                <a:ea typeface="微软雅黑" panose="020B0503020204020204" pitchFamily="34" charset="-122"/>
                <a:cs typeface="Arial" panose="020B0604020202020204" pitchFamily="34" charset="0"/>
              </a:rPr>
              <a:t>DNA</a:t>
            </a:r>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7573" y="1330037"/>
            <a:ext cx="4720371" cy="486408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p:cNvSpPr txBox="1"/>
          <p:nvPr/>
        </p:nvSpPr>
        <p:spPr>
          <a:xfrm>
            <a:off x="0" y="0"/>
            <a:ext cx="12192000" cy="58477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同源重组修复</a:t>
            </a:r>
          </a:p>
        </p:txBody>
      </p:sp>
      <p:sp>
        <p:nvSpPr>
          <p:cNvPr id="2" name="文本框 1"/>
          <p:cNvSpPr txBox="1"/>
          <p:nvPr/>
        </p:nvSpPr>
        <p:spPr>
          <a:xfrm>
            <a:off x="277685" y="843863"/>
            <a:ext cx="687516" cy="369332"/>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b="1" dirty="0">
                <a:latin typeface="微软雅黑" panose="020B0503020204020204" pitchFamily="34" charset="-122"/>
                <a:ea typeface="微软雅黑" panose="020B0503020204020204" pitchFamily="34" charset="-122"/>
                <a:cs typeface="Arial" panose="020B0604020202020204" pitchFamily="34" charset="0"/>
              </a:rPr>
              <a:t>概念</a:t>
            </a:r>
          </a:p>
        </p:txBody>
      </p:sp>
      <p:sp>
        <p:nvSpPr>
          <p:cNvPr id="7" name="文本框 6"/>
          <p:cNvSpPr txBox="1"/>
          <p:nvPr/>
        </p:nvSpPr>
        <p:spPr>
          <a:xfrm>
            <a:off x="352425" y="1447850"/>
            <a:ext cx="8826500" cy="1198880"/>
          </a:xfrm>
          <a:prstGeom prst="rect">
            <a:avLst/>
          </a:prstGeom>
          <a:noFill/>
        </p:spPr>
        <p:txBody>
          <a:bodyPr wrap="square">
            <a:spAutoFit/>
          </a:bodyPr>
          <a:lstStyle/>
          <a:p>
            <a:pPr marL="285750" indent="-285750" fontAlgn="auto">
              <a:lnSpc>
                <a:spcPct val="200000"/>
              </a:lnSpc>
              <a:buFont typeface="Wingdings" panose="05000000000000000000" charset="0"/>
              <a:buChar char="p"/>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细胞利用同源重组系统、以</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同源双链DNA为模板</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修复DSB。</a:t>
            </a:r>
          </a:p>
          <a:p>
            <a:pPr marL="285750" indent="-285750" fontAlgn="auto">
              <a:lnSpc>
                <a:spcPct val="200000"/>
              </a:lnSpc>
              <a:buFont typeface="Wingdings" panose="05000000000000000000" charset="0"/>
              <a:buChar char="p"/>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高等生物的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HDR</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发生在</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开始复制之后、染色体分离之前</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8" name="文本框 7"/>
          <p:cNvSpPr txBox="1"/>
          <p:nvPr/>
        </p:nvSpPr>
        <p:spPr>
          <a:xfrm>
            <a:off x="352615" y="3060648"/>
            <a:ext cx="687516" cy="36830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b="1" dirty="0">
                <a:latin typeface="微软雅黑" panose="020B0503020204020204" pitchFamily="34" charset="-122"/>
                <a:ea typeface="微软雅黑" panose="020B0503020204020204" pitchFamily="34" charset="-122"/>
                <a:cs typeface="Arial" panose="020B0604020202020204" pitchFamily="34" charset="0"/>
              </a:rPr>
              <a:t>模板</a:t>
            </a:r>
          </a:p>
        </p:txBody>
      </p:sp>
      <p:sp>
        <p:nvSpPr>
          <p:cNvPr id="10" name="文本框 9"/>
          <p:cNvSpPr txBox="1"/>
          <p:nvPr/>
        </p:nvSpPr>
        <p:spPr>
          <a:xfrm>
            <a:off x="352425" y="3509695"/>
            <a:ext cx="8826500" cy="1670778"/>
          </a:xfrm>
          <a:prstGeom prst="rect">
            <a:avLst/>
          </a:prstGeom>
          <a:noFill/>
        </p:spPr>
        <p:txBody>
          <a:bodyPr wrap="square">
            <a:spAutoFit/>
          </a:bodyPr>
          <a:lstStyle/>
          <a:p>
            <a:pPr marL="285750" indent="-285750" fontAlgn="auto">
              <a:lnSpc>
                <a:spcPct val="200000"/>
              </a:lnSpc>
              <a:buFont typeface="Wingdings" panose="05000000000000000000" charset="0"/>
              <a:buChar char="p"/>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重组修复的同源模板：需要有</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&gt;100bp</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的序列一致区段</a:t>
            </a:r>
          </a:p>
          <a:p>
            <a:pPr marL="285750" indent="-285750" fontAlgn="auto">
              <a:lnSpc>
                <a:spcPct val="200000"/>
              </a:lnSpc>
              <a:buFont typeface="Wingdings" panose="05000000000000000000" charset="0"/>
              <a:buChar char="p"/>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理想的同源修复模板时</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复制产生的姐妹染色单体</a:t>
            </a:r>
          </a:p>
          <a:p>
            <a:pPr marL="285750" indent="-285750" fontAlgn="auto">
              <a:lnSpc>
                <a:spcPct val="200000"/>
              </a:lnSpc>
              <a:buFont typeface="Wingdings" panose="05000000000000000000" charset="0"/>
              <a:buChar char="p"/>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模板决定同源重组修复的结果</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rcRect l="53007" t="42905" r="16689" b="25564"/>
          <a:stretch>
            <a:fillRect/>
          </a:stretch>
        </p:blipFill>
        <p:spPr>
          <a:xfrm>
            <a:off x="7225526" y="2455710"/>
            <a:ext cx="4591948" cy="215007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p:cNvSpPr txBox="1"/>
          <p:nvPr/>
        </p:nvSpPr>
        <p:spPr>
          <a:xfrm>
            <a:off x="0" y="0"/>
            <a:ext cx="12192000" cy="58477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同源重组修复</a:t>
            </a:r>
          </a:p>
        </p:txBody>
      </p:sp>
      <p:sp>
        <p:nvSpPr>
          <p:cNvPr id="2" name="文本框 1"/>
          <p:cNvSpPr txBox="1"/>
          <p:nvPr/>
        </p:nvSpPr>
        <p:spPr>
          <a:xfrm>
            <a:off x="277495" y="843915"/>
            <a:ext cx="1296670" cy="36830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b="1" dirty="0">
                <a:latin typeface="微软雅黑" panose="020B0503020204020204" pitchFamily="34" charset="-122"/>
                <a:ea typeface="微软雅黑" panose="020B0503020204020204" pitchFamily="34" charset="-122"/>
                <a:cs typeface="Arial" panose="020B0604020202020204" pitchFamily="34" charset="0"/>
              </a:rPr>
              <a:t>修复过程</a:t>
            </a:r>
          </a:p>
        </p:txBody>
      </p:sp>
      <p:sp>
        <p:nvSpPr>
          <p:cNvPr id="3" name="文本框 2"/>
          <p:cNvSpPr txBox="1"/>
          <p:nvPr/>
        </p:nvSpPr>
        <p:spPr>
          <a:xfrm>
            <a:off x="291321" y="1810112"/>
            <a:ext cx="6803960" cy="3886320"/>
          </a:xfrm>
          <a:prstGeom prst="rect">
            <a:avLst/>
          </a:prstGeom>
          <a:noFill/>
        </p:spPr>
        <p:txBody>
          <a:bodyPr wrap="square">
            <a:spAutoFit/>
          </a:bodyPr>
          <a:lstStyle/>
          <a:p>
            <a:pPr marL="342900" indent="-342900" algn="just" fontAlgn="auto">
              <a:lnSpc>
                <a:spcPct val="200000"/>
              </a:lnSpc>
              <a:buFont typeface="+mj-lt"/>
              <a:buAutoNum type="arabicPeriod"/>
            </a:pPr>
            <a:r>
              <a:rPr lang="en-US" altLang="zh-CN" b="1" dirty="0" err="1">
                <a:latin typeface="Arial" panose="020B0604020202020204" pitchFamily="34" charset="0"/>
                <a:ea typeface="微软雅黑" panose="020B0503020204020204" pitchFamily="34" charset="-122"/>
                <a:cs typeface="Arial" panose="020B0604020202020204" pitchFamily="34" charset="0"/>
              </a:rPr>
              <a:t>RecBCD</a:t>
            </a:r>
            <a:r>
              <a:rPr lang="zh-CN" altLang="en-US" b="1" dirty="0">
                <a:latin typeface="Arial" panose="020B0604020202020204" pitchFamily="34" charset="0"/>
                <a:ea typeface="微软雅黑" panose="020B0503020204020204" pitchFamily="34" charset="-122"/>
                <a:cs typeface="Arial" panose="020B0604020202020204" pitchFamily="34" charset="0"/>
              </a:rPr>
              <a:t>处理</a:t>
            </a:r>
            <a:r>
              <a:rPr lang="en-US" altLang="zh-CN" b="1" dirty="0">
                <a:latin typeface="Arial" panose="020B0604020202020204" pitchFamily="34" charset="0"/>
                <a:ea typeface="微软雅黑" panose="020B0503020204020204" pitchFamily="34" charset="-122"/>
                <a:cs typeface="Arial" panose="020B0604020202020204" pitchFamily="34" charset="0"/>
              </a:rPr>
              <a:t>DNA</a:t>
            </a:r>
            <a:r>
              <a:rPr lang="zh-CN" altLang="en-US" b="1" dirty="0">
                <a:latin typeface="Arial" panose="020B0604020202020204" pitchFamily="34" charset="0"/>
                <a:ea typeface="微软雅黑" panose="020B0503020204020204" pitchFamily="34" charset="-122"/>
                <a:cs typeface="Arial" panose="020B0604020202020204" pitchFamily="34" charset="0"/>
              </a:rPr>
              <a:t>断端，生成</a:t>
            </a:r>
            <a:r>
              <a:rPr lang="en-US" altLang="zh-CN" b="1" dirty="0">
                <a:latin typeface="Arial" panose="020B0604020202020204" pitchFamily="34" charset="0"/>
                <a:ea typeface="微软雅黑" panose="020B0503020204020204" pitchFamily="34" charset="-122"/>
                <a:cs typeface="Arial" panose="020B0604020202020204" pitchFamily="34" charset="0"/>
              </a:rPr>
              <a:t>3’</a:t>
            </a:r>
            <a:r>
              <a:rPr lang="zh-CN" altLang="en-US" b="1" dirty="0">
                <a:latin typeface="Arial" panose="020B0604020202020204" pitchFamily="34" charset="0"/>
                <a:ea typeface="微软雅黑" panose="020B0503020204020204" pitchFamily="34" charset="-122"/>
                <a:cs typeface="Arial" panose="020B0604020202020204" pitchFamily="34" charset="0"/>
              </a:rPr>
              <a:t>突出的单链</a:t>
            </a:r>
            <a:endParaRPr lang="en-US" altLang="zh-CN" b="1" dirty="0">
              <a:latin typeface="Arial" panose="020B0604020202020204" pitchFamily="34" charset="0"/>
              <a:ea typeface="微软雅黑" panose="020B0503020204020204" pitchFamily="34" charset="-122"/>
              <a:cs typeface="Arial" panose="020B0604020202020204" pitchFamily="34" charset="0"/>
            </a:endParaRPr>
          </a:p>
          <a:p>
            <a:pPr marL="342900" indent="-342900" algn="just" fontAlgn="auto">
              <a:lnSpc>
                <a:spcPct val="200000"/>
              </a:lnSpc>
              <a:buFont typeface="+mj-lt"/>
              <a:buAutoNum type="arabicPeriod"/>
            </a:pPr>
            <a:r>
              <a:rPr lang="en-US" altLang="zh-CN" b="1" dirty="0" err="1">
                <a:latin typeface="Arial" panose="020B0604020202020204" pitchFamily="34" charset="0"/>
                <a:ea typeface="微软雅黑" panose="020B0503020204020204" pitchFamily="34" charset="-122"/>
                <a:cs typeface="Arial" panose="020B0604020202020204" pitchFamily="34" charset="0"/>
              </a:rPr>
              <a:t>RecA</a:t>
            </a:r>
            <a:r>
              <a:rPr lang="zh-CN" altLang="en-US" b="1" dirty="0">
                <a:latin typeface="Arial" panose="020B0604020202020204" pitchFamily="34" charset="0"/>
                <a:ea typeface="微软雅黑" panose="020B0503020204020204" pitchFamily="34" charset="-122"/>
                <a:cs typeface="Arial" panose="020B0604020202020204" pitchFamily="34" charset="0"/>
              </a:rPr>
              <a:t>催化单链侵入及其与同源</a:t>
            </a:r>
            <a:r>
              <a:rPr lang="en-US" altLang="zh-CN" b="1" dirty="0">
                <a:latin typeface="Arial" panose="020B0604020202020204" pitchFamily="34" charset="0"/>
                <a:ea typeface="微软雅黑" panose="020B0503020204020204" pitchFamily="34" charset="-122"/>
                <a:cs typeface="Arial" panose="020B0604020202020204" pitchFamily="34" charset="0"/>
              </a:rPr>
              <a:t>DNA</a:t>
            </a:r>
            <a:r>
              <a:rPr lang="zh-CN" altLang="en-US" b="1" dirty="0">
                <a:latin typeface="Arial" panose="020B0604020202020204" pitchFamily="34" charset="0"/>
                <a:ea typeface="微软雅黑" panose="020B0503020204020204" pitchFamily="34" charset="-122"/>
                <a:cs typeface="Arial" panose="020B0604020202020204" pitchFamily="34" charset="0"/>
              </a:rPr>
              <a:t>配对</a:t>
            </a:r>
            <a:endParaRPr lang="en-US" altLang="zh-CN" b="1" dirty="0">
              <a:latin typeface="Arial" panose="020B0604020202020204" pitchFamily="34" charset="0"/>
              <a:ea typeface="微软雅黑" panose="020B0503020204020204" pitchFamily="34" charset="-122"/>
              <a:cs typeface="Arial" panose="020B0604020202020204" pitchFamily="34" charset="0"/>
            </a:endParaRPr>
          </a:p>
          <a:p>
            <a:pPr marL="342900" indent="-342900" algn="just" fontAlgn="auto">
              <a:lnSpc>
                <a:spcPct val="200000"/>
              </a:lnSpc>
              <a:buFont typeface="+mj-lt"/>
              <a:buAutoNum type="arabicPeriod"/>
            </a:pPr>
            <a:r>
              <a:rPr lang="en-US" altLang="zh-CN" b="1" dirty="0" err="1">
                <a:latin typeface="Arial" panose="020B0604020202020204" pitchFamily="34" charset="0"/>
                <a:ea typeface="微软雅黑" panose="020B0503020204020204" pitchFamily="34" charset="-122"/>
                <a:cs typeface="Arial" panose="020B0604020202020204" pitchFamily="34" charset="0"/>
              </a:rPr>
              <a:t>RecA</a:t>
            </a:r>
            <a:r>
              <a:rPr lang="zh-CN" altLang="en-US" b="1" dirty="0">
                <a:latin typeface="Arial" panose="020B0604020202020204" pitchFamily="34" charset="0"/>
                <a:ea typeface="微软雅黑" panose="020B0503020204020204" pitchFamily="34" charset="-122"/>
                <a:cs typeface="Arial" panose="020B0604020202020204" pitchFamily="34" charset="0"/>
              </a:rPr>
              <a:t>和</a:t>
            </a:r>
            <a:r>
              <a:rPr lang="en-US" altLang="zh-CN" b="1" dirty="0">
                <a:latin typeface="Arial" panose="020B0604020202020204" pitchFamily="34" charset="0"/>
                <a:ea typeface="微软雅黑" panose="020B0503020204020204" pitchFamily="34" charset="-122"/>
                <a:cs typeface="Arial" panose="020B0604020202020204" pitchFamily="34" charset="0"/>
              </a:rPr>
              <a:t>DNA</a:t>
            </a:r>
            <a:r>
              <a:rPr lang="zh-CN" altLang="en-US" b="1" dirty="0">
                <a:latin typeface="Arial" panose="020B0604020202020204" pitchFamily="34" charset="0"/>
                <a:ea typeface="微软雅黑" panose="020B0503020204020204" pitchFamily="34" charset="-122"/>
                <a:cs typeface="Arial" panose="020B0604020202020204" pitchFamily="34" charset="0"/>
              </a:rPr>
              <a:t>聚合酶依据</a:t>
            </a:r>
            <a:r>
              <a:rPr lang="zh-CN" altLang="en-US" b="1" dirty="0">
                <a:latin typeface="Arial" panose="020B0604020202020204" pitchFamily="34" charset="0"/>
                <a:ea typeface="微软雅黑" panose="020B0503020204020204" pitchFamily="34" charset="-122"/>
                <a:cs typeface="Arial" panose="020B0604020202020204" pitchFamily="34" charset="0"/>
                <a:sym typeface="+mn-ea"/>
              </a:rPr>
              <a:t>碱基互补配对，</a:t>
            </a:r>
            <a:r>
              <a:rPr lang="zh-CN" altLang="en-US" b="1" dirty="0">
                <a:latin typeface="Arial" panose="020B0604020202020204" pitchFamily="34" charset="0"/>
                <a:ea typeface="微软雅黑" panose="020B0503020204020204" pitchFamily="34" charset="-122"/>
                <a:cs typeface="Arial" panose="020B0604020202020204" pitchFamily="34" charset="0"/>
              </a:rPr>
              <a:t>修复合成</a:t>
            </a:r>
            <a:r>
              <a:rPr lang="en-US" altLang="zh-CN" b="1" dirty="0">
                <a:latin typeface="Arial" panose="020B0604020202020204" pitchFamily="34" charset="0"/>
                <a:ea typeface="微软雅黑" panose="020B0503020204020204" pitchFamily="34" charset="-122"/>
                <a:cs typeface="Arial" panose="020B0604020202020204" pitchFamily="34" charset="0"/>
              </a:rPr>
              <a:t>DNA</a:t>
            </a:r>
          </a:p>
          <a:p>
            <a:pPr marL="342900" indent="-342900" algn="just" fontAlgn="auto">
              <a:lnSpc>
                <a:spcPct val="200000"/>
              </a:lnSpc>
              <a:buFont typeface="+mj-lt"/>
              <a:buAutoNum type="arabicPeriod"/>
            </a:pPr>
            <a:r>
              <a:rPr lang="zh-CN" altLang="en-US" b="1" dirty="0">
                <a:latin typeface="Arial" panose="020B0604020202020204" pitchFamily="34" charset="0"/>
                <a:ea typeface="微软雅黑" panose="020B0503020204020204" pitchFamily="34" charset="-122"/>
                <a:cs typeface="Arial" panose="020B0604020202020204" pitchFamily="34" charset="0"/>
              </a:rPr>
              <a:t>产生霍利迪结</a:t>
            </a:r>
            <a:endParaRPr lang="en-US" altLang="zh-CN" b="1" dirty="0">
              <a:latin typeface="Arial" panose="020B0604020202020204" pitchFamily="34" charset="0"/>
              <a:ea typeface="微软雅黑" panose="020B0503020204020204" pitchFamily="34" charset="-122"/>
              <a:cs typeface="Arial" panose="020B0604020202020204" pitchFamily="34" charset="0"/>
            </a:endParaRPr>
          </a:p>
          <a:p>
            <a:pPr marL="342900" indent="-342900" algn="just" fontAlgn="auto">
              <a:lnSpc>
                <a:spcPct val="200000"/>
              </a:lnSpc>
              <a:buFont typeface="+mj-lt"/>
              <a:buAutoNum type="arabicPeriod"/>
            </a:pPr>
            <a:r>
              <a:rPr lang="en-US" altLang="zh-CN" b="1" dirty="0" err="1">
                <a:latin typeface="Arial" panose="020B0604020202020204" pitchFamily="34" charset="0"/>
                <a:ea typeface="微软雅黑" panose="020B0503020204020204" pitchFamily="34" charset="-122"/>
                <a:cs typeface="Arial" panose="020B0604020202020204" pitchFamily="34" charset="0"/>
              </a:rPr>
              <a:t>RuvAB</a:t>
            </a:r>
            <a:r>
              <a:rPr lang="zh-CN" altLang="en-US" b="1" dirty="0">
                <a:latin typeface="Arial" panose="020B0604020202020204" pitchFamily="34" charset="0"/>
                <a:ea typeface="微软雅黑" panose="020B0503020204020204" pitchFamily="34" charset="-122"/>
                <a:cs typeface="Arial" panose="020B0604020202020204" pitchFamily="34" charset="0"/>
              </a:rPr>
              <a:t>驱动分支迁移</a:t>
            </a:r>
            <a:endParaRPr lang="en-US" altLang="zh-CN" b="1" dirty="0">
              <a:latin typeface="Arial" panose="020B0604020202020204" pitchFamily="34" charset="0"/>
              <a:ea typeface="微软雅黑" panose="020B0503020204020204" pitchFamily="34" charset="-122"/>
              <a:cs typeface="Arial" panose="020B0604020202020204" pitchFamily="34" charset="0"/>
            </a:endParaRPr>
          </a:p>
          <a:p>
            <a:pPr marL="342900" indent="-342900" algn="just" fontAlgn="auto">
              <a:lnSpc>
                <a:spcPct val="200000"/>
              </a:lnSpc>
              <a:buFont typeface="+mj-lt"/>
              <a:buAutoNum type="arabicPeriod"/>
            </a:pPr>
            <a:r>
              <a:rPr lang="en-US" altLang="zh-CN" b="1" dirty="0" err="1">
                <a:latin typeface="Arial" panose="020B0604020202020204" pitchFamily="34" charset="0"/>
                <a:ea typeface="微软雅黑" panose="020B0503020204020204" pitchFamily="34" charset="-122"/>
                <a:cs typeface="Arial" panose="020B0604020202020204" pitchFamily="34" charset="0"/>
              </a:rPr>
              <a:t>RuvC</a:t>
            </a:r>
            <a:r>
              <a:rPr lang="zh-CN" altLang="en-US" b="1" dirty="0">
                <a:latin typeface="Arial" panose="020B0604020202020204" pitchFamily="34" charset="0"/>
                <a:ea typeface="微软雅黑" panose="020B0503020204020204" pitchFamily="34" charset="-122"/>
                <a:cs typeface="Arial" panose="020B0604020202020204" pitchFamily="34" charset="0"/>
              </a:rPr>
              <a:t>切口拆分霍利迪结</a:t>
            </a:r>
            <a:endParaRPr lang="en-US" altLang="zh-CN" b="1" dirty="0">
              <a:latin typeface="Arial" panose="020B0604020202020204" pitchFamily="34" charset="0"/>
              <a:ea typeface="微软雅黑" panose="020B0503020204020204" pitchFamily="34" charset="-122"/>
              <a:cs typeface="Arial" panose="020B0604020202020204" pitchFamily="34" charset="0"/>
            </a:endParaRPr>
          </a:p>
          <a:p>
            <a:pPr marL="342900" indent="-342900" algn="just" fontAlgn="auto">
              <a:lnSpc>
                <a:spcPct val="200000"/>
              </a:lnSpc>
              <a:buFont typeface="+mj-lt"/>
              <a:buAutoNum type="arabicPeriod"/>
            </a:pPr>
            <a:r>
              <a:rPr lang="zh-CN" altLang="en-US" b="1" dirty="0">
                <a:latin typeface="Arial" panose="020B0604020202020204" pitchFamily="34" charset="0"/>
                <a:ea typeface="微软雅黑" panose="020B0503020204020204" pitchFamily="34" charset="-122"/>
                <a:cs typeface="Arial" panose="020B0604020202020204" pitchFamily="34" charset="0"/>
              </a:rPr>
              <a:t>连接酶</a:t>
            </a:r>
            <a:r>
              <a:rPr lang="en-US" altLang="zh-CN" b="1" dirty="0">
                <a:latin typeface="Arial" panose="020B0604020202020204" pitchFamily="34" charset="0"/>
                <a:ea typeface="微软雅黑" panose="020B0503020204020204" pitchFamily="34" charset="-122"/>
                <a:cs typeface="Arial" panose="020B0604020202020204" pitchFamily="34" charset="0"/>
              </a:rPr>
              <a:t>Ⅳ(</a:t>
            </a:r>
            <a:r>
              <a:rPr lang="zh-CN" altLang="en-US" b="1" dirty="0">
                <a:latin typeface="Arial" panose="020B0604020202020204" pitchFamily="34" charset="0"/>
                <a:ea typeface="微软雅黑" panose="020B0503020204020204" pitchFamily="34" charset="-122"/>
                <a:cs typeface="Arial" panose="020B0604020202020204" pitchFamily="34" charset="0"/>
              </a:rPr>
              <a:t>与</a:t>
            </a:r>
            <a:r>
              <a:rPr lang="en-US" altLang="zh-CN" b="1" dirty="0" err="1">
                <a:latin typeface="Arial" panose="020B0604020202020204" pitchFamily="34" charset="0"/>
                <a:ea typeface="微软雅黑" panose="020B0503020204020204" pitchFamily="34" charset="-122"/>
                <a:cs typeface="Arial" panose="020B0604020202020204" pitchFamily="34" charset="0"/>
              </a:rPr>
              <a:t>XLF</a:t>
            </a:r>
            <a:r>
              <a:rPr lang="zh-CN" altLang="en-US" b="1" dirty="0">
                <a:latin typeface="Arial" panose="020B0604020202020204" pitchFamily="34" charset="0"/>
                <a:ea typeface="微软雅黑" panose="020B0503020204020204" pitchFamily="34" charset="-122"/>
                <a:cs typeface="Arial" panose="020B0604020202020204" pitchFamily="34" charset="0"/>
              </a:rPr>
              <a:t>和</a:t>
            </a:r>
            <a:r>
              <a:rPr lang="en-US" altLang="zh-CN" b="1" dirty="0" err="1">
                <a:latin typeface="Arial" panose="020B0604020202020204" pitchFamily="34" charset="0"/>
                <a:ea typeface="微软雅黑" panose="020B0503020204020204" pitchFamily="34" charset="-122"/>
                <a:cs typeface="Arial" panose="020B0604020202020204" pitchFamily="34" charset="0"/>
              </a:rPr>
              <a:t>XRCC4</a:t>
            </a:r>
            <a:r>
              <a:rPr lang="zh-CN" altLang="en-US" b="1" dirty="0">
                <a:latin typeface="Arial" panose="020B0604020202020204" pitchFamily="34" charset="0"/>
                <a:ea typeface="微软雅黑" panose="020B0503020204020204" pitchFamily="34" charset="-122"/>
                <a:cs typeface="Arial" panose="020B0604020202020204" pitchFamily="34" charset="0"/>
              </a:rPr>
              <a:t>一起</a:t>
            </a:r>
            <a:r>
              <a:rPr lang="en-US" altLang="zh-CN" b="1" dirty="0">
                <a:latin typeface="Arial" panose="020B0604020202020204" pitchFamily="34" charset="0"/>
                <a:ea typeface="微软雅黑" panose="020B0503020204020204" pitchFamily="34" charset="-122"/>
                <a:cs typeface="Arial" panose="020B0604020202020204" pitchFamily="34" charset="0"/>
              </a:rPr>
              <a:t>)</a:t>
            </a:r>
            <a:r>
              <a:rPr lang="zh-CN" altLang="en-US" b="1" dirty="0">
                <a:latin typeface="Arial" panose="020B0604020202020204" pitchFamily="34" charset="0"/>
                <a:ea typeface="微软雅黑" panose="020B0503020204020204" pitchFamily="34" charset="-122"/>
                <a:cs typeface="Arial" panose="020B0604020202020204" pitchFamily="34" charset="0"/>
              </a:rPr>
              <a:t>连接</a:t>
            </a:r>
            <a:r>
              <a:rPr lang="en-US" altLang="zh-CN" b="1" dirty="0">
                <a:latin typeface="Arial" panose="020B0604020202020204" pitchFamily="34" charset="0"/>
                <a:ea typeface="微软雅黑" panose="020B0503020204020204" pitchFamily="34" charset="-122"/>
                <a:cs typeface="Arial" panose="020B0604020202020204" pitchFamily="34" charset="0"/>
              </a:rPr>
              <a:t>DNA</a:t>
            </a:r>
          </a:p>
        </p:txBody>
      </p:sp>
      <p:grpSp>
        <p:nvGrpSpPr>
          <p:cNvPr id="16" name="组合 15">
            <a:extLst>
              <a:ext uri="{FF2B5EF4-FFF2-40B4-BE49-F238E27FC236}">
                <a16:creationId xmlns:a16="http://schemas.microsoft.com/office/drawing/2014/main" id="{4AB2D1CC-7972-4B1A-DF59-91CF421E4413}"/>
              </a:ext>
            </a:extLst>
          </p:cNvPr>
          <p:cNvGrpSpPr/>
          <p:nvPr/>
        </p:nvGrpSpPr>
        <p:grpSpPr>
          <a:xfrm>
            <a:off x="6805914" y="882223"/>
            <a:ext cx="5243368" cy="5771412"/>
            <a:chOff x="6354501" y="835924"/>
            <a:chExt cx="5243368" cy="5771412"/>
          </a:xfrm>
        </p:grpSpPr>
        <p:grpSp>
          <p:nvGrpSpPr>
            <p:cNvPr id="11" name="组合 10">
              <a:extLst>
                <a:ext uri="{FF2B5EF4-FFF2-40B4-BE49-F238E27FC236}">
                  <a16:creationId xmlns:a16="http://schemas.microsoft.com/office/drawing/2014/main" id="{FDE0892F-1828-31C7-D936-070E34E117C4}"/>
                </a:ext>
              </a:extLst>
            </p:cNvPr>
            <p:cNvGrpSpPr/>
            <p:nvPr/>
          </p:nvGrpSpPr>
          <p:grpSpPr>
            <a:xfrm>
              <a:off x="6354501" y="835924"/>
              <a:ext cx="5243368" cy="5771412"/>
              <a:chOff x="6354501" y="835924"/>
              <a:chExt cx="5243368" cy="5771412"/>
            </a:xfrm>
          </p:grpSpPr>
          <p:pic>
            <p:nvPicPr>
              <p:cNvPr id="7" name="图片 6">
                <a:extLst>
                  <a:ext uri="{FF2B5EF4-FFF2-40B4-BE49-F238E27FC236}">
                    <a16:creationId xmlns:a16="http://schemas.microsoft.com/office/drawing/2014/main" id="{C3569D17-285E-76DD-CFD2-2FE0C1703478}"/>
                  </a:ext>
                </a:extLst>
              </p:cNvPr>
              <p:cNvPicPr>
                <a:picLocks noChangeAspect="1"/>
              </p:cNvPicPr>
              <p:nvPr/>
            </p:nvPicPr>
            <p:blipFill>
              <a:blip r:embed="rId3">
                <a:extLst>
                  <a:ext uri="{28A0092B-C50C-407E-A947-70E740481C1C}">
                    <a14:useLocalDpi xmlns:a14="http://schemas.microsoft.com/office/drawing/2010/main" val="0"/>
                  </a:ext>
                </a:extLst>
              </a:blip>
              <a:srcRect b="44840"/>
              <a:stretch/>
            </p:blipFill>
            <p:spPr>
              <a:xfrm>
                <a:off x="6354501" y="835924"/>
                <a:ext cx="5243368" cy="3099468"/>
              </a:xfrm>
              <a:prstGeom prst="rect">
                <a:avLst/>
              </a:prstGeom>
            </p:spPr>
          </p:pic>
          <p:pic>
            <p:nvPicPr>
              <p:cNvPr id="10" name="图片 9">
                <a:extLst>
                  <a:ext uri="{FF2B5EF4-FFF2-40B4-BE49-F238E27FC236}">
                    <a16:creationId xmlns:a16="http://schemas.microsoft.com/office/drawing/2014/main" id="{37BD90E7-FCF8-14E3-E335-362DBE775869}"/>
                  </a:ext>
                </a:extLst>
              </p:cNvPr>
              <p:cNvPicPr>
                <a:picLocks noChangeAspect="1"/>
              </p:cNvPicPr>
              <p:nvPr/>
            </p:nvPicPr>
            <p:blipFill>
              <a:blip r:embed="rId3">
                <a:extLst>
                  <a:ext uri="{28A0092B-C50C-407E-A947-70E740481C1C}">
                    <a14:useLocalDpi xmlns:a14="http://schemas.microsoft.com/office/drawing/2010/main" val="0"/>
                  </a:ext>
                </a:extLst>
              </a:blip>
              <a:srcRect t="55332" r="49927"/>
              <a:stretch/>
            </p:blipFill>
            <p:spPr>
              <a:xfrm>
                <a:off x="7756967" y="4097438"/>
                <a:ext cx="2625524" cy="2509898"/>
              </a:xfrm>
              <a:prstGeom prst="rect">
                <a:avLst/>
              </a:prstGeom>
            </p:spPr>
          </p:pic>
        </p:grpSp>
        <p:pic>
          <p:nvPicPr>
            <p:cNvPr id="13" name="图片 12">
              <a:extLst>
                <a:ext uri="{FF2B5EF4-FFF2-40B4-BE49-F238E27FC236}">
                  <a16:creationId xmlns:a16="http://schemas.microsoft.com/office/drawing/2014/main" id="{6B78D02F-4826-9020-F5AD-E2DB458DAA11}"/>
                </a:ext>
              </a:extLst>
            </p:cNvPr>
            <p:cNvPicPr>
              <a:picLocks noChangeAspect="1"/>
            </p:cNvPicPr>
            <p:nvPr/>
          </p:nvPicPr>
          <p:blipFill>
            <a:blip r:embed="rId4">
              <a:extLst>
                <a:ext uri="{28A0092B-C50C-407E-A947-70E740481C1C}">
                  <a14:useLocalDpi xmlns:a14="http://schemas.microsoft.com/office/drawing/2010/main" val="0"/>
                </a:ext>
              </a:extLst>
            </a:blip>
            <a:srcRect r="74650" b="-9938"/>
            <a:stretch/>
          </p:blipFill>
          <p:spPr>
            <a:xfrm rot="19230091">
              <a:off x="8869455" y="3918880"/>
              <a:ext cx="142477" cy="303720"/>
            </a:xfrm>
            <a:prstGeom prst="rect">
              <a:avLst/>
            </a:prstGeom>
          </p:spPr>
        </p:pic>
        <p:sp>
          <p:nvSpPr>
            <p:cNvPr id="15" name="矩形 14">
              <a:extLst>
                <a:ext uri="{FF2B5EF4-FFF2-40B4-BE49-F238E27FC236}">
                  <a16:creationId xmlns:a16="http://schemas.microsoft.com/office/drawing/2014/main" id="{94EAD16F-4A5F-BE02-DE42-AC7BB804E9E1}"/>
                </a:ext>
              </a:extLst>
            </p:cNvPr>
            <p:cNvSpPr/>
            <p:nvPr/>
          </p:nvSpPr>
          <p:spPr>
            <a:xfrm>
              <a:off x="9248172" y="4027990"/>
              <a:ext cx="601884" cy="3588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p:cNvSpPr txBox="1"/>
          <p:nvPr/>
        </p:nvSpPr>
        <p:spPr>
          <a:xfrm>
            <a:off x="0" y="0"/>
            <a:ext cx="12192000" cy="583565"/>
          </a:xfrm>
          <a:prstGeom prst="rect">
            <a:avLst/>
          </a:prstGeom>
          <a:noFill/>
        </p:spPr>
        <p:txBody>
          <a:bodyPr wrap="square" rtlCol="0">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DNA</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修复与基因组编辑？</a:t>
            </a:r>
          </a:p>
        </p:txBody>
      </p:sp>
      <p:sp>
        <p:nvSpPr>
          <p:cNvPr id="3" name="文本框 2"/>
          <p:cNvSpPr txBox="1"/>
          <p:nvPr/>
        </p:nvSpPr>
        <p:spPr>
          <a:xfrm>
            <a:off x="0" y="6215770"/>
            <a:ext cx="12192000" cy="400110"/>
          </a:xfrm>
          <a:prstGeom prst="rect">
            <a:avLst/>
          </a:prstGeom>
          <a:noFill/>
        </p:spPr>
        <p:txBody>
          <a:bodyPr wrap="square">
            <a:spAutoFit/>
          </a:bodyPr>
          <a:lstStyle/>
          <a:p>
            <a:pPr algn="ctr"/>
            <a:r>
              <a:rPr lang="zh-CN" altLang="en-US" sz="2000" b="1" i="0" dirty="0">
                <a:effectLst/>
                <a:latin typeface="微软雅黑" panose="020B0503020204020204" pitchFamily="34" charset="-122"/>
                <a:ea typeface="微软雅黑" panose="020B0503020204020204" pitchFamily="34" charset="-122"/>
              </a:rPr>
              <a:t>实现对基因的定点敲除、</a:t>
            </a:r>
            <a:r>
              <a:rPr lang="zh-CN" altLang="en-US" sz="2000" b="1" dirty="0">
                <a:latin typeface="微软雅黑" panose="020B0503020204020204" pitchFamily="34" charset="-122"/>
                <a:ea typeface="微软雅黑" panose="020B0503020204020204" pitchFamily="34" charset="-122"/>
              </a:rPr>
              <a:t>敲入等</a:t>
            </a:r>
          </a:p>
        </p:txBody>
      </p:sp>
      <p:grpSp>
        <p:nvGrpSpPr>
          <p:cNvPr id="12" name="组合 11">
            <a:extLst>
              <a:ext uri="{FF2B5EF4-FFF2-40B4-BE49-F238E27FC236}">
                <a16:creationId xmlns:a16="http://schemas.microsoft.com/office/drawing/2014/main" id="{B2E664AD-5BAC-16D3-E224-B85A9703C9C9}"/>
              </a:ext>
            </a:extLst>
          </p:cNvPr>
          <p:cNvGrpSpPr/>
          <p:nvPr/>
        </p:nvGrpSpPr>
        <p:grpSpPr>
          <a:xfrm>
            <a:off x="1872805" y="902826"/>
            <a:ext cx="8443216" cy="4872265"/>
            <a:chOff x="896731" y="2053697"/>
            <a:chExt cx="6176117" cy="3564006"/>
          </a:xfrm>
        </p:grpSpPr>
        <p:pic>
          <p:nvPicPr>
            <p:cNvPr id="11" name="图片 10">
              <a:extLst>
                <a:ext uri="{FF2B5EF4-FFF2-40B4-BE49-F238E27FC236}">
                  <a16:creationId xmlns:a16="http://schemas.microsoft.com/office/drawing/2014/main" id="{ED5E3142-92D3-7672-6F9F-677D14372B6F}"/>
                </a:ext>
              </a:extLst>
            </p:cNvPr>
            <p:cNvPicPr>
              <a:picLocks noChangeAspect="1"/>
            </p:cNvPicPr>
            <p:nvPr/>
          </p:nvPicPr>
          <p:blipFill>
            <a:blip r:embed="rId3">
              <a:extLst>
                <a:ext uri="{28A0092B-C50C-407E-A947-70E740481C1C}">
                  <a14:useLocalDpi xmlns:a14="http://schemas.microsoft.com/office/drawing/2010/main" val="0"/>
                </a:ext>
              </a:extLst>
            </a:blip>
            <a:srcRect l="8578" t="53617"/>
            <a:stretch/>
          </p:blipFill>
          <p:spPr>
            <a:xfrm>
              <a:off x="1787418" y="2993506"/>
              <a:ext cx="4306995" cy="2624197"/>
            </a:xfrm>
            <a:prstGeom prst="rect">
              <a:avLst/>
            </a:prstGeom>
          </p:spPr>
        </p:pic>
        <p:pic>
          <p:nvPicPr>
            <p:cNvPr id="4" name="图片 3">
              <a:extLst>
                <a:ext uri="{FF2B5EF4-FFF2-40B4-BE49-F238E27FC236}">
                  <a16:creationId xmlns:a16="http://schemas.microsoft.com/office/drawing/2014/main" id="{482705D7-EB0E-913B-463A-1A12CFE8C087}"/>
                </a:ext>
              </a:extLst>
            </p:cNvPr>
            <p:cNvPicPr>
              <a:picLocks noChangeAspect="1"/>
            </p:cNvPicPr>
            <p:nvPr/>
          </p:nvPicPr>
          <p:blipFill>
            <a:blip r:embed="rId4">
              <a:extLst>
                <a:ext uri="{28A0092B-C50C-407E-A947-70E740481C1C}">
                  <a14:useLocalDpi xmlns:a14="http://schemas.microsoft.com/office/drawing/2010/main" val="0"/>
                </a:ext>
              </a:extLst>
            </a:blip>
            <a:srcRect t="6574" b="60740"/>
            <a:stretch/>
          </p:blipFill>
          <p:spPr>
            <a:xfrm>
              <a:off x="896731" y="2053697"/>
              <a:ext cx="6176117" cy="1332421"/>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8FAC8-3A4C-EEA7-98F4-59BC5E9A4778}"/>
            </a:ext>
          </a:extLst>
        </p:cNvPr>
        <p:cNvGrpSpPr/>
        <p:nvPr/>
      </p:nvGrpSpPr>
      <p:grpSpPr>
        <a:xfrm>
          <a:off x="0" y="0"/>
          <a:ext cx="0" cy="0"/>
          <a:chOff x="0" y="0"/>
          <a:chExt cx="0" cy="0"/>
        </a:xfrm>
      </p:grpSpPr>
      <p:sp>
        <p:nvSpPr>
          <p:cNvPr id="6" name="文本框 5">
            <a:extLst>
              <a:ext uri="{FF2B5EF4-FFF2-40B4-BE49-F238E27FC236}">
                <a16:creationId xmlns:a16="http://schemas.microsoft.com/office/drawing/2014/main" id="{1D3C27CE-24B4-5F42-60D2-B6FFD4F83357}"/>
              </a:ext>
            </a:extLst>
          </p:cNvPr>
          <p:cNvSpPr txBox="1"/>
          <p:nvPr/>
        </p:nvSpPr>
        <p:spPr>
          <a:xfrm>
            <a:off x="544010" y="1170452"/>
            <a:ext cx="9045146" cy="584775"/>
          </a:xfrm>
          <a:prstGeom prst="rect">
            <a:avLst/>
          </a:prstGeom>
          <a:noFill/>
        </p:spPr>
        <p:txBody>
          <a:bodyPr wrap="square" rtlCol="0">
            <a:spAutoFit/>
          </a:bodyPr>
          <a:lstStyle/>
          <a:p>
            <a:pPr marL="457200" indent="-457200" algn="ctr">
              <a:buFont typeface="Wingdings" panose="05000000000000000000" pitchFamily="2" charset="2"/>
              <a:buChar char="n"/>
            </a:pPr>
            <a:r>
              <a:rPr lang="zh-CN" altLang="en-US" sz="3200" b="1" dirty="0">
                <a:latin typeface="微软雅黑" panose="020B0503020204020204" pitchFamily="34" charset="-122"/>
                <a:ea typeface="微软雅黑" panose="020B0503020204020204" pitchFamily="34" charset="-122"/>
                <a:cs typeface="Arial" panose="020B0604020202020204" pitchFamily="34" charset="0"/>
              </a:rPr>
              <a:t>细胞</a:t>
            </a:r>
            <a:r>
              <a:rPr lang="en-US" altLang="zh-CN" sz="3200" b="1" dirty="0">
                <a:latin typeface="微软雅黑" panose="020B0503020204020204" pitchFamily="34" charset="-122"/>
                <a:ea typeface="微软雅黑" panose="020B0503020204020204" pitchFamily="34" charset="-122"/>
                <a:cs typeface="Arial" panose="020B0604020202020204" pitchFamily="34" charset="0"/>
              </a:rPr>
              <a:t>DNA</a:t>
            </a:r>
            <a:r>
              <a:rPr lang="zh-CN" altLang="en-US" sz="3200" b="1" dirty="0">
                <a:latin typeface="微软雅黑" panose="020B0503020204020204" pitchFamily="34" charset="-122"/>
                <a:ea typeface="微软雅黑" panose="020B0503020204020204" pitchFamily="34" charset="-122"/>
                <a:cs typeface="Arial" panose="020B0604020202020204" pitchFamily="34" charset="0"/>
              </a:rPr>
              <a:t>的损伤与修复</a:t>
            </a:r>
          </a:p>
        </p:txBody>
      </p:sp>
      <p:sp>
        <p:nvSpPr>
          <p:cNvPr id="7" name="文本框 6">
            <a:extLst>
              <a:ext uri="{FF2B5EF4-FFF2-40B4-BE49-F238E27FC236}">
                <a16:creationId xmlns:a16="http://schemas.microsoft.com/office/drawing/2014/main" id="{DD0FEED3-9431-8E76-619E-5E4CECBB1E0C}"/>
              </a:ext>
            </a:extLst>
          </p:cNvPr>
          <p:cNvSpPr txBox="1"/>
          <p:nvPr/>
        </p:nvSpPr>
        <p:spPr>
          <a:xfrm>
            <a:off x="544010" y="2805663"/>
            <a:ext cx="8872151" cy="584775"/>
          </a:xfrm>
          <a:prstGeom prst="rect">
            <a:avLst/>
          </a:prstGeom>
          <a:noFill/>
        </p:spPr>
        <p:txBody>
          <a:bodyPr wrap="square" rtlCol="0">
            <a:spAutoFit/>
          </a:bodyPr>
          <a:lstStyle/>
          <a:p>
            <a:pPr marL="457200" indent="-457200" algn="ctr">
              <a:buFont typeface="Wingdings" panose="05000000000000000000" pitchFamily="2" charset="2"/>
              <a:buChar char="n"/>
            </a:pPr>
            <a:r>
              <a:rPr lang="zh-CN" altLang="en-US" sz="3200" b="1" dirty="0">
                <a:latin typeface="微软雅黑" panose="020B0503020204020204" pitchFamily="34" charset="-122"/>
                <a:ea typeface="微软雅黑" panose="020B0503020204020204" pitchFamily="34" charset="-122"/>
                <a:cs typeface="Arial" panose="020B0604020202020204" pitchFamily="34" charset="0"/>
              </a:rPr>
              <a:t>早期的基因组编辑技术</a:t>
            </a:r>
          </a:p>
        </p:txBody>
      </p:sp>
      <p:sp>
        <p:nvSpPr>
          <p:cNvPr id="9" name="文本框 8">
            <a:extLst>
              <a:ext uri="{FF2B5EF4-FFF2-40B4-BE49-F238E27FC236}">
                <a16:creationId xmlns:a16="http://schemas.microsoft.com/office/drawing/2014/main" id="{A0D6D38F-93FC-B5BE-1A22-D173DE206A0D}"/>
              </a:ext>
            </a:extLst>
          </p:cNvPr>
          <p:cNvSpPr txBox="1"/>
          <p:nvPr/>
        </p:nvSpPr>
        <p:spPr>
          <a:xfrm>
            <a:off x="3905048" y="2067002"/>
            <a:ext cx="576904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effectLst/>
                <a:latin typeface="Arial" panose="020B0604020202020204" pitchFamily="34" charset="0"/>
                <a:ea typeface="微软雅黑" panose="020B0503020204020204" pitchFamily="34" charset="-122"/>
                <a:cs typeface="Arial" panose="020B0604020202020204" pitchFamily="34" charset="0"/>
              </a:rPr>
              <a:t>基因编辑最初源于真核生物</a:t>
            </a:r>
            <a:r>
              <a:rPr lang="en-US" altLang="zh-CN" sz="1800" dirty="0">
                <a:latin typeface="Arial" panose="020B0604020202020204" pitchFamily="34" charset="0"/>
                <a:ea typeface="微软雅黑" panose="020B0503020204020204" pitchFamily="34" charset="-122"/>
                <a:cs typeface="Arial" panose="020B0604020202020204" pitchFamily="34" charset="0"/>
              </a:rPr>
              <a:t>DNA</a:t>
            </a:r>
            <a:r>
              <a:rPr lang="zh-CN" altLang="en-US" sz="1800" dirty="0">
                <a:effectLst/>
                <a:latin typeface="Arial" panose="020B0604020202020204" pitchFamily="34" charset="0"/>
                <a:ea typeface="微软雅黑" panose="020B0503020204020204" pitchFamily="34" charset="-122"/>
                <a:cs typeface="Arial" panose="020B0604020202020204" pitchFamily="34" charset="0"/>
              </a:rPr>
              <a:t>修复领域的进步</a:t>
            </a:r>
            <a:endParaRPr lang="en-US" altLang="zh-CN" sz="1800" dirty="0">
              <a:effectLst/>
              <a:latin typeface="Arial" panose="020B0604020202020204" pitchFamily="34" charset="0"/>
              <a:ea typeface="微软雅黑" panose="020B0503020204020204" pitchFamily="34" charset="-122"/>
              <a:cs typeface="Arial" panose="020B0604020202020204" pitchFamily="34" charset="0"/>
            </a:endParaRPr>
          </a:p>
        </p:txBody>
      </p:sp>
      <p:sp>
        <p:nvSpPr>
          <p:cNvPr id="12" name="文本框 11">
            <a:extLst>
              <a:ext uri="{FF2B5EF4-FFF2-40B4-BE49-F238E27FC236}">
                <a16:creationId xmlns:a16="http://schemas.microsoft.com/office/drawing/2014/main" id="{F3109219-836D-98CA-48D0-D4DAA7731957}"/>
              </a:ext>
            </a:extLst>
          </p:cNvPr>
          <p:cNvSpPr txBox="1"/>
          <p:nvPr/>
        </p:nvSpPr>
        <p:spPr>
          <a:xfrm>
            <a:off x="3930792" y="3516861"/>
            <a:ext cx="4524100" cy="1668405"/>
          </a:xfrm>
          <a:prstGeom prst="rect">
            <a:avLst/>
          </a:prstGeom>
          <a:noFill/>
        </p:spPr>
        <p:txBody>
          <a:bodyPr wrap="square">
            <a:spAutoFit/>
          </a:bodyPr>
          <a:lstStyle/>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p"/>
              <a:defRPr/>
            </a:pPr>
            <a:r>
              <a:rPr lang="zh-CN" altLang="en-US" dirty="0">
                <a:sym typeface="+mn-ea"/>
              </a:rPr>
              <a:t>归巢核酸内切酶</a:t>
            </a:r>
            <a:endParaRPr lang="en-US" altLang="zh-CN" dirty="0">
              <a:sym typeface="+mn-ea"/>
            </a:endParaRP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p"/>
              <a:defRPr/>
            </a:pPr>
            <a:r>
              <a:rPr lang="en-US" altLang="zh-CN" dirty="0">
                <a:latin typeface="Arial" panose="020B0604020202020204" pitchFamily="34" charset="0"/>
                <a:ea typeface="微软雅黑" panose="020B0503020204020204" pitchFamily="34" charset="-122"/>
                <a:cs typeface="Arial" panose="020B0604020202020204" pitchFamily="34" charset="0"/>
              </a:rPr>
              <a:t>ZEN</a:t>
            </a:r>
            <a:endParaRPr lang="en-US" altLang="zh-CN" sz="1800" dirty="0">
              <a:effectLst/>
              <a:latin typeface="Arial" panose="020B0604020202020204" pitchFamily="34" charset="0"/>
              <a:ea typeface="微软雅黑" panose="020B0503020204020204" pitchFamily="34" charset="-122"/>
              <a:cs typeface="Arial" panose="020B0604020202020204" pitchFamily="34" charset="0"/>
            </a:endParaRP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p"/>
              <a:defRPr/>
            </a:pPr>
            <a:r>
              <a:rPr lang="en-US" altLang="zh-CN" dirty="0">
                <a:latin typeface="Arial" panose="020B0604020202020204" pitchFamily="34" charset="0"/>
                <a:ea typeface="微软雅黑" panose="020B0503020204020204" pitchFamily="34" charset="-122"/>
                <a:cs typeface="Arial" panose="020B0604020202020204" pitchFamily="34" charset="0"/>
              </a:rPr>
              <a:t>TALEN</a:t>
            </a:r>
            <a:endParaRPr lang="en-US" altLang="zh-CN" sz="1800" dirty="0">
              <a:effectLst/>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9922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7" grpId="1"/>
      <p:bldP spid="9" grpId="0"/>
      <p:bldP spid="9" grpId="1"/>
      <p:bldP spid="12" grpId="0"/>
      <p:bldP spid="12"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a:off x="0" y="0"/>
            <a:ext cx="12192000" cy="58356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同源重组技术与基因打靶</a:t>
            </a:r>
          </a:p>
        </p:txBody>
      </p:sp>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3720" y="2061403"/>
            <a:ext cx="5733009" cy="2816019"/>
          </a:xfrm>
          <a:prstGeom prst="rect">
            <a:avLst/>
          </a:prstGeom>
        </p:spPr>
      </p:pic>
      <p:pic>
        <p:nvPicPr>
          <p:cNvPr id="2" name="图片 1">
            <a:extLst>
              <a:ext uri="{FF2B5EF4-FFF2-40B4-BE49-F238E27FC236}">
                <a16:creationId xmlns:a16="http://schemas.microsoft.com/office/drawing/2014/main" id="{F770587B-780C-7BB9-666F-2CB08D4FF2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276" y="2182326"/>
            <a:ext cx="5822965" cy="269007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277494" y="843915"/>
            <a:ext cx="1863822" cy="40011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sz="2000" b="1" dirty="0">
                <a:latin typeface="微软雅黑" panose="020B0503020204020204" pitchFamily="34" charset="-122"/>
                <a:ea typeface="微软雅黑" panose="020B0503020204020204" pitchFamily="34" charset="-122"/>
                <a:cs typeface="Arial" panose="020B0604020202020204" pitchFamily="34" charset="0"/>
              </a:rPr>
              <a:t>先驱性的工作 </a:t>
            </a:r>
          </a:p>
        </p:txBody>
      </p:sp>
      <p:sp>
        <p:nvSpPr>
          <p:cNvPr id="11" name="Rectangle 1"/>
          <p:cNvSpPr>
            <a:spLocks noChangeArrowheads="1"/>
          </p:cNvSpPr>
          <p:nvPr/>
        </p:nvSpPr>
        <p:spPr bwMode="auto">
          <a:xfrm>
            <a:off x="2502083" y="1023566"/>
            <a:ext cx="7013458" cy="2224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R="0" lvl="0" indent="0" algn="l" defTabSz="914400" rtl="0" eaLnBrk="0" fontAlgn="base" latinLnBrk="0" hangingPunct="0">
              <a:lnSpc>
                <a:spcPct val="200000"/>
              </a:lnSpc>
              <a:spcBef>
                <a:spcPct val="0"/>
              </a:spcBef>
              <a:spcAft>
                <a:spcPct val="0"/>
              </a:spcAft>
              <a:buClrTx/>
              <a:buSzTx/>
              <a:buFont typeface="Wingdings" panose="05000000000000000000" pitchFamily="2" charset="2"/>
              <a:buNone/>
            </a:pPr>
            <a:r>
              <a:rPr kumimoji="0" lang="en-US" altLang="zh-CN"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1</a:t>
            </a:r>
            <a:r>
              <a:rPr kumimoji="0" lang="zh-CN" altLang="en-US"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zh-CN" altLang="zh-CN"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构建携带有缺陷的新霉素抗性基因的细胞系</a:t>
            </a:r>
            <a:endParaRPr kumimoji="0" lang="en-US" altLang="zh-CN"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R="0" lvl="0" indent="0" algn="l" defTabSz="914400" rtl="0" eaLnBrk="0" fontAlgn="base" latinLnBrk="0" hangingPunct="0">
              <a:lnSpc>
                <a:spcPct val="200000"/>
              </a:lnSpc>
              <a:spcBef>
                <a:spcPct val="0"/>
              </a:spcBef>
              <a:spcAft>
                <a:spcPct val="0"/>
              </a:spcAft>
              <a:buClrTx/>
              <a:buSzTx/>
              <a:buFont typeface="Wingdings" panose="05000000000000000000" pitchFamily="2" charset="2"/>
              <a:buNone/>
            </a:pPr>
            <a:r>
              <a:rPr kumimoji="0" lang="en-US" altLang="zh-CN"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2</a:t>
            </a:r>
            <a:r>
              <a:rPr kumimoji="0" lang="zh-CN" altLang="en-US"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zh-CN" altLang="zh-CN"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准备</a:t>
            </a:r>
            <a:r>
              <a:rPr lang="zh-CN" altLang="en-US" dirty="0">
                <a:latin typeface="微软雅黑" panose="020B0503020204020204" pitchFamily="34" charset="-122"/>
                <a:ea typeface="微软雅黑" panose="020B0503020204020204" pitchFamily="34" charset="-122"/>
              </a:rPr>
              <a:t>打靶载体</a:t>
            </a:r>
            <a:r>
              <a:rPr kumimoji="0" lang="zh-CN" altLang="en-US"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：部分同源序列，但携带有正常新氯霉素抗性基因</a:t>
            </a:r>
            <a:endParaRPr kumimoji="0" lang="zh-CN" altLang="zh-CN"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R="0" lvl="0" indent="0" algn="l" defTabSz="914400" rtl="0" eaLnBrk="0" fontAlgn="base" latinLnBrk="0" hangingPunct="0">
              <a:lnSpc>
                <a:spcPct val="200000"/>
              </a:lnSpc>
              <a:spcBef>
                <a:spcPct val="0"/>
              </a:spcBef>
              <a:spcAft>
                <a:spcPct val="0"/>
              </a:spcAft>
              <a:buClrTx/>
              <a:buSzTx/>
              <a:buFont typeface="Wingdings" panose="05000000000000000000" pitchFamily="2" charset="2"/>
              <a:buNone/>
            </a:pPr>
            <a:r>
              <a:rPr kumimoji="0" lang="en-US" altLang="zh-CN"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3</a:t>
            </a:r>
            <a:r>
              <a:rPr kumimoji="0" lang="zh-CN" altLang="en-US"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zh-CN" altLang="zh-CN"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将外源DNA导入细胞</a:t>
            </a:r>
            <a:r>
              <a:rPr kumimoji="0" lang="zh-CN" altLang="en-US"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显微注射法、电穿孔法等</a:t>
            </a:r>
          </a:p>
          <a:p>
            <a:pPr marR="0" lvl="0" indent="0" algn="l" defTabSz="914400" rtl="0" eaLnBrk="0" fontAlgn="base" latinLnBrk="0" hangingPunct="0">
              <a:lnSpc>
                <a:spcPct val="200000"/>
              </a:lnSpc>
              <a:spcBef>
                <a:spcPct val="0"/>
              </a:spcBef>
              <a:spcAft>
                <a:spcPct val="0"/>
              </a:spcAft>
              <a:buClrTx/>
              <a:buSzTx/>
              <a:buFont typeface="Wingdings" panose="05000000000000000000" pitchFamily="2" charset="2"/>
              <a:buNone/>
            </a:pPr>
            <a:r>
              <a:rPr kumimoji="0" lang="en-US" altLang="zh-CN"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4</a:t>
            </a:r>
            <a:r>
              <a:rPr kumimoji="0" lang="zh-CN" altLang="en-US"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r>
              <a:rPr kumimoji="0" lang="zh-CN" altLang="zh-CN"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筛选和鉴定</a:t>
            </a:r>
            <a:r>
              <a:rPr kumimoji="0" lang="zh-CN" altLang="en-US"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：利用添加新霉素的培养基进行鉴定</a:t>
            </a:r>
            <a:endParaRPr kumimoji="0" lang="zh-CN" altLang="zh-CN"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3">
            <a:extLst>
              <a:ext uri="{28A0092B-C50C-407E-A947-70E740481C1C}">
                <a14:useLocalDpi xmlns:a14="http://schemas.microsoft.com/office/drawing/2010/main" val="0"/>
              </a:ext>
            </a:extLst>
          </a:blip>
          <a:srcRect r="67590" b="19282"/>
          <a:stretch>
            <a:fillRect/>
          </a:stretch>
        </p:blipFill>
        <p:spPr>
          <a:xfrm>
            <a:off x="106487" y="1253235"/>
            <a:ext cx="2173726" cy="2659143"/>
          </a:xfrm>
          <a:prstGeom prst="rect">
            <a:avLst/>
          </a:prstGeom>
          <a:ln>
            <a:noFill/>
          </a:ln>
          <a:effectLst>
            <a:softEdge rad="112500"/>
          </a:effectLst>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43522" y="4521468"/>
            <a:ext cx="6025597" cy="1673394"/>
          </a:xfrm>
          <a:prstGeom prst="rect">
            <a:avLst/>
          </a:prstGeom>
        </p:spPr>
      </p:pic>
      <p:sp>
        <p:nvSpPr>
          <p:cNvPr id="4" name="矩形 3"/>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a:off x="0" y="0"/>
            <a:ext cx="12192000" cy="58356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同源重组可以在细胞中引入外源</a:t>
            </a: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DNA</a:t>
            </a:r>
            <a:endPar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6" name="图片 5">
            <a:extLst>
              <a:ext uri="{FF2B5EF4-FFF2-40B4-BE49-F238E27FC236}">
                <a16:creationId xmlns:a16="http://schemas.microsoft.com/office/drawing/2014/main" id="{C48187D3-CFB4-FE3D-7757-913403702F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1892" y="4144699"/>
            <a:ext cx="4144751" cy="2072376"/>
          </a:xfrm>
          <a:prstGeom prst="rect">
            <a:avLst/>
          </a:prstGeom>
        </p:spPr>
      </p:pic>
      <p:sp>
        <p:nvSpPr>
          <p:cNvPr id="13" name="文本框 12">
            <a:extLst>
              <a:ext uri="{FF2B5EF4-FFF2-40B4-BE49-F238E27FC236}">
                <a16:creationId xmlns:a16="http://schemas.microsoft.com/office/drawing/2014/main" id="{F690F5D6-BD7C-5EDD-9E7B-CBB1C684D47A}"/>
              </a:ext>
            </a:extLst>
          </p:cNvPr>
          <p:cNvSpPr txBox="1"/>
          <p:nvPr/>
        </p:nvSpPr>
        <p:spPr>
          <a:xfrm>
            <a:off x="2503025" y="3423722"/>
            <a:ext cx="7705845" cy="369332"/>
          </a:xfrm>
          <a:prstGeom prst="rect">
            <a:avLst/>
          </a:prstGeom>
          <a:noFill/>
        </p:spPr>
        <p:txBody>
          <a:bodyPr wrap="square">
            <a:spAutoFit/>
          </a:bodyPr>
          <a:lstStyle/>
          <a:p>
            <a:r>
              <a:rPr lang="zh-CN" altLang="zh-CN" sz="1800" b="1" i="0" dirty="0">
                <a:ln>
                  <a:noFill/>
                </a:ln>
                <a:effectLst/>
                <a:highlight>
                  <a:srgbClr val="FFFF00"/>
                </a:highlight>
                <a:latin typeface="微软雅黑" panose="020B0503020204020204" pitchFamily="34" charset="-122"/>
                <a:ea typeface="微软雅黑" panose="020B0503020204020204" pitchFamily="34" charset="-122"/>
              </a:rPr>
              <a:t>证明这种有缺陷的抗性基因可以通过与外源DNA间的同源重组得到修复</a:t>
            </a:r>
            <a:r>
              <a:rPr lang="zh-CN" altLang="en-US" b="1" dirty="0">
                <a:highlight>
                  <a:srgbClr val="FFFF00"/>
                </a:highlight>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extLst>
              <a:ext uri="{28A0092B-C50C-407E-A947-70E740481C1C}">
                <a14:useLocalDpi xmlns:a14="http://schemas.microsoft.com/office/drawing/2010/main" val="0"/>
              </a:ext>
            </a:extLst>
          </a:blip>
          <a:srcRect l="66933" b="19406"/>
          <a:stretch>
            <a:fillRect/>
          </a:stretch>
        </p:blipFill>
        <p:spPr>
          <a:xfrm>
            <a:off x="815975" y="1543050"/>
            <a:ext cx="2792095" cy="3343275"/>
          </a:xfrm>
          <a:prstGeom prst="rect">
            <a:avLst/>
          </a:prstGeom>
        </p:spPr>
      </p:pic>
      <p:pic>
        <p:nvPicPr>
          <p:cNvPr id="15" name="图片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99686" y="1570995"/>
            <a:ext cx="6019800" cy="3434715"/>
          </a:xfrm>
          <a:prstGeom prst="rect">
            <a:avLst/>
          </a:prstGeom>
        </p:spPr>
      </p:pic>
      <p:sp>
        <p:nvSpPr>
          <p:cNvPr id="4" name="矩形 3"/>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a:off x="0" y="0"/>
            <a:ext cx="12192000" cy="58356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同源重组可以在细胞中引入外源</a:t>
            </a: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DNA</a:t>
            </a:r>
            <a:endPar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 name="文本框 5">
            <a:extLst>
              <a:ext uri="{FF2B5EF4-FFF2-40B4-BE49-F238E27FC236}">
                <a16:creationId xmlns:a16="http://schemas.microsoft.com/office/drawing/2014/main" id="{9B33EA74-01F6-C0A3-F5D6-63EED531A18C}"/>
              </a:ext>
            </a:extLst>
          </p:cNvPr>
          <p:cNvSpPr txBox="1"/>
          <p:nvPr/>
        </p:nvSpPr>
        <p:spPr>
          <a:xfrm>
            <a:off x="2241490" y="5287246"/>
            <a:ext cx="7705845" cy="369332"/>
          </a:xfrm>
          <a:prstGeom prst="rect">
            <a:avLst/>
          </a:prstGeom>
          <a:noFill/>
        </p:spPr>
        <p:txBody>
          <a:bodyPr wrap="square">
            <a:spAutoFit/>
          </a:bodyPr>
          <a:lstStyle/>
          <a:p>
            <a:r>
              <a:rPr lang="zh-CN" altLang="en-US" sz="1800" b="1" i="0" dirty="0">
                <a:ln>
                  <a:noFill/>
                </a:ln>
                <a:effectLst/>
                <a:highlight>
                  <a:srgbClr val="FFFF00"/>
                </a:highlight>
                <a:latin typeface="微软雅黑" panose="020B0503020204020204" pitchFamily="34" charset="-122"/>
                <a:ea typeface="微软雅黑" panose="020B0503020204020204" pitchFamily="34" charset="-122"/>
              </a:rPr>
              <a:t>报道了在小鼠胚胎干细胞中进行基因打靶的实验，成功突变了基因 </a:t>
            </a:r>
            <a:r>
              <a:rPr lang="en-US" altLang="zh-CN" sz="1800" b="1" i="1" dirty="0">
                <a:ln>
                  <a:noFill/>
                </a:ln>
                <a:effectLst/>
                <a:highlight>
                  <a:srgbClr val="FFFF00"/>
                </a:highlight>
                <a:latin typeface="微软雅黑" panose="020B0503020204020204" pitchFamily="34" charset="-122"/>
                <a:ea typeface="微软雅黑" panose="020B0503020204020204" pitchFamily="34" charset="-122"/>
              </a:rPr>
              <a:t>HPRT</a:t>
            </a:r>
            <a:endParaRPr lang="zh-CN" altLang="en-US" sz="1800" b="1" i="1" dirty="0">
              <a:ln>
                <a:noFill/>
              </a:ln>
              <a:effectLst/>
              <a:highlight>
                <a:srgbClr val="FFFF00"/>
              </a:highlight>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a:off x="0" y="0"/>
            <a:ext cx="12192000" cy="58356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同源重组可以在细胞中引入外源</a:t>
            </a: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DNA</a:t>
            </a:r>
            <a:endPar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rcRect l="31975" r="33194"/>
          <a:stretch>
            <a:fillRect/>
          </a:stretch>
        </p:blipFill>
        <p:spPr>
          <a:xfrm>
            <a:off x="476885" y="1752600"/>
            <a:ext cx="2649855" cy="3736975"/>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00071" y="1966799"/>
            <a:ext cx="5706271" cy="2924583"/>
          </a:xfrm>
          <a:prstGeom prst="rect">
            <a:avLst/>
          </a:prstGeom>
        </p:spPr>
      </p:pic>
      <p:pic>
        <p:nvPicPr>
          <p:cNvPr id="7" name="图片 6"/>
          <p:cNvPicPr/>
          <p:nvPr/>
        </p:nvPicPr>
        <p:blipFill>
          <a:blip r:embed="rId5"/>
          <a:stretch>
            <a:fillRect/>
          </a:stretch>
        </p:blipFill>
        <p:spPr>
          <a:xfrm>
            <a:off x="8577580" y="4336415"/>
            <a:ext cx="3369945" cy="2195830"/>
          </a:xfrm>
          <a:prstGeom prst="rect">
            <a:avLst/>
          </a:prstGeom>
        </p:spPr>
      </p:pic>
      <p:sp>
        <p:nvSpPr>
          <p:cNvPr id="9" name="文本框 8">
            <a:extLst>
              <a:ext uri="{FF2B5EF4-FFF2-40B4-BE49-F238E27FC236}">
                <a16:creationId xmlns:a16="http://schemas.microsoft.com/office/drawing/2014/main" id="{73AF8F41-FEC2-4967-423E-C97E999E5C54}"/>
              </a:ext>
            </a:extLst>
          </p:cNvPr>
          <p:cNvSpPr txBox="1"/>
          <p:nvPr/>
        </p:nvSpPr>
        <p:spPr>
          <a:xfrm>
            <a:off x="277493" y="843915"/>
            <a:ext cx="3773645" cy="40011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sz="2000" b="1" dirty="0">
                <a:latin typeface="微软雅黑" panose="020B0503020204020204" pitchFamily="34" charset="-122"/>
                <a:ea typeface="微软雅黑" panose="020B0503020204020204" pitchFamily="34" charset="-122"/>
                <a:cs typeface="Arial" panose="020B0604020202020204" pitchFamily="34" charset="0"/>
              </a:rPr>
              <a:t>首次报道建立小鼠胚胎干细胞系</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a:off x="0" y="0"/>
            <a:ext cx="12192000" cy="58356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同源重组可以在细胞中引入外源</a:t>
            </a: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DNA</a:t>
            </a:r>
            <a:endPar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8750" y="2310267"/>
            <a:ext cx="6858635" cy="3369310"/>
          </a:xfrm>
          <a:prstGeom prst="rect">
            <a:avLst/>
          </a:prstGeom>
        </p:spPr>
      </p:pic>
      <p:sp>
        <p:nvSpPr>
          <p:cNvPr id="7" name="文本框 6"/>
          <p:cNvSpPr txBox="1"/>
          <p:nvPr/>
        </p:nvSpPr>
        <p:spPr>
          <a:xfrm>
            <a:off x="3791495" y="1133343"/>
            <a:ext cx="6093822" cy="830997"/>
          </a:xfrm>
          <a:prstGeom prst="rect">
            <a:avLst/>
          </a:prstGeom>
          <a:noFill/>
        </p:spPr>
        <p:txBody>
          <a:bodyPr wrap="square">
            <a:spAutoFit/>
          </a:bodyPr>
          <a:lstStyle/>
          <a:p>
            <a:r>
              <a:rPr lang="en-US" altLang="zh-CN" sz="2400" b="1" i="0" dirty="0">
                <a:solidFill>
                  <a:srgbClr val="231F20"/>
                </a:solidFill>
                <a:effectLst/>
                <a:latin typeface="Arial" panose="020B0604020202020204" pitchFamily="34" charset="0"/>
                <a:ea typeface="微软雅黑" panose="020B0503020204020204" pitchFamily="34" charset="-122"/>
                <a:cs typeface="Arial" panose="020B0604020202020204" pitchFamily="34" charset="0"/>
              </a:rPr>
              <a:t>2007 </a:t>
            </a:r>
            <a:r>
              <a:rPr lang="zh-CN" altLang="en-US" sz="2400" b="1" i="0" dirty="0">
                <a:solidFill>
                  <a:srgbClr val="231F20"/>
                </a:solidFill>
                <a:effectLst/>
                <a:latin typeface="Arial" panose="020B0604020202020204" pitchFamily="34" charset="0"/>
                <a:ea typeface="微软雅黑" panose="020B0503020204020204" pitchFamily="34" charset="-122"/>
                <a:cs typeface="Arial" panose="020B0604020202020204" pitchFamily="34" charset="0"/>
              </a:rPr>
              <a:t>年获得诺贝尔生理学或医学奖</a:t>
            </a:r>
            <a:r>
              <a:rPr lang="zh-CN" altLang="en-US" sz="2400" b="1" dirty="0">
                <a:latin typeface="Arial" panose="020B0604020202020204" pitchFamily="34" charset="0"/>
                <a:ea typeface="微软雅黑" panose="020B0503020204020204" pitchFamily="34" charset="-122"/>
                <a:cs typeface="Arial" panose="020B0604020202020204" pitchFamily="34" charset="0"/>
              </a:rPr>
              <a:t> </a:t>
            </a:r>
            <a:br>
              <a:rPr lang="zh-CN" altLang="en-US" sz="2400" b="1" dirty="0">
                <a:latin typeface="Arial" panose="020B0604020202020204" pitchFamily="34" charset="0"/>
                <a:ea typeface="微软雅黑" panose="020B0503020204020204" pitchFamily="34" charset="-122"/>
                <a:cs typeface="Arial" panose="020B0604020202020204" pitchFamily="34" charset="0"/>
              </a:rPr>
            </a:br>
            <a:endParaRPr lang="zh-CN" altLang="en-US" sz="2400" b="1" dirty="0">
              <a:latin typeface="Arial" panose="020B0604020202020204" pitchFamily="34" charset="0"/>
              <a:ea typeface="微软雅黑" panose="020B0503020204020204" pitchFamily="34" charset="-122"/>
              <a:cs typeface="Arial" panose="020B0604020202020204" pitchFamily="34" charset="0"/>
            </a:endParaRPr>
          </a:p>
        </p:txBody>
      </p:sp>
      <p:pic>
        <p:nvPicPr>
          <p:cNvPr id="12" name="图片 11"/>
          <p:cNvPicPr>
            <a:picLocks noChangeAspect="1"/>
          </p:cNvPicPr>
          <p:nvPr/>
        </p:nvPicPr>
        <p:blipFill>
          <a:blip r:embed="rId4">
            <a:extLst>
              <a:ext uri="{28A0092B-C50C-407E-A947-70E740481C1C}">
                <a14:useLocalDpi xmlns:a14="http://schemas.microsoft.com/office/drawing/2010/main" val="0"/>
              </a:ext>
            </a:extLst>
          </a:blip>
          <a:srcRect l="11572" r="50285"/>
          <a:stretch>
            <a:fillRect/>
          </a:stretch>
        </p:blipFill>
        <p:spPr>
          <a:xfrm>
            <a:off x="470264" y="720635"/>
            <a:ext cx="2325189" cy="24384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a:off x="0" y="0"/>
            <a:ext cx="12192000" cy="58356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基因打靶的缺陷</a:t>
            </a:r>
          </a:p>
        </p:txBody>
      </p:sp>
      <p:sp>
        <p:nvSpPr>
          <p:cNvPr id="2" name="文本框 1"/>
          <p:cNvSpPr txBox="1"/>
          <p:nvPr/>
        </p:nvSpPr>
        <p:spPr>
          <a:xfrm>
            <a:off x="587989" y="1319454"/>
            <a:ext cx="8291253" cy="3498215"/>
          </a:xfrm>
          <a:prstGeom prst="rect">
            <a:avLst/>
          </a:prstGeom>
          <a:noFill/>
        </p:spPr>
        <p:txBody>
          <a:bodyPr wrap="square" rtlCol="0" anchor="t">
            <a:noAutofit/>
          </a:bodyPr>
          <a:lstStyle/>
          <a:p>
            <a:pPr marL="342900" indent="-342900">
              <a:lnSpc>
                <a:spcPct val="200000"/>
              </a:lnSpc>
              <a:buFont typeface="Wingdings" panose="05000000000000000000" pitchFamily="2" charset="2"/>
              <a:buChar char="n"/>
            </a:pPr>
            <a:r>
              <a:rPr lang="zh-CN" altLang="en-US" sz="2000" b="1" dirty="0">
                <a:solidFill>
                  <a:srgbClr val="231F20"/>
                </a:solidFill>
                <a:latin typeface="微软雅黑" panose="020B0503020204020204" pitchFamily="34" charset="-122"/>
                <a:ea typeface="微软雅黑" panose="020B0503020204020204" pitchFamily="34" charset="-122"/>
                <a:cs typeface="微软雅黑" panose="020B0503020204020204" pitchFamily="34" charset="-122"/>
                <a:sym typeface="+mn-ea"/>
              </a:rPr>
              <a:t>依赖同源重组</a:t>
            </a:r>
            <a:r>
              <a:rPr lang="zh-CN" altLang="en-US" sz="3200" dirty="0">
                <a:latin typeface="微软雅黑" panose="020B0503020204020204" pitchFamily="34" charset="-122"/>
                <a:ea typeface="微软雅黑" panose="020B0503020204020204" pitchFamily="34" charset="-122"/>
                <a:cs typeface="微软雅黑" panose="020B0503020204020204" pitchFamily="34" charset="-122"/>
                <a:sym typeface="+mn-ea"/>
              </a:rPr>
              <a:t> </a:t>
            </a:r>
            <a:br>
              <a:rPr lang="zh-CN" altLang="en-US" sz="3200" dirty="0">
                <a:latin typeface="微软雅黑" panose="020B0503020204020204" pitchFamily="34" charset="-122"/>
                <a:ea typeface="微软雅黑" panose="020B0503020204020204" pitchFamily="34" charset="-122"/>
                <a:cs typeface="微软雅黑" panose="020B0503020204020204" pitchFamily="34" charset="-122"/>
                <a:sym typeface="+mn-ea"/>
              </a:rPr>
            </a:br>
            <a:r>
              <a:rPr lang="zh-CN" altLang="en-US" sz="2000" dirty="0">
                <a:solidFill>
                  <a:srgbClr val="231F20"/>
                </a:solidFill>
                <a:latin typeface="微软雅黑" panose="020B0503020204020204" pitchFamily="34" charset="-122"/>
                <a:ea typeface="微软雅黑" panose="020B0503020204020204" pitchFamily="34" charset="-122"/>
                <a:cs typeface="微软雅黑" panose="020B0503020204020204" pitchFamily="34" charset="-122"/>
                <a:sym typeface="+mn-ea"/>
              </a:rPr>
              <a:t>正常情况下，同源重组发生率极低。</a:t>
            </a:r>
            <a:endParaRPr lang="en-US" altLang="zh-CN" sz="2000" dirty="0">
              <a:solidFill>
                <a:srgbClr val="231F2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nSpc>
                <a:spcPct val="200000"/>
              </a:lnSpc>
              <a:buFont typeface="Wingdings" panose="05000000000000000000" pitchFamily="2" charset="2"/>
              <a:buChar char="n"/>
            </a:pPr>
            <a:r>
              <a:rPr lang="zh-CN" altLang="en-US" sz="2000" b="1" dirty="0">
                <a:solidFill>
                  <a:srgbClr val="231F20"/>
                </a:solidFill>
                <a:latin typeface="微软雅黑" panose="020B0503020204020204" pitchFamily="34" charset="-122"/>
                <a:ea typeface="微软雅黑" panose="020B0503020204020204" pitchFamily="34" charset="-122"/>
                <a:sym typeface="+mn-ea"/>
              </a:rPr>
              <a:t>依赖胚胎干细胞的建立</a:t>
            </a:r>
            <a:endParaRPr lang="en-US" altLang="zh-CN" sz="2000" b="1" dirty="0">
              <a:solidFill>
                <a:srgbClr val="231F20"/>
              </a:solidFill>
              <a:latin typeface="微软雅黑" panose="020B0503020204020204" pitchFamily="34" charset="-122"/>
              <a:ea typeface="微软雅黑" panose="020B0503020204020204" pitchFamily="34" charset="-122"/>
              <a:sym typeface="+mn-ea"/>
            </a:endParaRPr>
          </a:p>
          <a:p>
            <a:pPr>
              <a:lnSpc>
                <a:spcPct val="200000"/>
              </a:lnSpc>
            </a:pPr>
            <a:r>
              <a:rPr lang="en-US" altLang="zh-CN" sz="2000" b="1" dirty="0">
                <a:solidFill>
                  <a:srgbClr val="231F20"/>
                </a:solidFill>
                <a:latin typeface="微软雅黑" panose="020B0503020204020204" pitchFamily="34" charset="-122"/>
                <a:ea typeface="微软雅黑" panose="020B0503020204020204" pitchFamily="34" charset="-122"/>
                <a:sym typeface="+mn-ea"/>
              </a:rPr>
              <a:t>   </a:t>
            </a:r>
            <a:r>
              <a:rPr lang="zh-CN" altLang="en-US" sz="2000" dirty="0">
                <a:solidFill>
                  <a:srgbClr val="231F20"/>
                </a:solidFill>
                <a:latin typeface="微软雅黑" panose="020B0503020204020204" pitchFamily="34" charset="-122"/>
                <a:ea typeface="微软雅黑" panose="020B0503020204020204" pitchFamily="34" charset="-122"/>
                <a:sym typeface="+mn-ea"/>
              </a:rPr>
              <a:t>并不是所有的生物都有合适的胚胎干细胞系。</a:t>
            </a:r>
            <a:endParaRPr lang="en-US" altLang="zh-CN" sz="2000" dirty="0">
              <a:solidFill>
                <a:srgbClr val="231F20"/>
              </a:solidFill>
              <a:latin typeface="微软雅黑" panose="020B0503020204020204" pitchFamily="34" charset="-122"/>
              <a:ea typeface="微软雅黑" panose="020B0503020204020204" pitchFamily="34" charset="-122"/>
              <a:sym typeface="+mn-ea"/>
            </a:endParaRPr>
          </a:p>
          <a:p>
            <a:pPr marL="342900" lvl="1" indent="-342900">
              <a:lnSpc>
                <a:spcPct val="200000"/>
              </a:lnSpc>
              <a:buFont typeface="Wingdings" panose="05000000000000000000" pitchFamily="2" charset="2"/>
              <a:buChar char="n"/>
            </a:pPr>
            <a:r>
              <a:rPr lang="zh-CN" altLang="en-US" sz="2000" b="1" dirty="0">
                <a:solidFill>
                  <a:srgbClr val="231F20"/>
                </a:solidFill>
                <a:latin typeface="微软雅黑" panose="020B0503020204020204" pitchFamily="34" charset="-122"/>
                <a:ea typeface="微软雅黑" panose="020B0503020204020204" pitchFamily="34" charset="-122"/>
                <a:sym typeface="+mn-ea"/>
              </a:rPr>
              <a:t>依赖外源</a:t>
            </a:r>
            <a:r>
              <a:rPr lang="en-US" altLang="zh-CN" sz="2000" b="1" dirty="0">
                <a:solidFill>
                  <a:srgbClr val="231F20"/>
                </a:solidFill>
                <a:latin typeface="微软雅黑" panose="020B0503020204020204" pitchFamily="34" charset="-122"/>
                <a:ea typeface="微软雅黑" panose="020B0503020204020204" pitchFamily="34" charset="-122"/>
                <a:sym typeface="+mn-ea"/>
              </a:rPr>
              <a:t>DNA</a:t>
            </a:r>
            <a:r>
              <a:rPr lang="zh-CN" altLang="en-US" sz="2000" b="1" dirty="0">
                <a:solidFill>
                  <a:srgbClr val="231F20"/>
                </a:solidFill>
                <a:latin typeface="微软雅黑" panose="020B0503020204020204" pitchFamily="34" charset="-122"/>
                <a:ea typeface="微软雅黑" panose="020B0503020204020204" pitchFamily="34" charset="-122"/>
                <a:sym typeface="+mn-ea"/>
              </a:rPr>
              <a:t>在胚胎中形成嵌合生殖细胞的能力</a:t>
            </a:r>
          </a:p>
          <a:p>
            <a:pPr lvl="1">
              <a:lnSpc>
                <a:spcPct val="200000"/>
              </a:lnSpc>
            </a:pPr>
            <a:endParaRPr lang="zh-CN" altLang="en-US" sz="2000" dirty="0">
              <a:solidFill>
                <a:srgbClr val="231F20"/>
              </a:solidFill>
              <a:effectLst/>
              <a:latin typeface="宋体" panose="02010600030101010101" pitchFamily="2" charset="-122"/>
              <a:ea typeface="宋体" panose="02010600030101010101" pitchFamily="2" charset="-122"/>
              <a:sym typeface="+mn-ea"/>
            </a:endParaRPr>
          </a:p>
        </p:txBody>
      </p:sp>
      <p:sp>
        <p:nvSpPr>
          <p:cNvPr id="7" name="文本框 6"/>
          <p:cNvSpPr txBox="1"/>
          <p:nvPr/>
        </p:nvSpPr>
        <p:spPr>
          <a:xfrm>
            <a:off x="0" y="5543397"/>
            <a:ext cx="12192000" cy="461665"/>
          </a:xfrm>
          <a:prstGeom prst="rect">
            <a:avLst/>
          </a:prstGeom>
          <a:noFill/>
        </p:spPr>
        <p:txBody>
          <a:bodyPr wrap="square">
            <a:spAutoFit/>
          </a:bodyPr>
          <a:lstStyle/>
          <a:p>
            <a:pPr algn="ct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基因打靶技术成功率不高，且很容易脱靶</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6D4F6831-3BD3-F510-48E8-463EC94F5484}"/>
              </a:ext>
            </a:extLst>
          </p:cNvPr>
          <p:cNvSpPr txBox="1"/>
          <p:nvPr/>
        </p:nvSpPr>
        <p:spPr>
          <a:xfrm>
            <a:off x="10324618" y="983848"/>
            <a:ext cx="45719" cy="1200329"/>
          </a:xfrm>
          <a:prstGeom prst="rect">
            <a:avLst/>
          </a:prstGeom>
          <a:noFill/>
        </p:spPr>
        <p:txBody>
          <a:bodyPr wrap="square" rtlCol="0">
            <a:spAutoFit/>
          </a:bodyPr>
          <a:lstStyle/>
          <a:p>
            <a:r>
              <a:rPr lang="zh-CN" altLang="en-US" sz="72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p:cNvSpPr txBox="1"/>
          <p:nvPr/>
        </p:nvSpPr>
        <p:spPr>
          <a:xfrm>
            <a:off x="0" y="0"/>
            <a:ext cx="12192000" cy="58477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诱导</a:t>
            </a:r>
            <a:r>
              <a:rPr lang="en-US" altLang="zh-CN" sz="3200" b="1" dirty="0" err="1">
                <a:solidFill>
                  <a:schemeClr val="bg1"/>
                </a:solidFill>
                <a:latin typeface="微软雅黑" panose="020B0503020204020204" pitchFamily="34" charset="-122"/>
                <a:ea typeface="微软雅黑" panose="020B0503020204020204" pitchFamily="34" charset="-122"/>
                <a:cs typeface="Arial" panose="020B0604020202020204" pitchFamily="34" charset="0"/>
              </a:rPr>
              <a:t>DSB</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的产生</a:t>
            </a:r>
          </a:p>
        </p:txBody>
      </p:sp>
      <p:sp>
        <p:nvSpPr>
          <p:cNvPr id="4" name="文本框 3"/>
          <p:cNvSpPr txBox="1"/>
          <p:nvPr/>
        </p:nvSpPr>
        <p:spPr>
          <a:xfrm>
            <a:off x="552965" y="1060273"/>
            <a:ext cx="6098058" cy="645160"/>
          </a:xfrm>
          <a:prstGeom prst="rect">
            <a:avLst/>
          </a:prstGeom>
          <a:noFill/>
        </p:spPr>
        <p:txBody>
          <a:bodyPr wrap="square">
            <a:spAutoFit/>
          </a:bodyPr>
          <a:lstStyle/>
          <a:p>
            <a:br>
              <a:rPr lang="zh-CN" altLang="en-US" dirty="0"/>
            </a:br>
            <a:endParaRPr lang="zh-CN" altLang="en-US" dirty="0"/>
          </a:p>
        </p:txBody>
      </p:sp>
      <p:sp>
        <p:nvSpPr>
          <p:cNvPr id="8" name="文本框 7"/>
          <p:cNvSpPr txBox="1"/>
          <p:nvPr/>
        </p:nvSpPr>
        <p:spPr>
          <a:xfrm>
            <a:off x="763030" y="4775025"/>
            <a:ext cx="6098058" cy="645160"/>
          </a:xfrm>
          <a:prstGeom prst="rect">
            <a:avLst/>
          </a:prstGeom>
          <a:noFill/>
        </p:spPr>
        <p:txBody>
          <a:bodyPr wrap="square">
            <a:spAutoFit/>
          </a:bodyPr>
          <a:lstStyle/>
          <a:p>
            <a:br>
              <a:rPr lang="zh-CN" altLang="en-US" dirty="0"/>
            </a:br>
            <a:endParaRPr lang="zh-CN" altLang="en-US" dirty="0"/>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0565" y="838018"/>
            <a:ext cx="6347696" cy="4719396"/>
          </a:xfrm>
          <a:prstGeom prst="rect">
            <a:avLst/>
          </a:prstGeom>
        </p:spPr>
      </p:pic>
      <p:sp>
        <p:nvSpPr>
          <p:cNvPr id="2" name="文本框 1">
            <a:extLst>
              <a:ext uri="{FF2B5EF4-FFF2-40B4-BE49-F238E27FC236}">
                <a16:creationId xmlns:a16="http://schemas.microsoft.com/office/drawing/2014/main" id="{02408C75-DAD4-65BB-8AB7-5B5C9D25A17B}"/>
              </a:ext>
            </a:extLst>
          </p:cNvPr>
          <p:cNvSpPr txBox="1"/>
          <p:nvPr/>
        </p:nvSpPr>
        <p:spPr>
          <a:xfrm>
            <a:off x="0" y="5646062"/>
            <a:ext cx="12192000" cy="874407"/>
          </a:xfrm>
          <a:prstGeom prst="rect">
            <a:avLst/>
          </a:prstGeom>
          <a:noFill/>
        </p:spPr>
        <p:txBody>
          <a:bodyPr wrap="square">
            <a:spAutoFit/>
          </a:bodyPr>
          <a:lstStyle/>
          <a:p>
            <a:pPr algn="ctr">
              <a:lnSpc>
                <a:spcPct val="150000"/>
              </a:lnSpc>
            </a:pPr>
            <a:r>
              <a:rPr lang="en-US" altLang="zh-CN" sz="1800" b="1" i="0" dirty="0" err="1">
                <a:ln>
                  <a:noFill/>
                </a:ln>
                <a:effectLst/>
                <a:highlight>
                  <a:srgbClr val="FFFF00"/>
                </a:highlight>
                <a:latin typeface="微软雅黑" panose="020B0503020204020204" pitchFamily="34" charset="-122"/>
                <a:ea typeface="微软雅黑" panose="020B0503020204020204" pitchFamily="34" charset="-122"/>
              </a:rPr>
              <a:t>DSB</a:t>
            </a:r>
            <a:r>
              <a:rPr lang="zh-CN" altLang="en-US" sz="1800" b="1" i="0" dirty="0">
                <a:ln>
                  <a:noFill/>
                </a:ln>
                <a:effectLst/>
                <a:highlight>
                  <a:srgbClr val="FFFF00"/>
                </a:highlight>
                <a:latin typeface="微软雅黑" panose="020B0503020204020204" pitchFamily="34" charset="-122"/>
                <a:ea typeface="微软雅黑" panose="020B0503020204020204" pitchFamily="34" charset="-122"/>
              </a:rPr>
              <a:t>可使同源重组效率大大提高</a:t>
            </a:r>
            <a:endParaRPr lang="en-US" altLang="zh-CN" sz="1800" b="1" i="0" dirty="0">
              <a:ln>
                <a:noFill/>
              </a:ln>
              <a:effectLst/>
              <a:highlight>
                <a:srgbClr val="FFFF00"/>
              </a:highlight>
              <a:latin typeface="微软雅黑" panose="020B0503020204020204" pitchFamily="34" charset="-122"/>
              <a:ea typeface="微软雅黑" panose="020B0503020204020204" pitchFamily="34" charset="-122"/>
            </a:endParaRPr>
          </a:p>
          <a:p>
            <a:pPr algn="ctr">
              <a:lnSpc>
                <a:spcPct val="150000"/>
              </a:lnSpc>
            </a:pPr>
            <a:r>
              <a:rPr lang="zh-CN" altLang="en-US" sz="1800" b="1" i="0" dirty="0">
                <a:ln>
                  <a:noFill/>
                </a:ln>
                <a:effectLst/>
                <a:highlight>
                  <a:srgbClr val="FFFF00"/>
                </a:highlight>
                <a:latin typeface="微软雅黑" panose="020B0503020204020204" pitchFamily="34" charset="-122"/>
                <a:ea typeface="微软雅黑" panose="020B0503020204020204" pitchFamily="34" charset="-122"/>
              </a:rPr>
              <a:t>于是研究人员开始寻找增加细胞内</a:t>
            </a:r>
            <a:r>
              <a:rPr lang="en-US" altLang="zh-CN" sz="1800" b="1" i="0" dirty="0" err="1">
                <a:ln>
                  <a:noFill/>
                </a:ln>
                <a:effectLst/>
                <a:highlight>
                  <a:srgbClr val="FFFF00"/>
                </a:highlight>
                <a:latin typeface="微软雅黑" panose="020B0503020204020204" pitchFamily="34" charset="-122"/>
                <a:ea typeface="微软雅黑" panose="020B0503020204020204" pitchFamily="34" charset="-122"/>
              </a:rPr>
              <a:t>DSB</a:t>
            </a:r>
            <a:r>
              <a:rPr lang="zh-CN" altLang="en-US" sz="1800" b="1" i="0" dirty="0">
                <a:ln>
                  <a:noFill/>
                </a:ln>
                <a:effectLst/>
                <a:highlight>
                  <a:srgbClr val="FFFF00"/>
                </a:highlight>
                <a:latin typeface="微软雅黑" panose="020B0503020204020204" pitchFamily="34" charset="-122"/>
                <a:ea typeface="微软雅黑" panose="020B0503020204020204" pitchFamily="34" charset="-122"/>
              </a:rPr>
              <a:t>发生的策略，他们的眼光重又回到限制性内切酶</a:t>
            </a:r>
            <a:endParaRPr lang="zh-CN" altLang="en-US" sz="1800" b="1" i="1" dirty="0">
              <a:ln>
                <a:noFill/>
              </a:ln>
              <a:effectLst/>
              <a:highlight>
                <a:srgbClr val="FFFF00"/>
              </a:highlight>
              <a:latin typeface="微软雅黑" panose="020B0503020204020204" pitchFamily="34" charset="-122"/>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290296" y="2878167"/>
            <a:ext cx="5797550" cy="400110"/>
          </a:xfrm>
          <a:prstGeom prst="rect">
            <a:avLst/>
          </a:prstGeom>
          <a:noFill/>
        </p:spPr>
        <p:txBody>
          <a:bodyPr wrap="square" rtlCol="0" anchor="t">
            <a:spAutoFit/>
          </a:bodyPr>
          <a:lstStyle/>
          <a:p>
            <a:pPr indent="0">
              <a:buFont typeface="Wingdings" panose="05000000000000000000" charset="0"/>
              <a:buNone/>
            </a:pPr>
            <a:r>
              <a:rPr lang="zh-CN" altLang="en-US" sz="2000" b="1"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传统的限制性核酸内切酶可以用吗？</a:t>
            </a:r>
          </a:p>
        </p:txBody>
      </p:sp>
      <p:sp>
        <p:nvSpPr>
          <p:cNvPr id="5" name="文本框 4"/>
          <p:cNvSpPr txBox="1"/>
          <p:nvPr/>
        </p:nvSpPr>
        <p:spPr>
          <a:xfrm>
            <a:off x="3308016" y="3885980"/>
            <a:ext cx="5797550" cy="400110"/>
          </a:xfrm>
          <a:prstGeom prst="rect">
            <a:avLst/>
          </a:prstGeom>
          <a:noFill/>
        </p:spPr>
        <p:txBody>
          <a:bodyPr wrap="square" rtlCol="0" anchor="t">
            <a:spAutoFit/>
          </a:bodyPr>
          <a:lstStyle/>
          <a:p>
            <a:pPr indent="0">
              <a:buFont typeface="Wingdings" panose="05000000000000000000" charset="0"/>
              <a:buNone/>
            </a:pPr>
            <a:r>
              <a:rPr lang="zh-CN" altLang="en-US" sz="20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识别序列：</a:t>
            </a:r>
            <a:r>
              <a:rPr lang="en-US" altLang="zh-CN" sz="2000" b="1" dirty="0">
                <a:solidFill>
                  <a:srgbClr val="FF0000"/>
                </a:solidFill>
                <a:latin typeface="Arial" panose="020B0604020202020204" pitchFamily="34" charset="0"/>
                <a:ea typeface="微软雅黑" panose="020B0503020204020204" pitchFamily="34" charset="-122"/>
                <a:cs typeface="Arial" panose="020B0604020202020204" pitchFamily="34" charset="0"/>
                <a:sym typeface="+mn-ea"/>
              </a:rPr>
              <a:t>4-6 bp</a:t>
            </a:r>
          </a:p>
        </p:txBody>
      </p:sp>
      <p:sp>
        <p:nvSpPr>
          <p:cNvPr id="6" name="文本框 5"/>
          <p:cNvSpPr txBox="1"/>
          <p:nvPr/>
        </p:nvSpPr>
        <p:spPr>
          <a:xfrm>
            <a:off x="406814" y="4803952"/>
            <a:ext cx="11214572" cy="874407"/>
          </a:xfrm>
          <a:prstGeom prst="rect">
            <a:avLst/>
          </a:prstGeom>
          <a:noFill/>
        </p:spPr>
        <p:txBody>
          <a:bodyPr wrap="square" rtlCol="0" anchor="t">
            <a:spAutoFit/>
          </a:bodyPr>
          <a:lstStyle/>
          <a:p>
            <a:pPr indent="0" fontAlgn="auto">
              <a:lnSpc>
                <a:spcPct val="150000"/>
              </a:lnSpc>
            </a:pPr>
            <a:r>
              <a:rPr lang="zh-CN" altLang="en-US" dirty="0">
                <a:latin typeface="Arial" panose="020B0604020202020204" pitchFamily="34" charset="0"/>
                <a:ea typeface="微软雅黑" panose="020B0503020204020204" pitchFamily="34" charset="-122"/>
                <a:cs typeface="Arial" panose="020B0604020202020204" pitchFamily="34" charset="0"/>
                <a:sym typeface="+mn-ea"/>
              </a:rPr>
              <a:t>将这类酶应用于人基因组（</a:t>
            </a:r>
            <a:r>
              <a:rPr lang="en-US" altLang="zh-CN" dirty="0">
                <a:latin typeface="Arial" panose="020B0604020202020204" pitchFamily="34" charset="0"/>
                <a:ea typeface="微软雅黑" panose="020B0503020204020204" pitchFamily="34" charset="-122"/>
                <a:cs typeface="Arial" panose="020B0604020202020204" pitchFamily="34" charset="0"/>
                <a:sym typeface="+mn-ea"/>
              </a:rPr>
              <a:t>30</a:t>
            </a:r>
            <a:r>
              <a:rPr lang="zh-CN" altLang="en-US" dirty="0">
                <a:latin typeface="Arial" panose="020B0604020202020204" pitchFamily="34" charset="0"/>
                <a:ea typeface="微软雅黑" panose="020B0503020204020204" pitchFamily="34" charset="-122"/>
                <a:cs typeface="Arial" panose="020B0604020202020204" pitchFamily="34" charset="0"/>
                <a:sym typeface="+mn-ea"/>
              </a:rPr>
              <a:t>亿碱基对）的编辑，理论上一次可产生</a:t>
            </a:r>
            <a:r>
              <a:rPr lang="en-US" altLang="zh-CN" dirty="0">
                <a:latin typeface="Arial" panose="020B0604020202020204" pitchFamily="34" charset="0"/>
                <a:ea typeface="微软雅黑" panose="020B0503020204020204" pitchFamily="34" charset="-122"/>
                <a:cs typeface="Arial" panose="020B0604020202020204" pitchFamily="34" charset="0"/>
                <a:sym typeface="+mn-ea"/>
              </a:rPr>
              <a:t>7.3×10</a:t>
            </a:r>
            <a:r>
              <a:rPr lang="zh-CN" altLang="en-US" dirty="0">
                <a:effectLst/>
                <a:latin typeface="Arial" panose="020B0604020202020204" pitchFamily="34" charset="0"/>
                <a:ea typeface="微软雅黑" panose="020B0503020204020204" pitchFamily="34" charset="-122"/>
                <a:cs typeface="Arial" panose="020B0604020202020204" pitchFamily="34" charset="0"/>
                <a:sym typeface="+mn-ea"/>
              </a:rPr>
              <a:t> </a:t>
            </a:r>
            <a:r>
              <a:rPr lang="en-US" altLang="zh-CN" baseline="30000" dirty="0">
                <a:solidFill>
                  <a:srgbClr val="3E3E3E"/>
                </a:solidFill>
                <a:effectLst/>
                <a:latin typeface="Arial" panose="020B0604020202020204" pitchFamily="34" charset="0"/>
                <a:ea typeface="微软雅黑" panose="020B0503020204020204" pitchFamily="34" charset="-122"/>
                <a:cs typeface="Arial" panose="020B0604020202020204" pitchFamily="34" charset="0"/>
                <a:sym typeface="+mn-ea"/>
              </a:rPr>
              <a:t>5</a:t>
            </a:r>
            <a:r>
              <a:rPr lang="zh-CN" altLang="en-US" dirty="0">
                <a:latin typeface="Arial" panose="020B0604020202020204" pitchFamily="34" charset="0"/>
                <a:ea typeface="微软雅黑" panose="020B0503020204020204" pitchFamily="34" charset="-122"/>
                <a:cs typeface="Arial" panose="020B0604020202020204" pitchFamily="34" charset="0"/>
                <a:sym typeface="+mn-ea"/>
              </a:rPr>
              <a:t>个以上断裂点；若要保证切割位点唯一性，则须识别</a:t>
            </a:r>
            <a:r>
              <a:rPr lang="en-US" altLang="zh-CN" dirty="0">
                <a:latin typeface="Arial" panose="020B0604020202020204" pitchFamily="34" charset="0"/>
                <a:ea typeface="微软雅黑" panose="020B0503020204020204" pitchFamily="34" charset="-122"/>
                <a:cs typeface="Arial" panose="020B0604020202020204" pitchFamily="34" charset="0"/>
                <a:sym typeface="+mn-ea"/>
              </a:rPr>
              <a:t>16</a:t>
            </a:r>
            <a:r>
              <a:rPr lang="zh-CN" altLang="en-US" dirty="0">
                <a:latin typeface="Arial" panose="020B0604020202020204" pitchFamily="34" charset="0"/>
                <a:ea typeface="微软雅黑" panose="020B0503020204020204" pitchFamily="34" charset="-122"/>
                <a:cs typeface="Arial" panose="020B0604020202020204" pitchFamily="34" charset="0"/>
                <a:sym typeface="+mn-ea"/>
              </a:rPr>
              <a:t>个碱基（</a:t>
            </a:r>
            <a:r>
              <a:rPr lang="en-US" altLang="zh-CN" dirty="0">
                <a:latin typeface="Arial" panose="020B0604020202020204" pitchFamily="34" charset="0"/>
                <a:ea typeface="微软雅黑" panose="020B0503020204020204" pitchFamily="34" charset="-122"/>
                <a:cs typeface="Arial" panose="020B0604020202020204" pitchFamily="34" charset="0"/>
                <a:sym typeface="+mn-ea"/>
              </a:rPr>
              <a:t>4</a:t>
            </a:r>
            <a:r>
              <a:rPr lang="en-US" altLang="zh-CN" baseline="30000" dirty="0">
                <a:solidFill>
                  <a:srgbClr val="3E3E3E"/>
                </a:solidFill>
                <a:effectLst/>
                <a:latin typeface="Arial" panose="020B0604020202020204" pitchFamily="34" charset="0"/>
                <a:ea typeface="微软雅黑" panose="020B0503020204020204" pitchFamily="34" charset="-122"/>
                <a:cs typeface="Arial" panose="020B0604020202020204" pitchFamily="34" charset="0"/>
                <a:sym typeface="+mn-ea"/>
              </a:rPr>
              <a:t>16</a:t>
            </a:r>
            <a:r>
              <a:rPr lang="zh-CN" altLang="en-US" dirty="0">
                <a:latin typeface="Arial" panose="020B0604020202020204" pitchFamily="34" charset="0"/>
                <a:ea typeface="微软雅黑" panose="020B0503020204020204" pitchFamily="34" charset="-122"/>
                <a:cs typeface="Arial" panose="020B0604020202020204" pitchFamily="34" charset="0"/>
                <a:sym typeface="+mn-ea"/>
              </a:rPr>
              <a:t>≈</a:t>
            </a:r>
            <a:r>
              <a:rPr lang="en-US" altLang="zh-CN" dirty="0">
                <a:latin typeface="Arial" panose="020B0604020202020204" pitchFamily="34" charset="0"/>
                <a:ea typeface="微软雅黑" panose="020B0503020204020204" pitchFamily="34" charset="-122"/>
                <a:cs typeface="Arial" panose="020B0604020202020204" pitchFamily="34" charset="0"/>
                <a:sym typeface="+mn-ea"/>
              </a:rPr>
              <a:t>43</a:t>
            </a:r>
            <a:r>
              <a:rPr lang="zh-CN" altLang="en-US" dirty="0">
                <a:latin typeface="Arial" panose="020B0604020202020204" pitchFamily="34" charset="0"/>
                <a:ea typeface="微软雅黑" panose="020B0503020204020204" pitchFamily="34" charset="-122"/>
                <a:cs typeface="Arial" panose="020B0604020202020204" pitchFamily="34" charset="0"/>
                <a:sym typeface="+mn-ea"/>
              </a:rPr>
              <a:t>亿）以上，传统限制性内切酶显然无法应用。</a:t>
            </a:r>
          </a:p>
        </p:txBody>
      </p:sp>
      <p:sp>
        <p:nvSpPr>
          <p:cNvPr id="2" name="矩形 1"/>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p:cNvSpPr txBox="1"/>
          <p:nvPr/>
        </p:nvSpPr>
        <p:spPr>
          <a:xfrm>
            <a:off x="0" y="0"/>
            <a:ext cx="12192000" cy="58477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限制性核酸内切酶</a:t>
            </a:r>
          </a:p>
        </p:txBody>
      </p:sp>
      <p:sp>
        <p:nvSpPr>
          <p:cNvPr id="7" name="文本框 6"/>
          <p:cNvSpPr txBox="1"/>
          <p:nvPr/>
        </p:nvSpPr>
        <p:spPr>
          <a:xfrm>
            <a:off x="497023" y="1110739"/>
            <a:ext cx="8636346" cy="876715"/>
          </a:xfrm>
          <a:prstGeom prst="rect">
            <a:avLst/>
          </a:prstGeom>
          <a:noFill/>
        </p:spPr>
        <p:txBody>
          <a:bodyPr wrap="square" rtlCol="0">
            <a:spAutoFit/>
          </a:bodyPr>
          <a:lstStyle/>
          <a:p>
            <a:pPr algn="just">
              <a:lnSpc>
                <a:spcPct val="150000"/>
              </a:lnSpc>
            </a:pPr>
            <a:r>
              <a:rPr lang="zh-CN" altLang="en-US" dirty="0">
                <a:latin typeface="Arial" panose="020B0604020202020204" pitchFamily="34" charset="0"/>
                <a:ea typeface="微软雅黑" panose="020B0503020204020204" pitchFamily="34" charset="-122"/>
                <a:cs typeface="Arial" panose="020B0604020202020204" pitchFamily="34" charset="0"/>
              </a:rPr>
              <a:t>一类能够识别</a:t>
            </a:r>
            <a:r>
              <a:rPr lang="zh-CN" altLang="en-US" b="1" dirty="0">
                <a:latin typeface="Arial" panose="020B0604020202020204" pitchFamily="34" charset="0"/>
                <a:ea typeface="微软雅黑" panose="020B0503020204020204" pitchFamily="34" charset="-122"/>
                <a:cs typeface="Arial" panose="020B0604020202020204" pitchFamily="34" charset="0"/>
              </a:rPr>
              <a:t>双链</a:t>
            </a:r>
            <a:r>
              <a:rPr lang="en-US" altLang="zh-CN" b="1" dirty="0">
                <a:latin typeface="Arial" panose="020B0604020202020204" pitchFamily="34" charset="0"/>
                <a:ea typeface="微软雅黑" panose="020B0503020204020204" pitchFamily="34" charset="-122"/>
                <a:cs typeface="Arial" panose="020B0604020202020204" pitchFamily="34" charset="0"/>
              </a:rPr>
              <a:t>DNA</a:t>
            </a:r>
            <a:r>
              <a:rPr lang="zh-CN" altLang="en-US" b="1" dirty="0">
                <a:latin typeface="Arial" panose="020B0604020202020204" pitchFamily="34" charset="0"/>
                <a:ea typeface="微软雅黑" panose="020B0503020204020204" pitchFamily="34" charset="-122"/>
                <a:cs typeface="Arial" panose="020B0604020202020204" pitchFamily="34" charset="0"/>
              </a:rPr>
              <a:t>分子</a:t>
            </a:r>
            <a:r>
              <a:rPr lang="zh-CN" altLang="en-US" dirty="0">
                <a:latin typeface="Arial" panose="020B0604020202020204" pitchFamily="34" charset="0"/>
                <a:ea typeface="微软雅黑" panose="020B0503020204020204" pitchFamily="34" charset="-122"/>
                <a:cs typeface="Arial" panose="020B0604020202020204" pitchFamily="34" charset="0"/>
              </a:rPr>
              <a:t>中的某种特定核苷酸序列，并能切割相邻的两个核苷酸</a:t>
            </a:r>
            <a:r>
              <a:rPr lang="zh-CN" altLang="en-US" b="1" dirty="0">
                <a:latin typeface="Arial" panose="020B0604020202020204" pitchFamily="34" charset="0"/>
                <a:ea typeface="微软雅黑" panose="020B0503020204020204" pitchFamily="34" charset="-122"/>
                <a:cs typeface="Arial" panose="020B0604020202020204" pitchFamily="34" charset="0"/>
              </a:rPr>
              <a:t>内部</a:t>
            </a:r>
            <a:r>
              <a:rPr lang="zh-CN" altLang="en-US" dirty="0">
                <a:latin typeface="Arial" panose="020B0604020202020204" pitchFamily="34" charset="0"/>
                <a:ea typeface="微软雅黑" panose="020B0503020204020204" pitchFamily="34" charset="-122"/>
                <a:cs typeface="Arial" panose="020B0604020202020204" pitchFamily="34" charset="0"/>
              </a:rPr>
              <a:t>的</a:t>
            </a:r>
            <a:r>
              <a:rPr lang="zh-CN" altLang="en-US" b="1" dirty="0">
                <a:latin typeface="Arial" panose="020B0604020202020204" pitchFamily="34" charset="0"/>
                <a:ea typeface="微软雅黑" panose="020B0503020204020204" pitchFamily="34" charset="-122"/>
                <a:cs typeface="Arial" panose="020B0604020202020204" pitchFamily="34" charset="0"/>
              </a:rPr>
              <a:t>磷酸二酯键</a:t>
            </a:r>
            <a:r>
              <a:rPr lang="zh-CN" altLang="en-US" dirty="0">
                <a:latin typeface="Arial" panose="020B0604020202020204" pitchFamily="34" charset="0"/>
                <a:ea typeface="微软雅黑" panose="020B0503020204020204" pitchFamily="34" charset="-122"/>
                <a:cs typeface="Arial" panose="020B0604020202020204" pitchFamily="34" charset="0"/>
              </a:rPr>
              <a:t>的一种核酸内切酶。</a:t>
            </a:r>
            <a:endParaRPr lang="en-US" altLang="zh-CN" dirty="0">
              <a:latin typeface="Arial" panose="020B0604020202020204" pitchFamily="34" charset="0"/>
              <a:ea typeface="微软雅黑" panose="020B0503020204020204" pitchFamily="34" charset="-122"/>
              <a:cs typeface="Arial" panose="020B0604020202020204" pitchFamily="34" charset="0"/>
            </a:endParaRPr>
          </a:p>
        </p:txBody>
      </p:sp>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l="13563" r="17341"/>
          <a:stretch>
            <a:fillRect/>
          </a:stretch>
        </p:blipFill>
        <p:spPr>
          <a:xfrm>
            <a:off x="9661820" y="866155"/>
            <a:ext cx="2204085" cy="21164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1"/>
          <a:stretch>
            <a:fillRect/>
          </a:stretch>
        </p:blipFill>
        <p:spPr>
          <a:xfrm>
            <a:off x="8042910" y="993775"/>
            <a:ext cx="3580130" cy="5174615"/>
          </a:xfrm>
          <a:prstGeom prst="rect">
            <a:avLst/>
          </a:prstGeom>
        </p:spPr>
      </p:pic>
      <p:sp>
        <p:nvSpPr>
          <p:cNvPr id="5" name="矩形 4"/>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 name="文本框 3"/>
          <p:cNvSpPr txBox="1"/>
          <p:nvPr/>
        </p:nvSpPr>
        <p:spPr>
          <a:xfrm>
            <a:off x="0" y="0"/>
            <a:ext cx="12192000" cy="583565"/>
          </a:xfrm>
          <a:prstGeom prst="rect">
            <a:avLst/>
          </a:prstGeom>
          <a:noFill/>
        </p:spPr>
        <p:txBody>
          <a:bodyPr wrap="square" rtlCol="0">
            <a:spAutoFit/>
          </a:bodyPr>
          <a:lstStyle/>
          <a:p>
            <a:pPr algn="ctr"/>
            <a:r>
              <a:rPr sz="3200" b="1">
                <a:solidFill>
                  <a:schemeClr val="bg1"/>
                </a:solidFill>
                <a:latin typeface="微软雅黑" panose="020B0503020204020204" pitchFamily="34" charset="-122"/>
                <a:ea typeface="微软雅黑" panose="020B0503020204020204" pitchFamily="34" charset="-122"/>
                <a:cs typeface="Arial" panose="020B0604020202020204" pitchFamily="34" charset="0"/>
              </a:rPr>
              <a:t>归巢核酸酶</a:t>
            </a:r>
          </a:p>
        </p:txBody>
      </p:sp>
      <p:sp>
        <p:nvSpPr>
          <p:cNvPr id="7" name="文本框 6"/>
          <p:cNvSpPr txBox="1"/>
          <p:nvPr>
            <p:custDataLst>
              <p:tags r:id="rId1"/>
            </p:custDataLst>
          </p:nvPr>
        </p:nvSpPr>
        <p:spPr>
          <a:xfrm>
            <a:off x="320457" y="1657083"/>
            <a:ext cx="7516495" cy="506730"/>
          </a:xfrm>
          <a:prstGeom prst="rect">
            <a:avLst/>
          </a:prstGeom>
        </p:spPr>
        <p:txBody>
          <a:bodyPr wrap="square">
            <a:spAutoFit/>
          </a:bodyPr>
          <a:lstStyle/>
          <a:p>
            <a:pPr indent="0" fontAlgn="auto">
              <a:lnSpc>
                <a:spcPct val="150000"/>
              </a:lnSpc>
            </a:pPr>
            <a:r>
              <a:rPr lang="zh-CN" altLang="en-US" sz="2000" b="1" i="0" dirty="0">
                <a:latin typeface="微软雅黑" panose="020B0503020204020204" pitchFamily="34" charset="-122"/>
                <a:ea typeface="微软雅黑" panose="020B0503020204020204" pitchFamily="34" charset="-122"/>
                <a:cs typeface="微软雅黑" panose="020B0503020204020204" pitchFamily="34" charset="-122"/>
              </a:rPr>
              <a:t>也被称为大范围核酸酶（Meganucleases，MNs）或兆核酸酶</a:t>
            </a:r>
          </a:p>
        </p:txBody>
      </p:sp>
      <p:sp>
        <p:nvSpPr>
          <p:cNvPr id="8" name="文本框 7"/>
          <p:cNvSpPr txBox="1"/>
          <p:nvPr>
            <p:custDataLst>
              <p:tags r:id="rId2"/>
            </p:custDataLst>
          </p:nvPr>
        </p:nvSpPr>
        <p:spPr>
          <a:xfrm>
            <a:off x="320646" y="1098231"/>
            <a:ext cx="861977" cy="40011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sz="2000" b="1" dirty="0">
                <a:latin typeface="微软雅黑" panose="020B0503020204020204" pitchFamily="34" charset="-122"/>
                <a:ea typeface="微软雅黑" panose="020B0503020204020204" pitchFamily="34" charset="-122"/>
                <a:cs typeface="Arial" panose="020B0604020202020204" pitchFamily="34" charset="0"/>
              </a:rPr>
              <a:t>概念</a:t>
            </a:r>
          </a:p>
        </p:txBody>
      </p:sp>
      <p:sp>
        <p:nvSpPr>
          <p:cNvPr id="9" name="文本框 8"/>
          <p:cNvSpPr txBox="1"/>
          <p:nvPr>
            <p:custDataLst>
              <p:tags r:id="rId3"/>
            </p:custDataLst>
          </p:nvPr>
        </p:nvSpPr>
        <p:spPr>
          <a:xfrm>
            <a:off x="335886" y="2454083"/>
            <a:ext cx="810161" cy="40011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sz="2000" b="1" dirty="0">
                <a:latin typeface="微软雅黑" panose="020B0503020204020204" pitchFamily="34" charset="-122"/>
                <a:ea typeface="微软雅黑" panose="020B0503020204020204" pitchFamily="34" charset="-122"/>
                <a:cs typeface="Arial" panose="020B0604020202020204" pitchFamily="34" charset="0"/>
              </a:rPr>
              <a:t>特点</a:t>
            </a:r>
          </a:p>
        </p:txBody>
      </p:sp>
      <p:sp>
        <p:nvSpPr>
          <p:cNvPr id="10" name="文本框 9"/>
          <p:cNvSpPr txBox="1"/>
          <p:nvPr>
            <p:custDataLst>
              <p:tags r:id="rId4"/>
            </p:custDataLst>
          </p:nvPr>
        </p:nvSpPr>
        <p:spPr>
          <a:xfrm>
            <a:off x="320456" y="2969120"/>
            <a:ext cx="7384887" cy="499624"/>
          </a:xfrm>
          <a:prstGeom prst="rect">
            <a:avLst/>
          </a:prstGeom>
          <a:noFill/>
        </p:spPr>
        <p:txBody>
          <a:bodyPr wrap="square" rtlCol="0" anchor="t">
            <a:spAutoFit/>
          </a:bodyPr>
          <a:lstStyle/>
          <a:p>
            <a:pPr fontAlgn="auto">
              <a:lnSpc>
                <a:spcPct val="150000"/>
              </a:lnSpc>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具有较大识别位点（通常为12至40个碱基对的双链DNA序列）</a:t>
            </a:r>
          </a:p>
        </p:txBody>
      </p:sp>
      <p:sp>
        <p:nvSpPr>
          <p:cNvPr id="11" name="文本框 10"/>
          <p:cNvSpPr txBox="1"/>
          <p:nvPr/>
        </p:nvSpPr>
        <p:spPr>
          <a:xfrm>
            <a:off x="320457" y="3726911"/>
            <a:ext cx="6096000" cy="707886"/>
          </a:xfrm>
          <a:prstGeom prst="rect">
            <a:avLst/>
          </a:prstGeom>
          <a:noFill/>
        </p:spPr>
        <p:txBody>
          <a:bodyPr wrap="square" rtlCol="0" anchor="t">
            <a:spAutoFit/>
          </a:bodyPr>
          <a:lstStyle/>
          <a:p>
            <a:endParaRPr lang="zh-CN" altLang="en-US" sz="2000">
              <a:latin typeface="微软雅黑" panose="020B0503020204020204" pitchFamily="34" charset="-122"/>
              <a:ea typeface="微软雅黑" panose="020B0503020204020204" pitchFamily="34" charset="-122"/>
            </a:endParaRPr>
          </a:p>
          <a:p>
            <a:endParaRPr lang="zh-CN" altLang="en-US" sz="2000">
              <a:latin typeface="微软雅黑" panose="020B0503020204020204" pitchFamily="34" charset="-122"/>
              <a:ea typeface="微软雅黑" panose="020B0503020204020204" pitchFamily="34" charset="-122"/>
              <a:sym typeface="+mn-ea"/>
            </a:endParaRPr>
          </a:p>
        </p:txBody>
      </p:sp>
      <p:sp>
        <p:nvSpPr>
          <p:cNvPr id="2" name="文本框 1"/>
          <p:cNvSpPr txBox="1"/>
          <p:nvPr>
            <p:custDataLst>
              <p:tags r:id="rId5"/>
            </p:custDataLst>
          </p:nvPr>
        </p:nvSpPr>
        <p:spPr>
          <a:xfrm>
            <a:off x="379792" y="5126386"/>
            <a:ext cx="810161" cy="40011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sz="2000" b="1" dirty="0">
                <a:latin typeface="微软雅黑" panose="020B0503020204020204" pitchFamily="34" charset="-122"/>
                <a:ea typeface="微软雅黑" panose="020B0503020204020204" pitchFamily="34" charset="-122"/>
                <a:cs typeface="Arial" panose="020B0604020202020204" pitchFamily="34" charset="0"/>
              </a:rPr>
              <a:t>结果</a:t>
            </a:r>
          </a:p>
        </p:txBody>
      </p:sp>
      <p:sp>
        <p:nvSpPr>
          <p:cNvPr id="3" name="文本框 2"/>
          <p:cNvSpPr txBox="1"/>
          <p:nvPr>
            <p:custDataLst>
              <p:tags r:id="rId6"/>
            </p:custDataLst>
          </p:nvPr>
        </p:nvSpPr>
        <p:spPr>
          <a:xfrm>
            <a:off x="291210" y="5665807"/>
            <a:ext cx="7384887" cy="499624"/>
          </a:xfrm>
          <a:prstGeom prst="rect">
            <a:avLst/>
          </a:prstGeom>
          <a:noFill/>
        </p:spPr>
        <p:txBody>
          <a:bodyPr wrap="square" rtlCol="0" anchor="t">
            <a:spAutoFit/>
          </a:bodyPr>
          <a:lstStyle/>
          <a:p>
            <a:pPr fontAlgn="auto">
              <a:lnSpc>
                <a:spcPct val="150000"/>
              </a:lnSpc>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识别之后绝大部分通过</a:t>
            </a:r>
            <a:r>
              <a:rPr lang="en-US" altLang="zh-CN" sz="2000" b="1" dirty="0" err="1">
                <a:latin typeface="微软雅黑" panose="020B0503020204020204" pitchFamily="34" charset="-122"/>
                <a:ea typeface="微软雅黑" panose="020B0503020204020204" pitchFamily="34" charset="-122"/>
                <a:cs typeface="微软雅黑" panose="020B0503020204020204" pitchFamily="34" charset="-122"/>
                <a:sym typeface="+mn-ea"/>
              </a:rPr>
              <a:t>NHEJ</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sym typeface="+mn-ea"/>
              </a:rPr>
              <a:t>途径修复</a:t>
            </a:r>
          </a:p>
        </p:txBody>
      </p:sp>
      <p:sp>
        <p:nvSpPr>
          <p:cNvPr id="12" name="文本框 11"/>
          <p:cNvSpPr txBox="1"/>
          <p:nvPr>
            <p:custDataLst>
              <p:tags r:id="rId7"/>
            </p:custDataLst>
          </p:nvPr>
        </p:nvSpPr>
        <p:spPr>
          <a:xfrm>
            <a:off x="363974" y="3814957"/>
            <a:ext cx="810161" cy="40011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sz="2000" b="1" dirty="0">
                <a:latin typeface="微软雅黑" panose="020B0503020204020204" pitchFamily="34" charset="-122"/>
                <a:ea typeface="微软雅黑" panose="020B0503020204020204" pitchFamily="34" charset="-122"/>
                <a:cs typeface="Arial" panose="020B0604020202020204" pitchFamily="34" charset="0"/>
              </a:rPr>
              <a:t>类型</a:t>
            </a:r>
          </a:p>
        </p:txBody>
      </p:sp>
      <p:sp>
        <p:nvSpPr>
          <p:cNvPr id="13" name="文本框 12"/>
          <p:cNvSpPr txBox="1"/>
          <p:nvPr>
            <p:custDataLst>
              <p:tags r:id="rId8"/>
            </p:custDataLst>
          </p:nvPr>
        </p:nvSpPr>
        <p:spPr>
          <a:xfrm>
            <a:off x="311968" y="4403146"/>
            <a:ext cx="7384887" cy="499624"/>
          </a:xfrm>
          <a:prstGeom prst="rect">
            <a:avLst/>
          </a:prstGeom>
          <a:noFill/>
        </p:spPr>
        <p:txBody>
          <a:bodyPr wrap="square" rtlCol="0" anchor="t">
            <a:spAutoFit/>
          </a:bodyPr>
          <a:lstStyle/>
          <a:p>
            <a:pPr fontAlgn="auto">
              <a:lnSpc>
                <a:spcPct val="150000"/>
              </a:lnSpc>
            </a:pPr>
            <a:r>
              <a:rPr lang="en-US" altLang="zh-CN" sz="2000" b="1" dirty="0">
                <a:latin typeface="Arial" panose="020B0604020202020204" pitchFamily="34" charset="0"/>
                <a:ea typeface="微软雅黑" panose="020B0503020204020204" pitchFamily="34" charset="-122"/>
                <a:cs typeface="Arial" panose="020B0604020202020204" pitchFamily="34" charset="0"/>
                <a:sym typeface="+mn-ea"/>
              </a:rPr>
              <a:t>Ⅰ-</a:t>
            </a:r>
            <a:r>
              <a:rPr lang="en-US" altLang="zh-CN" sz="2000" b="1" dirty="0" err="1">
                <a:latin typeface="Arial" panose="020B0604020202020204" pitchFamily="34" charset="0"/>
                <a:ea typeface="微软雅黑" panose="020B0503020204020204" pitchFamily="34" charset="-122"/>
                <a:cs typeface="Arial" panose="020B0604020202020204" pitchFamily="34" charset="0"/>
                <a:sym typeface="+mn-ea"/>
              </a:rPr>
              <a:t>SceⅠ</a:t>
            </a:r>
            <a:r>
              <a:rPr lang="zh-CN" altLang="en-US" sz="2000" b="1" dirty="0">
                <a:latin typeface="Arial" panose="020B0604020202020204" pitchFamily="34" charset="0"/>
                <a:ea typeface="微软雅黑" panose="020B0503020204020204" pitchFamily="34" charset="-122"/>
                <a:cs typeface="Arial" panose="020B0604020202020204" pitchFamily="34" charset="0"/>
                <a:sym typeface="+mn-ea"/>
              </a:rPr>
              <a:t>、</a:t>
            </a:r>
            <a:r>
              <a:rPr lang="en-US" altLang="zh-CN" sz="2000" b="1" dirty="0">
                <a:latin typeface="Arial" panose="020B0604020202020204" pitchFamily="34" charset="0"/>
                <a:ea typeface="微软雅黑" panose="020B0503020204020204" pitchFamily="34" charset="-122"/>
                <a:cs typeface="Arial" panose="020B0604020202020204" pitchFamily="34" charset="0"/>
                <a:sym typeface="+mn-ea"/>
              </a:rPr>
              <a:t>Ⅰ-</a:t>
            </a:r>
            <a:r>
              <a:rPr lang="en-US" altLang="zh-CN" sz="2000" b="1" dirty="0" err="1">
                <a:latin typeface="Arial" panose="020B0604020202020204" pitchFamily="34" charset="0"/>
                <a:ea typeface="微软雅黑" panose="020B0503020204020204" pitchFamily="34" charset="-122"/>
                <a:cs typeface="Arial" panose="020B0604020202020204" pitchFamily="34" charset="0"/>
                <a:sym typeface="+mn-ea"/>
              </a:rPr>
              <a:t>CreⅠ</a:t>
            </a:r>
            <a:r>
              <a:rPr lang="zh-CN" altLang="en-US" sz="2000" b="1" dirty="0">
                <a:latin typeface="Arial" panose="020B0604020202020204" pitchFamily="34" charset="0"/>
                <a:ea typeface="微软雅黑" panose="020B0503020204020204" pitchFamily="34" charset="-122"/>
                <a:cs typeface="Arial" panose="020B0604020202020204" pitchFamily="34" charset="0"/>
                <a:sym typeface="+mn-ea"/>
              </a:rPr>
              <a:t>和</a:t>
            </a:r>
            <a:r>
              <a:rPr lang="en-US" altLang="zh-CN" sz="2000" b="1" dirty="0">
                <a:latin typeface="Arial" panose="020B0604020202020204" pitchFamily="34" charset="0"/>
                <a:ea typeface="微软雅黑" panose="020B0503020204020204" pitchFamily="34" charset="-122"/>
                <a:cs typeface="Arial" panose="020B0604020202020204" pitchFamily="34" charset="0"/>
                <a:sym typeface="+mn-ea"/>
              </a:rPr>
              <a:t>Ⅰ-</a:t>
            </a:r>
            <a:r>
              <a:rPr lang="en-US" altLang="zh-CN" sz="2000" b="1" dirty="0" err="1">
                <a:latin typeface="Arial" panose="020B0604020202020204" pitchFamily="34" charset="0"/>
                <a:ea typeface="微软雅黑" panose="020B0503020204020204" pitchFamily="34" charset="-122"/>
                <a:cs typeface="Arial" panose="020B0604020202020204" pitchFamily="34" charset="0"/>
                <a:sym typeface="+mn-ea"/>
              </a:rPr>
              <a:t>DmoⅠ</a:t>
            </a:r>
            <a:endParaRPr lang="zh-CN" altLang="en-US" sz="2000" b="1" dirty="0">
              <a:latin typeface="Arial" panose="020B0604020202020204" pitchFamily="34" charset="0"/>
              <a:ea typeface="微软雅黑" panose="020B0503020204020204" pitchFamily="34" charset="-122"/>
              <a:cs typeface="Arial" panose="020B0604020202020204" pitchFamily="34" charset="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4"/>
          <a:stretch>
            <a:fillRect/>
          </a:stretch>
        </p:blipFill>
        <p:spPr>
          <a:xfrm>
            <a:off x="8042910" y="993775"/>
            <a:ext cx="3580130" cy="5174615"/>
          </a:xfrm>
          <a:prstGeom prst="rect">
            <a:avLst/>
          </a:prstGeom>
        </p:spPr>
      </p:pic>
      <p:sp>
        <p:nvSpPr>
          <p:cNvPr id="5" name="矩形 4"/>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 name="文本框 3"/>
          <p:cNvSpPr txBox="1"/>
          <p:nvPr/>
        </p:nvSpPr>
        <p:spPr>
          <a:xfrm>
            <a:off x="0" y="0"/>
            <a:ext cx="12192000" cy="583565"/>
          </a:xfrm>
          <a:prstGeom prst="rect">
            <a:avLst/>
          </a:prstGeom>
          <a:noFill/>
        </p:spPr>
        <p:txBody>
          <a:bodyPr wrap="square" rtlCol="0">
            <a:spAutoFit/>
          </a:bodyPr>
          <a:lstStyle/>
          <a:p>
            <a:pPr algn="ctr"/>
            <a:r>
              <a:rPr sz="3200" b="1" dirty="0" err="1">
                <a:solidFill>
                  <a:schemeClr val="bg1"/>
                </a:solidFill>
                <a:latin typeface="微软雅黑" panose="020B0503020204020204" pitchFamily="34" charset="-122"/>
                <a:ea typeface="微软雅黑" panose="020B0503020204020204" pitchFamily="34" charset="-122"/>
                <a:cs typeface="Arial" panose="020B0604020202020204" pitchFamily="34" charset="0"/>
              </a:rPr>
              <a:t>归巢核酸酶</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作为基因编辑工具的优势</a:t>
            </a:r>
            <a:endParaRPr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 name="文本框 9"/>
          <p:cNvSpPr txBox="1"/>
          <p:nvPr>
            <p:custDataLst>
              <p:tags r:id="rId1"/>
            </p:custDataLst>
          </p:nvPr>
        </p:nvSpPr>
        <p:spPr>
          <a:xfrm>
            <a:off x="313924" y="1326449"/>
            <a:ext cx="7342219" cy="4563878"/>
          </a:xfrm>
          <a:prstGeom prst="rect">
            <a:avLst/>
          </a:prstGeom>
          <a:noFill/>
        </p:spPr>
        <p:txBody>
          <a:bodyPr wrap="square" rtlCol="0" anchor="t">
            <a:spAutoFit/>
          </a:bodyPr>
          <a:lstStyle/>
          <a:p>
            <a:pPr marL="342900" indent="-342900" fontAlgn="auto">
              <a:lnSpc>
                <a:spcPct val="200000"/>
              </a:lnSpc>
              <a:buFont typeface="Wingdings" panose="05000000000000000000" pitchFamily="2" charset="2"/>
              <a:buChar char="n"/>
            </a:pPr>
            <a:r>
              <a:rPr lang="zh-CN" altLang="en-US" sz="2000" b="1" dirty="0">
                <a:latin typeface="微软雅黑" panose="020B0503020204020204" pitchFamily="34" charset="-122"/>
                <a:ea typeface="微软雅黑" panose="020B0503020204020204" pitchFamily="34" charset="-122"/>
                <a:sym typeface="+mn-ea"/>
              </a:rPr>
              <a:t>高精确度</a:t>
            </a:r>
            <a:endParaRPr lang="en-US" altLang="zh-CN" sz="2000" b="1" dirty="0">
              <a:latin typeface="微软雅黑" panose="020B0503020204020204" pitchFamily="34" charset="-122"/>
              <a:ea typeface="微软雅黑" panose="020B0503020204020204" pitchFamily="34" charset="-122"/>
              <a:sym typeface="+mn-ea"/>
            </a:endParaRPr>
          </a:p>
          <a:p>
            <a:pPr lvl="1">
              <a:lnSpc>
                <a:spcPct val="200000"/>
              </a:lnSpc>
            </a:pPr>
            <a:r>
              <a:rPr lang="zh-CN" altLang="en-US" dirty="0">
                <a:latin typeface="微软雅黑" panose="020B0503020204020204" pitchFamily="34" charset="-122"/>
                <a:ea typeface="微软雅黑" panose="020B0503020204020204" pitchFamily="34" charset="-122"/>
              </a:rPr>
              <a:t>由于归巢核酸内切酶的识别位点较长，因此它们具有高度的特异性，能够精确地靶向并编辑基因组中的特定位置。</a:t>
            </a:r>
            <a:endParaRPr lang="en-US" altLang="zh-CN" sz="2800" b="1" dirty="0">
              <a:latin typeface="微软雅黑" panose="020B0503020204020204" pitchFamily="34" charset="-122"/>
              <a:ea typeface="微软雅黑" panose="020B0503020204020204" pitchFamily="34" charset="-122"/>
              <a:sym typeface="+mn-ea"/>
            </a:endParaRPr>
          </a:p>
          <a:p>
            <a:pPr marL="342900" indent="-342900" fontAlgn="auto">
              <a:lnSpc>
                <a:spcPct val="200000"/>
              </a:lnSpc>
              <a:buFont typeface="Wingdings" panose="05000000000000000000" pitchFamily="2" charset="2"/>
              <a:buChar char="n"/>
            </a:pPr>
            <a:r>
              <a:rPr lang="zh-CN" altLang="en-US" sz="2000" b="1" dirty="0">
                <a:latin typeface="微软雅黑" panose="020B0503020204020204" pitchFamily="34" charset="-122"/>
                <a:ea typeface="微软雅黑" panose="020B0503020204020204" pitchFamily="34" charset="-122"/>
                <a:sym typeface="+mn-ea"/>
              </a:rPr>
              <a:t>更低的细胞毒性</a:t>
            </a:r>
            <a:endParaRPr lang="en-US" altLang="zh-CN" sz="2000" b="1" dirty="0">
              <a:latin typeface="微软雅黑" panose="020B0503020204020204" pitchFamily="34" charset="-122"/>
              <a:ea typeface="微软雅黑" panose="020B0503020204020204" pitchFamily="34" charset="-122"/>
              <a:sym typeface="+mn-ea"/>
            </a:endParaRPr>
          </a:p>
          <a:p>
            <a:pPr lvl="1">
              <a:lnSpc>
                <a:spcPct val="200000"/>
              </a:lnSpc>
            </a:pPr>
            <a:r>
              <a:rPr lang="zh-CN" altLang="en-US" dirty="0">
                <a:latin typeface="微软雅黑" panose="020B0503020204020204" pitchFamily="34" charset="-122"/>
                <a:ea typeface="微软雅黑" panose="020B0503020204020204" pitchFamily="34" charset="-122"/>
              </a:rPr>
              <a:t>归巢核酸内切酶的脱靶效应较低。</a:t>
            </a:r>
            <a:endParaRPr lang="en-US" altLang="zh-CN" dirty="0">
              <a:latin typeface="微软雅黑" panose="020B0503020204020204" pitchFamily="34" charset="-122"/>
              <a:ea typeface="微软雅黑" panose="020B0503020204020204" pitchFamily="34" charset="-122"/>
            </a:endParaRPr>
          </a:p>
          <a:p>
            <a:pPr marL="0" lvl="1" indent="-285750">
              <a:lnSpc>
                <a:spcPct val="200000"/>
              </a:lnSpc>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可通过蛋白质工程修饰识别序列</a:t>
            </a:r>
            <a:endParaRPr lang="en-US" altLang="zh-CN" b="1" dirty="0">
              <a:latin typeface="微软雅黑" panose="020B0503020204020204" pitchFamily="34" charset="-122"/>
              <a:ea typeface="微软雅黑" panose="020B0503020204020204" pitchFamily="34" charset="-122"/>
            </a:endParaRPr>
          </a:p>
          <a:p>
            <a:pPr marL="0" lvl="1">
              <a:lnSpc>
                <a:spcPct val="20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通过在氨基酸序列中引入少量变异，在变异中选择功能性蛋白质。</a:t>
            </a:r>
            <a:endParaRPr lang="en-US" altLang="zh-CN" dirty="0">
              <a:latin typeface="微软雅黑" panose="020B0503020204020204" pitchFamily="34" charset="-122"/>
              <a:ea typeface="微软雅黑" panose="020B0503020204020204" pitchFamily="34" charset="-122"/>
            </a:endParaRPr>
          </a:p>
          <a:p>
            <a:pPr marL="0" lvl="1">
              <a:lnSpc>
                <a:spcPct val="200000"/>
              </a:lnSpc>
            </a:pPr>
            <a:r>
              <a:rPr lang="en-US" altLang="zh-CN" b="1" dirty="0">
                <a:latin typeface="微软雅黑" panose="020B0503020204020204" pitchFamily="34" charset="-122"/>
                <a:ea typeface="微软雅黑" panose="020B0503020204020204" pitchFamily="34" charset="-122"/>
              </a:rPr>
              <a:t>      </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4"/>
          <a:stretch>
            <a:fillRect/>
          </a:stretch>
        </p:blipFill>
        <p:spPr>
          <a:xfrm>
            <a:off x="8042910" y="993775"/>
            <a:ext cx="3580130" cy="5174615"/>
          </a:xfrm>
          <a:prstGeom prst="rect">
            <a:avLst/>
          </a:prstGeom>
        </p:spPr>
      </p:pic>
      <p:sp>
        <p:nvSpPr>
          <p:cNvPr id="5" name="矩形 4"/>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 name="文本框 3"/>
          <p:cNvSpPr txBox="1"/>
          <p:nvPr/>
        </p:nvSpPr>
        <p:spPr>
          <a:xfrm>
            <a:off x="0" y="0"/>
            <a:ext cx="12192000" cy="58477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归巢核酸酶作为基因编辑工具的缺点</a:t>
            </a:r>
          </a:p>
        </p:txBody>
      </p:sp>
      <p:sp>
        <p:nvSpPr>
          <p:cNvPr id="11" name="文本框 10"/>
          <p:cNvSpPr txBox="1"/>
          <p:nvPr/>
        </p:nvSpPr>
        <p:spPr>
          <a:xfrm>
            <a:off x="277495" y="3429000"/>
            <a:ext cx="6096000" cy="645160"/>
          </a:xfrm>
          <a:prstGeom prst="rect">
            <a:avLst/>
          </a:prstGeom>
          <a:noFill/>
        </p:spPr>
        <p:txBody>
          <a:bodyPr wrap="square" rtlCol="0" anchor="t">
            <a:spAutoFit/>
          </a:bodyPr>
          <a:lstStyle/>
          <a:p>
            <a:endParaRPr lang="zh-CN" altLang="en-US">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sym typeface="+mn-ea"/>
            </a:endParaRPr>
          </a:p>
        </p:txBody>
      </p:sp>
      <p:sp>
        <p:nvSpPr>
          <p:cNvPr id="15" name="文本框 14"/>
          <p:cNvSpPr txBox="1"/>
          <p:nvPr>
            <p:custDataLst>
              <p:tags r:id="rId1"/>
            </p:custDataLst>
          </p:nvPr>
        </p:nvSpPr>
        <p:spPr>
          <a:xfrm>
            <a:off x="412420" y="1147517"/>
            <a:ext cx="7406363" cy="4994765"/>
          </a:xfrm>
          <a:prstGeom prst="rect">
            <a:avLst/>
          </a:prstGeom>
          <a:noFill/>
        </p:spPr>
        <p:txBody>
          <a:bodyPr wrap="square" rtlCol="0" anchor="t">
            <a:spAutoFit/>
          </a:bodyPr>
          <a:lstStyle/>
          <a:p>
            <a:pPr marL="285750" indent="-285750" fontAlgn="auto">
              <a:lnSpc>
                <a:spcPct val="200000"/>
              </a:lnSpc>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找到合适的野生型归巢核酸内切酶的概率极低</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尽管有数百种的归巢核酸内切酶，每个都有自己独特的识别序列，但要找到适合靶向特定基因序列的归巢核酸内切酶的概率极低。</a:t>
            </a:r>
          </a:p>
          <a:p>
            <a:pPr marL="285750" indent="-285750" fontAlgn="auto">
              <a:lnSpc>
                <a:spcPct val="200000"/>
              </a:lnSpc>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主要通过</a:t>
            </a:r>
            <a:r>
              <a:rPr lang="en-US" altLang="zh-CN" b="1" dirty="0" err="1">
                <a:latin typeface="微软雅黑" panose="020B0503020204020204" pitchFamily="34" charset="-122"/>
                <a:ea typeface="微软雅黑" panose="020B0503020204020204" pitchFamily="34" charset="-122"/>
                <a:cs typeface="微软雅黑" panose="020B0503020204020204" pitchFamily="34" charset="-122"/>
                <a:sym typeface="+mn-ea"/>
              </a:rPr>
              <a:t>NHEJ</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途径修复</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修复机制不能引入外源的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模板，并且会在断裂位点随机删除或者插入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片段。</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nSpc>
                <a:spcPct val="200000"/>
              </a:lnSpc>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sym typeface="+mn-ea"/>
              </a:rPr>
              <a:t>改造识别结构域就会影响剪切活性</a:t>
            </a:r>
            <a:endParaRPr lang="en-US" altLang="zh-CN" b="1" dirty="0">
              <a:latin typeface="微软雅黑" panose="020B0503020204020204" pitchFamily="34" charset="-122"/>
              <a:ea typeface="微软雅黑" panose="020B0503020204020204" pitchFamily="34" charset="-122"/>
              <a:sym typeface="+mn-ea"/>
            </a:endParaRPr>
          </a:p>
          <a:p>
            <a:pPr lvl="1">
              <a:lnSpc>
                <a:spcPct val="200000"/>
              </a:lnSpc>
            </a:pPr>
            <a:r>
              <a:rPr lang="zh-CN" altLang="en-US" dirty="0">
                <a:latin typeface="微软雅黑" panose="020B0503020204020204" pitchFamily="34" charset="-122"/>
                <a:ea typeface="微软雅黑" panose="020B0503020204020204" pitchFamily="34" charset="-122"/>
                <a:sym typeface="+mn-ea"/>
              </a:rPr>
              <a:t>识别与剪切两种功能利用同一结构域，改造识别结构域就会影响剪切活性。</a:t>
            </a:r>
          </a:p>
        </p:txBody>
      </p:sp>
      <p:sp>
        <p:nvSpPr>
          <p:cNvPr id="3" name="文本框 2">
            <a:extLst>
              <a:ext uri="{FF2B5EF4-FFF2-40B4-BE49-F238E27FC236}">
                <a16:creationId xmlns:a16="http://schemas.microsoft.com/office/drawing/2014/main" id="{54B2CBB4-3E50-8918-0E3A-E20C9C3945EE}"/>
              </a:ext>
            </a:extLst>
          </p:cNvPr>
          <p:cNvSpPr txBox="1"/>
          <p:nvPr/>
        </p:nvSpPr>
        <p:spPr>
          <a:xfrm>
            <a:off x="3776870" y="6027003"/>
            <a:ext cx="376361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rgbClr val="FF0000"/>
                </a:solidFill>
                <a:effectLst/>
                <a:latin typeface="微软雅黑" panose="020B0503020204020204" pitchFamily="34" charset="-122"/>
                <a:ea typeface="微软雅黑" panose="020B0503020204020204" pitchFamily="34" charset="-122"/>
                <a:sym typeface="+mn-ea"/>
              </a:rPr>
              <a:t>科学家必须寻找新的策略</a:t>
            </a:r>
            <a:endParaRPr lang="en-US" altLang="zh-CN" sz="2400" b="1" dirty="0">
              <a:solidFill>
                <a:srgbClr val="FF0000"/>
              </a:solidFill>
              <a:effectLst/>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71475" y="368300"/>
            <a:ext cx="11448415" cy="666115"/>
          </a:xfrm>
          <a:prstGeom prst="rect">
            <a:avLst/>
          </a:prstGeom>
          <a:noFill/>
        </p:spPr>
        <p:txBody>
          <a:bodyPr wrap="square" rtlCol="0" anchor="t">
            <a:noAutofit/>
          </a:bodyPr>
          <a:lstStyle/>
          <a:p>
            <a:pPr indent="0">
              <a:buFont typeface="Wingdings" panose="05000000000000000000" charset="0"/>
              <a:buNone/>
            </a:pPr>
            <a:r>
              <a:rPr lang="zh-CN" altLang="en-US" sz="2800" b="1" dirty="0">
                <a:solidFill>
                  <a:srgbClr val="231F2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作为基因编辑的工具，需要什么功能？</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rcRect l="12969" t="23263" r="29063" b="26042"/>
          <a:stretch>
            <a:fillRect/>
          </a:stretch>
        </p:blipFill>
        <p:spPr>
          <a:xfrm>
            <a:off x="2713576" y="1474470"/>
            <a:ext cx="6972300" cy="2743835"/>
          </a:xfrm>
          <a:prstGeom prst="rect">
            <a:avLst/>
          </a:prstGeom>
        </p:spPr>
      </p:pic>
      <p:sp>
        <p:nvSpPr>
          <p:cNvPr id="6" name="文本框 5"/>
          <p:cNvSpPr txBox="1"/>
          <p:nvPr/>
        </p:nvSpPr>
        <p:spPr>
          <a:xfrm>
            <a:off x="6721983" y="5016754"/>
            <a:ext cx="1800225" cy="666115"/>
          </a:xfrm>
          <a:prstGeom prst="rect">
            <a:avLst/>
          </a:prstGeom>
          <a:noFill/>
        </p:spPr>
        <p:txBody>
          <a:bodyPr wrap="square" rtlCol="0" anchor="t">
            <a:noAutofit/>
          </a:bodyPr>
          <a:lstStyle/>
          <a:p>
            <a:pPr indent="0">
              <a:buFont typeface="Wingdings" panose="05000000000000000000" charset="0"/>
              <a:buNone/>
            </a:pPr>
            <a:r>
              <a:rPr lang="zh-CN" altLang="en-US" sz="2800" b="1" dirty="0">
                <a:solidFill>
                  <a:srgbClr val="231F2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定位功能</a:t>
            </a:r>
          </a:p>
        </p:txBody>
      </p:sp>
      <p:sp>
        <p:nvSpPr>
          <p:cNvPr id="7" name="文本框 6"/>
          <p:cNvSpPr txBox="1"/>
          <p:nvPr/>
        </p:nvSpPr>
        <p:spPr>
          <a:xfrm>
            <a:off x="866775" y="5016500"/>
            <a:ext cx="1840230" cy="666115"/>
          </a:xfrm>
          <a:prstGeom prst="rect">
            <a:avLst/>
          </a:prstGeom>
          <a:noFill/>
        </p:spPr>
        <p:txBody>
          <a:bodyPr wrap="square" rtlCol="0" anchor="t">
            <a:noAutofit/>
          </a:bodyPr>
          <a:lstStyle/>
          <a:p>
            <a:pPr indent="0">
              <a:buFont typeface="Wingdings" panose="05000000000000000000" charset="0"/>
              <a:buNone/>
            </a:pPr>
            <a:r>
              <a:rPr lang="zh-CN" altLang="en-US" sz="2800" b="1" dirty="0">
                <a:solidFill>
                  <a:srgbClr val="231F2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剪切功能</a:t>
            </a:r>
          </a:p>
        </p:txBody>
      </p:sp>
      <p:sp>
        <p:nvSpPr>
          <p:cNvPr id="8" name="文本框 7"/>
          <p:cNvSpPr txBox="1"/>
          <p:nvPr/>
        </p:nvSpPr>
        <p:spPr>
          <a:xfrm>
            <a:off x="2117090" y="5682615"/>
            <a:ext cx="1406525" cy="521970"/>
          </a:xfrm>
          <a:prstGeom prst="rect">
            <a:avLst/>
          </a:prstGeom>
          <a:noFill/>
        </p:spPr>
        <p:txBody>
          <a:bodyPr wrap="square" rtlCol="0" anchor="t">
            <a:spAutoFit/>
          </a:bodyPr>
          <a:lstStyle/>
          <a:p>
            <a:pPr indent="0">
              <a:buFont typeface="Wingdings" panose="05000000000000000000" charset="0"/>
              <a:buNone/>
            </a:pPr>
            <a:r>
              <a:rPr lang="zh-CN" altLang="en-US" sz="2800" b="1" dirty="0">
                <a:solidFill>
                  <a:srgbClr val="231F2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核酸酶</a:t>
            </a:r>
          </a:p>
        </p:txBody>
      </p:sp>
      <p:sp>
        <p:nvSpPr>
          <p:cNvPr id="2" name="文本框 1"/>
          <p:cNvSpPr txBox="1"/>
          <p:nvPr/>
        </p:nvSpPr>
        <p:spPr>
          <a:xfrm>
            <a:off x="7684008" y="5682869"/>
            <a:ext cx="1800225" cy="666115"/>
          </a:xfrm>
          <a:prstGeom prst="rect">
            <a:avLst/>
          </a:prstGeom>
          <a:noFill/>
        </p:spPr>
        <p:txBody>
          <a:bodyPr wrap="square" rtlCol="0" anchor="t">
            <a:noAutofit/>
          </a:bodyPr>
          <a:lstStyle/>
          <a:p>
            <a:pPr indent="0">
              <a:buFont typeface="Wingdings" panose="05000000000000000000" charset="0"/>
              <a:buNone/>
            </a:pPr>
            <a:r>
              <a:rPr lang="zh-CN" altLang="en-US" sz="2800" b="1" dirty="0">
                <a:solidFill>
                  <a:srgbClr val="231F2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转录因子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2"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7" grpId="1"/>
      <p:bldP spid="2" grpId="1"/>
      <p:bldP spid="2" grpId="2"/>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p:cNvSpPr txBox="1"/>
          <p:nvPr/>
        </p:nvSpPr>
        <p:spPr>
          <a:xfrm>
            <a:off x="0" y="0"/>
            <a:ext cx="12192000" cy="58356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锌指核酸酶（</a:t>
            </a: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ZFN</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第一代基因编辑技术</a:t>
            </a:r>
          </a:p>
        </p:txBody>
      </p:sp>
      <p:sp>
        <p:nvSpPr>
          <p:cNvPr id="7" name="文本框 6"/>
          <p:cNvSpPr txBox="1"/>
          <p:nvPr/>
        </p:nvSpPr>
        <p:spPr>
          <a:xfrm>
            <a:off x="406580" y="2094821"/>
            <a:ext cx="7319437" cy="2461700"/>
          </a:xfrm>
          <a:prstGeom prst="rect">
            <a:avLst/>
          </a:prstGeom>
          <a:noFill/>
        </p:spPr>
        <p:txBody>
          <a:bodyPr wrap="square">
            <a:spAutoFit/>
          </a:bodyPr>
          <a:lstStyle/>
          <a:p>
            <a:pPr>
              <a:lnSpc>
                <a:spcPct val="200000"/>
              </a:lnSpc>
            </a:pPr>
            <a:r>
              <a:rPr lang="zh-CN" altLang="en-US" sz="2000" dirty="0">
                <a:latin typeface="微软雅黑" panose="020B0503020204020204" pitchFamily="34" charset="-122"/>
                <a:ea typeface="微软雅黑" panose="020B0503020204020204" pitchFamily="34" charset="-122"/>
              </a:rPr>
              <a:t>是由</a:t>
            </a:r>
            <a:r>
              <a:rPr sz="2000" b="1" dirty="0" err="1">
                <a:latin typeface="微软雅黑" panose="020B0503020204020204" pitchFamily="34" charset="-122"/>
                <a:ea typeface="微软雅黑" panose="020B0503020204020204" pitchFamily="34" charset="-122"/>
              </a:rPr>
              <a:t>锌指蛋白同Ⅱ型限制性内切酶</a:t>
            </a:r>
            <a:r>
              <a:rPr sz="2000" b="1" dirty="0">
                <a:latin typeface="微软雅黑" panose="020B0503020204020204" pitchFamily="34" charset="-122"/>
                <a:ea typeface="微软雅黑" panose="020B0503020204020204" pitchFamily="34" charset="-122"/>
              </a:rPr>
              <a:t> </a:t>
            </a:r>
            <a:r>
              <a:rPr sz="2000" b="1" i="1" dirty="0">
                <a:latin typeface="微软雅黑" panose="020B0503020204020204" pitchFamily="34" charset="-122"/>
                <a:ea typeface="微软雅黑" panose="020B0503020204020204" pitchFamily="34" charset="-122"/>
              </a:rPr>
              <a:t>Fok</a:t>
            </a:r>
            <a:r>
              <a:rPr sz="2000" b="1" dirty="0">
                <a:latin typeface="微软雅黑" panose="020B0503020204020204" pitchFamily="34" charset="-122"/>
                <a:ea typeface="微软雅黑" panose="020B0503020204020204" pitchFamily="34" charset="-122"/>
              </a:rPr>
              <a:t> I </a:t>
            </a:r>
            <a:r>
              <a:rPr sz="2000" dirty="0" err="1">
                <a:latin typeface="微软雅黑" panose="020B0503020204020204" pitchFamily="34" charset="-122"/>
                <a:ea typeface="微软雅黑" panose="020B0503020204020204" pitchFamily="34" charset="-122"/>
              </a:rPr>
              <a:t>的切割结构域串联形成</a:t>
            </a:r>
            <a:r>
              <a:rPr sz="2000" b="1" dirty="0" err="1">
                <a:latin typeface="微软雅黑" panose="020B0503020204020204" pitchFamily="34" charset="-122"/>
                <a:ea typeface="微软雅黑" panose="020B0503020204020204" pitchFamily="34" charset="-122"/>
              </a:rPr>
              <a:t>人工锌指核酸酶</a:t>
            </a:r>
            <a:r>
              <a:rPr lang="zh-CN" altLang="en-US" sz="2000" dirty="0">
                <a:latin typeface="微软雅黑" panose="020B0503020204020204" pitchFamily="34" charset="-122"/>
                <a:ea typeface="微软雅黑" panose="020B0503020204020204" pitchFamily="34" charset="-122"/>
              </a:rPr>
              <a:t>。</a:t>
            </a:r>
          </a:p>
          <a:p>
            <a:pPr>
              <a:lnSpc>
                <a:spcPct val="200000"/>
              </a:lnSpc>
            </a:pPr>
            <a:r>
              <a:rPr lang="zh-CN" altLang="en-US" sz="2000" dirty="0">
                <a:latin typeface="微软雅黑" panose="020B0503020204020204" pitchFamily="34" charset="-122"/>
                <a:ea typeface="微软雅黑" panose="020B0503020204020204" pitchFamily="34" charset="-122"/>
              </a:rPr>
              <a:t>DNA功能：</a:t>
            </a:r>
            <a:r>
              <a:rPr lang="en-US" altLang="zh-CN" sz="2000" dirty="0" err="1">
                <a:latin typeface="微软雅黑" panose="020B0503020204020204" pitchFamily="34" charset="-122"/>
                <a:ea typeface="微软雅黑" panose="020B0503020204020204" pitchFamily="34" charset="-122"/>
              </a:rPr>
              <a:t>由</a:t>
            </a:r>
            <a:r>
              <a:rPr lang="en-US" altLang="zh-CN" sz="2000" b="1" dirty="0" err="1">
                <a:latin typeface="微软雅黑" panose="020B0503020204020204" pitchFamily="34" charset="-122"/>
                <a:ea typeface="微软雅黑" panose="020B0503020204020204" pitchFamily="34" charset="-122"/>
              </a:rPr>
              <a:t>锌指蛋白</a:t>
            </a:r>
            <a:r>
              <a:rPr lang="zh-CN" altLang="en-US" sz="2000" b="1" dirty="0">
                <a:latin typeface="微软雅黑" panose="020B0503020204020204" pitchFamily="34" charset="-122"/>
                <a:ea typeface="微软雅黑" panose="020B0503020204020204" pitchFamily="34" charset="-122"/>
              </a:rPr>
              <a:t>提供</a:t>
            </a:r>
            <a:r>
              <a:rPr lang="en-US" altLang="zh-CN" sz="2000" dirty="0">
                <a:latin typeface="微软雅黑" panose="020B0503020204020204" pitchFamily="34" charset="-122"/>
                <a:ea typeface="微软雅黑" panose="020B0503020204020204" pitchFamily="34" charset="-122"/>
              </a:rPr>
              <a:t>。</a:t>
            </a:r>
          </a:p>
          <a:p>
            <a:pPr>
              <a:lnSpc>
                <a:spcPct val="200000"/>
              </a:lnSpc>
            </a:pPr>
            <a:r>
              <a:rPr lang="zh-CN" altLang="en-US" sz="2000" dirty="0">
                <a:latin typeface="微软雅黑" panose="020B0503020204020204" pitchFamily="34" charset="-122"/>
                <a:ea typeface="微软雅黑" panose="020B0503020204020204" pitchFamily="34" charset="-122"/>
              </a:rPr>
              <a:t>DNA剪切域：由</a:t>
            </a:r>
            <a:r>
              <a:rPr lang="zh-CN" altLang="en-US" sz="2000" b="1" dirty="0">
                <a:latin typeface="微软雅黑" panose="020B0503020204020204" pitchFamily="34" charset="-122"/>
                <a:ea typeface="微软雅黑" panose="020B0503020204020204" pitchFamily="34" charset="-122"/>
              </a:rPr>
              <a:t>非特异性核酸内切酶</a:t>
            </a:r>
            <a:r>
              <a:rPr lang="zh-CN" altLang="en-US" sz="2000" b="1" i="1" dirty="0">
                <a:latin typeface="微软雅黑" panose="020B0503020204020204" pitchFamily="34" charset="-122"/>
                <a:ea typeface="微软雅黑" panose="020B0503020204020204" pitchFamily="34" charset="-122"/>
              </a:rPr>
              <a:t>Fok</a:t>
            </a:r>
            <a:r>
              <a:rPr lang="zh-CN" altLang="en-US" sz="2000" b="1" dirty="0">
                <a:latin typeface="微软雅黑" panose="020B0503020204020204" pitchFamily="34" charset="-122"/>
                <a:ea typeface="微软雅黑" panose="020B0503020204020204" pitchFamily="34" charset="-122"/>
              </a:rPr>
              <a:t>Ⅰ的切割亚基</a:t>
            </a:r>
            <a:r>
              <a:rPr lang="zh-CN" altLang="en-US" sz="2000" dirty="0">
                <a:latin typeface="微软雅黑" panose="020B0503020204020204" pitchFamily="34" charset="-122"/>
                <a:ea typeface="微软雅黑" panose="020B0503020204020204" pitchFamily="34" charset="-122"/>
              </a:rPr>
              <a:t>提供。</a:t>
            </a:r>
          </a:p>
        </p:txBody>
      </p:sp>
      <p:pic>
        <p:nvPicPr>
          <p:cNvPr id="4" name="图片 3"/>
          <p:cNvPicPr>
            <a:picLocks noChangeAspect="1"/>
          </p:cNvPicPr>
          <p:nvPr/>
        </p:nvPicPr>
        <p:blipFill>
          <a:blip r:embed="rId4"/>
          <a:stretch>
            <a:fillRect/>
          </a:stretch>
        </p:blipFill>
        <p:spPr>
          <a:xfrm>
            <a:off x="8011160" y="782955"/>
            <a:ext cx="3834765" cy="5599430"/>
          </a:xfrm>
          <a:prstGeom prst="rect">
            <a:avLst/>
          </a:prstGeom>
        </p:spPr>
      </p:pic>
      <p:sp>
        <p:nvSpPr>
          <p:cNvPr id="5" name="文本框 4"/>
          <p:cNvSpPr txBox="1"/>
          <p:nvPr>
            <p:custDataLst>
              <p:tags r:id="rId1"/>
            </p:custDataLst>
          </p:nvPr>
        </p:nvSpPr>
        <p:spPr>
          <a:xfrm>
            <a:off x="393799" y="1003519"/>
            <a:ext cx="904914" cy="40011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sz="2000" b="1" dirty="0">
                <a:latin typeface="微软雅黑" panose="020B0503020204020204" pitchFamily="34" charset="-122"/>
                <a:ea typeface="微软雅黑" panose="020B0503020204020204" pitchFamily="34" charset="-122"/>
                <a:cs typeface="Arial" panose="020B0604020202020204" pitchFamily="34" charset="0"/>
              </a:rPr>
              <a:t>概念</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p:cNvSpPr txBox="1"/>
          <p:nvPr/>
        </p:nvSpPr>
        <p:spPr>
          <a:xfrm>
            <a:off x="0" y="0"/>
            <a:ext cx="12192000" cy="58356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锌指蛋白</a:t>
            </a:r>
          </a:p>
        </p:txBody>
      </p:sp>
      <p:sp>
        <p:nvSpPr>
          <p:cNvPr id="5" name="文本框 4"/>
          <p:cNvSpPr txBox="1"/>
          <p:nvPr>
            <p:custDataLst>
              <p:tags r:id="rId1"/>
            </p:custDataLst>
          </p:nvPr>
        </p:nvSpPr>
        <p:spPr>
          <a:xfrm>
            <a:off x="393799" y="1003519"/>
            <a:ext cx="687516" cy="36830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b="1" dirty="0">
                <a:latin typeface="微软雅黑" panose="020B0503020204020204" pitchFamily="34" charset="-122"/>
                <a:ea typeface="微软雅黑" panose="020B0503020204020204" pitchFamily="34" charset="-122"/>
                <a:cs typeface="Arial" panose="020B0604020202020204" pitchFamily="34" charset="0"/>
              </a:rPr>
              <a:t>概念</a:t>
            </a:r>
          </a:p>
        </p:txBody>
      </p:sp>
      <p:sp>
        <p:nvSpPr>
          <p:cNvPr id="8" name="文本框 7"/>
          <p:cNvSpPr txBox="1"/>
          <p:nvPr/>
        </p:nvSpPr>
        <p:spPr>
          <a:xfrm>
            <a:off x="371061" y="1441174"/>
            <a:ext cx="7188200" cy="990600"/>
          </a:xfrm>
          <a:prstGeom prst="rect">
            <a:avLst/>
          </a:prstGeom>
          <a:noFill/>
        </p:spPr>
        <p:txBody>
          <a:bodyPr wrap="square">
            <a:noAutofit/>
          </a:bodyPr>
          <a:lstStyle/>
          <a:p>
            <a:pPr>
              <a:lnSpc>
                <a:spcPct val="150000"/>
              </a:lnSpc>
            </a:pP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一类通过</a:t>
            </a:r>
            <a:r>
              <a:rPr lang="en-US" altLang="zh-CN" sz="2000" dirty="0" err="1">
                <a:latin typeface="微软雅黑" panose="020B0503020204020204" pitchFamily="34" charset="-122"/>
                <a:ea typeface="微软雅黑" panose="020B0503020204020204" pitchFamily="34" charset="-122"/>
                <a:cs typeface="微软雅黑" panose="020B0503020204020204" pitchFamily="34" charset="-122"/>
              </a:rPr>
              <a:t>Cys2-His2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锌指结构域结合</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的转录因子，</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每个锌指通常能识别并与3到4个相邻的核苷酸碱基序列结合</a:t>
            </a: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en-US" altLang="zh-CN" sz="20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 name="图片 8"/>
          <p:cNvPicPr/>
          <p:nvPr/>
        </p:nvPicPr>
        <p:blipFill>
          <a:blip r:embed="rId5"/>
          <a:srcRect l="13467" t="5130" r="-569" b="23389"/>
          <a:stretch>
            <a:fillRect/>
          </a:stretch>
        </p:blipFill>
        <p:spPr>
          <a:xfrm>
            <a:off x="7764145" y="2078990"/>
            <a:ext cx="4077335" cy="3430270"/>
          </a:xfrm>
          <a:prstGeom prst="rect">
            <a:avLst/>
          </a:prstGeom>
        </p:spPr>
      </p:pic>
      <p:sp>
        <p:nvSpPr>
          <p:cNvPr id="10" name="文本框 9"/>
          <p:cNvSpPr txBox="1"/>
          <p:nvPr>
            <p:custDataLst>
              <p:tags r:id="rId2"/>
            </p:custDataLst>
          </p:nvPr>
        </p:nvSpPr>
        <p:spPr>
          <a:xfrm>
            <a:off x="470551" y="2642895"/>
            <a:ext cx="687516" cy="36830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b="1" dirty="0">
                <a:latin typeface="微软雅黑" panose="020B0503020204020204" pitchFamily="34" charset="-122"/>
                <a:ea typeface="微软雅黑" panose="020B0503020204020204" pitchFamily="34" charset="-122"/>
                <a:cs typeface="Arial" panose="020B0604020202020204" pitchFamily="34" charset="0"/>
              </a:rPr>
              <a:t>特点</a:t>
            </a:r>
          </a:p>
        </p:txBody>
      </p:sp>
      <p:sp>
        <p:nvSpPr>
          <p:cNvPr id="4" name="文本框 3">
            <a:extLst>
              <a:ext uri="{FF2B5EF4-FFF2-40B4-BE49-F238E27FC236}">
                <a16:creationId xmlns:a16="http://schemas.microsoft.com/office/drawing/2014/main" id="{99EEEAE1-FD97-F056-23B4-96553F1AA1BC}"/>
              </a:ext>
            </a:extLst>
          </p:cNvPr>
          <p:cNvSpPr txBox="1"/>
          <p:nvPr/>
        </p:nvSpPr>
        <p:spPr>
          <a:xfrm>
            <a:off x="394252" y="3131309"/>
            <a:ext cx="7040217" cy="3277820"/>
          </a:xfrm>
          <a:prstGeom prst="rect">
            <a:avLst/>
          </a:prstGeom>
          <a:noFill/>
        </p:spPr>
        <p:txBody>
          <a:bodyPr wrap="square" rtlCol="0">
            <a:spAutoFit/>
          </a:bodyPr>
          <a:lstStyle/>
          <a:p>
            <a:pPr>
              <a:lnSpc>
                <a:spcPct val="150000"/>
              </a:lnSpc>
            </a:pPr>
            <a:r>
              <a:rPr lang="en-US" altLang="zh-CN" sz="1800" b="1" dirty="0" err="1">
                <a:latin typeface="微软雅黑" panose="020B0503020204020204" pitchFamily="34" charset="-122"/>
                <a:ea typeface="微软雅黑" panose="020B0503020204020204" pitchFamily="34" charset="-122"/>
                <a:cs typeface="微软雅黑" panose="020B0503020204020204" pitchFamily="34" charset="-122"/>
              </a:rPr>
              <a:t>高度特异性</a:t>
            </a: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b="1"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通过组合不同的锌指</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Arial" panose="020B0604020202020204" pitchFamily="34" charset="0"/>
                <a:ea typeface="微软雅黑" panose="020B0503020204020204" pitchFamily="34" charset="-122"/>
                <a:cs typeface="Arial" panose="020B0604020202020204" pitchFamily="34" charset="0"/>
                <a:sym typeface="+mn-ea"/>
              </a:rPr>
              <a:t>足以保证与靶点结合的特异性。</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b="1" dirty="0" err="1">
                <a:latin typeface="微软雅黑" panose="020B0503020204020204" pitchFamily="34" charset="-122"/>
                <a:ea typeface="微软雅黑" panose="020B0503020204020204" pitchFamily="34" charset="-122"/>
                <a:cs typeface="微软雅黑" panose="020B0503020204020204" pitchFamily="34" charset="-122"/>
              </a:rPr>
              <a:t>可设计性</a:t>
            </a: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b="1"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通过组合不同的锌指，可以根据需要精确地设计出能够特异性结合目标</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序列的锌指蛋白。</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b="1" dirty="0" err="1">
                <a:latin typeface="微软雅黑" panose="020B0503020204020204" pitchFamily="34" charset="-122"/>
                <a:ea typeface="微软雅黑" panose="020B0503020204020204" pitchFamily="34" charset="-122"/>
                <a:cs typeface="微软雅黑" panose="020B0503020204020204" pitchFamily="34" charset="-122"/>
              </a:rPr>
              <a:t>高效性</a:t>
            </a: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b="1"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锌指蛋白转录因子与</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DNA</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的结合能力强</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DC68559-F66B-5B79-3081-37FF79AB43A5}"/>
              </a:ext>
            </a:extLst>
          </p:cNvPr>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33DD585C-855F-89D7-7B92-6C69478F0238}"/>
              </a:ext>
            </a:extLst>
          </p:cNvPr>
          <p:cNvSpPr txBox="1"/>
          <p:nvPr/>
        </p:nvSpPr>
        <p:spPr>
          <a:xfrm>
            <a:off x="0" y="0"/>
            <a:ext cx="12192000" cy="583565"/>
          </a:xfrm>
          <a:prstGeom prst="rect">
            <a:avLst/>
          </a:prstGeom>
          <a:noFill/>
        </p:spPr>
        <p:txBody>
          <a:bodyPr wrap="square" rtlCol="0">
            <a:spAutoFit/>
          </a:bodyPr>
          <a:lstStyle/>
          <a:p>
            <a:pPr algn="ctr"/>
            <a:r>
              <a:rPr lang="en-US" altLang="zh-CN" sz="3200" b="1" i="1" dirty="0" err="1">
                <a:solidFill>
                  <a:schemeClr val="bg1"/>
                </a:solidFill>
                <a:latin typeface="微软雅黑" panose="020B0503020204020204" pitchFamily="34" charset="-122"/>
                <a:ea typeface="微软雅黑" panose="020B0503020204020204" pitchFamily="34" charset="-122"/>
                <a:cs typeface="Arial" panose="020B0604020202020204" pitchFamily="34" charset="0"/>
              </a:rPr>
              <a:t>Fok</a:t>
            </a:r>
            <a:r>
              <a:rPr lang="en-US" altLang="zh-CN" sz="3200" b="1" dirty="0" err="1">
                <a:solidFill>
                  <a:schemeClr val="bg1"/>
                </a:solidFill>
                <a:latin typeface="微软雅黑" panose="020B0503020204020204" pitchFamily="34" charset="-122"/>
                <a:ea typeface="微软雅黑" panose="020B0503020204020204" pitchFamily="34" charset="-122"/>
                <a:cs typeface="Arial" panose="020B0604020202020204" pitchFamily="34" charset="0"/>
              </a:rPr>
              <a:t>Ⅰ</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内切酶</a:t>
            </a:r>
          </a:p>
        </p:txBody>
      </p:sp>
      <p:sp>
        <p:nvSpPr>
          <p:cNvPr id="8" name="文本框 7">
            <a:extLst>
              <a:ext uri="{FF2B5EF4-FFF2-40B4-BE49-F238E27FC236}">
                <a16:creationId xmlns:a16="http://schemas.microsoft.com/office/drawing/2014/main" id="{422B18F4-AE92-8FCB-BA51-91C2E549E988}"/>
              </a:ext>
            </a:extLst>
          </p:cNvPr>
          <p:cNvSpPr txBox="1"/>
          <p:nvPr>
            <p:custDataLst>
              <p:tags r:id="rId1"/>
            </p:custDataLst>
          </p:nvPr>
        </p:nvSpPr>
        <p:spPr>
          <a:xfrm>
            <a:off x="393798" y="1003519"/>
            <a:ext cx="2521679" cy="40011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sz="2000" b="1" dirty="0">
                <a:latin typeface="微软雅黑" panose="020B0503020204020204" pitchFamily="34" charset="-122"/>
                <a:ea typeface="微软雅黑" panose="020B0503020204020204" pitchFamily="34" charset="-122"/>
                <a:cs typeface="Arial" panose="020B0604020202020204" pitchFamily="34" charset="0"/>
              </a:rPr>
              <a:t>识别位点与切割特性</a:t>
            </a:r>
          </a:p>
        </p:txBody>
      </p:sp>
      <p:sp>
        <p:nvSpPr>
          <p:cNvPr id="10" name="文本框 9">
            <a:extLst>
              <a:ext uri="{FF2B5EF4-FFF2-40B4-BE49-F238E27FC236}">
                <a16:creationId xmlns:a16="http://schemas.microsoft.com/office/drawing/2014/main" id="{D0A1A41A-F8F6-B40A-1383-3A46D269A090}"/>
              </a:ext>
            </a:extLst>
          </p:cNvPr>
          <p:cNvSpPr txBox="1"/>
          <p:nvPr/>
        </p:nvSpPr>
        <p:spPr>
          <a:xfrm>
            <a:off x="927651" y="1518215"/>
            <a:ext cx="11078819" cy="1116331"/>
          </a:xfrm>
          <a:prstGeom prst="rect">
            <a:avLst/>
          </a:prstGeom>
          <a:noFill/>
        </p:spPr>
        <p:txBody>
          <a:bodyPr wrap="square">
            <a:spAutoFit/>
          </a:bodyPr>
          <a:lstStyle/>
          <a:p>
            <a:pPr>
              <a:lnSpc>
                <a:spcPct val="200000"/>
              </a:lnSpc>
            </a:pPr>
            <a:r>
              <a:rPr lang="zh-CN" altLang="en-US" dirty="0">
                <a:latin typeface="Arial" panose="020B0604020202020204" pitchFamily="34" charset="0"/>
                <a:ea typeface="微软雅黑" panose="020B0503020204020204" pitchFamily="34" charset="-122"/>
                <a:cs typeface="Arial" panose="020B0604020202020204" pitchFamily="34" charset="0"/>
              </a:rPr>
              <a:t>识别位点通常为</a:t>
            </a:r>
            <a:r>
              <a:rPr lang="en-US" altLang="zh-CN" dirty="0" err="1">
                <a:latin typeface="Arial" panose="020B0604020202020204" pitchFamily="34" charset="0"/>
                <a:ea typeface="微软雅黑" panose="020B0503020204020204" pitchFamily="34" charset="-122"/>
                <a:cs typeface="Arial" panose="020B0604020202020204" pitchFamily="34" charset="0"/>
              </a:rPr>
              <a:t>GGATG</a:t>
            </a:r>
            <a:r>
              <a:rPr lang="en-US" altLang="zh-CN" dirty="0">
                <a:latin typeface="Arial" panose="020B0604020202020204" pitchFamily="34" charset="0"/>
                <a:ea typeface="微软雅黑" panose="020B0503020204020204" pitchFamily="34" charset="-122"/>
                <a:cs typeface="Arial" panose="020B0604020202020204" pitchFamily="34" charset="0"/>
              </a:rPr>
              <a:t>(N)9...</a:t>
            </a:r>
            <a:r>
              <a:rPr lang="en-US" altLang="zh-CN" dirty="0" err="1">
                <a:latin typeface="Arial" panose="020B0604020202020204" pitchFamily="34" charset="0"/>
                <a:ea typeface="微软雅黑" panose="020B0503020204020204" pitchFamily="34" charset="-122"/>
                <a:cs typeface="Arial" panose="020B0604020202020204" pitchFamily="34" charset="0"/>
              </a:rPr>
              <a:t>CCTAC</a:t>
            </a:r>
            <a:r>
              <a:rPr lang="en-US" altLang="zh-CN" dirty="0">
                <a:latin typeface="Arial" panose="020B0604020202020204" pitchFamily="34" charset="0"/>
                <a:ea typeface="微软雅黑" panose="020B0503020204020204" pitchFamily="34" charset="-122"/>
                <a:cs typeface="Arial" panose="020B0604020202020204" pitchFamily="34" charset="0"/>
              </a:rPr>
              <a:t>(N)13</a:t>
            </a:r>
            <a:r>
              <a:rPr lang="zh-CN" altLang="en-US" dirty="0">
                <a:latin typeface="Arial" panose="020B0604020202020204" pitchFamily="34" charset="0"/>
                <a:ea typeface="微软雅黑" panose="020B0503020204020204" pitchFamily="34" charset="-122"/>
                <a:cs typeface="Arial" panose="020B0604020202020204" pitchFamily="34" charset="0"/>
              </a:rPr>
              <a:t>，其中</a:t>
            </a:r>
            <a:r>
              <a:rPr lang="en-US" altLang="zh-CN" dirty="0">
                <a:latin typeface="Arial" panose="020B0604020202020204" pitchFamily="34" charset="0"/>
                <a:ea typeface="微软雅黑" panose="020B0503020204020204" pitchFamily="34" charset="-122"/>
                <a:cs typeface="Arial" panose="020B0604020202020204" pitchFamily="34" charset="0"/>
              </a:rPr>
              <a:t>N</a:t>
            </a:r>
            <a:r>
              <a:rPr lang="zh-CN" altLang="en-US" dirty="0">
                <a:latin typeface="Arial" panose="020B0604020202020204" pitchFamily="34" charset="0"/>
                <a:ea typeface="微软雅黑" panose="020B0503020204020204" pitchFamily="34" charset="-122"/>
                <a:cs typeface="Arial" panose="020B0604020202020204" pitchFamily="34" charset="0"/>
              </a:rPr>
              <a:t>代表任意核苷酸。</a:t>
            </a:r>
          </a:p>
          <a:p>
            <a:pPr>
              <a:lnSpc>
                <a:spcPct val="200000"/>
              </a:lnSpc>
            </a:pPr>
            <a:r>
              <a:rPr lang="en-US" altLang="zh-CN" dirty="0">
                <a:latin typeface="Arial" panose="020B0604020202020204" pitchFamily="34" charset="0"/>
                <a:ea typeface="微软雅黑" panose="020B0503020204020204" pitchFamily="34" charset="-122"/>
                <a:cs typeface="Arial" panose="020B0604020202020204" pitchFamily="34" charset="0"/>
              </a:rPr>
              <a:t>ZFN</a:t>
            </a:r>
            <a:r>
              <a:rPr lang="zh-CN" altLang="en-US" dirty="0">
                <a:latin typeface="Arial" panose="020B0604020202020204" pitchFamily="34" charset="0"/>
                <a:ea typeface="微软雅黑" panose="020B0503020204020204" pitchFamily="34" charset="-122"/>
                <a:cs typeface="Arial" panose="020B0604020202020204" pitchFamily="34" charset="0"/>
              </a:rPr>
              <a:t>的切割域与</a:t>
            </a:r>
            <a:r>
              <a:rPr lang="en-US" altLang="zh-CN" dirty="0">
                <a:latin typeface="Arial" panose="020B0604020202020204" pitchFamily="34" charset="0"/>
                <a:ea typeface="微软雅黑" panose="020B0503020204020204" pitchFamily="34" charset="-122"/>
                <a:cs typeface="Arial" panose="020B0604020202020204" pitchFamily="34" charset="0"/>
              </a:rPr>
              <a:t>DNA</a:t>
            </a:r>
            <a:r>
              <a:rPr lang="zh-CN" altLang="en-US" dirty="0">
                <a:latin typeface="Arial" panose="020B0604020202020204" pitchFamily="34" charset="0"/>
                <a:ea typeface="微软雅黑" panose="020B0503020204020204" pitchFamily="34" charset="-122"/>
                <a:cs typeface="Arial" panose="020B0604020202020204" pitchFamily="34" charset="0"/>
              </a:rPr>
              <a:t>结合域通过连接区（</a:t>
            </a:r>
            <a:r>
              <a:rPr lang="en-US" altLang="zh-CN" dirty="0">
                <a:latin typeface="Arial" panose="020B0604020202020204" pitchFamily="34" charset="0"/>
                <a:ea typeface="微软雅黑" panose="020B0503020204020204" pitchFamily="34" charset="-122"/>
                <a:cs typeface="Arial" panose="020B0604020202020204" pitchFamily="34" charset="0"/>
              </a:rPr>
              <a:t>linker</a:t>
            </a:r>
            <a:r>
              <a:rPr lang="zh-CN" altLang="en-US" dirty="0">
                <a:latin typeface="Arial" panose="020B0604020202020204" pitchFamily="34" charset="0"/>
                <a:ea typeface="微软雅黑" panose="020B0503020204020204" pitchFamily="34" charset="-122"/>
                <a:cs typeface="Arial" panose="020B0604020202020204" pitchFamily="34" charset="0"/>
              </a:rPr>
              <a:t>）结合，</a:t>
            </a:r>
            <a:r>
              <a:rPr lang="en-US" altLang="zh-CN" b="1" i="1" dirty="0" err="1">
                <a:latin typeface="Arial" panose="020B0604020202020204" pitchFamily="34" charset="0"/>
                <a:ea typeface="微软雅黑" panose="020B0503020204020204" pitchFamily="34" charset="-122"/>
                <a:cs typeface="Arial" panose="020B0604020202020204" pitchFamily="34" charset="0"/>
              </a:rPr>
              <a:t>Fok</a:t>
            </a:r>
            <a:r>
              <a:rPr lang="en-US" altLang="zh-CN" b="1" dirty="0" err="1">
                <a:latin typeface="Arial" panose="020B0604020202020204" pitchFamily="34" charset="0"/>
                <a:ea typeface="微软雅黑" panose="020B0503020204020204" pitchFamily="34" charset="-122"/>
                <a:cs typeface="Arial" panose="020B0604020202020204" pitchFamily="34" charset="0"/>
              </a:rPr>
              <a:t>Ⅰ</a:t>
            </a:r>
            <a:r>
              <a:rPr lang="zh-CN" altLang="en-US" b="1" dirty="0">
                <a:latin typeface="Arial" panose="020B0604020202020204" pitchFamily="34" charset="0"/>
                <a:ea typeface="微软雅黑" panose="020B0503020204020204" pitchFamily="34" charset="-122"/>
                <a:cs typeface="Arial" panose="020B0604020202020204" pitchFamily="34" charset="0"/>
              </a:rPr>
              <a:t>核酸酶需要形成二聚体</a:t>
            </a:r>
            <a:r>
              <a:rPr lang="zh-CN" altLang="en-US" dirty="0">
                <a:latin typeface="Arial" panose="020B0604020202020204" pitchFamily="34" charset="0"/>
                <a:ea typeface="微软雅黑" panose="020B0503020204020204" pitchFamily="34" charset="-122"/>
                <a:cs typeface="Arial" panose="020B0604020202020204" pitchFamily="34" charset="0"/>
              </a:rPr>
              <a:t>才可切割</a:t>
            </a:r>
            <a:r>
              <a:rPr lang="en-US" altLang="zh-CN" dirty="0">
                <a:latin typeface="Arial" panose="020B0604020202020204" pitchFamily="34" charset="0"/>
                <a:ea typeface="微软雅黑" panose="020B0503020204020204" pitchFamily="34" charset="-122"/>
                <a:cs typeface="Arial" panose="020B0604020202020204" pitchFamily="34" charset="0"/>
              </a:rPr>
              <a:t>DNA</a:t>
            </a:r>
            <a:r>
              <a:rPr lang="zh-CN" altLang="en-US" dirty="0">
                <a:latin typeface="Arial" panose="020B0604020202020204" pitchFamily="34" charset="0"/>
                <a:ea typeface="微软雅黑" panose="020B0503020204020204" pitchFamily="34" charset="-122"/>
                <a:cs typeface="Arial" panose="020B0604020202020204" pitchFamily="34" charset="0"/>
              </a:rPr>
              <a:t>产生</a:t>
            </a:r>
            <a:r>
              <a:rPr lang="en-US" altLang="zh-CN" dirty="0" err="1">
                <a:latin typeface="Arial" panose="020B0604020202020204" pitchFamily="34" charset="0"/>
                <a:ea typeface="微软雅黑" panose="020B0503020204020204" pitchFamily="34" charset="-122"/>
                <a:cs typeface="Arial" panose="020B0604020202020204" pitchFamily="34" charset="0"/>
              </a:rPr>
              <a:t>DSB</a:t>
            </a:r>
            <a:r>
              <a:rPr lang="zh-CN" altLang="en-US" dirty="0">
                <a:latin typeface="Arial" panose="020B0604020202020204" pitchFamily="34" charset="0"/>
                <a:ea typeface="微软雅黑" panose="020B0503020204020204" pitchFamily="34" charset="-122"/>
                <a:cs typeface="Arial" panose="020B0604020202020204" pitchFamily="34" charset="0"/>
              </a:rPr>
              <a:t>。</a:t>
            </a:r>
          </a:p>
        </p:txBody>
      </p:sp>
      <p:pic>
        <p:nvPicPr>
          <p:cNvPr id="11" name="图片 10"/>
          <p:cNvPicPr/>
          <p:nvPr/>
        </p:nvPicPr>
        <p:blipFill>
          <a:blip r:embed="rId4"/>
          <a:stretch>
            <a:fillRect/>
          </a:stretch>
        </p:blipFill>
        <p:spPr>
          <a:xfrm>
            <a:off x="2933147" y="2831845"/>
            <a:ext cx="6322531" cy="3602086"/>
          </a:xfrm>
          <a:prstGeom prst="rect">
            <a:avLst/>
          </a:prstGeom>
        </p:spPr>
      </p:pic>
    </p:spTree>
    <p:extLst>
      <p:ext uri="{BB962C8B-B14F-4D97-AF65-F5344CB8AC3E}">
        <p14:creationId xmlns:p14="http://schemas.microsoft.com/office/powerpoint/2010/main" val="12905302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793EB-02EA-14FA-4447-7D20A885FA6E}"/>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74210BC6-F66F-698B-86D9-43DA8E78B2F9}"/>
              </a:ext>
            </a:extLst>
          </p:cNvPr>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E63D032-C189-897F-529D-151E17DF65E7}"/>
              </a:ext>
            </a:extLst>
          </p:cNvPr>
          <p:cNvSpPr txBox="1"/>
          <p:nvPr/>
        </p:nvSpPr>
        <p:spPr>
          <a:xfrm>
            <a:off x="0" y="0"/>
            <a:ext cx="12192000" cy="58356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锌指核酸酶的优点</a:t>
            </a:r>
          </a:p>
        </p:txBody>
      </p:sp>
      <p:sp>
        <p:nvSpPr>
          <p:cNvPr id="2" name="文本框 1">
            <a:extLst>
              <a:ext uri="{FF2B5EF4-FFF2-40B4-BE49-F238E27FC236}">
                <a16:creationId xmlns:a16="http://schemas.microsoft.com/office/drawing/2014/main" id="{D7A6767A-E847-B0C0-B7D3-9E7479E934B3}"/>
              </a:ext>
            </a:extLst>
          </p:cNvPr>
          <p:cNvSpPr txBox="1"/>
          <p:nvPr>
            <p:custDataLst>
              <p:tags r:id="rId1"/>
            </p:custDataLst>
          </p:nvPr>
        </p:nvSpPr>
        <p:spPr>
          <a:xfrm>
            <a:off x="385915" y="1769724"/>
            <a:ext cx="7406363" cy="3332772"/>
          </a:xfrm>
          <a:prstGeom prst="rect">
            <a:avLst/>
          </a:prstGeom>
          <a:noFill/>
        </p:spPr>
        <p:txBody>
          <a:bodyPr wrap="square" rtlCol="0" anchor="t">
            <a:spAutoFit/>
          </a:bodyPr>
          <a:lstStyle/>
          <a:p>
            <a:pPr marL="285750" indent="-285750" fontAlgn="auto">
              <a:lnSpc>
                <a:spcPct val="200000"/>
              </a:lnSpc>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高度可定制性</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nSpc>
                <a:spcPct val="20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ZFN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可以被设计成与特定</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DNA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序列结合。</a:t>
            </a:r>
          </a:p>
          <a:p>
            <a:pPr marL="285750" indent="-285750" fontAlgn="auto">
              <a:lnSpc>
                <a:spcPct val="200000"/>
              </a:lnSpc>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高效性</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nSpc>
                <a:spcPct val="20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ZFN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在特定情况下可以实现较高的编辑效率。</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285750">
              <a:lnSpc>
                <a:spcPct val="200000"/>
              </a:lnSpc>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sym typeface="+mn-ea"/>
              </a:rPr>
              <a:t>广泛的适用性</a:t>
            </a:r>
            <a:endParaRPr lang="en-US" altLang="zh-CN" b="1" dirty="0">
              <a:latin typeface="微软雅黑" panose="020B0503020204020204" pitchFamily="34" charset="-122"/>
              <a:ea typeface="微软雅黑" panose="020B0503020204020204" pitchFamily="34" charset="-122"/>
              <a:sym typeface="+mn-ea"/>
            </a:endParaRPr>
          </a:p>
          <a:p>
            <a:pPr lvl="1">
              <a:lnSpc>
                <a:spcPct val="200000"/>
              </a:lnSpc>
            </a:pPr>
            <a:r>
              <a:rPr lang="en-US" altLang="zh-CN" dirty="0">
                <a:latin typeface="微软雅黑" panose="020B0503020204020204" pitchFamily="34" charset="-122"/>
                <a:ea typeface="微软雅黑" panose="020B0503020204020204" pitchFamily="34" charset="-122"/>
                <a:sym typeface="+mn-ea"/>
              </a:rPr>
              <a:t>ZFN</a:t>
            </a:r>
            <a:r>
              <a:rPr lang="zh-CN" altLang="en-US" dirty="0">
                <a:latin typeface="微软雅黑" panose="020B0503020204020204" pitchFamily="34" charset="-122"/>
                <a:ea typeface="微软雅黑" panose="020B0503020204020204" pitchFamily="34" charset="-122"/>
                <a:sym typeface="+mn-ea"/>
              </a:rPr>
              <a:t>可以再多种生物系统中使用，包括动物、植物微生物等。</a:t>
            </a:r>
          </a:p>
        </p:txBody>
      </p:sp>
    </p:spTree>
    <p:extLst>
      <p:ext uri="{BB962C8B-B14F-4D97-AF65-F5344CB8AC3E}">
        <p14:creationId xmlns:p14="http://schemas.microsoft.com/office/powerpoint/2010/main" val="25114655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a:off x="0" y="0"/>
            <a:ext cx="12192000" cy="58356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锌指核酸酶的局限性</a:t>
            </a:r>
          </a:p>
        </p:txBody>
      </p:sp>
      <p:sp>
        <p:nvSpPr>
          <p:cNvPr id="2" name="文本框 1">
            <a:extLst>
              <a:ext uri="{FF2B5EF4-FFF2-40B4-BE49-F238E27FC236}">
                <a16:creationId xmlns:a16="http://schemas.microsoft.com/office/drawing/2014/main" id="{B5FDF80B-8771-1F29-74A5-72FA5539B7A1}"/>
              </a:ext>
            </a:extLst>
          </p:cNvPr>
          <p:cNvSpPr txBox="1"/>
          <p:nvPr>
            <p:custDataLst>
              <p:tags r:id="rId1"/>
            </p:custDataLst>
          </p:nvPr>
        </p:nvSpPr>
        <p:spPr>
          <a:xfrm>
            <a:off x="383268" y="834006"/>
            <a:ext cx="11422289" cy="5548763"/>
          </a:xfrm>
          <a:prstGeom prst="rect">
            <a:avLst/>
          </a:prstGeom>
          <a:noFill/>
        </p:spPr>
        <p:txBody>
          <a:bodyPr wrap="square" rtlCol="0" anchor="t">
            <a:spAutoFit/>
          </a:bodyPr>
          <a:lstStyle/>
          <a:p>
            <a:pPr marL="285750" indent="-285750" fontAlgn="auto">
              <a:lnSpc>
                <a:spcPct val="200000"/>
              </a:lnSpc>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设计和优化较为复杂</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蛋白设计复杂，由于不同锌指在连接后常常无法维持各自原有的特异性，需要大规模的筛选，费时费力，也无法实现高通量的基因编辑。</a:t>
            </a:r>
          </a:p>
          <a:p>
            <a:pPr marL="285750" indent="-285750" fontAlgn="auto">
              <a:lnSpc>
                <a:spcPct val="200000"/>
              </a:lnSpc>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潜在的脱靶效应</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nSpc>
                <a:spcPct val="20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具有高度的目标特异性，但仍存在一定的离靶效应的风险。</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285750">
              <a:lnSpc>
                <a:spcPct val="200000"/>
              </a:lnSpc>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sym typeface="+mn-ea"/>
              </a:rPr>
              <a:t>可编辑的靶基因位点有限</a:t>
            </a:r>
            <a:endParaRPr lang="en-US" altLang="zh-CN" b="1" dirty="0">
              <a:latin typeface="微软雅黑" panose="020B0503020204020204" pitchFamily="34" charset="-122"/>
              <a:ea typeface="微软雅黑" panose="020B0503020204020204" pitchFamily="34" charset="-122"/>
              <a:sym typeface="+mn-ea"/>
            </a:endParaRPr>
          </a:p>
          <a:p>
            <a:pPr marL="0" lvl="1">
              <a:lnSpc>
                <a:spcPct val="200000"/>
              </a:lnSpc>
            </a:pPr>
            <a:r>
              <a:rPr lang="en-US" altLang="zh-CN" b="1" dirty="0">
                <a:latin typeface="微软雅黑" panose="020B0503020204020204" pitchFamily="34" charset="-122"/>
                <a:ea typeface="微软雅黑" panose="020B0503020204020204" pitchFamily="34" charset="-122"/>
                <a:sym typeface="+mn-ea"/>
              </a:rPr>
              <a:t>       </a:t>
            </a:r>
            <a:r>
              <a:rPr lang="en-US" altLang="zh-CN" dirty="0">
                <a:latin typeface="微软雅黑" panose="020B0503020204020204" pitchFamily="34" charset="-122"/>
                <a:ea typeface="微软雅黑" panose="020B0503020204020204" pitchFamily="34" charset="-122"/>
                <a:sym typeface="+mn-ea"/>
              </a:rPr>
              <a:t>ZFN</a:t>
            </a:r>
            <a:r>
              <a:rPr lang="zh-CN" altLang="en-US" dirty="0">
                <a:latin typeface="微软雅黑" panose="020B0503020204020204" pitchFamily="34" charset="-122"/>
                <a:ea typeface="微软雅黑" panose="020B0503020204020204" pitchFamily="34" charset="-122"/>
                <a:sym typeface="+mn-ea"/>
              </a:rPr>
              <a:t>的设计和使用受到目标序列的限制，</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并且无法实现对任意靶基因的结合，</a:t>
            </a:r>
            <a:r>
              <a:rPr lang="zh-CN" altLang="en-US" dirty="0">
                <a:latin typeface="微软雅黑" panose="020B0503020204020204" pitchFamily="34" charset="-122"/>
                <a:ea typeface="微软雅黑" panose="020B0503020204020204" pitchFamily="34" charset="-122"/>
                <a:sym typeface="+mn-ea"/>
              </a:rPr>
              <a:t>某些</a:t>
            </a:r>
            <a:r>
              <a:rPr lang="en-US" altLang="zh-CN" dirty="0">
                <a:latin typeface="微软雅黑" panose="020B0503020204020204" pitchFamily="34" charset="-122"/>
                <a:ea typeface="微软雅黑" panose="020B0503020204020204" pitchFamily="34" charset="-122"/>
                <a:sym typeface="+mn-ea"/>
              </a:rPr>
              <a:t>DNA</a:t>
            </a:r>
            <a:r>
              <a:rPr lang="zh-CN" altLang="en-US" dirty="0">
                <a:latin typeface="微软雅黑" panose="020B0503020204020204" pitchFamily="34" charset="-122"/>
                <a:ea typeface="微软雅黑" panose="020B0503020204020204" pitchFamily="34" charset="-122"/>
                <a:sym typeface="+mn-ea"/>
              </a:rPr>
              <a:t>序列可能不与</a:t>
            </a:r>
            <a:r>
              <a:rPr lang="en-US" altLang="zh-CN" dirty="0">
                <a:latin typeface="微软雅黑" panose="020B0503020204020204" pitchFamily="34" charset="-122"/>
                <a:ea typeface="微软雅黑" panose="020B0503020204020204" pitchFamily="34" charset="-122"/>
                <a:sym typeface="+mn-ea"/>
              </a:rPr>
              <a:t>ZFN</a:t>
            </a:r>
            <a:r>
              <a:rPr lang="zh-CN" altLang="en-US" dirty="0">
                <a:latin typeface="微软雅黑" panose="020B0503020204020204" pitchFamily="34" charset="-122"/>
                <a:ea typeface="微软雅黑" panose="020B0503020204020204" pitchFamily="34" charset="-122"/>
                <a:sym typeface="+mn-ea"/>
              </a:rPr>
              <a:t>配对等。</a:t>
            </a:r>
            <a:endParaRPr lang="en-US" altLang="zh-CN" dirty="0">
              <a:latin typeface="微软雅黑" panose="020B0503020204020204" pitchFamily="34" charset="-122"/>
              <a:ea typeface="微软雅黑" panose="020B0503020204020204" pitchFamily="34" charset="-122"/>
              <a:sym typeface="+mn-ea"/>
            </a:endParaRPr>
          </a:p>
          <a:p>
            <a:pPr marL="0" lvl="1" indent="-285750">
              <a:lnSpc>
                <a:spcPct val="200000"/>
              </a:lnSpc>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sym typeface="+mn-ea"/>
              </a:rPr>
              <a:t>编辑效率低</a:t>
            </a:r>
            <a:endParaRPr lang="en-US" altLang="zh-CN" b="1" dirty="0">
              <a:latin typeface="微软雅黑" panose="020B0503020204020204" pitchFamily="34" charset="-122"/>
              <a:ea typeface="微软雅黑" panose="020B0503020204020204" pitchFamily="34" charset="-122"/>
              <a:sym typeface="+mn-ea"/>
            </a:endParaRPr>
          </a:p>
          <a:p>
            <a:pPr marL="0" lvl="1">
              <a:lnSpc>
                <a:spcPct val="200000"/>
              </a:lnSpc>
            </a:pPr>
            <a:r>
              <a:rPr lang="en-US" altLang="zh-CN" dirty="0">
                <a:latin typeface="微软雅黑" panose="020B0503020204020204" pitchFamily="34" charset="-122"/>
                <a:ea typeface="微软雅黑" panose="020B0503020204020204" pitchFamily="34" charset="-122"/>
                <a:sym typeface="+mn-ea"/>
              </a:rPr>
              <a:t>      30%</a:t>
            </a:r>
            <a:r>
              <a:rPr lang="zh-CN" altLang="en-US" dirty="0">
                <a:latin typeface="微软雅黑" panose="020B0503020204020204" pitchFamily="34" charset="-122"/>
                <a:ea typeface="微软雅黑" panose="020B0503020204020204" pitchFamily="34" charset="-122"/>
                <a:sym typeface="+mn-ea"/>
              </a:rPr>
              <a:t>左右。</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4673" y="1764122"/>
            <a:ext cx="6819479" cy="4468850"/>
          </a:xfrm>
          <a:prstGeom prst="rect">
            <a:avLst/>
          </a:prstGeom>
        </p:spPr>
      </p:pic>
      <p:sp>
        <p:nvSpPr>
          <p:cNvPr id="2" name="矩形 1">
            <a:extLst>
              <a:ext uri="{FF2B5EF4-FFF2-40B4-BE49-F238E27FC236}">
                <a16:creationId xmlns:a16="http://schemas.microsoft.com/office/drawing/2014/main" id="{F8F97779-4D81-A1CB-6AFB-2D9C18ECA48E}"/>
              </a:ext>
            </a:extLst>
          </p:cNvPr>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a:extLst>
              <a:ext uri="{FF2B5EF4-FFF2-40B4-BE49-F238E27FC236}">
                <a16:creationId xmlns:a16="http://schemas.microsoft.com/office/drawing/2014/main" id="{C069507F-A88B-0811-CB7E-9CB86B06F3CF}"/>
              </a:ext>
            </a:extLst>
          </p:cNvPr>
          <p:cNvSpPr txBox="1"/>
          <p:nvPr/>
        </p:nvSpPr>
        <p:spPr>
          <a:xfrm>
            <a:off x="0" y="0"/>
            <a:ext cx="12192000" cy="58356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锌指核酸酶的优化</a:t>
            </a:r>
          </a:p>
        </p:txBody>
      </p:sp>
      <p:sp>
        <p:nvSpPr>
          <p:cNvPr id="6" name="文本框 5">
            <a:extLst>
              <a:ext uri="{FF2B5EF4-FFF2-40B4-BE49-F238E27FC236}">
                <a16:creationId xmlns:a16="http://schemas.microsoft.com/office/drawing/2014/main" id="{459E0DE0-8BAC-813B-233F-9946809AB2F3}"/>
              </a:ext>
            </a:extLst>
          </p:cNvPr>
          <p:cNvSpPr txBox="1"/>
          <p:nvPr/>
        </p:nvSpPr>
        <p:spPr>
          <a:xfrm>
            <a:off x="665579" y="1080185"/>
            <a:ext cx="5428834" cy="369332"/>
          </a:xfrm>
          <a:prstGeom prst="rect">
            <a:avLst/>
          </a:prstGeom>
          <a:noFill/>
        </p:spPr>
        <p:txBody>
          <a:bodyPr wrap="square">
            <a:spAutoFit/>
          </a:bodyPr>
          <a:lstStyle/>
          <a:p>
            <a:r>
              <a:rPr lang="zh-CN" altLang="en-US" dirty="0">
                <a:latin typeface="Arial" panose="020B0604020202020204" pitchFamily="34" charset="0"/>
                <a:ea typeface="微软雅黑" panose="020B0503020204020204" pitchFamily="34" charset="-122"/>
                <a:cs typeface="Arial" panose="020B0604020202020204" pitchFamily="34" charset="0"/>
              </a:rPr>
              <a:t>同源二聚体效应而导致脱靶，影响切割特异性</a:t>
            </a:r>
          </a:p>
        </p:txBody>
      </p:sp>
      <p:sp>
        <p:nvSpPr>
          <p:cNvPr id="7" name="箭头: 下 6">
            <a:extLst>
              <a:ext uri="{FF2B5EF4-FFF2-40B4-BE49-F238E27FC236}">
                <a16:creationId xmlns:a16="http://schemas.microsoft.com/office/drawing/2014/main" id="{8D800F1C-1D21-DAB5-D3DB-6630B3370194}"/>
              </a:ext>
            </a:extLst>
          </p:cNvPr>
          <p:cNvSpPr/>
          <p:nvPr/>
        </p:nvSpPr>
        <p:spPr>
          <a:xfrm>
            <a:off x="390525" y="1066800"/>
            <a:ext cx="282575" cy="1181100"/>
          </a:xfrm>
          <a:prstGeom prst="downArrow">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a:extLst>
              <a:ext uri="{FF2B5EF4-FFF2-40B4-BE49-F238E27FC236}">
                <a16:creationId xmlns:a16="http://schemas.microsoft.com/office/drawing/2014/main" id="{BB249EF8-CE46-D823-2064-27407520A093}"/>
              </a:ext>
            </a:extLst>
          </p:cNvPr>
          <p:cNvSpPr txBox="1"/>
          <p:nvPr/>
        </p:nvSpPr>
        <p:spPr>
          <a:xfrm>
            <a:off x="665579" y="1819960"/>
            <a:ext cx="5428834" cy="369332"/>
          </a:xfrm>
          <a:prstGeom prst="rect">
            <a:avLst/>
          </a:prstGeom>
          <a:noFill/>
        </p:spPr>
        <p:txBody>
          <a:bodyPr wrap="square">
            <a:spAutoFit/>
          </a:bodyPr>
          <a:lstStyle/>
          <a:p>
            <a:r>
              <a:rPr lang="zh-CN" altLang="en-US" b="1" dirty="0">
                <a:latin typeface="Arial" panose="020B0604020202020204" pitchFamily="34" charset="0"/>
                <a:ea typeface="微软雅黑" panose="020B0503020204020204" pitchFamily="34" charset="-122"/>
                <a:cs typeface="Arial" panose="020B0604020202020204" pitchFamily="34" charset="0"/>
              </a:rPr>
              <a:t>开发</a:t>
            </a:r>
            <a:r>
              <a:rPr lang="en-US" altLang="zh-CN" b="1" i="1" dirty="0">
                <a:latin typeface="Arial" panose="020B0604020202020204" pitchFamily="34" charset="0"/>
                <a:ea typeface="微软雅黑" panose="020B0503020204020204" pitchFamily="34" charset="-122"/>
                <a:cs typeface="Arial" panose="020B0604020202020204" pitchFamily="34" charset="0"/>
              </a:rPr>
              <a:t>Fok </a:t>
            </a:r>
            <a:r>
              <a:rPr lang="en-US" altLang="zh-CN" b="1" dirty="0">
                <a:latin typeface="Arial" panose="020B0604020202020204" pitchFamily="34" charset="0"/>
                <a:ea typeface="微软雅黑" panose="020B0503020204020204" pitchFamily="34" charset="-122"/>
                <a:cs typeface="Arial" panose="020B0604020202020204" pitchFamily="34" charset="0"/>
              </a:rPr>
              <a:t>Ⅰ</a:t>
            </a:r>
            <a:r>
              <a:rPr lang="zh-CN" altLang="en-US" b="1" dirty="0">
                <a:latin typeface="Arial" panose="020B0604020202020204" pitchFamily="34" charset="0"/>
                <a:ea typeface="微软雅黑" panose="020B0503020204020204" pitchFamily="34" charset="-122"/>
                <a:cs typeface="Arial" panose="020B0604020202020204" pitchFamily="34" charset="0"/>
              </a:rPr>
              <a:t>切割酶的变体</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964A78F-C046-3590-3E22-686B946B74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2286" y="379038"/>
            <a:ext cx="5452178" cy="4366567"/>
          </a:xfrm>
          <a:prstGeom prst="rect">
            <a:avLst/>
          </a:prstGeom>
        </p:spPr>
      </p:pic>
      <p:pic>
        <p:nvPicPr>
          <p:cNvPr id="7" name="图片 6">
            <a:extLst>
              <a:ext uri="{FF2B5EF4-FFF2-40B4-BE49-F238E27FC236}">
                <a16:creationId xmlns:a16="http://schemas.microsoft.com/office/drawing/2014/main" id="{8DA1222C-0D57-22BD-15D2-ADF41DB9FC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73287" y="546862"/>
            <a:ext cx="4363059" cy="5896798"/>
          </a:xfrm>
          <a:prstGeom prst="rect">
            <a:avLst/>
          </a:prstGeom>
        </p:spPr>
      </p:pic>
      <p:pic>
        <p:nvPicPr>
          <p:cNvPr id="8" name="图片 7">
            <a:extLst>
              <a:ext uri="{FF2B5EF4-FFF2-40B4-BE49-F238E27FC236}">
                <a16:creationId xmlns:a16="http://schemas.microsoft.com/office/drawing/2014/main" id="{B18758D6-69A6-BACD-58E4-E532AD8BD9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7258" y="4876801"/>
            <a:ext cx="5388423" cy="1571624"/>
          </a:xfrm>
          <a:prstGeom prst="rect">
            <a:avLst/>
          </a:prstGeom>
        </p:spPr>
      </p:pic>
    </p:spTree>
    <p:extLst>
      <p:ext uri="{BB962C8B-B14F-4D97-AF65-F5344CB8AC3E}">
        <p14:creationId xmlns:p14="http://schemas.microsoft.com/office/powerpoint/2010/main" val="35008792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5535" y="630739"/>
            <a:ext cx="8171991" cy="5955297"/>
          </a:xfrm>
          <a:prstGeom prst="rect">
            <a:avLst/>
          </a:prstGeom>
        </p:spPr>
      </p:pic>
      <p:sp>
        <p:nvSpPr>
          <p:cNvPr id="2" name="矩形 1">
            <a:extLst>
              <a:ext uri="{FF2B5EF4-FFF2-40B4-BE49-F238E27FC236}">
                <a16:creationId xmlns:a16="http://schemas.microsoft.com/office/drawing/2014/main" id="{75B73094-0BEB-2FBF-B92E-069212663A23}"/>
              </a:ext>
            </a:extLst>
          </p:cNvPr>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a:extLst>
              <a:ext uri="{FF2B5EF4-FFF2-40B4-BE49-F238E27FC236}">
                <a16:creationId xmlns:a16="http://schemas.microsoft.com/office/drawing/2014/main" id="{37829E29-16AB-95BE-A18E-BB5540AB183A}"/>
              </a:ext>
            </a:extLst>
          </p:cNvPr>
          <p:cNvSpPr txBox="1"/>
          <p:nvPr/>
        </p:nvSpPr>
        <p:spPr>
          <a:xfrm>
            <a:off x="0" y="0"/>
            <a:ext cx="12192000" cy="58356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锌指核酸酶的应用</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2D297-D8F2-CECB-4633-3BE3E9838D43}"/>
            </a:ext>
          </a:extLst>
        </p:cNvPr>
        <p:cNvGrpSpPr/>
        <p:nvPr/>
      </p:nvGrpSpPr>
      <p:grpSpPr>
        <a:xfrm>
          <a:off x="0" y="0"/>
          <a:ext cx="0" cy="0"/>
          <a:chOff x="0" y="0"/>
          <a:chExt cx="0" cy="0"/>
        </a:xfrm>
      </p:grpSpPr>
      <p:pic>
        <p:nvPicPr>
          <p:cNvPr id="17" name="图片 16">
            <a:extLst>
              <a:ext uri="{FF2B5EF4-FFF2-40B4-BE49-F238E27FC236}">
                <a16:creationId xmlns:a16="http://schemas.microsoft.com/office/drawing/2014/main" id="{03D97A76-8F19-B8DD-F401-D6FA4CB680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1006" y="523358"/>
            <a:ext cx="8594854" cy="5635738"/>
          </a:xfrm>
          <a:prstGeom prst="rect">
            <a:avLst/>
          </a:prstGeom>
        </p:spPr>
      </p:pic>
    </p:spTree>
    <p:extLst>
      <p:ext uri="{BB962C8B-B14F-4D97-AF65-F5344CB8AC3E}">
        <p14:creationId xmlns:p14="http://schemas.microsoft.com/office/powerpoint/2010/main" val="4109638672"/>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4"/>
          <a:stretch>
            <a:fillRect/>
          </a:stretch>
        </p:blipFill>
        <p:spPr>
          <a:xfrm>
            <a:off x="8108950" y="797560"/>
            <a:ext cx="3905885" cy="5647690"/>
          </a:xfrm>
          <a:prstGeom prst="rect">
            <a:avLst/>
          </a:prstGeom>
        </p:spPr>
      </p:pic>
      <p:sp>
        <p:nvSpPr>
          <p:cNvPr id="5" name="矩形 4"/>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p:cNvSpPr txBox="1"/>
          <p:nvPr/>
        </p:nvSpPr>
        <p:spPr>
          <a:xfrm>
            <a:off x="0" y="0"/>
            <a:ext cx="12192000" cy="583565"/>
          </a:xfrm>
          <a:prstGeom prst="rect">
            <a:avLst/>
          </a:prstGeom>
          <a:noFill/>
        </p:spPr>
        <p:txBody>
          <a:bodyPr wrap="square" rtlCol="0">
            <a:spAutoFit/>
          </a:bodyPr>
          <a:lstStyle/>
          <a:p>
            <a:pPr algn="ctr"/>
            <a:r>
              <a:rPr 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TALEN</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技术</a:t>
            </a:r>
          </a:p>
        </p:txBody>
      </p:sp>
      <p:sp>
        <p:nvSpPr>
          <p:cNvPr id="2" name="文本框 1">
            <a:extLst>
              <a:ext uri="{FF2B5EF4-FFF2-40B4-BE49-F238E27FC236}">
                <a16:creationId xmlns:a16="http://schemas.microsoft.com/office/drawing/2014/main" id="{1F436759-AE4E-54E9-0F2B-9A1672A0101E}"/>
              </a:ext>
            </a:extLst>
          </p:cNvPr>
          <p:cNvSpPr txBox="1"/>
          <p:nvPr/>
        </p:nvSpPr>
        <p:spPr>
          <a:xfrm>
            <a:off x="406580" y="2094821"/>
            <a:ext cx="7319437" cy="2461700"/>
          </a:xfrm>
          <a:prstGeom prst="rect">
            <a:avLst/>
          </a:prstGeom>
          <a:noFill/>
        </p:spPr>
        <p:txBody>
          <a:bodyPr wrap="square">
            <a:spAutoFit/>
          </a:bodyPr>
          <a:lstStyle/>
          <a:p>
            <a:pPr>
              <a:lnSpc>
                <a:spcPct val="200000"/>
              </a:lnSpc>
            </a:pPr>
            <a:r>
              <a:rPr lang="zh-CN" altLang="en-US" sz="2000" dirty="0">
                <a:latin typeface="微软雅黑" panose="020B0503020204020204" pitchFamily="34" charset="-122"/>
                <a:ea typeface="微软雅黑" panose="020B0503020204020204" pitchFamily="34" charset="-122"/>
              </a:rPr>
              <a:t>是由</a:t>
            </a:r>
            <a:r>
              <a:rPr lang="zh-CN" altLang="en-US" sz="2000" b="1" dirty="0">
                <a:latin typeface="微软雅黑" panose="020B0503020204020204" pitchFamily="34" charset="-122"/>
                <a:ea typeface="微软雅黑" panose="020B0503020204020204" pitchFamily="34" charset="-122"/>
              </a:rPr>
              <a:t>TALE蛋白DNA结合结构域</a:t>
            </a:r>
            <a:r>
              <a:rPr sz="2000" b="1" dirty="0" err="1">
                <a:latin typeface="微软雅黑" panose="020B0503020204020204" pitchFamily="34" charset="-122"/>
                <a:ea typeface="微软雅黑" panose="020B0503020204020204" pitchFamily="34" charset="-122"/>
              </a:rPr>
              <a:t>同Ⅱ型限制性内切酶</a:t>
            </a:r>
            <a:r>
              <a:rPr sz="2000" b="1" i="1" dirty="0" err="1">
                <a:latin typeface="微软雅黑" panose="020B0503020204020204" pitchFamily="34" charset="-122"/>
                <a:ea typeface="微软雅黑" panose="020B0503020204020204" pitchFamily="34" charset="-122"/>
              </a:rPr>
              <a:t>Fok</a:t>
            </a:r>
            <a:r>
              <a:rPr sz="2000" b="1" dirty="0">
                <a:latin typeface="微软雅黑" panose="020B0503020204020204" pitchFamily="34" charset="-122"/>
                <a:ea typeface="微软雅黑" panose="020B0503020204020204" pitchFamily="34" charset="-122"/>
              </a:rPr>
              <a:t> I </a:t>
            </a:r>
            <a:r>
              <a:rPr sz="2000" dirty="0" err="1">
                <a:latin typeface="微软雅黑" panose="020B0503020204020204" pitchFamily="34" charset="-122"/>
                <a:ea typeface="微软雅黑" panose="020B0503020204020204" pitchFamily="34" charset="-122"/>
              </a:rPr>
              <a:t>的切割结构域串联形成</a:t>
            </a:r>
            <a:r>
              <a:rPr sz="2000" b="1" dirty="0" err="1">
                <a:latin typeface="微软雅黑" panose="020B0503020204020204" pitchFamily="34" charset="-122"/>
                <a:ea typeface="微软雅黑" panose="020B0503020204020204" pitchFamily="34" charset="-122"/>
              </a:rPr>
              <a:t>人工锌指核酸酶</a:t>
            </a:r>
            <a:r>
              <a:rPr lang="zh-CN" altLang="en-US" sz="2000" dirty="0">
                <a:latin typeface="微软雅黑" panose="020B0503020204020204" pitchFamily="34" charset="-122"/>
                <a:ea typeface="微软雅黑" panose="020B0503020204020204" pitchFamily="34" charset="-122"/>
              </a:rPr>
              <a:t>。</a:t>
            </a:r>
          </a:p>
          <a:p>
            <a:pPr>
              <a:lnSpc>
                <a:spcPct val="200000"/>
              </a:lnSpc>
            </a:pPr>
            <a:r>
              <a:rPr lang="zh-CN" altLang="en-US" sz="2000" dirty="0">
                <a:latin typeface="微软雅黑" panose="020B0503020204020204" pitchFamily="34" charset="-122"/>
                <a:ea typeface="微软雅黑" panose="020B0503020204020204" pitchFamily="34" charset="-122"/>
              </a:rPr>
              <a:t>DNA功能：</a:t>
            </a:r>
            <a:r>
              <a:rPr lang="en-US" altLang="zh-CN" sz="2000" dirty="0">
                <a:latin typeface="微软雅黑" panose="020B0503020204020204" pitchFamily="34" charset="-122"/>
                <a:ea typeface="微软雅黑" panose="020B0503020204020204" pitchFamily="34" charset="-122"/>
              </a:rPr>
              <a:t>由</a:t>
            </a:r>
            <a:r>
              <a:rPr lang="zh-CN" altLang="en-US" sz="2000" b="1" dirty="0">
                <a:latin typeface="微软雅黑" panose="020B0503020204020204" pitchFamily="34" charset="-122"/>
                <a:ea typeface="微软雅黑" panose="020B0503020204020204" pitchFamily="34" charset="-122"/>
              </a:rPr>
              <a:t> TALE蛋白提供</a:t>
            </a:r>
            <a:r>
              <a:rPr lang="en-US" altLang="zh-CN" sz="2000" dirty="0">
                <a:latin typeface="微软雅黑" panose="020B0503020204020204" pitchFamily="34" charset="-122"/>
                <a:ea typeface="微软雅黑" panose="020B0503020204020204" pitchFamily="34" charset="-122"/>
              </a:rPr>
              <a:t>。</a:t>
            </a:r>
          </a:p>
          <a:p>
            <a:pPr>
              <a:lnSpc>
                <a:spcPct val="200000"/>
              </a:lnSpc>
            </a:pPr>
            <a:r>
              <a:rPr lang="zh-CN" altLang="en-US" sz="2000" dirty="0">
                <a:latin typeface="微软雅黑" panose="020B0503020204020204" pitchFamily="34" charset="-122"/>
                <a:ea typeface="微软雅黑" panose="020B0503020204020204" pitchFamily="34" charset="-122"/>
              </a:rPr>
              <a:t>DNA剪切域：由</a:t>
            </a:r>
            <a:r>
              <a:rPr lang="zh-CN" altLang="en-US" sz="2000" b="1" dirty="0">
                <a:latin typeface="微软雅黑" panose="020B0503020204020204" pitchFamily="34" charset="-122"/>
                <a:ea typeface="微软雅黑" panose="020B0503020204020204" pitchFamily="34" charset="-122"/>
              </a:rPr>
              <a:t>非特异性核酸内切酶</a:t>
            </a:r>
            <a:r>
              <a:rPr lang="zh-CN" altLang="en-US" sz="2000" b="1" i="1" dirty="0">
                <a:latin typeface="微软雅黑" panose="020B0503020204020204" pitchFamily="34" charset="-122"/>
                <a:ea typeface="微软雅黑" panose="020B0503020204020204" pitchFamily="34" charset="-122"/>
              </a:rPr>
              <a:t>Fok</a:t>
            </a:r>
            <a:r>
              <a:rPr lang="zh-CN" altLang="en-US" sz="2000" b="1" dirty="0">
                <a:latin typeface="微软雅黑" panose="020B0503020204020204" pitchFamily="34" charset="-122"/>
                <a:ea typeface="微软雅黑" panose="020B0503020204020204" pitchFamily="34" charset="-122"/>
              </a:rPr>
              <a:t>Ⅰ的切割亚基</a:t>
            </a:r>
            <a:r>
              <a:rPr lang="zh-CN" altLang="en-US" sz="2000" dirty="0">
                <a:latin typeface="微软雅黑" panose="020B0503020204020204" pitchFamily="34" charset="-122"/>
                <a:ea typeface="微软雅黑" panose="020B0503020204020204" pitchFamily="34" charset="-122"/>
              </a:rPr>
              <a:t>提供。</a:t>
            </a:r>
          </a:p>
        </p:txBody>
      </p:sp>
      <p:sp>
        <p:nvSpPr>
          <p:cNvPr id="3" name="文本框 2">
            <a:extLst>
              <a:ext uri="{FF2B5EF4-FFF2-40B4-BE49-F238E27FC236}">
                <a16:creationId xmlns:a16="http://schemas.microsoft.com/office/drawing/2014/main" id="{2EA0EFAB-C6F1-DF5A-BBEF-54615FCCB71C}"/>
              </a:ext>
            </a:extLst>
          </p:cNvPr>
          <p:cNvSpPr txBox="1"/>
          <p:nvPr>
            <p:custDataLst>
              <p:tags r:id="rId1"/>
            </p:custDataLst>
          </p:nvPr>
        </p:nvSpPr>
        <p:spPr>
          <a:xfrm>
            <a:off x="393799" y="1003519"/>
            <a:ext cx="904914" cy="400110"/>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sz="2000" b="1" dirty="0">
                <a:latin typeface="微软雅黑" panose="020B0503020204020204" pitchFamily="34" charset="-122"/>
                <a:ea typeface="微软雅黑" panose="020B0503020204020204" pitchFamily="34" charset="-122"/>
                <a:cs typeface="Arial" panose="020B0604020202020204" pitchFamily="34" charset="0"/>
              </a:rPr>
              <a:t>概念</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632CF-8726-3B75-7D0B-7E452092A9A1}"/>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96093D82-660B-1A40-5EFA-3764ABEC6DCD}"/>
              </a:ext>
            </a:extLst>
          </p:cNvPr>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CB65C7A5-BD54-FAB4-75CF-D3CFE453272B}"/>
              </a:ext>
            </a:extLst>
          </p:cNvPr>
          <p:cNvSpPr txBox="1"/>
          <p:nvPr/>
        </p:nvSpPr>
        <p:spPr>
          <a:xfrm>
            <a:off x="0" y="0"/>
            <a:ext cx="12192000" cy="583565"/>
          </a:xfrm>
          <a:prstGeom prst="rect">
            <a:avLst/>
          </a:prstGeom>
          <a:noFill/>
        </p:spPr>
        <p:txBody>
          <a:bodyPr wrap="square" rtlCol="0">
            <a:spAutoFit/>
          </a:bodyPr>
          <a:lstStyle/>
          <a:p>
            <a:pPr algn="ctr"/>
            <a:r>
              <a:rPr 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TALE</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蛋白的发现</a:t>
            </a:r>
          </a:p>
        </p:txBody>
      </p:sp>
      <p:sp>
        <p:nvSpPr>
          <p:cNvPr id="2" name="箭头: 下 1">
            <a:extLst>
              <a:ext uri="{FF2B5EF4-FFF2-40B4-BE49-F238E27FC236}">
                <a16:creationId xmlns:a16="http://schemas.microsoft.com/office/drawing/2014/main" id="{3BAAD4F9-A45F-8C2D-CF42-BB908F0829C9}"/>
              </a:ext>
            </a:extLst>
          </p:cNvPr>
          <p:cNvSpPr/>
          <p:nvPr/>
        </p:nvSpPr>
        <p:spPr>
          <a:xfrm>
            <a:off x="390525" y="1066800"/>
            <a:ext cx="434975" cy="5549900"/>
          </a:xfrm>
          <a:prstGeom prst="downArrow">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a:extLst>
              <a:ext uri="{FF2B5EF4-FFF2-40B4-BE49-F238E27FC236}">
                <a16:creationId xmlns:a16="http://schemas.microsoft.com/office/drawing/2014/main" id="{0EC4553E-05FE-1D74-825E-650207CA6116}"/>
              </a:ext>
            </a:extLst>
          </p:cNvPr>
          <p:cNvSpPr txBox="1"/>
          <p:nvPr/>
        </p:nvSpPr>
        <p:spPr>
          <a:xfrm>
            <a:off x="850900" y="1021834"/>
            <a:ext cx="11010900" cy="873957"/>
          </a:xfrm>
          <a:prstGeom prst="rect">
            <a:avLst/>
          </a:prstGeom>
          <a:noFill/>
        </p:spPr>
        <p:txBody>
          <a:bodyPr wrap="square">
            <a:spAutoFit/>
          </a:bodyPr>
          <a:lstStyle/>
          <a:p>
            <a:pPr>
              <a:lnSpc>
                <a:spcPct val="150000"/>
              </a:lnSpc>
            </a:pPr>
            <a:r>
              <a:rPr lang="zh-CN" altLang="en-US" b="1" dirty="0">
                <a:latin typeface="Arial" panose="020B0604020202020204" pitchFamily="34" charset="0"/>
                <a:ea typeface="微软雅黑" panose="020B0503020204020204" pitchFamily="34" charset="-122"/>
                <a:cs typeface="Arial" panose="020B0604020202020204" pitchFamily="34" charset="0"/>
              </a:rPr>
              <a:t>19</a:t>
            </a:r>
            <a:r>
              <a:rPr lang="en-US" altLang="zh-CN" b="1" dirty="0">
                <a:latin typeface="Arial" panose="020B0604020202020204" pitchFamily="34" charset="0"/>
                <a:ea typeface="微软雅黑" panose="020B0503020204020204" pitchFamily="34" charset="-122"/>
                <a:cs typeface="Arial" panose="020B0604020202020204" pitchFamily="34" charset="0"/>
              </a:rPr>
              <a:t>9</a:t>
            </a:r>
            <a:r>
              <a:rPr lang="zh-CN" altLang="en-US" b="1" dirty="0">
                <a:latin typeface="Arial" panose="020B0604020202020204" pitchFamily="34" charset="0"/>
                <a:ea typeface="微软雅黑" panose="020B0503020204020204" pitchFamily="34" charset="-122"/>
                <a:cs typeface="Arial" panose="020B0604020202020204" pitchFamily="34" charset="0"/>
              </a:rPr>
              <a:t>8首次发现</a:t>
            </a:r>
            <a:r>
              <a:rPr lang="zh-CN" altLang="en-US" dirty="0">
                <a:latin typeface="Arial" panose="020B0604020202020204" pitchFamily="34" charset="0"/>
                <a:ea typeface="微软雅黑" panose="020B0503020204020204" pitchFamily="34" charset="-122"/>
                <a:cs typeface="Arial" panose="020B0604020202020204" pitchFamily="34" charset="0"/>
              </a:rPr>
              <a:t>，植物病原菌黄单胞杆菌（</a:t>
            </a:r>
            <a:r>
              <a:rPr lang="en-US" altLang="zh-CN" dirty="0">
                <a:latin typeface="Arial" panose="020B0604020202020204" pitchFamily="34" charset="0"/>
                <a:ea typeface="微软雅黑" panose="020B0503020204020204" pitchFamily="34" charset="-122"/>
                <a:cs typeface="Arial" panose="020B0604020202020204" pitchFamily="34" charset="0"/>
              </a:rPr>
              <a:t>Xanthomonas</a:t>
            </a:r>
            <a:r>
              <a:rPr lang="zh-CN" altLang="en-US" dirty="0">
                <a:latin typeface="Arial" panose="020B0604020202020204" pitchFamily="34" charset="0"/>
                <a:ea typeface="微软雅黑" panose="020B0503020204020204" pitchFamily="34" charset="-122"/>
                <a:cs typeface="Arial" panose="020B0604020202020204" pitchFamily="34" charset="0"/>
              </a:rPr>
              <a:t>）的过程中被发现的。感染多种植物并引起严重的病害。在感染过程中，通过</a:t>
            </a:r>
            <a:r>
              <a:rPr lang="en-US" altLang="zh-CN" b="1" dirty="0">
                <a:solidFill>
                  <a:srgbClr val="FF0000"/>
                </a:solidFill>
                <a:latin typeface="Arial" panose="020B0604020202020204" pitchFamily="34" charset="0"/>
                <a:ea typeface="微软雅黑" panose="020B0503020204020204" pitchFamily="34" charset="-122"/>
                <a:cs typeface="Arial" panose="020B0604020202020204" pitchFamily="34" charset="0"/>
              </a:rPr>
              <a:t>III</a:t>
            </a:r>
            <a:r>
              <a:rPr lang="zh-CN" altLang="en-US" b="1" dirty="0">
                <a:solidFill>
                  <a:srgbClr val="FF0000"/>
                </a:solidFill>
                <a:latin typeface="Arial" panose="020B0604020202020204" pitchFamily="34" charset="0"/>
                <a:ea typeface="微软雅黑" panose="020B0503020204020204" pitchFamily="34" charset="-122"/>
                <a:cs typeface="Arial" panose="020B0604020202020204" pitchFamily="34" charset="0"/>
              </a:rPr>
              <a:t>型分泌系统将多种效应蛋白注入植物细胞内，其中就包括</a:t>
            </a:r>
            <a:r>
              <a:rPr lang="en-US" altLang="zh-CN" b="1" dirty="0">
                <a:solidFill>
                  <a:srgbClr val="FF0000"/>
                </a:solidFill>
                <a:latin typeface="Arial" panose="020B0604020202020204" pitchFamily="34" charset="0"/>
                <a:ea typeface="微软雅黑" panose="020B0503020204020204" pitchFamily="34" charset="-122"/>
                <a:cs typeface="Arial" panose="020B0604020202020204" pitchFamily="34" charset="0"/>
              </a:rPr>
              <a:t>TALE</a:t>
            </a:r>
            <a:r>
              <a:rPr lang="zh-CN" altLang="en-US" b="1" dirty="0">
                <a:solidFill>
                  <a:srgbClr val="FF0000"/>
                </a:solidFill>
                <a:latin typeface="Arial" panose="020B0604020202020204" pitchFamily="34" charset="0"/>
                <a:ea typeface="微软雅黑" panose="020B0503020204020204" pitchFamily="34" charset="-122"/>
                <a:cs typeface="Arial" panose="020B0604020202020204" pitchFamily="34" charset="0"/>
              </a:rPr>
              <a:t>蛋白</a:t>
            </a:r>
            <a:r>
              <a:rPr lang="zh-CN" altLang="en-US" dirty="0">
                <a:latin typeface="Arial" panose="020B0604020202020204" pitchFamily="34" charset="0"/>
                <a:ea typeface="微软雅黑" panose="020B0503020204020204" pitchFamily="34" charset="-122"/>
                <a:cs typeface="Arial" panose="020B0604020202020204" pitchFamily="34" charset="0"/>
              </a:rPr>
              <a:t>。</a:t>
            </a:r>
          </a:p>
        </p:txBody>
      </p:sp>
      <p:sp>
        <p:nvSpPr>
          <p:cNvPr id="10" name="文本框 9">
            <a:extLst>
              <a:ext uri="{FF2B5EF4-FFF2-40B4-BE49-F238E27FC236}">
                <a16:creationId xmlns:a16="http://schemas.microsoft.com/office/drawing/2014/main" id="{E8F90E6B-780B-D00B-D896-770392988F3A}"/>
              </a:ext>
            </a:extLst>
          </p:cNvPr>
          <p:cNvSpPr txBox="1"/>
          <p:nvPr/>
        </p:nvSpPr>
        <p:spPr>
          <a:xfrm>
            <a:off x="854266" y="2335391"/>
            <a:ext cx="11010900" cy="2118529"/>
          </a:xfrm>
          <a:prstGeom prst="rect">
            <a:avLst/>
          </a:prstGeom>
          <a:noFill/>
        </p:spPr>
        <p:txBody>
          <a:bodyPr wrap="square">
            <a:spAutoFit/>
          </a:bodyPr>
          <a:lstStyle/>
          <a:p>
            <a:pPr algn="just">
              <a:lnSpc>
                <a:spcPct val="150000"/>
              </a:lnSpc>
            </a:pPr>
            <a:r>
              <a:rPr lang="en-US" altLang="zh-CN" b="1" dirty="0">
                <a:latin typeface="Arial" panose="020B0604020202020204" pitchFamily="34" charset="0"/>
                <a:ea typeface="微软雅黑" panose="020B0503020204020204" pitchFamily="34" charset="-122"/>
                <a:cs typeface="Arial" panose="020B0604020202020204" pitchFamily="34" charset="0"/>
              </a:rPr>
              <a:t>2009 </a:t>
            </a:r>
            <a:r>
              <a:rPr lang="zh-CN" altLang="en-US" b="1" dirty="0">
                <a:latin typeface="Arial" panose="020B0604020202020204" pitchFamily="34" charset="0"/>
                <a:ea typeface="微软雅黑" panose="020B0503020204020204" pitchFamily="34" charset="-122"/>
                <a:cs typeface="Arial" panose="020B0604020202020204" pitchFamily="34" charset="0"/>
              </a:rPr>
              <a:t>年，</a:t>
            </a:r>
            <a:r>
              <a:rPr lang="zh-CN" altLang="en-US" dirty="0">
                <a:latin typeface="Arial" panose="020B0604020202020204" pitchFamily="34" charset="0"/>
                <a:ea typeface="微软雅黑" panose="020B0503020204020204" pitchFamily="34" charset="-122"/>
                <a:cs typeface="Arial" panose="020B0604020202020204" pitchFamily="34" charset="0"/>
              </a:rPr>
              <a:t>在 </a:t>
            </a:r>
            <a:r>
              <a:rPr lang="en-US" altLang="zh-CN" dirty="0">
                <a:latin typeface="Arial" panose="020B0604020202020204" pitchFamily="34" charset="0"/>
                <a:ea typeface="微软雅黑" panose="020B0503020204020204" pitchFamily="34" charset="-122"/>
                <a:cs typeface="Arial" panose="020B0604020202020204" pitchFamily="34" charset="0"/>
              </a:rPr>
              <a:t>Science </a:t>
            </a:r>
            <a:r>
              <a:rPr lang="zh-CN" altLang="en-US" dirty="0">
                <a:latin typeface="Arial" panose="020B0604020202020204" pitchFamily="34" charset="0"/>
                <a:ea typeface="微软雅黑" panose="020B0503020204020204" pitchFamily="34" charset="-122"/>
                <a:cs typeface="Arial" panose="020B0604020202020204" pitchFamily="34" charset="0"/>
              </a:rPr>
              <a:t>杂志上报道了 </a:t>
            </a:r>
            <a:r>
              <a:rPr lang="en-US" altLang="zh-CN" dirty="0">
                <a:latin typeface="Arial" panose="020B0604020202020204" pitchFamily="34" charset="0"/>
                <a:ea typeface="微软雅黑" panose="020B0503020204020204" pitchFamily="34" charset="-122"/>
                <a:cs typeface="Arial" panose="020B0604020202020204" pitchFamily="34" charset="0"/>
              </a:rPr>
              <a:t>TALE </a:t>
            </a:r>
            <a:r>
              <a:rPr lang="zh-CN" altLang="en-US" dirty="0">
                <a:latin typeface="Arial" panose="020B0604020202020204" pitchFamily="34" charset="0"/>
                <a:ea typeface="微软雅黑" panose="020B0503020204020204" pitchFamily="34" charset="-122"/>
                <a:cs typeface="Arial" panose="020B0604020202020204" pitchFamily="34" charset="0"/>
              </a:rPr>
              <a:t>蛋白能特异性地识别 </a:t>
            </a:r>
            <a:r>
              <a:rPr lang="en-US" altLang="zh-CN" dirty="0">
                <a:latin typeface="Arial" panose="020B0604020202020204" pitchFamily="34" charset="0"/>
                <a:ea typeface="微软雅黑" panose="020B0503020204020204" pitchFamily="34" charset="-122"/>
                <a:cs typeface="Arial" panose="020B0604020202020204" pitchFamily="34" charset="0"/>
              </a:rPr>
              <a:t>DNA </a:t>
            </a:r>
            <a:r>
              <a:rPr lang="zh-CN" altLang="en-US" dirty="0">
                <a:latin typeface="Arial" panose="020B0604020202020204" pitchFamily="34" charset="0"/>
                <a:ea typeface="微软雅黑" panose="020B0503020204020204" pitchFamily="34" charset="-122"/>
                <a:cs typeface="Arial" panose="020B0604020202020204" pitchFamily="34" charset="0"/>
              </a:rPr>
              <a:t>序列，并破译了 </a:t>
            </a:r>
            <a:r>
              <a:rPr lang="en-US" altLang="zh-CN" dirty="0">
                <a:latin typeface="Arial" panose="020B0604020202020204" pitchFamily="34" charset="0"/>
                <a:ea typeface="微软雅黑" panose="020B0503020204020204" pitchFamily="34" charset="-122"/>
                <a:cs typeface="Arial" panose="020B0604020202020204" pitchFamily="34" charset="0"/>
              </a:rPr>
              <a:t>TALE </a:t>
            </a:r>
            <a:r>
              <a:rPr lang="zh-CN" altLang="en-US" dirty="0">
                <a:latin typeface="Arial" panose="020B0604020202020204" pitchFamily="34" charset="0"/>
                <a:ea typeface="微软雅黑" panose="020B0503020204020204" pitchFamily="34" charset="-122"/>
                <a:cs typeface="Arial" panose="020B0604020202020204" pitchFamily="34" charset="0"/>
              </a:rPr>
              <a:t>蛋白与 </a:t>
            </a:r>
            <a:r>
              <a:rPr lang="en-US" altLang="zh-CN" dirty="0">
                <a:latin typeface="Arial" panose="020B0604020202020204" pitchFamily="34" charset="0"/>
                <a:ea typeface="微软雅黑" panose="020B0503020204020204" pitchFamily="34" charset="-122"/>
                <a:cs typeface="Arial" panose="020B0604020202020204" pitchFamily="34" charset="0"/>
              </a:rPr>
              <a:t>DNA </a:t>
            </a:r>
            <a:r>
              <a:rPr lang="zh-CN" altLang="en-US" dirty="0">
                <a:latin typeface="Arial" panose="020B0604020202020204" pitchFamily="34" charset="0"/>
                <a:ea typeface="微软雅黑" panose="020B0503020204020204" pitchFamily="34" charset="-122"/>
                <a:cs typeface="Arial" panose="020B0604020202020204" pitchFamily="34" charset="0"/>
              </a:rPr>
              <a:t>碱基识别的密码。</a:t>
            </a:r>
            <a:r>
              <a:rPr lang="en-US" altLang="zh-CN" dirty="0">
                <a:latin typeface="Arial" panose="020B0604020202020204" pitchFamily="34" charset="0"/>
                <a:ea typeface="微软雅黑" panose="020B0503020204020204" pitchFamily="34" charset="-122"/>
                <a:cs typeface="Arial" panose="020B0604020202020204" pitchFamily="34" charset="0"/>
              </a:rPr>
              <a:t>	TALE</a:t>
            </a:r>
            <a:r>
              <a:rPr lang="zh-CN" altLang="en-US" dirty="0">
                <a:latin typeface="Arial" panose="020B0604020202020204" pitchFamily="34" charset="0"/>
                <a:ea typeface="微软雅黑" panose="020B0503020204020204" pitchFamily="34" charset="-122"/>
                <a:cs typeface="Arial" panose="020B0604020202020204" pitchFamily="34" charset="0"/>
              </a:rPr>
              <a:t>蛋白与植物的转录激活因子类似，能够通过</a:t>
            </a:r>
            <a:r>
              <a:rPr lang="en-US" altLang="zh-CN" dirty="0">
                <a:latin typeface="Arial" panose="020B0604020202020204" pitchFamily="34" charset="0"/>
                <a:ea typeface="微软雅黑" panose="020B0503020204020204" pitchFamily="34" charset="-122"/>
                <a:cs typeface="Arial" panose="020B0604020202020204" pitchFamily="34" charset="0"/>
              </a:rPr>
              <a:t>III</a:t>
            </a:r>
            <a:r>
              <a:rPr lang="zh-CN" altLang="en-US" dirty="0">
                <a:latin typeface="Arial" panose="020B0604020202020204" pitchFamily="34" charset="0"/>
                <a:ea typeface="微软雅黑" panose="020B0503020204020204" pitchFamily="34" charset="-122"/>
                <a:cs typeface="Arial" panose="020B0604020202020204" pitchFamily="34" charset="0"/>
              </a:rPr>
              <a:t>型分泌系统注入宿主植物细胞并穿透核膜进入</a:t>
            </a:r>
            <a:r>
              <a:rPr lang="zh-CN" altLang="en-US" b="1" dirty="0">
                <a:solidFill>
                  <a:srgbClr val="FF0000"/>
                </a:solidFill>
                <a:latin typeface="Arial" panose="020B0604020202020204" pitchFamily="34" charset="0"/>
                <a:ea typeface="微软雅黑" panose="020B0503020204020204" pitchFamily="34" charset="-122"/>
                <a:cs typeface="Arial" panose="020B0604020202020204" pitchFamily="34" charset="0"/>
              </a:rPr>
              <a:t>细胞核</a:t>
            </a:r>
            <a:r>
              <a:rPr lang="zh-CN" altLang="en-US" dirty="0">
                <a:latin typeface="Arial" panose="020B0604020202020204" pitchFamily="34" charset="0"/>
                <a:ea typeface="微软雅黑" panose="020B0503020204020204" pitchFamily="34" charset="-122"/>
                <a:cs typeface="Arial" panose="020B0604020202020204" pitchFamily="34" charset="0"/>
              </a:rPr>
              <a:t>。在细胞核内，</a:t>
            </a:r>
            <a:r>
              <a:rPr lang="en-US" altLang="zh-CN" dirty="0">
                <a:latin typeface="Arial" panose="020B0604020202020204" pitchFamily="34" charset="0"/>
                <a:ea typeface="微软雅黑" panose="020B0503020204020204" pitchFamily="34" charset="-122"/>
                <a:cs typeface="Arial" panose="020B0604020202020204" pitchFamily="34" charset="0"/>
              </a:rPr>
              <a:t>TALE</a:t>
            </a:r>
            <a:r>
              <a:rPr lang="zh-CN" altLang="en-US" dirty="0">
                <a:latin typeface="Arial" panose="020B0604020202020204" pitchFamily="34" charset="0"/>
                <a:ea typeface="微软雅黑" panose="020B0503020204020204" pitchFamily="34" charset="-122"/>
                <a:cs typeface="Arial" panose="020B0604020202020204" pitchFamily="34" charset="0"/>
              </a:rPr>
              <a:t>蛋白能够识别并结合植物基因组</a:t>
            </a:r>
            <a:r>
              <a:rPr lang="en-US" altLang="zh-CN" dirty="0">
                <a:latin typeface="Arial" panose="020B0604020202020204" pitchFamily="34" charset="0"/>
                <a:ea typeface="微软雅黑" panose="020B0503020204020204" pitchFamily="34" charset="-122"/>
                <a:cs typeface="Arial" panose="020B0604020202020204" pitchFamily="34" charset="0"/>
              </a:rPr>
              <a:t>DNA</a:t>
            </a:r>
            <a:r>
              <a:rPr lang="zh-CN" altLang="en-US" dirty="0">
                <a:latin typeface="Arial" panose="020B0604020202020204" pitchFamily="34" charset="0"/>
                <a:ea typeface="微软雅黑" panose="020B0503020204020204" pitchFamily="34" charset="-122"/>
                <a:cs typeface="Arial" panose="020B0604020202020204" pitchFamily="34" charset="0"/>
              </a:rPr>
              <a:t>的特定位点，激活特定基因的表达，从而提高植物的易感性。</a:t>
            </a:r>
          </a:p>
          <a:p>
            <a:pPr algn="just">
              <a:lnSpc>
                <a:spcPct val="150000"/>
              </a:lnSpc>
            </a:pPr>
            <a:endParaRPr lang="zh-CN" altLang="en-US" dirty="0">
              <a:latin typeface="Arial" panose="020B0604020202020204" pitchFamily="34" charset="0"/>
              <a:ea typeface="微软雅黑" panose="020B0503020204020204" pitchFamily="34" charset="-122"/>
              <a:cs typeface="Arial" panose="020B0604020202020204" pitchFamily="34" charset="0"/>
            </a:endParaRPr>
          </a:p>
        </p:txBody>
      </p:sp>
      <p:sp>
        <p:nvSpPr>
          <p:cNvPr id="14" name="文本框 13">
            <a:extLst>
              <a:ext uri="{FF2B5EF4-FFF2-40B4-BE49-F238E27FC236}">
                <a16:creationId xmlns:a16="http://schemas.microsoft.com/office/drawing/2014/main" id="{9BB41C8A-6847-042F-CC98-2BD7D0941895}"/>
              </a:ext>
            </a:extLst>
          </p:cNvPr>
          <p:cNvSpPr txBox="1"/>
          <p:nvPr/>
        </p:nvSpPr>
        <p:spPr>
          <a:xfrm>
            <a:off x="850900" y="4514334"/>
            <a:ext cx="11010900" cy="458459"/>
          </a:xfrm>
          <a:prstGeom prst="rect">
            <a:avLst/>
          </a:prstGeom>
          <a:noFill/>
        </p:spPr>
        <p:txBody>
          <a:bodyPr wrap="square">
            <a:spAutoFit/>
          </a:bodyPr>
          <a:lstStyle/>
          <a:p>
            <a:pPr>
              <a:lnSpc>
                <a:spcPct val="150000"/>
              </a:lnSpc>
            </a:pPr>
            <a:r>
              <a:rPr lang="en-US" altLang="zh-CN" b="1" dirty="0">
                <a:latin typeface="Arial" panose="020B0604020202020204" pitchFamily="34" charset="0"/>
                <a:ea typeface="微软雅黑" panose="020B0503020204020204" pitchFamily="34" charset="-122"/>
                <a:cs typeface="Arial" panose="020B0604020202020204" pitchFamily="34" charset="0"/>
              </a:rPr>
              <a:t>2010</a:t>
            </a:r>
            <a:r>
              <a:rPr lang="zh-CN" altLang="en-US" b="1" dirty="0">
                <a:latin typeface="Arial" panose="020B0604020202020204" pitchFamily="34" charset="0"/>
                <a:ea typeface="微软雅黑" panose="020B0503020204020204" pitchFamily="34" charset="-122"/>
                <a:cs typeface="Arial" panose="020B0604020202020204" pitchFamily="34" charset="0"/>
              </a:rPr>
              <a:t>年，</a:t>
            </a:r>
            <a:r>
              <a:rPr lang="en-US" altLang="zh-CN" dirty="0">
                <a:latin typeface="Arial" panose="020B0604020202020204" pitchFamily="34" charset="0"/>
                <a:ea typeface="微软雅黑" panose="020B0503020204020204" pitchFamily="34" charset="-122"/>
                <a:cs typeface="Arial" panose="020B0604020202020204" pitchFamily="34" charset="0"/>
              </a:rPr>
              <a:t>Christian </a:t>
            </a:r>
            <a:r>
              <a:rPr lang="zh-CN" altLang="en-US" dirty="0">
                <a:latin typeface="Arial" panose="020B0604020202020204" pitchFamily="34" charset="0"/>
                <a:ea typeface="微软雅黑" panose="020B0503020204020204" pitchFamily="34" charset="-122"/>
                <a:cs typeface="Arial" panose="020B0604020202020204" pitchFamily="34" charset="0"/>
              </a:rPr>
              <a:t>首次报道了 </a:t>
            </a:r>
            <a:r>
              <a:rPr lang="en-US" altLang="zh-CN" dirty="0">
                <a:latin typeface="Arial" panose="020B0604020202020204" pitchFamily="34" charset="0"/>
                <a:ea typeface="微软雅黑" panose="020B0503020204020204" pitchFamily="34" charset="-122"/>
                <a:cs typeface="Arial" panose="020B0604020202020204" pitchFamily="34" charset="0"/>
              </a:rPr>
              <a:t>TALE </a:t>
            </a:r>
            <a:r>
              <a:rPr lang="zh-CN" altLang="en-US" dirty="0">
                <a:latin typeface="Arial" panose="020B0604020202020204" pitchFamily="34" charset="0"/>
                <a:ea typeface="微软雅黑" panose="020B0503020204020204" pitchFamily="34" charset="-122"/>
                <a:cs typeface="Arial" panose="020B0604020202020204" pitchFamily="34" charset="0"/>
              </a:rPr>
              <a:t>与 </a:t>
            </a:r>
            <a:r>
              <a:rPr lang="en-US" altLang="zh-CN" i="1" dirty="0">
                <a:latin typeface="Arial" panose="020B0604020202020204" pitchFamily="34" charset="0"/>
                <a:ea typeface="微软雅黑" panose="020B0503020204020204" pitchFamily="34" charset="-122"/>
                <a:cs typeface="Arial" panose="020B0604020202020204" pitchFamily="34" charset="0"/>
              </a:rPr>
              <a:t>Fok</a:t>
            </a:r>
            <a:r>
              <a:rPr lang="en-US" altLang="zh-CN" dirty="0">
                <a:latin typeface="Arial" panose="020B0604020202020204" pitchFamily="34" charset="0"/>
                <a:ea typeface="微软雅黑" panose="020B0503020204020204" pitchFamily="34" charset="-122"/>
                <a:cs typeface="Arial" panose="020B0604020202020204" pitchFamily="34" charset="0"/>
              </a:rPr>
              <a:t> I</a:t>
            </a:r>
            <a:r>
              <a:rPr lang="zh-CN" altLang="en-US" dirty="0">
                <a:latin typeface="Arial" panose="020B0604020202020204" pitchFamily="34" charset="0"/>
                <a:ea typeface="微软雅黑" panose="020B0503020204020204" pitchFamily="34" charset="-122"/>
                <a:cs typeface="Arial" panose="020B0604020202020204" pitchFamily="34" charset="0"/>
              </a:rPr>
              <a:t>偶合形成 </a:t>
            </a:r>
            <a:r>
              <a:rPr lang="en-US" altLang="zh-CN" dirty="0">
                <a:latin typeface="Arial" panose="020B0604020202020204" pitchFamily="34" charset="0"/>
                <a:ea typeface="微软雅黑" panose="020B0503020204020204" pitchFamily="34" charset="-122"/>
                <a:cs typeface="Arial" panose="020B0604020202020204" pitchFamily="34" charset="0"/>
              </a:rPr>
              <a:t>TALEN</a:t>
            </a:r>
            <a:r>
              <a:rPr lang="zh-CN" altLang="en-US" dirty="0">
                <a:latin typeface="Arial" panose="020B0604020202020204" pitchFamily="34" charset="0"/>
                <a:ea typeface="微软雅黑" panose="020B0503020204020204" pitchFamily="34" charset="-122"/>
                <a:cs typeface="Arial" panose="020B0604020202020204" pitchFamily="34" charset="0"/>
              </a:rPr>
              <a:t>，并证明了其靶向切割能力。</a:t>
            </a:r>
          </a:p>
        </p:txBody>
      </p:sp>
      <p:sp>
        <p:nvSpPr>
          <p:cNvPr id="15" name="文本框 14">
            <a:extLst>
              <a:ext uri="{FF2B5EF4-FFF2-40B4-BE49-F238E27FC236}">
                <a16:creationId xmlns:a16="http://schemas.microsoft.com/office/drawing/2014/main" id="{2DAEF02B-EA4C-9C21-9A5A-E49DFB427D8A}"/>
              </a:ext>
            </a:extLst>
          </p:cNvPr>
          <p:cNvSpPr txBox="1"/>
          <p:nvPr/>
        </p:nvSpPr>
        <p:spPr>
          <a:xfrm>
            <a:off x="850900" y="5238234"/>
            <a:ext cx="11010900" cy="458459"/>
          </a:xfrm>
          <a:prstGeom prst="rect">
            <a:avLst/>
          </a:prstGeom>
          <a:noFill/>
        </p:spPr>
        <p:txBody>
          <a:bodyPr wrap="square">
            <a:spAutoFit/>
          </a:bodyPr>
          <a:lstStyle/>
          <a:p>
            <a:pPr>
              <a:lnSpc>
                <a:spcPct val="150000"/>
              </a:lnSpc>
            </a:pPr>
            <a:r>
              <a:rPr lang="en-US" altLang="zh-CN" b="1" dirty="0">
                <a:latin typeface="Arial" panose="020B0604020202020204" pitchFamily="34" charset="0"/>
                <a:ea typeface="微软雅黑" panose="020B0503020204020204" pitchFamily="34" charset="-122"/>
                <a:cs typeface="Arial" panose="020B0604020202020204" pitchFamily="34" charset="0"/>
              </a:rPr>
              <a:t>2012 </a:t>
            </a:r>
            <a:r>
              <a:rPr lang="zh-CN" altLang="en-US" b="1" dirty="0">
                <a:latin typeface="Arial" panose="020B0604020202020204" pitchFamily="34" charset="0"/>
                <a:ea typeface="微软雅黑" panose="020B0503020204020204" pitchFamily="34" charset="-122"/>
                <a:cs typeface="Arial" panose="020B0604020202020204" pitchFamily="34" charset="0"/>
              </a:rPr>
              <a:t>年，</a:t>
            </a:r>
            <a:r>
              <a:rPr lang="en-US" altLang="zh-CN" dirty="0">
                <a:latin typeface="Arial" panose="020B0604020202020204" pitchFamily="34" charset="0"/>
                <a:ea typeface="微软雅黑" panose="020B0503020204020204" pitchFamily="34" charset="-122"/>
                <a:cs typeface="Arial" panose="020B0604020202020204" pitchFamily="34" charset="0"/>
              </a:rPr>
              <a:t>TALE </a:t>
            </a:r>
            <a:r>
              <a:rPr lang="zh-CN" altLang="en-US" dirty="0">
                <a:latin typeface="Arial" panose="020B0604020202020204" pitchFamily="34" charset="0"/>
                <a:ea typeface="微软雅黑" panose="020B0503020204020204" pitchFamily="34" charset="-122"/>
                <a:cs typeface="Arial" panose="020B0604020202020204" pitchFamily="34" charset="0"/>
              </a:rPr>
              <a:t>蛋白特异识别 </a:t>
            </a:r>
            <a:r>
              <a:rPr lang="en-US" altLang="zh-CN" dirty="0">
                <a:latin typeface="Arial" panose="020B0604020202020204" pitchFamily="34" charset="0"/>
                <a:ea typeface="微软雅黑" panose="020B0503020204020204" pitchFamily="34" charset="-122"/>
                <a:cs typeface="Arial" panose="020B0604020202020204" pitchFamily="34" charset="0"/>
              </a:rPr>
              <a:t>DNA </a:t>
            </a:r>
            <a:r>
              <a:rPr lang="zh-CN" altLang="en-US" dirty="0">
                <a:latin typeface="Arial" panose="020B0604020202020204" pitchFamily="34" charset="0"/>
                <a:ea typeface="微软雅黑" panose="020B0503020204020204" pitchFamily="34" charset="-122"/>
                <a:cs typeface="Arial" panose="020B0604020202020204" pitchFamily="34" charset="0"/>
              </a:rPr>
              <a:t>序列的晶体结构又获得解析。</a:t>
            </a:r>
          </a:p>
        </p:txBody>
      </p:sp>
    </p:spTree>
    <p:extLst>
      <p:ext uri="{BB962C8B-B14F-4D97-AF65-F5344CB8AC3E}">
        <p14:creationId xmlns:p14="http://schemas.microsoft.com/office/powerpoint/2010/main" val="10638171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EBC0B-06D8-B198-190B-585FBF740009}"/>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04611CF1-598E-0611-B361-1DB9D3AE7457}"/>
              </a:ext>
            </a:extLst>
          </p:cNvPr>
          <p:cNvPicPr>
            <a:picLocks noChangeAspect="1"/>
          </p:cNvPicPr>
          <p:nvPr/>
        </p:nvPicPr>
        <p:blipFill>
          <a:blip r:embed="rId4">
            <a:extLst>
              <a:ext uri="{28A0092B-C50C-407E-A947-70E740481C1C}">
                <a14:useLocalDpi xmlns:a14="http://schemas.microsoft.com/office/drawing/2010/main" val="0"/>
              </a:ext>
            </a:extLst>
          </a:blip>
          <a:srcRect t="19598"/>
          <a:stretch/>
        </p:blipFill>
        <p:spPr>
          <a:xfrm>
            <a:off x="3219464" y="2363546"/>
            <a:ext cx="6651367" cy="3829169"/>
          </a:xfrm>
          <a:prstGeom prst="rect">
            <a:avLst/>
          </a:prstGeom>
        </p:spPr>
      </p:pic>
      <p:sp>
        <p:nvSpPr>
          <p:cNvPr id="5" name="矩形 4">
            <a:extLst>
              <a:ext uri="{FF2B5EF4-FFF2-40B4-BE49-F238E27FC236}">
                <a16:creationId xmlns:a16="http://schemas.microsoft.com/office/drawing/2014/main" id="{82380B50-1BB2-EF99-0496-AC2902B4FEC5}"/>
              </a:ext>
            </a:extLst>
          </p:cNvPr>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B17C9591-6E59-FB6F-3EC5-481342523AC3}"/>
              </a:ext>
            </a:extLst>
          </p:cNvPr>
          <p:cNvSpPr txBox="1"/>
          <p:nvPr/>
        </p:nvSpPr>
        <p:spPr>
          <a:xfrm>
            <a:off x="0" y="0"/>
            <a:ext cx="12192000" cy="583565"/>
          </a:xfrm>
          <a:prstGeom prst="rect">
            <a:avLst/>
          </a:prstGeom>
          <a:noFill/>
        </p:spPr>
        <p:txBody>
          <a:bodyPr wrap="square" rtlCol="0">
            <a:spAutoFit/>
          </a:bodyPr>
          <a:lstStyle/>
          <a:p>
            <a:pPr algn="ctr"/>
            <a:r>
              <a:rPr 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TALE</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蛋白识别</a:t>
            </a: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DNA</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的结构及其识别机制</a:t>
            </a:r>
          </a:p>
        </p:txBody>
      </p:sp>
      <p:sp>
        <p:nvSpPr>
          <p:cNvPr id="7" name="文本框 6">
            <a:extLst>
              <a:ext uri="{FF2B5EF4-FFF2-40B4-BE49-F238E27FC236}">
                <a16:creationId xmlns:a16="http://schemas.microsoft.com/office/drawing/2014/main" id="{2114519A-CC3C-9964-5926-F21686A1AAA5}"/>
              </a:ext>
            </a:extLst>
          </p:cNvPr>
          <p:cNvSpPr txBox="1"/>
          <p:nvPr>
            <p:custDataLst>
              <p:tags r:id="rId1"/>
            </p:custDataLst>
          </p:nvPr>
        </p:nvSpPr>
        <p:spPr>
          <a:xfrm>
            <a:off x="391287" y="886813"/>
            <a:ext cx="720174" cy="369332"/>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b="1" dirty="0">
                <a:latin typeface="微软雅黑" panose="020B0503020204020204" pitchFamily="34" charset="-122"/>
                <a:ea typeface="微软雅黑" panose="020B0503020204020204" pitchFamily="34" charset="-122"/>
                <a:cs typeface="Arial" panose="020B0604020202020204" pitchFamily="34" charset="0"/>
              </a:rPr>
              <a:t>结构</a:t>
            </a:r>
          </a:p>
        </p:txBody>
      </p:sp>
      <p:sp>
        <p:nvSpPr>
          <p:cNvPr id="9" name="文本框 8">
            <a:extLst>
              <a:ext uri="{FF2B5EF4-FFF2-40B4-BE49-F238E27FC236}">
                <a16:creationId xmlns:a16="http://schemas.microsoft.com/office/drawing/2014/main" id="{9050FF41-6DD1-8CB8-C500-151770523C54}"/>
              </a:ext>
            </a:extLst>
          </p:cNvPr>
          <p:cNvSpPr txBox="1"/>
          <p:nvPr/>
        </p:nvSpPr>
        <p:spPr>
          <a:xfrm>
            <a:off x="803728" y="1279742"/>
            <a:ext cx="10981872" cy="873957"/>
          </a:xfrm>
          <a:prstGeom prst="rect">
            <a:avLst/>
          </a:prstGeom>
          <a:noFill/>
        </p:spPr>
        <p:txBody>
          <a:bodyPr wrap="square">
            <a:spAutoFit/>
          </a:bodyPr>
          <a:lstStyle/>
          <a:p>
            <a:pPr>
              <a:lnSpc>
                <a:spcPct val="150000"/>
              </a:lnSpc>
            </a:pPr>
            <a:r>
              <a:rPr lang="zh-CN" altLang="en-US" dirty="0">
                <a:latin typeface="Arial" panose="020B0604020202020204" pitchFamily="34" charset="0"/>
                <a:ea typeface="微软雅黑" panose="020B0503020204020204" pitchFamily="34" charset="-122"/>
                <a:cs typeface="Arial" panose="020B0604020202020204" pitchFamily="34" charset="0"/>
              </a:rPr>
              <a:t>包括</a:t>
            </a:r>
            <a:r>
              <a:rPr lang="en-US" altLang="zh-CN" dirty="0">
                <a:latin typeface="Arial" panose="020B0604020202020204" pitchFamily="34" charset="0"/>
                <a:ea typeface="微软雅黑" panose="020B0503020204020204" pitchFamily="34" charset="-122"/>
                <a:cs typeface="Arial" panose="020B0604020202020204" pitchFamily="34" charset="0"/>
              </a:rPr>
              <a:t>N</a:t>
            </a:r>
            <a:r>
              <a:rPr lang="zh-CN" altLang="en-US" dirty="0">
                <a:latin typeface="Arial" panose="020B0604020202020204" pitchFamily="34" charset="0"/>
                <a:ea typeface="微软雅黑" panose="020B0503020204020204" pitchFamily="34" charset="-122"/>
                <a:cs typeface="Arial" panose="020B0604020202020204" pitchFamily="34" charset="0"/>
              </a:rPr>
              <a:t>端分泌信号、中央</a:t>
            </a:r>
            <a:r>
              <a:rPr lang="en-US" altLang="zh-CN" dirty="0">
                <a:latin typeface="Arial" panose="020B0604020202020204" pitchFamily="34" charset="0"/>
                <a:ea typeface="微软雅黑" panose="020B0503020204020204" pitchFamily="34" charset="-122"/>
                <a:cs typeface="Arial" panose="020B0604020202020204" pitchFamily="34" charset="0"/>
              </a:rPr>
              <a:t>DNA</a:t>
            </a:r>
            <a:r>
              <a:rPr lang="zh-CN" altLang="en-US" dirty="0">
                <a:latin typeface="Arial" panose="020B0604020202020204" pitchFamily="34" charset="0"/>
                <a:ea typeface="微软雅黑" panose="020B0503020204020204" pitchFamily="34" charset="-122"/>
                <a:cs typeface="Arial" panose="020B0604020202020204" pitchFamily="34" charset="0"/>
              </a:rPr>
              <a:t>结合域、核定位信号和</a:t>
            </a:r>
            <a:r>
              <a:rPr lang="en-US" altLang="zh-CN" dirty="0">
                <a:latin typeface="Arial" panose="020B0604020202020204" pitchFamily="34" charset="0"/>
                <a:ea typeface="微软雅黑" panose="020B0503020204020204" pitchFamily="34" charset="-122"/>
                <a:cs typeface="Arial" panose="020B0604020202020204" pitchFamily="34" charset="0"/>
              </a:rPr>
              <a:t>C</a:t>
            </a:r>
            <a:r>
              <a:rPr lang="zh-CN" altLang="en-US" dirty="0">
                <a:latin typeface="Arial" panose="020B0604020202020204" pitchFamily="34" charset="0"/>
                <a:ea typeface="微软雅黑" panose="020B0503020204020204" pitchFamily="34" charset="-122"/>
                <a:cs typeface="Arial" panose="020B0604020202020204" pitchFamily="34" charset="0"/>
              </a:rPr>
              <a:t>端激活域。其中，中央</a:t>
            </a:r>
            <a:r>
              <a:rPr lang="en-US" altLang="zh-CN" dirty="0">
                <a:latin typeface="Arial" panose="020B0604020202020204" pitchFamily="34" charset="0"/>
                <a:ea typeface="微软雅黑" panose="020B0503020204020204" pitchFamily="34" charset="-122"/>
                <a:cs typeface="Arial" panose="020B0604020202020204" pitchFamily="34" charset="0"/>
              </a:rPr>
              <a:t>DNA</a:t>
            </a:r>
            <a:r>
              <a:rPr lang="zh-CN" altLang="en-US" dirty="0">
                <a:latin typeface="Arial" panose="020B0604020202020204" pitchFamily="34" charset="0"/>
                <a:ea typeface="微软雅黑" panose="020B0503020204020204" pitchFamily="34" charset="-122"/>
                <a:cs typeface="Arial" panose="020B0604020202020204" pitchFamily="34" charset="0"/>
              </a:rPr>
              <a:t>结合域是</a:t>
            </a:r>
            <a:r>
              <a:rPr lang="en-US" altLang="zh-CN" dirty="0">
                <a:latin typeface="Arial" panose="020B0604020202020204" pitchFamily="34" charset="0"/>
                <a:ea typeface="微软雅黑" panose="020B0503020204020204" pitchFamily="34" charset="-122"/>
                <a:cs typeface="Arial" panose="020B0604020202020204" pitchFamily="34" charset="0"/>
              </a:rPr>
              <a:t>TALE</a:t>
            </a:r>
            <a:r>
              <a:rPr lang="zh-CN" altLang="en-US" dirty="0">
                <a:latin typeface="Arial" panose="020B0604020202020204" pitchFamily="34" charset="0"/>
                <a:ea typeface="微软雅黑" panose="020B0503020204020204" pitchFamily="34" charset="-122"/>
                <a:cs typeface="Arial" panose="020B0604020202020204" pitchFamily="34" charset="0"/>
              </a:rPr>
              <a:t>蛋白最为关键的部分，它决定了</a:t>
            </a:r>
            <a:r>
              <a:rPr lang="en-US" altLang="zh-CN" dirty="0">
                <a:latin typeface="Arial" panose="020B0604020202020204" pitchFamily="34" charset="0"/>
                <a:ea typeface="微软雅黑" panose="020B0503020204020204" pitchFamily="34" charset="-122"/>
                <a:cs typeface="Arial" panose="020B0604020202020204" pitchFamily="34" charset="0"/>
              </a:rPr>
              <a:t>TALE</a:t>
            </a:r>
            <a:r>
              <a:rPr lang="zh-CN" altLang="en-US" dirty="0">
                <a:latin typeface="Arial" panose="020B0604020202020204" pitchFamily="34" charset="0"/>
                <a:ea typeface="微软雅黑" panose="020B0503020204020204" pitchFamily="34" charset="-122"/>
                <a:cs typeface="Arial" panose="020B0604020202020204" pitchFamily="34" charset="0"/>
              </a:rPr>
              <a:t>蛋白与</a:t>
            </a:r>
            <a:r>
              <a:rPr lang="en-US" altLang="zh-CN" dirty="0">
                <a:latin typeface="Arial" panose="020B0604020202020204" pitchFamily="34" charset="0"/>
                <a:ea typeface="微软雅黑" panose="020B0503020204020204" pitchFamily="34" charset="-122"/>
                <a:cs typeface="Arial" panose="020B0604020202020204" pitchFamily="34" charset="0"/>
              </a:rPr>
              <a:t>DNA</a:t>
            </a:r>
            <a:r>
              <a:rPr lang="zh-CN" altLang="en-US" dirty="0">
                <a:latin typeface="Arial" panose="020B0604020202020204" pitchFamily="34" charset="0"/>
                <a:ea typeface="微软雅黑" panose="020B0503020204020204" pitchFamily="34" charset="-122"/>
                <a:cs typeface="Arial" panose="020B0604020202020204" pitchFamily="34" charset="0"/>
              </a:rPr>
              <a:t>的特异性结合。</a:t>
            </a:r>
          </a:p>
        </p:txBody>
      </p:sp>
    </p:spTree>
    <p:extLst>
      <p:ext uri="{BB962C8B-B14F-4D97-AF65-F5344CB8AC3E}">
        <p14:creationId xmlns:p14="http://schemas.microsoft.com/office/powerpoint/2010/main" val="2857888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8993" y="70969"/>
            <a:ext cx="9774014" cy="6716062"/>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37E97-EF5E-1612-20C5-C8C6FE24C8C0}"/>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1D3D9DFD-FBC2-349A-415C-0A08806A119B}"/>
              </a:ext>
            </a:extLst>
          </p:cNvPr>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B27DDB53-0458-2361-132A-3FC1C880FA3B}"/>
              </a:ext>
            </a:extLst>
          </p:cNvPr>
          <p:cNvSpPr txBox="1"/>
          <p:nvPr/>
        </p:nvSpPr>
        <p:spPr>
          <a:xfrm>
            <a:off x="0" y="0"/>
            <a:ext cx="12192000" cy="583565"/>
          </a:xfrm>
          <a:prstGeom prst="rect">
            <a:avLst/>
          </a:prstGeom>
          <a:noFill/>
        </p:spPr>
        <p:txBody>
          <a:bodyPr wrap="square" rtlCol="0">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TALEN</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的工作机制</a:t>
            </a:r>
          </a:p>
        </p:txBody>
      </p:sp>
      <p:sp>
        <p:nvSpPr>
          <p:cNvPr id="7" name="文本框 6">
            <a:extLst>
              <a:ext uri="{FF2B5EF4-FFF2-40B4-BE49-F238E27FC236}">
                <a16:creationId xmlns:a16="http://schemas.microsoft.com/office/drawing/2014/main" id="{11FF22E3-582E-BECA-C051-419FA6AB0936}"/>
              </a:ext>
            </a:extLst>
          </p:cNvPr>
          <p:cNvSpPr txBox="1"/>
          <p:nvPr>
            <p:custDataLst>
              <p:tags r:id="rId1"/>
            </p:custDataLst>
          </p:nvPr>
        </p:nvSpPr>
        <p:spPr>
          <a:xfrm>
            <a:off x="426455" y="1015767"/>
            <a:ext cx="1156159" cy="369332"/>
          </a:xfrm>
          <a:prstGeom prst="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5400000" scaled="1"/>
            <a:tileRect/>
          </a:gradFill>
        </p:spPr>
        <p:txBody>
          <a:bodyPr wrap="square">
            <a:spAutoFit/>
          </a:bodyPr>
          <a:lstStyle/>
          <a:p>
            <a:r>
              <a:rPr lang="zh-CN" altLang="en-US" b="1" dirty="0">
                <a:latin typeface="微软雅黑" panose="020B0503020204020204" pitchFamily="34" charset="-122"/>
                <a:ea typeface="微软雅黑" panose="020B0503020204020204" pitchFamily="34" charset="-122"/>
                <a:cs typeface="Arial" panose="020B0604020202020204" pitchFamily="34" charset="0"/>
              </a:rPr>
              <a:t>工作机制</a:t>
            </a:r>
          </a:p>
        </p:txBody>
      </p:sp>
      <p:sp>
        <p:nvSpPr>
          <p:cNvPr id="9" name="文本框 8">
            <a:extLst>
              <a:ext uri="{FF2B5EF4-FFF2-40B4-BE49-F238E27FC236}">
                <a16:creationId xmlns:a16="http://schemas.microsoft.com/office/drawing/2014/main" id="{F993F6AD-3D97-C04A-0EFF-61A162129A4D}"/>
              </a:ext>
            </a:extLst>
          </p:cNvPr>
          <p:cNvSpPr txBox="1"/>
          <p:nvPr/>
        </p:nvSpPr>
        <p:spPr>
          <a:xfrm>
            <a:off x="803728" y="1479033"/>
            <a:ext cx="10981872" cy="873957"/>
          </a:xfrm>
          <a:prstGeom prst="rect">
            <a:avLst/>
          </a:prstGeom>
          <a:noFill/>
        </p:spPr>
        <p:txBody>
          <a:bodyPr wrap="square">
            <a:spAutoFit/>
          </a:bodyPr>
          <a:lstStyle/>
          <a:p>
            <a:pPr>
              <a:lnSpc>
                <a:spcPct val="150000"/>
              </a:lnSpc>
            </a:pPr>
            <a:r>
              <a:rPr lang="zh-CN" altLang="en-US" dirty="0">
                <a:latin typeface="Arial" panose="020B0604020202020204" pitchFamily="34" charset="0"/>
                <a:ea typeface="微软雅黑" panose="020B0503020204020204" pitchFamily="34" charset="-122"/>
                <a:cs typeface="Arial" panose="020B0604020202020204" pitchFamily="34" charset="0"/>
              </a:rPr>
              <a:t>包括</a:t>
            </a:r>
            <a:r>
              <a:rPr lang="en-US" altLang="zh-CN" dirty="0">
                <a:latin typeface="Arial" panose="020B0604020202020204" pitchFamily="34" charset="0"/>
                <a:ea typeface="微软雅黑" panose="020B0503020204020204" pitchFamily="34" charset="-122"/>
                <a:cs typeface="Arial" panose="020B0604020202020204" pitchFamily="34" charset="0"/>
              </a:rPr>
              <a:t>N</a:t>
            </a:r>
            <a:r>
              <a:rPr lang="zh-CN" altLang="en-US" dirty="0">
                <a:latin typeface="Arial" panose="020B0604020202020204" pitchFamily="34" charset="0"/>
                <a:ea typeface="微软雅黑" panose="020B0503020204020204" pitchFamily="34" charset="-122"/>
                <a:cs typeface="Arial" panose="020B0604020202020204" pitchFamily="34" charset="0"/>
              </a:rPr>
              <a:t>端分泌信号、中央</a:t>
            </a:r>
            <a:r>
              <a:rPr lang="en-US" altLang="zh-CN" dirty="0">
                <a:latin typeface="Arial" panose="020B0604020202020204" pitchFamily="34" charset="0"/>
                <a:ea typeface="微软雅黑" panose="020B0503020204020204" pitchFamily="34" charset="-122"/>
                <a:cs typeface="Arial" panose="020B0604020202020204" pitchFamily="34" charset="0"/>
              </a:rPr>
              <a:t>DNA</a:t>
            </a:r>
            <a:r>
              <a:rPr lang="zh-CN" altLang="en-US" dirty="0">
                <a:latin typeface="Arial" panose="020B0604020202020204" pitchFamily="34" charset="0"/>
                <a:ea typeface="微软雅黑" panose="020B0503020204020204" pitchFamily="34" charset="-122"/>
                <a:cs typeface="Arial" panose="020B0604020202020204" pitchFamily="34" charset="0"/>
              </a:rPr>
              <a:t>结合域、核定位信号和</a:t>
            </a:r>
            <a:r>
              <a:rPr lang="en-US" altLang="zh-CN" dirty="0">
                <a:latin typeface="Arial" panose="020B0604020202020204" pitchFamily="34" charset="0"/>
                <a:ea typeface="微软雅黑" panose="020B0503020204020204" pitchFamily="34" charset="-122"/>
                <a:cs typeface="Arial" panose="020B0604020202020204" pitchFamily="34" charset="0"/>
              </a:rPr>
              <a:t>C</a:t>
            </a:r>
            <a:r>
              <a:rPr lang="zh-CN" altLang="en-US" dirty="0">
                <a:latin typeface="Arial" panose="020B0604020202020204" pitchFamily="34" charset="0"/>
                <a:ea typeface="微软雅黑" panose="020B0503020204020204" pitchFamily="34" charset="-122"/>
                <a:cs typeface="Arial" panose="020B0604020202020204" pitchFamily="34" charset="0"/>
              </a:rPr>
              <a:t>端激活域。其中，中央</a:t>
            </a:r>
            <a:r>
              <a:rPr lang="en-US" altLang="zh-CN" dirty="0">
                <a:latin typeface="Arial" panose="020B0604020202020204" pitchFamily="34" charset="0"/>
                <a:ea typeface="微软雅黑" panose="020B0503020204020204" pitchFamily="34" charset="-122"/>
                <a:cs typeface="Arial" panose="020B0604020202020204" pitchFamily="34" charset="0"/>
              </a:rPr>
              <a:t>DNA</a:t>
            </a:r>
            <a:r>
              <a:rPr lang="zh-CN" altLang="en-US" dirty="0">
                <a:latin typeface="Arial" panose="020B0604020202020204" pitchFamily="34" charset="0"/>
                <a:ea typeface="微软雅黑" panose="020B0503020204020204" pitchFamily="34" charset="-122"/>
                <a:cs typeface="Arial" panose="020B0604020202020204" pitchFamily="34" charset="0"/>
              </a:rPr>
              <a:t>结合域是</a:t>
            </a:r>
            <a:r>
              <a:rPr lang="en-US" altLang="zh-CN" dirty="0">
                <a:latin typeface="Arial" panose="020B0604020202020204" pitchFamily="34" charset="0"/>
                <a:ea typeface="微软雅黑" panose="020B0503020204020204" pitchFamily="34" charset="-122"/>
                <a:cs typeface="Arial" panose="020B0604020202020204" pitchFamily="34" charset="0"/>
              </a:rPr>
              <a:t>TALE</a:t>
            </a:r>
            <a:r>
              <a:rPr lang="zh-CN" altLang="en-US" dirty="0">
                <a:latin typeface="Arial" panose="020B0604020202020204" pitchFamily="34" charset="0"/>
                <a:ea typeface="微软雅黑" panose="020B0503020204020204" pitchFamily="34" charset="-122"/>
                <a:cs typeface="Arial" panose="020B0604020202020204" pitchFamily="34" charset="0"/>
              </a:rPr>
              <a:t>蛋白最为关键的部分，它决定了</a:t>
            </a:r>
            <a:r>
              <a:rPr lang="en-US" altLang="zh-CN" dirty="0">
                <a:latin typeface="Arial" panose="020B0604020202020204" pitchFamily="34" charset="0"/>
                <a:ea typeface="微软雅黑" panose="020B0503020204020204" pitchFamily="34" charset="-122"/>
                <a:cs typeface="Arial" panose="020B0604020202020204" pitchFamily="34" charset="0"/>
              </a:rPr>
              <a:t>TALE</a:t>
            </a:r>
            <a:r>
              <a:rPr lang="zh-CN" altLang="en-US" dirty="0">
                <a:latin typeface="Arial" panose="020B0604020202020204" pitchFamily="34" charset="0"/>
                <a:ea typeface="微软雅黑" panose="020B0503020204020204" pitchFamily="34" charset="-122"/>
                <a:cs typeface="Arial" panose="020B0604020202020204" pitchFamily="34" charset="0"/>
              </a:rPr>
              <a:t>蛋白与</a:t>
            </a:r>
            <a:r>
              <a:rPr lang="en-US" altLang="zh-CN" dirty="0">
                <a:latin typeface="Arial" panose="020B0604020202020204" pitchFamily="34" charset="0"/>
                <a:ea typeface="微软雅黑" panose="020B0503020204020204" pitchFamily="34" charset="-122"/>
                <a:cs typeface="Arial" panose="020B0604020202020204" pitchFamily="34" charset="0"/>
              </a:rPr>
              <a:t>DNA</a:t>
            </a:r>
            <a:r>
              <a:rPr lang="zh-CN" altLang="en-US" dirty="0">
                <a:latin typeface="Arial" panose="020B0604020202020204" pitchFamily="34" charset="0"/>
                <a:ea typeface="微软雅黑" panose="020B0503020204020204" pitchFamily="34" charset="-122"/>
                <a:cs typeface="Arial" panose="020B0604020202020204" pitchFamily="34" charset="0"/>
              </a:rPr>
              <a:t>的特异性结合。</a:t>
            </a:r>
          </a:p>
        </p:txBody>
      </p:sp>
      <p:pic>
        <p:nvPicPr>
          <p:cNvPr id="13" name="图片 12">
            <a:extLst>
              <a:ext uri="{FF2B5EF4-FFF2-40B4-BE49-F238E27FC236}">
                <a16:creationId xmlns:a16="http://schemas.microsoft.com/office/drawing/2014/main" id="{DF5AF7A6-D56B-C378-32F0-8EBC75B1F18E}"/>
              </a:ext>
            </a:extLst>
          </p:cNvPr>
          <p:cNvPicPr>
            <a:picLocks noChangeAspect="1"/>
          </p:cNvPicPr>
          <p:nvPr/>
        </p:nvPicPr>
        <p:blipFill>
          <a:blip r:embed="rId4"/>
          <a:stretch>
            <a:fillRect/>
          </a:stretch>
        </p:blipFill>
        <p:spPr>
          <a:xfrm>
            <a:off x="3341370" y="2925445"/>
            <a:ext cx="6219825" cy="2962275"/>
          </a:xfrm>
          <a:prstGeom prst="rect">
            <a:avLst/>
          </a:prstGeom>
        </p:spPr>
      </p:pic>
    </p:spTree>
    <p:extLst>
      <p:ext uri="{BB962C8B-B14F-4D97-AF65-F5344CB8AC3E}">
        <p14:creationId xmlns:p14="http://schemas.microsoft.com/office/powerpoint/2010/main" val="31412751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rcRect t="22169"/>
          <a:stretch/>
        </p:blipFill>
        <p:spPr>
          <a:xfrm>
            <a:off x="1416985" y="1308100"/>
            <a:ext cx="9354856" cy="5078868"/>
          </a:xfrm>
          <a:prstGeom prst="rect">
            <a:avLst/>
          </a:prstGeom>
        </p:spPr>
      </p:pic>
      <p:sp>
        <p:nvSpPr>
          <p:cNvPr id="2" name="矩形 1">
            <a:extLst>
              <a:ext uri="{FF2B5EF4-FFF2-40B4-BE49-F238E27FC236}">
                <a16:creationId xmlns:a16="http://schemas.microsoft.com/office/drawing/2014/main" id="{004F1FDB-3DD1-3D1B-DA5C-CE2F36F46648}"/>
              </a:ext>
            </a:extLst>
          </p:cNvPr>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a:extLst>
              <a:ext uri="{FF2B5EF4-FFF2-40B4-BE49-F238E27FC236}">
                <a16:creationId xmlns:a16="http://schemas.microsoft.com/office/drawing/2014/main" id="{4104E237-0FDE-EA61-7543-11A7F2A93A48}"/>
              </a:ext>
            </a:extLst>
          </p:cNvPr>
          <p:cNvSpPr txBox="1"/>
          <p:nvPr/>
        </p:nvSpPr>
        <p:spPr>
          <a:xfrm>
            <a:off x="0" y="0"/>
            <a:ext cx="12192000" cy="583565"/>
          </a:xfrm>
          <a:prstGeom prst="rect">
            <a:avLst/>
          </a:prstGeom>
          <a:noFill/>
        </p:spPr>
        <p:txBody>
          <a:bodyPr wrap="square" rtlCol="0">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TALEN</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的工作机制</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50D-2CEF-9155-B8BC-0DF5818DCB11}"/>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6629137B-D1D1-94CC-C3CD-D52B24CB1EB9}"/>
              </a:ext>
            </a:extLst>
          </p:cNvPr>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B657EF3E-D588-AD0D-7B84-863868324B46}"/>
              </a:ext>
            </a:extLst>
          </p:cNvPr>
          <p:cNvSpPr txBox="1"/>
          <p:nvPr/>
        </p:nvSpPr>
        <p:spPr>
          <a:xfrm>
            <a:off x="0" y="0"/>
            <a:ext cx="12192000" cy="584775"/>
          </a:xfrm>
          <a:prstGeom prst="rect">
            <a:avLst/>
          </a:prstGeom>
          <a:noFill/>
        </p:spPr>
        <p:txBody>
          <a:bodyPr wrap="square" rtlCol="0">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TALEN</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技术的优点与局限性</a:t>
            </a:r>
          </a:p>
        </p:txBody>
      </p:sp>
      <p:sp>
        <p:nvSpPr>
          <p:cNvPr id="2" name="文本框 1">
            <a:extLst>
              <a:ext uri="{FF2B5EF4-FFF2-40B4-BE49-F238E27FC236}">
                <a16:creationId xmlns:a16="http://schemas.microsoft.com/office/drawing/2014/main" id="{359126E0-3423-F0C4-43E9-444D0882A1CC}"/>
              </a:ext>
            </a:extLst>
          </p:cNvPr>
          <p:cNvSpPr txBox="1"/>
          <p:nvPr>
            <p:custDataLst>
              <p:tags r:id="rId1"/>
            </p:custDataLst>
          </p:nvPr>
        </p:nvSpPr>
        <p:spPr>
          <a:xfrm>
            <a:off x="500215" y="1807824"/>
            <a:ext cx="10218585" cy="3332772"/>
          </a:xfrm>
          <a:prstGeom prst="rect">
            <a:avLst/>
          </a:prstGeom>
          <a:noFill/>
        </p:spPr>
        <p:txBody>
          <a:bodyPr wrap="square" rtlCol="0" anchor="t">
            <a:spAutoFit/>
          </a:bodyPr>
          <a:lstStyle/>
          <a:p>
            <a:pPr marL="285750" indent="-285750" fontAlgn="auto">
              <a:lnSpc>
                <a:spcPct val="200000"/>
              </a:lnSpc>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高度可定制性</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nSpc>
                <a:spcPct val="20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ZFN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在构建上， </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TALEN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要远远简单于 </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ZFN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，在一般的分子生物学实验室即可完成。</a:t>
            </a:r>
          </a:p>
          <a:p>
            <a:pPr marL="285750" indent="-285750" fontAlgn="auto">
              <a:lnSpc>
                <a:spcPct val="200000"/>
              </a:lnSpc>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选择范围更加广</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200000"/>
              </a:lnSpc>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TALEN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识别位点选择范围更加广，唯一的限制是在识别位点前的第一个碱基必须是“ </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1" indent="-285750">
              <a:lnSpc>
                <a:spcPct val="200000"/>
              </a:lnSpc>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sym typeface="+mn-ea"/>
              </a:rPr>
              <a:t>广泛的适用性</a:t>
            </a:r>
            <a:endParaRPr lang="en-US" altLang="zh-CN" b="1" dirty="0">
              <a:latin typeface="微软雅黑" panose="020B0503020204020204" pitchFamily="34" charset="-122"/>
              <a:ea typeface="微软雅黑" panose="020B0503020204020204" pitchFamily="34" charset="-122"/>
              <a:sym typeface="+mn-ea"/>
            </a:endParaRPr>
          </a:p>
          <a:p>
            <a:pPr lvl="1">
              <a:lnSpc>
                <a:spcPct val="200000"/>
              </a:lnSpc>
            </a:pPr>
            <a:r>
              <a:rPr lang="en-US" altLang="zh-CN" dirty="0">
                <a:latin typeface="微软雅黑" panose="020B0503020204020204" pitchFamily="34" charset="-122"/>
                <a:ea typeface="微软雅黑" panose="020B0503020204020204" pitchFamily="34" charset="-122"/>
                <a:sym typeface="+mn-ea"/>
              </a:rPr>
              <a:t>ZFN</a:t>
            </a:r>
            <a:r>
              <a:rPr lang="zh-CN" altLang="en-US" dirty="0">
                <a:latin typeface="微软雅黑" panose="020B0503020204020204" pitchFamily="34" charset="-122"/>
                <a:ea typeface="微软雅黑" panose="020B0503020204020204" pitchFamily="34" charset="-122"/>
                <a:sym typeface="+mn-ea"/>
              </a:rPr>
              <a:t>可以再多种生物系统中使用，包括动物、植物微生物等。</a:t>
            </a:r>
          </a:p>
        </p:txBody>
      </p:sp>
    </p:spTree>
    <p:extLst>
      <p:ext uri="{BB962C8B-B14F-4D97-AF65-F5344CB8AC3E}">
        <p14:creationId xmlns:p14="http://schemas.microsoft.com/office/powerpoint/2010/main" val="20628611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3DF7B-4D27-0BDE-99E9-29368A3B1569}"/>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0FA09D14-73FA-E056-22F0-1FC8AB9938FD}"/>
              </a:ext>
            </a:extLst>
          </p:cNvPr>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7CDC8FB0-8513-092F-1AB1-665A7F7EAFFA}"/>
              </a:ext>
            </a:extLst>
          </p:cNvPr>
          <p:cNvSpPr txBox="1"/>
          <p:nvPr/>
        </p:nvSpPr>
        <p:spPr>
          <a:xfrm>
            <a:off x="0" y="0"/>
            <a:ext cx="12192000" cy="583565"/>
          </a:xfrm>
          <a:prstGeom prst="rect">
            <a:avLst/>
          </a:prstGeom>
          <a:noFill/>
        </p:spPr>
        <p:txBody>
          <a:bodyPr wrap="square" rtlCol="0">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TALEN</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技术的局限性</a:t>
            </a:r>
          </a:p>
        </p:txBody>
      </p:sp>
      <p:sp>
        <p:nvSpPr>
          <p:cNvPr id="3" name="文本框 2">
            <a:extLst>
              <a:ext uri="{FF2B5EF4-FFF2-40B4-BE49-F238E27FC236}">
                <a16:creationId xmlns:a16="http://schemas.microsoft.com/office/drawing/2014/main" id="{9B3D8B8F-A862-22CD-28F6-5B00D0DB1687}"/>
              </a:ext>
            </a:extLst>
          </p:cNvPr>
          <p:cNvSpPr txBox="1"/>
          <p:nvPr>
            <p:custDataLst>
              <p:tags r:id="rId1"/>
            </p:custDataLst>
          </p:nvPr>
        </p:nvSpPr>
        <p:spPr>
          <a:xfrm>
            <a:off x="644768" y="1807824"/>
            <a:ext cx="10773509" cy="2778774"/>
          </a:xfrm>
          <a:prstGeom prst="rect">
            <a:avLst/>
          </a:prstGeom>
          <a:noFill/>
        </p:spPr>
        <p:txBody>
          <a:bodyPr wrap="square" rtlCol="0" anchor="t">
            <a:spAutoFit/>
          </a:bodyPr>
          <a:lstStyle/>
          <a:p>
            <a:pPr marL="285750" indent="-285750" fontAlgn="auto">
              <a:lnSpc>
                <a:spcPct val="200000"/>
              </a:lnSpc>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脱靶效应</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nSpc>
                <a:spcPct val="200000"/>
              </a:lnSpc>
            </a:pP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TALEN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同 </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ZFN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一样，也存在脱靶效应，这在临床基因治疗上是一个重要的参考因素。</a:t>
            </a:r>
          </a:p>
          <a:p>
            <a:pPr marL="285750" indent="-285750" fontAlgn="auto">
              <a:lnSpc>
                <a:spcPct val="200000"/>
              </a:lnSpc>
              <a:buFont typeface="Wingdings" panose="05000000000000000000" pitchFamily="2" charset="2"/>
              <a:buChar char="n"/>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TALEN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蛋白的编码序列比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ZFN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要长的多</a:t>
            </a:r>
            <a:endPar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200000"/>
              </a:lnSpc>
            </a:pPr>
            <a:r>
              <a:rPr lang="en-US" altLang="zh-CN"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如何有效地将 </a:t>
            </a:r>
            <a:r>
              <a:rPr lang="en-US" altLang="zh-CN" sz="1800" dirty="0">
                <a:latin typeface="微软雅黑" panose="020B0503020204020204" pitchFamily="34" charset="-122"/>
                <a:ea typeface="微软雅黑" panose="020B0503020204020204" pitchFamily="34" charset="-122"/>
              </a:rPr>
              <a:t>TALEN </a:t>
            </a:r>
            <a:r>
              <a:rPr lang="zh-CN" altLang="en-US" sz="1800" dirty="0">
                <a:latin typeface="微软雅黑" panose="020B0503020204020204" pitchFamily="34" charset="-122"/>
                <a:ea typeface="微软雅黑" panose="020B0503020204020204" pitchFamily="34" charset="-122"/>
              </a:rPr>
              <a:t>表达载体输送到疾病相关细胞中也是 </a:t>
            </a:r>
            <a:r>
              <a:rPr lang="en-US" altLang="zh-CN" sz="1800" dirty="0">
                <a:latin typeface="微软雅黑" panose="020B0503020204020204" pitchFamily="34" charset="-122"/>
                <a:ea typeface="微软雅黑" panose="020B0503020204020204" pitchFamily="34" charset="-122"/>
              </a:rPr>
              <a:t>TALEN </a:t>
            </a:r>
            <a:r>
              <a:rPr lang="zh-CN" altLang="en-US" sz="1800" dirty="0">
                <a:latin typeface="微软雅黑" panose="020B0503020204020204" pitchFamily="34" charset="-122"/>
                <a:ea typeface="微软雅黑" panose="020B0503020204020204" pitchFamily="34" charset="-122"/>
              </a:rPr>
              <a:t>在疾病治疗应用方面需要解决的重要问题。 </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40056767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rcRect b="17117"/>
          <a:stretch/>
        </p:blipFill>
        <p:spPr>
          <a:xfrm>
            <a:off x="1377280" y="858390"/>
            <a:ext cx="9612066" cy="5313810"/>
          </a:xfrm>
          <a:prstGeom prst="rect">
            <a:avLst/>
          </a:prstGeom>
        </p:spPr>
      </p:pic>
      <p:sp>
        <p:nvSpPr>
          <p:cNvPr id="2" name="矩形 1">
            <a:extLst>
              <a:ext uri="{FF2B5EF4-FFF2-40B4-BE49-F238E27FC236}">
                <a16:creationId xmlns:a16="http://schemas.microsoft.com/office/drawing/2014/main" id="{0D001BE9-2E4E-F81D-4AA7-39E03609F9E8}"/>
              </a:ext>
            </a:extLst>
          </p:cNvPr>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a:extLst>
              <a:ext uri="{FF2B5EF4-FFF2-40B4-BE49-F238E27FC236}">
                <a16:creationId xmlns:a16="http://schemas.microsoft.com/office/drawing/2014/main" id="{E0A76ABF-080A-2C9F-6ED2-C1574C62027C}"/>
              </a:ext>
            </a:extLst>
          </p:cNvPr>
          <p:cNvSpPr txBox="1"/>
          <p:nvPr/>
        </p:nvSpPr>
        <p:spPr>
          <a:xfrm>
            <a:off x="0" y="0"/>
            <a:ext cx="12192000" cy="583565"/>
          </a:xfrm>
          <a:prstGeom prst="rect">
            <a:avLst/>
          </a:prstGeom>
          <a:noFill/>
        </p:spPr>
        <p:txBody>
          <a:bodyPr wrap="square" rtlCol="0">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TALEN</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技术的应用</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7353" y="1032540"/>
            <a:ext cx="7394120" cy="5436643"/>
          </a:xfrm>
          <a:prstGeom prst="rect">
            <a:avLst/>
          </a:prstGeom>
        </p:spPr>
      </p:pic>
      <p:sp>
        <p:nvSpPr>
          <p:cNvPr id="2" name="矩形 1">
            <a:extLst>
              <a:ext uri="{FF2B5EF4-FFF2-40B4-BE49-F238E27FC236}">
                <a16:creationId xmlns:a16="http://schemas.microsoft.com/office/drawing/2014/main" id="{06D0151F-E2CD-DD38-52F0-7AB662F7E73B}"/>
              </a:ext>
            </a:extLst>
          </p:cNvPr>
          <p:cNvSpPr/>
          <p:nvPr/>
        </p:nvSpPr>
        <p:spPr>
          <a:xfrm>
            <a:off x="0" y="0"/>
            <a:ext cx="12192000" cy="60960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a:extLst>
              <a:ext uri="{FF2B5EF4-FFF2-40B4-BE49-F238E27FC236}">
                <a16:creationId xmlns:a16="http://schemas.microsoft.com/office/drawing/2014/main" id="{60931602-A416-46CD-9287-7E9B00EA08A7}"/>
              </a:ext>
            </a:extLst>
          </p:cNvPr>
          <p:cNvSpPr txBox="1"/>
          <p:nvPr/>
        </p:nvSpPr>
        <p:spPr>
          <a:xfrm>
            <a:off x="0" y="0"/>
            <a:ext cx="12192000" cy="583565"/>
          </a:xfrm>
          <a:prstGeom prst="rect">
            <a:avLst/>
          </a:prstGeom>
          <a:noFill/>
        </p:spPr>
        <p:txBody>
          <a:bodyPr wrap="square" rtlCol="0">
            <a:spAutoFit/>
          </a:bodyPr>
          <a:lstStyle/>
          <a:p>
            <a:pPr algn="ct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ZEN</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与</a:t>
            </a:r>
            <a:r>
              <a:rPr lang="en-US" altLang="zh-CN"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TALEN</a:t>
            </a:r>
            <a:r>
              <a:rPr lang="zh-CN" altLang="en-US" sz="32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技术的对比</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F05AC-33B3-876C-50B6-CB13C706CE21}"/>
            </a:ext>
          </a:extLst>
        </p:cNvPr>
        <p:cNvGrpSpPr/>
        <p:nvPr/>
      </p:nvGrpSpPr>
      <p:grpSpPr>
        <a:xfrm>
          <a:off x="0" y="0"/>
          <a:ext cx="0" cy="0"/>
          <a:chOff x="0" y="0"/>
          <a:chExt cx="0" cy="0"/>
        </a:xfrm>
      </p:grpSpPr>
      <p:pic>
        <p:nvPicPr>
          <p:cNvPr id="17" name="图片 16">
            <a:extLst>
              <a:ext uri="{FF2B5EF4-FFF2-40B4-BE49-F238E27FC236}">
                <a16:creationId xmlns:a16="http://schemas.microsoft.com/office/drawing/2014/main" id="{D6668392-FF12-E074-A69E-D5669A0571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1006" y="401454"/>
            <a:ext cx="9129394" cy="5986242"/>
          </a:xfrm>
          <a:prstGeom prst="rect">
            <a:avLst/>
          </a:prstGeom>
        </p:spPr>
      </p:pic>
    </p:spTree>
    <p:extLst>
      <p:ext uri="{BB962C8B-B14F-4D97-AF65-F5344CB8AC3E}">
        <p14:creationId xmlns:p14="http://schemas.microsoft.com/office/powerpoint/2010/main" val="1753049098"/>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c2Nzg1YjU1MDBjM2ExNzkxMDNkMjk3Y2YyMzQ4M2U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12.76354330708665,&quot;left&quot;:21.85,&quot;top&quot;:66.44590551181102,&quot;width&quot;:600.9928346456693}"/>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12.76354330708665,&quot;left&quot;:21.85,&quot;top&quot;:66.44590551181102,&quot;width&quot;:600.9928346456693}"/>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12.76354330708665,&quot;left&quot;:21.85,&quot;top&quot;:66.44590551181102,&quot;width&quot;:600.9928346456693}"/>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12.76354330708665,&quot;left&quot;:21.85,&quot;top&quot;:66.44590551181102,&quot;width&quot;:600.9928346456693}"/>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12.76354330708665,&quot;left&quot;:21.85,&quot;top&quot;:66.44590551181102,&quot;width&quot;:600.9928346456693}"/>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12.76354330708665,&quot;left&quot;:21.85,&quot;top&quot;:66.44590551181102,&quot;width&quot;:600.9928346456693}"/>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75.39692913385824,&quot;left&quot;:21.85,&quot;top&quot;:66.44590551181102,&quot;width&quot;:600.9928346456693}"/>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75.39692913385824,&quot;left&quot;:21.85,&quot;top&quot;:66.44590551181102,&quot;width&quot;:600.9928346456693}"/>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195.20409448818899,&quot;left&quot;:21.85,&quot;top&quot;:66.44590551181102,&quot;width&quot;:591.8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195.20409448818899,&quot;left&quot;:21.85,&quot;top&quot;:66.44590551181102,&quot;width&quot;:591.8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195.20409448818899,&quot;left&quot;:21.85,&quot;top&quot;:66.44590551181102,&quot;width&quot;:591.8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195.20409448818899,&quot;left&quot;:21.85,&quot;top&quot;:66.44590551181102,&quot;width&quot;:591.8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195.20409448818899,&quot;left&quot;:21.85,&quot;top&quot;:66.44590551181102,&quot;width&quot;:591.8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195.20409448818899,&quot;left&quot;:21.85,&quot;top&quot;:66.44590551181102,&quot;width&quot;:591.8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195.20409448818899,&quot;left&quot;:21.85,&quot;top&quot;:66.44590551181102,&quot;width&quot;:591.8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195.20409448818899,&quot;left&quot;:21.85,&quot;top&quot;:66.44590551181102,&quot;width&quot;:591.8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195.20409448818899,&quot;left&quot;:21.85,&quot;top&quot;:66.44590551181102,&quot;width&quot;:591.8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195.20409448818899,&quot;left&quot;:21.85,&quot;top&quot;:66.44590551181102,&quot;width&quot;:591.8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195.20409448818899,&quot;left&quot;:21.85,&quot;top&quot;:66.44590551181102,&quot;width&quot;:591.8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195.20409448818899,&quot;left&quot;:21.85,&quot;top&quot;:66.44590551181102,&quot;width&quot;:591.8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195.20409448818899,&quot;left&quot;:21.85,&quot;top&quot;:66.44590551181102,&quot;width&quot;:591.8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546</TotalTime>
  <Words>14275</Words>
  <Application>Microsoft Office PowerPoint</Application>
  <PresentationFormat>宽屏</PresentationFormat>
  <Paragraphs>600</Paragraphs>
  <Slides>49</Slides>
  <Notes>44</Notes>
  <HiddenSlides>2</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49</vt:i4>
      </vt:variant>
    </vt:vector>
  </HeadingPairs>
  <TitlesOfParts>
    <vt:vector size="63" baseType="lpstr">
      <vt:lpstr>PingFang SC</vt:lpstr>
      <vt:lpstr>TimesNewRomanPS-ItalicMT</vt:lpstr>
      <vt:lpstr>TimesNewRomanPSMT</vt:lpstr>
      <vt:lpstr>等线</vt:lpstr>
      <vt:lpstr>等线 Light</vt:lpstr>
      <vt:lpstr>SimSun</vt:lpstr>
      <vt:lpstr>SimSun</vt:lpstr>
      <vt:lpstr>微软雅黑</vt:lpstr>
      <vt:lpstr>Arial</vt:lpstr>
      <vt:lpstr>Calibri</vt:lpstr>
      <vt:lpstr>Oxygen</vt:lpstr>
      <vt:lpstr>Wingdings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宝 二</dc:creator>
  <cp:lastModifiedBy>宝 二</cp:lastModifiedBy>
  <cp:revision>907</cp:revision>
  <dcterms:created xsi:type="dcterms:W3CDTF">2024-10-17T08:28:00Z</dcterms:created>
  <dcterms:modified xsi:type="dcterms:W3CDTF">2024-11-04T00:36:23Z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D58DF8FDF09542C8ACB6B887ED1A5ED2_12</vt:lpwstr>
  </property>
  <property fmtid="{D5CDD505-2E9C-101B-9397-08002B2CF9AE}" pid="3" name="KSOProductBuildVer">
    <vt:lpwstr>2052-12.1.0.18608</vt:lpwstr>
  </property>
</Properties>
</file>