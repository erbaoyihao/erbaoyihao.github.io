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5.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7.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8.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9.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notesMasterIdLst>
    <p:notesMasterId r:id="rId63"/>
  </p:notesMasterIdLst>
  <p:sldIdLst>
    <p:sldId id="315" r:id="rId3"/>
    <p:sldId id="258" r:id="rId4"/>
    <p:sldId id="568" r:id="rId5"/>
    <p:sldId id="571" r:id="rId6"/>
    <p:sldId id="570" r:id="rId7"/>
    <p:sldId id="572" r:id="rId8"/>
    <p:sldId id="573" r:id="rId9"/>
    <p:sldId id="574" r:id="rId10"/>
    <p:sldId id="562" r:id="rId11"/>
    <p:sldId id="563" r:id="rId12"/>
    <p:sldId id="564" r:id="rId13"/>
    <p:sldId id="565" r:id="rId14"/>
    <p:sldId id="566" r:id="rId15"/>
    <p:sldId id="567" r:id="rId16"/>
    <p:sldId id="557" r:id="rId17"/>
    <p:sldId id="558" r:id="rId18"/>
    <p:sldId id="559" r:id="rId19"/>
    <p:sldId id="560" r:id="rId20"/>
    <p:sldId id="561" r:id="rId21"/>
    <p:sldId id="552" r:id="rId22"/>
    <p:sldId id="553" r:id="rId23"/>
    <p:sldId id="554" r:id="rId24"/>
    <p:sldId id="555" r:id="rId25"/>
    <p:sldId id="556" r:id="rId26"/>
    <p:sldId id="519" r:id="rId27"/>
    <p:sldId id="478" r:id="rId28"/>
    <p:sldId id="481" r:id="rId29"/>
    <p:sldId id="520" r:id="rId30"/>
    <p:sldId id="521" r:id="rId31"/>
    <p:sldId id="524" r:id="rId32"/>
    <p:sldId id="522" r:id="rId33"/>
    <p:sldId id="525" r:id="rId34"/>
    <p:sldId id="526" r:id="rId35"/>
    <p:sldId id="527" r:id="rId36"/>
    <p:sldId id="528" r:id="rId37"/>
    <p:sldId id="529" r:id="rId38"/>
    <p:sldId id="530" r:id="rId39"/>
    <p:sldId id="523" r:id="rId40"/>
    <p:sldId id="532" r:id="rId41"/>
    <p:sldId id="533" r:id="rId42"/>
    <p:sldId id="531" r:id="rId43"/>
    <p:sldId id="534" r:id="rId44"/>
    <p:sldId id="535" r:id="rId45"/>
    <p:sldId id="536" r:id="rId46"/>
    <p:sldId id="537" r:id="rId47"/>
    <p:sldId id="538" r:id="rId48"/>
    <p:sldId id="539" r:id="rId49"/>
    <p:sldId id="540" r:id="rId50"/>
    <p:sldId id="541" r:id="rId51"/>
    <p:sldId id="542" r:id="rId52"/>
    <p:sldId id="543" r:id="rId53"/>
    <p:sldId id="544" r:id="rId54"/>
    <p:sldId id="545" r:id="rId55"/>
    <p:sldId id="546" r:id="rId56"/>
    <p:sldId id="548" r:id="rId57"/>
    <p:sldId id="547" r:id="rId58"/>
    <p:sldId id="549" r:id="rId59"/>
    <p:sldId id="551" r:id="rId60"/>
    <p:sldId id="550" r:id="rId61"/>
    <p:sldId id="507" r:id="rId62"/>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君怡的电脑" initials="君"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C439E"/>
    <a:srgbClr val="47FA8E"/>
    <a:srgbClr val="4AED8F"/>
    <a:srgbClr val="FFFFFF"/>
    <a:srgbClr val="53C193"/>
    <a:srgbClr val="59A496"/>
    <a:srgbClr val="62769A"/>
    <a:srgbClr val="1D50A2"/>
    <a:srgbClr val="1A3A41"/>
    <a:srgbClr val="5F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57" autoAdjust="0"/>
    <p:restoredTop sz="91678" autoAdjust="0"/>
  </p:normalViewPr>
  <p:slideViewPr>
    <p:cSldViewPr snapToGrid="0">
      <p:cViewPr varScale="1">
        <p:scale>
          <a:sx n="78" d="100"/>
          <a:sy n="78" d="100"/>
        </p:scale>
        <p:origin x="282" y="42"/>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1FDA87-C525-4B4F-80A2-3EF0CAF31C9C}" type="datetimeFigureOut">
              <a:rPr lang="zh-CN" altLang="en-US" smtClean="0"/>
              <a:t>2024/8/19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9E2D9-C962-4583-A8EF-D48144FA962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4018D1C-9359-4F06-BEDC-37F1868CCD80}"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1FA003C-ACE2-4EF7-AF62-71758D32E637}" type="slidenum">
              <a:rPr lang="bg-BG" smtClean="0"/>
              <a:t>3</a:t>
            </a:fld>
            <a:endParaRPr lang="bg-BG"/>
          </a:p>
        </p:txBody>
      </p:sp>
    </p:spTree>
    <p:extLst>
      <p:ext uri="{BB962C8B-B14F-4D97-AF65-F5344CB8AC3E}">
        <p14:creationId xmlns:p14="http://schemas.microsoft.com/office/powerpoint/2010/main" val="4068816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4</a:t>
            </a:fld>
            <a:endParaRPr lang="zh-CN" altLang="en-US"/>
          </a:p>
        </p:txBody>
      </p:sp>
    </p:spTree>
    <p:extLst>
      <p:ext uri="{BB962C8B-B14F-4D97-AF65-F5344CB8AC3E}">
        <p14:creationId xmlns:p14="http://schemas.microsoft.com/office/powerpoint/2010/main" val="715115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F73131"/>
                </a:solidFill>
                <a:effectLst/>
                <a:highlight>
                  <a:srgbClr val="FFFFFF"/>
                </a:highlight>
                <a:latin typeface="Arial" panose="020B0604020202020204" pitchFamily="34" charset="0"/>
              </a:rPr>
              <a:t>麴</a:t>
            </a:r>
            <a:r>
              <a:rPr lang="zh-CN" altLang="en-US" b="0" i="0" dirty="0">
                <a:solidFill>
                  <a:srgbClr val="333333"/>
                </a:solidFill>
                <a:effectLst/>
                <a:highlight>
                  <a:srgbClr val="FFFFFF"/>
                </a:highlight>
                <a:latin typeface="Arial" panose="020B0604020202020204" pitchFamily="34" charset="0"/>
              </a:rPr>
              <a:t>（</a:t>
            </a:r>
            <a:r>
              <a:rPr lang="en-US" altLang="zh-CN" b="0" i="0" dirty="0" err="1">
                <a:solidFill>
                  <a:srgbClr val="333333"/>
                </a:solidFill>
                <a:effectLst/>
                <a:highlight>
                  <a:srgbClr val="FFFFFF"/>
                </a:highlight>
                <a:latin typeface="Arial" panose="020B0604020202020204" pitchFamily="34" charset="0"/>
              </a:rPr>
              <a:t>qū</a:t>
            </a:r>
            <a:r>
              <a:rPr lang="zh-CN" altLang="en-US" b="0" i="0" dirty="0">
                <a:solidFill>
                  <a:srgbClr val="333333"/>
                </a:solidFill>
                <a:effectLst/>
                <a:highlight>
                  <a:srgbClr val="FFFFFF"/>
                </a:highlight>
                <a:latin typeface="Arial" panose="020B0604020202020204" pitchFamily="34" charset="0"/>
              </a:rPr>
              <a:t>）</a:t>
            </a:r>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5</a:t>
            </a:fld>
            <a:endParaRPr lang="zh-CN" altLang="en-US"/>
          </a:p>
        </p:txBody>
      </p:sp>
    </p:spTree>
    <p:extLst>
      <p:ext uri="{BB962C8B-B14F-4D97-AF65-F5344CB8AC3E}">
        <p14:creationId xmlns:p14="http://schemas.microsoft.com/office/powerpoint/2010/main" val="2624673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6</a:t>
            </a:fld>
            <a:endParaRPr lang="zh-CN" altLang="en-US"/>
          </a:p>
        </p:txBody>
      </p:sp>
    </p:spTree>
    <p:extLst>
      <p:ext uri="{BB962C8B-B14F-4D97-AF65-F5344CB8AC3E}">
        <p14:creationId xmlns:p14="http://schemas.microsoft.com/office/powerpoint/2010/main" val="3937720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7</a:t>
            </a:fld>
            <a:endParaRPr lang="zh-CN" altLang="en-US"/>
          </a:p>
        </p:txBody>
      </p:sp>
    </p:spTree>
    <p:extLst>
      <p:ext uri="{BB962C8B-B14F-4D97-AF65-F5344CB8AC3E}">
        <p14:creationId xmlns:p14="http://schemas.microsoft.com/office/powerpoint/2010/main" val="757061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8</a:t>
            </a:fld>
            <a:endParaRPr lang="zh-CN" altLang="en-US"/>
          </a:p>
        </p:txBody>
      </p:sp>
    </p:spTree>
    <p:extLst>
      <p:ext uri="{BB962C8B-B14F-4D97-AF65-F5344CB8AC3E}">
        <p14:creationId xmlns:p14="http://schemas.microsoft.com/office/powerpoint/2010/main" val="228837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1FA003C-ACE2-4EF7-AF62-71758D32E637}" type="slidenum">
              <a:rPr lang="bg-BG" smtClean="0"/>
              <a:t>9</a:t>
            </a:fld>
            <a:endParaRPr lang="bg-BG"/>
          </a:p>
        </p:txBody>
      </p:sp>
    </p:spTree>
    <p:extLst>
      <p:ext uri="{BB962C8B-B14F-4D97-AF65-F5344CB8AC3E}">
        <p14:creationId xmlns:p14="http://schemas.microsoft.com/office/powerpoint/2010/main" val="2550311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C4043"/>
                </a:solidFill>
                <a:effectLst/>
                <a:highlight>
                  <a:srgbClr val="F5F5F5"/>
                </a:highlight>
                <a:latin typeface="Roboto" panose="02000000000000000000" pitchFamily="2" charset="0"/>
              </a:rPr>
              <a:t>Sumner  </a:t>
            </a:r>
            <a:r>
              <a:rPr lang="zh-CN" altLang="en-US" b="0" i="0" dirty="0">
                <a:solidFill>
                  <a:srgbClr val="3C4043"/>
                </a:solidFill>
                <a:effectLst/>
                <a:highlight>
                  <a:srgbClr val="F5F5F5"/>
                </a:highlight>
                <a:latin typeface="Roboto" panose="02000000000000000000" pitchFamily="2" charset="0"/>
              </a:rPr>
              <a:t>萨姆纳</a:t>
            </a:r>
            <a:r>
              <a:rPr lang="en-US" altLang="zh-CN" b="0" i="0" dirty="0">
                <a:solidFill>
                  <a:srgbClr val="3C4043"/>
                </a:solidFill>
                <a:effectLst/>
                <a:highlight>
                  <a:srgbClr val="F5F5F5"/>
                </a:highlight>
                <a:latin typeface="Roboto" panose="02000000000000000000" pitchFamily="2" charset="0"/>
              </a:rPr>
              <a:t>;    </a:t>
            </a:r>
            <a:r>
              <a:rPr lang="en-US" altLang="zh-CN" b="0" i="0" dirty="0" err="1">
                <a:solidFill>
                  <a:srgbClr val="3C4043"/>
                </a:solidFill>
                <a:effectLst/>
                <a:highlight>
                  <a:srgbClr val="F5F5F5"/>
                </a:highlight>
                <a:latin typeface="Roboto" panose="02000000000000000000" pitchFamily="2" charset="0"/>
              </a:rPr>
              <a:t>T.Cech</a:t>
            </a:r>
            <a:r>
              <a:rPr lang="en-US" altLang="zh-CN" b="0" i="0" dirty="0">
                <a:solidFill>
                  <a:srgbClr val="3C4043"/>
                </a:solidFill>
                <a:effectLst/>
                <a:highlight>
                  <a:srgbClr val="F5F5F5"/>
                </a:highlight>
                <a:latin typeface="Roboto" panose="02000000000000000000" pitchFamily="2" charset="0"/>
              </a:rPr>
              <a:t>  T.</a:t>
            </a:r>
            <a:r>
              <a:rPr lang="zh-CN" altLang="en-US" b="0" i="0" dirty="0">
                <a:solidFill>
                  <a:srgbClr val="3C4043"/>
                </a:solidFill>
                <a:effectLst/>
                <a:highlight>
                  <a:srgbClr val="F5F5F5"/>
                </a:highlight>
                <a:latin typeface="Roboto" panose="02000000000000000000" pitchFamily="2" charset="0"/>
              </a:rPr>
              <a:t>切赫</a:t>
            </a:r>
            <a:r>
              <a:rPr lang="en-US" altLang="zh-CN" b="0" i="0" dirty="0">
                <a:solidFill>
                  <a:srgbClr val="3C4043"/>
                </a:solidFill>
                <a:effectLst/>
                <a:highlight>
                  <a:srgbClr val="F5F5F5"/>
                </a:highlight>
                <a:latin typeface="Roboto" panose="02000000000000000000" pitchFamily="2" charset="0"/>
              </a:rPr>
              <a:t>;    Altman  </a:t>
            </a:r>
            <a:r>
              <a:rPr lang="zh-CN" altLang="en-US" b="0" i="0" dirty="0">
                <a:solidFill>
                  <a:srgbClr val="3C4043"/>
                </a:solidFill>
                <a:effectLst/>
                <a:highlight>
                  <a:srgbClr val="F5F5F5"/>
                </a:highlight>
                <a:latin typeface="Roboto" panose="02000000000000000000" pitchFamily="2" charset="0"/>
              </a:rPr>
              <a:t>奥特曼</a:t>
            </a:r>
            <a:r>
              <a:rPr lang="en-US" altLang="zh-CN" b="0" i="0" dirty="0">
                <a:solidFill>
                  <a:srgbClr val="3C4043"/>
                </a:solidFill>
                <a:effectLst/>
                <a:highlight>
                  <a:srgbClr val="F5F5F5"/>
                </a:highlight>
                <a:latin typeface="Roboto" panose="02000000000000000000" pitchFamily="2" charset="0"/>
              </a:rPr>
              <a:t>;    Pace   </a:t>
            </a:r>
            <a:r>
              <a:rPr lang="zh-CN" altLang="en-US" b="0" i="0" dirty="0">
                <a:solidFill>
                  <a:srgbClr val="3C4043"/>
                </a:solidFill>
                <a:effectLst/>
                <a:highlight>
                  <a:srgbClr val="F5F5F5"/>
                </a:highlight>
                <a:latin typeface="Roboto" panose="02000000000000000000" pitchFamily="2" charset="0"/>
              </a:rPr>
              <a:t>佩斯</a:t>
            </a:r>
            <a:r>
              <a:rPr lang="en-US" altLang="zh-CN" b="0" i="0" dirty="0">
                <a:solidFill>
                  <a:srgbClr val="3C4043"/>
                </a:solidFill>
                <a:effectLst/>
                <a:highlight>
                  <a:srgbClr val="F5F5F5"/>
                </a:highlight>
                <a:latin typeface="Roboto" panose="02000000000000000000" pitchFamily="2" charset="0"/>
              </a:rPr>
              <a:t>;</a:t>
            </a:r>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10</a:t>
            </a:fld>
            <a:endParaRPr lang="zh-CN" altLang="en-US"/>
          </a:p>
        </p:txBody>
      </p:sp>
    </p:spTree>
    <p:extLst>
      <p:ext uri="{BB962C8B-B14F-4D97-AF65-F5344CB8AC3E}">
        <p14:creationId xmlns:p14="http://schemas.microsoft.com/office/powerpoint/2010/main" val="96676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11</a:t>
            </a:fld>
            <a:endParaRPr lang="zh-CN" altLang="en-US"/>
          </a:p>
        </p:txBody>
      </p:sp>
    </p:spTree>
    <p:extLst>
      <p:ext uri="{BB962C8B-B14F-4D97-AF65-F5344CB8AC3E}">
        <p14:creationId xmlns:p14="http://schemas.microsoft.com/office/powerpoint/2010/main" val="1321008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12</a:t>
            </a:fld>
            <a:endParaRPr lang="zh-CN" altLang="en-US"/>
          </a:p>
        </p:txBody>
      </p:sp>
    </p:spTree>
    <p:extLst>
      <p:ext uri="{BB962C8B-B14F-4D97-AF65-F5344CB8AC3E}">
        <p14:creationId xmlns:p14="http://schemas.microsoft.com/office/powerpoint/2010/main" val="951944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13</a:t>
            </a:fld>
            <a:endParaRPr lang="zh-CN" altLang="en-US"/>
          </a:p>
        </p:txBody>
      </p:sp>
    </p:spTree>
    <p:extLst>
      <p:ext uri="{BB962C8B-B14F-4D97-AF65-F5344CB8AC3E}">
        <p14:creationId xmlns:p14="http://schemas.microsoft.com/office/powerpoint/2010/main" val="1792039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14</a:t>
            </a:fld>
            <a:endParaRPr lang="zh-CN" altLang="en-US"/>
          </a:p>
        </p:txBody>
      </p:sp>
    </p:spTree>
    <p:extLst>
      <p:ext uri="{BB962C8B-B14F-4D97-AF65-F5344CB8AC3E}">
        <p14:creationId xmlns:p14="http://schemas.microsoft.com/office/powerpoint/2010/main" val="1966651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1FA003C-ACE2-4EF7-AF62-71758D32E637}" type="slidenum">
              <a:rPr lang="bg-BG" smtClean="0"/>
              <a:t>15</a:t>
            </a:fld>
            <a:endParaRPr lang="bg-BG"/>
          </a:p>
        </p:txBody>
      </p:sp>
    </p:spTree>
    <p:extLst>
      <p:ext uri="{BB962C8B-B14F-4D97-AF65-F5344CB8AC3E}">
        <p14:creationId xmlns:p14="http://schemas.microsoft.com/office/powerpoint/2010/main" val="1414826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16</a:t>
            </a:fld>
            <a:endParaRPr lang="zh-CN" altLang="en-US"/>
          </a:p>
        </p:txBody>
      </p:sp>
    </p:spTree>
    <p:extLst>
      <p:ext uri="{BB962C8B-B14F-4D97-AF65-F5344CB8AC3E}">
        <p14:creationId xmlns:p14="http://schemas.microsoft.com/office/powerpoint/2010/main" val="3883561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17</a:t>
            </a:fld>
            <a:endParaRPr lang="zh-CN" altLang="en-US"/>
          </a:p>
        </p:txBody>
      </p:sp>
    </p:spTree>
    <p:extLst>
      <p:ext uri="{BB962C8B-B14F-4D97-AF65-F5344CB8AC3E}">
        <p14:creationId xmlns:p14="http://schemas.microsoft.com/office/powerpoint/2010/main" val="3894768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18</a:t>
            </a:fld>
            <a:endParaRPr lang="zh-CN" altLang="en-US"/>
          </a:p>
        </p:txBody>
      </p:sp>
    </p:spTree>
    <p:extLst>
      <p:ext uri="{BB962C8B-B14F-4D97-AF65-F5344CB8AC3E}">
        <p14:creationId xmlns:p14="http://schemas.microsoft.com/office/powerpoint/2010/main" val="19906042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19</a:t>
            </a:fld>
            <a:endParaRPr lang="zh-CN" altLang="en-US"/>
          </a:p>
        </p:txBody>
      </p:sp>
    </p:spTree>
    <p:extLst>
      <p:ext uri="{BB962C8B-B14F-4D97-AF65-F5344CB8AC3E}">
        <p14:creationId xmlns:p14="http://schemas.microsoft.com/office/powerpoint/2010/main" val="327592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1FA003C-ACE2-4EF7-AF62-71758D32E637}" type="slidenum">
              <a:rPr lang="bg-BG" smtClean="0"/>
              <a:t>20</a:t>
            </a:fld>
            <a:endParaRPr lang="bg-BG"/>
          </a:p>
        </p:txBody>
      </p:sp>
    </p:spTree>
    <p:extLst>
      <p:ext uri="{BB962C8B-B14F-4D97-AF65-F5344CB8AC3E}">
        <p14:creationId xmlns:p14="http://schemas.microsoft.com/office/powerpoint/2010/main" val="1741892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21</a:t>
            </a:fld>
            <a:endParaRPr lang="zh-CN" altLang="en-US"/>
          </a:p>
        </p:txBody>
      </p:sp>
    </p:spTree>
    <p:extLst>
      <p:ext uri="{BB962C8B-B14F-4D97-AF65-F5344CB8AC3E}">
        <p14:creationId xmlns:p14="http://schemas.microsoft.com/office/powerpoint/2010/main" val="1705255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22</a:t>
            </a:fld>
            <a:endParaRPr lang="zh-CN" altLang="en-US"/>
          </a:p>
        </p:txBody>
      </p:sp>
    </p:spTree>
    <p:extLst>
      <p:ext uri="{BB962C8B-B14F-4D97-AF65-F5344CB8AC3E}">
        <p14:creationId xmlns:p14="http://schemas.microsoft.com/office/powerpoint/2010/main" val="307651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23</a:t>
            </a:fld>
            <a:endParaRPr lang="zh-CN" altLang="en-US"/>
          </a:p>
        </p:txBody>
      </p:sp>
    </p:spTree>
    <p:extLst>
      <p:ext uri="{BB962C8B-B14F-4D97-AF65-F5344CB8AC3E}">
        <p14:creationId xmlns:p14="http://schemas.microsoft.com/office/powerpoint/2010/main" val="885838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24</a:t>
            </a:fld>
            <a:endParaRPr lang="zh-CN" altLang="en-US"/>
          </a:p>
        </p:txBody>
      </p:sp>
    </p:spTree>
    <p:extLst>
      <p:ext uri="{BB962C8B-B14F-4D97-AF65-F5344CB8AC3E}">
        <p14:creationId xmlns:p14="http://schemas.microsoft.com/office/powerpoint/2010/main" val="768270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1FA003C-ACE2-4EF7-AF62-71758D32E637}" type="slidenum">
              <a:rPr lang="bg-BG" smtClean="0"/>
              <a:t>25</a:t>
            </a:fld>
            <a:endParaRPr lang="bg-BG"/>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B9E2D9-C962-4583-A8EF-D48144FA9627}" type="slidenum">
              <a:rPr lang="zh-CN" altLang="en-US" smtClean="0"/>
              <a:t>26</a:t>
            </a:fld>
            <a:endParaRPr lang="zh-CN" altLang="en-US"/>
          </a:p>
        </p:txBody>
      </p:sp>
    </p:spTree>
    <p:extLst>
      <p:ext uri="{BB962C8B-B14F-4D97-AF65-F5344CB8AC3E}">
        <p14:creationId xmlns:p14="http://schemas.microsoft.com/office/powerpoint/2010/main" val="29633201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0" i="0" dirty="0">
                <a:solidFill>
                  <a:srgbClr val="2A2B2E"/>
                </a:solidFill>
                <a:effectLst/>
                <a:highlight>
                  <a:srgbClr val="FFFFFF"/>
                </a:highlight>
                <a:latin typeface="PingFang SC"/>
              </a:rPr>
              <a:t>现在，每一种酶都根据它催化的化学反应的类型进行分类和命名。因此，一种酶被赋予了一个四位数的分类和一个由两部分组成的名称，称为系统名称。此外，</a:t>
            </a:r>
            <a:r>
              <a:rPr lang="en-US" altLang="zh-CN" b="0" i="0" dirty="0">
                <a:solidFill>
                  <a:srgbClr val="2A2B2E"/>
                </a:solidFill>
                <a:effectLst/>
                <a:highlight>
                  <a:srgbClr val="FFFFFF"/>
                </a:highlight>
                <a:latin typeface="PingFang SC"/>
              </a:rPr>
              <a:t>IUB</a:t>
            </a:r>
            <a:r>
              <a:rPr lang="zh-CN" altLang="en-US" b="0" i="0" dirty="0">
                <a:solidFill>
                  <a:srgbClr val="2A2B2E"/>
                </a:solidFill>
                <a:effectLst/>
                <a:highlight>
                  <a:srgbClr val="FFFFFF"/>
                </a:highlight>
                <a:latin typeface="PingFang SC"/>
              </a:rPr>
              <a:t>还建议使用日常使用的推荐名称。</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1536749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gluconic acid</a:t>
            </a:r>
            <a:r>
              <a:rPr lang="zh-CN" altLang="en-US" dirty="0"/>
              <a:t>葡萄糖酸：一种由葡萄糖氧化得到的结晶性酸，化学式为</a:t>
            </a:r>
            <a:r>
              <a:rPr lang="en-US" altLang="zh-CN" dirty="0"/>
              <a:t>C6H12O7;   glucose  </a:t>
            </a:r>
            <a:r>
              <a:rPr lang="zh-CN" altLang="en-US" b="0" i="0" dirty="0">
                <a:solidFill>
                  <a:srgbClr val="2A2B2E"/>
                </a:solidFill>
                <a:effectLst/>
                <a:highlight>
                  <a:srgbClr val="FFFFFF"/>
                </a:highlight>
                <a:latin typeface="PingFang SC"/>
              </a:rPr>
              <a:t>葡萄糖</a:t>
            </a:r>
            <a:r>
              <a:rPr lang="en-US" altLang="zh-CN" b="0" i="0" dirty="0">
                <a:solidFill>
                  <a:srgbClr val="2A2B2E"/>
                </a:solidFill>
                <a:effectLst/>
                <a:highlight>
                  <a:srgbClr val="FFFFFF"/>
                </a:highlight>
                <a:latin typeface="PingFang SC"/>
              </a:rPr>
              <a:t>;</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6356495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9315173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1883130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08721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8762085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1498316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1FA003C-ACE2-4EF7-AF62-71758D32E637}" type="slidenum">
              <a:rPr lang="bg-BG" smtClean="0"/>
              <a:t>38</a:t>
            </a:fld>
            <a:endParaRPr lang="bg-BG"/>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5534012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7114311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6603219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5852020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5892087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7692829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8705726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1FA003C-ACE2-4EF7-AF62-71758D32E637}" type="slidenum">
              <a:rPr lang="bg-BG" smtClean="0"/>
              <a:t>46</a:t>
            </a:fld>
            <a:endParaRPr lang="bg-BG"/>
          </a:p>
        </p:txBody>
      </p:sp>
    </p:spTree>
    <p:extLst>
      <p:ext uri="{BB962C8B-B14F-4D97-AF65-F5344CB8AC3E}">
        <p14:creationId xmlns:p14="http://schemas.microsoft.com/office/powerpoint/2010/main" val="13090579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1255425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6746646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0580384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1672793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0392666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6240859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1FA003C-ACE2-4EF7-AF62-71758D32E637}" type="slidenum">
              <a:rPr lang="bg-BG" smtClean="0"/>
              <a:t>53</a:t>
            </a:fld>
            <a:endParaRPr lang="bg-BG"/>
          </a:p>
        </p:txBody>
      </p:sp>
    </p:spTree>
    <p:extLst>
      <p:ext uri="{BB962C8B-B14F-4D97-AF65-F5344CB8AC3E}">
        <p14:creationId xmlns:p14="http://schemas.microsoft.com/office/powerpoint/2010/main" val="27730564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3677286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3614676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561592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1186102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3189324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029434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5_标题幻灯片">
    <p:spTree>
      <p:nvGrpSpPr>
        <p:cNvPr id="1" name=""/>
        <p:cNvGrpSpPr/>
        <p:nvPr/>
      </p:nvGrpSpPr>
      <p:grpSpPr>
        <a:xfrm>
          <a:off x="0" y="0"/>
          <a:ext cx="0" cy="0"/>
          <a:chOff x="0" y="0"/>
          <a:chExt cx="0" cy="0"/>
        </a:xfrm>
      </p:grpSpPr>
      <p:sp>
        <p:nvSpPr>
          <p:cNvPr id="25" name="图片占位符 24"/>
          <p:cNvSpPr>
            <a:spLocks noGrp="1"/>
          </p:cNvSpPr>
          <p:nvPr>
            <p:ph type="pic" sz="quarter" idx="10"/>
          </p:nvPr>
        </p:nvSpPr>
        <p:spPr>
          <a:xfrm>
            <a:off x="2" y="2"/>
            <a:ext cx="12191998" cy="3322235"/>
          </a:xfrm>
          <a:custGeom>
            <a:avLst/>
            <a:gdLst>
              <a:gd name="connsiteX0" fmla="*/ 10468232 w 12191998"/>
              <a:gd name="connsiteY0" fmla="*/ 2243623 h 3322235"/>
              <a:gd name="connsiteX1" fmla="*/ 12191998 w 12191998"/>
              <a:gd name="connsiteY1" fmla="*/ 2243623 h 3322235"/>
              <a:gd name="connsiteX2" fmla="*/ 12191998 w 12191998"/>
              <a:gd name="connsiteY2" fmla="*/ 3322235 h 3322235"/>
              <a:gd name="connsiteX3" fmla="*/ 10468232 w 12191998"/>
              <a:gd name="connsiteY3" fmla="*/ 3322235 h 3322235"/>
              <a:gd name="connsiteX4" fmla="*/ 8723404 w 12191998"/>
              <a:gd name="connsiteY4" fmla="*/ 2243623 h 3322235"/>
              <a:gd name="connsiteX5" fmla="*/ 10439433 w 12191998"/>
              <a:gd name="connsiteY5" fmla="*/ 2243623 h 3322235"/>
              <a:gd name="connsiteX6" fmla="*/ 10439433 w 12191998"/>
              <a:gd name="connsiteY6" fmla="*/ 3322235 h 3322235"/>
              <a:gd name="connsiteX7" fmla="*/ 8723404 w 12191998"/>
              <a:gd name="connsiteY7" fmla="*/ 3322235 h 3322235"/>
              <a:gd name="connsiteX8" fmla="*/ 6978575 w 12191998"/>
              <a:gd name="connsiteY8" fmla="*/ 2243623 h 3322235"/>
              <a:gd name="connsiteX9" fmla="*/ 8694604 w 12191998"/>
              <a:gd name="connsiteY9" fmla="*/ 2243623 h 3322235"/>
              <a:gd name="connsiteX10" fmla="*/ 8694604 w 12191998"/>
              <a:gd name="connsiteY10" fmla="*/ 3322235 h 3322235"/>
              <a:gd name="connsiteX11" fmla="*/ 6978575 w 12191998"/>
              <a:gd name="connsiteY11" fmla="*/ 3322235 h 3322235"/>
              <a:gd name="connsiteX12" fmla="*/ 5233748 w 12191998"/>
              <a:gd name="connsiteY12" fmla="*/ 2243623 h 3322235"/>
              <a:gd name="connsiteX13" fmla="*/ 6949775 w 12191998"/>
              <a:gd name="connsiteY13" fmla="*/ 2243623 h 3322235"/>
              <a:gd name="connsiteX14" fmla="*/ 6949775 w 12191998"/>
              <a:gd name="connsiteY14" fmla="*/ 3322235 h 3322235"/>
              <a:gd name="connsiteX15" fmla="*/ 5233748 w 12191998"/>
              <a:gd name="connsiteY15" fmla="*/ 3322235 h 3322235"/>
              <a:gd name="connsiteX16" fmla="*/ 3488919 w 12191998"/>
              <a:gd name="connsiteY16" fmla="*/ 2243623 h 3322235"/>
              <a:gd name="connsiteX17" fmla="*/ 5204947 w 12191998"/>
              <a:gd name="connsiteY17" fmla="*/ 2243623 h 3322235"/>
              <a:gd name="connsiteX18" fmla="*/ 5204947 w 12191998"/>
              <a:gd name="connsiteY18" fmla="*/ 3322235 h 3322235"/>
              <a:gd name="connsiteX19" fmla="*/ 3488919 w 12191998"/>
              <a:gd name="connsiteY19" fmla="*/ 3322235 h 3322235"/>
              <a:gd name="connsiteX20" fmla="*/ 1744091 w 12191998"/>
              <a:gd name="connsiteY20" fmla="*/ 2243623 h 3322235"/>
              <a:gd name="connsiteX21" fmla="*/ 3460119 w 12191998"/>
              <a:gd name="connsiteY21" fmla="*/ 2243623 h 3322235"/>
              <a:gd name="connsiteX22" fmla="*/ 3460119 w 12191998"/>
              <a:gd name="connsiteY22" fmla="*/ 3322235 h 3322235"/>
              <a:gd name="connsiteX23" fmla="*/ 1744091 w 12191998"/>
              <a:gd name="connsiteY23" fmla="*/ 3322235 h 3322235"/>
              <a:gd name="connsiteX24" fmla="*/ 0 w 12191998"/>
              <a:gd name="connsiteY24" fmla="*/ 2243623 h 3322235"/>
              <a:gd name="connsiteX25" fmla="*/ 1715292 w 12191998"/>
              <a:gd name="connsiteY25" fmla="*/ 2243623 h 3322235"/>
              <a:gd name="connsiteX26" fmla="*/ 1715292 w 12191998"/>
              <a:gd name="connsiteY26" fmla="*/ 3322235 h 3322235"/>
              <a:gd name="connsiteX27" fmla="*/ 0 w 12191998"/>
              <a:gd name="connsiteY27" fmla="*/ 3322235 h 3322235"/>
              <a:gd name="connsiteX28" fmla="*/ 10468232 w 12191998"/>
              <a:gd name="connsiteY28" fmla="*/ 1136211 h 3322235"/>
              <a:gd name="connsiteX29" fmla="*/ 12191998 w 12191998"/>
              <a:gd name="connsiteY29" fmla="*/ 1136211 h 3322235"/>
              <a:gd name="connsiteX30" fmla="*/ 12191998 w 12191998"/>
              <a:gd name="connsiteY30" fmla="*/ 2214823 h 3322235"/>
              <a:gd name="connsiteX31" fmla="*/ 10468232 w 12191998"/>
              <a:gd name="connsiteY31" fmla="*/ 2214823 h 3322235"/>
              <a:gd name="connsiteX32" fmla="*/ 6978575 w 12191998"/>
              <a:gd name="connsiteY32" fmla="*/ 1136211 h 3322235"/>
              <a:gd name="connsiteX33" fmla="*/ 8694604 w 12191998"/>
              <a:gd name="connsiteY33" fmla="*/ 1136211 h 3322235"/>
              <a:gd name="connsiteX34" fmla="*/ 8694604 w 12191998"/>
              <a:gd name="connsiteY34" fmla="*/ 2214823 h 3322235"/>
              <a:gd name="connsiteX35" fmla="*/ 6978575 w 12191998"/>
              <a:gd name="connsiteY35" fmla="*/ 2214823 h 3322235"/>
              <a:gd name="connsiteX36" fmla="*/ 5233750 w 12191998"/>
              <a:gd name="connsiteY36" fmla="*/ 1136211 h 3322235"/>
              <a:gd name="connsiteX37" fmla="*/ 6949775 w 12191998"/>
              <a:gd name="connsiteY37" fmla="*/ 1136211 h 3322235"/>
              <a:gd name="connsiteX38" fmla="*/ 6949775 w 12191998"/>
              <a:gd name="connsiteY38" fmla="*/ 2214823 h 3322235"/>
              <a:gd name="connsiteX39" fmla="*/ 5233750 w 12191998"/>
              <a:gd name="connsiteY39" fmla="*/ 2214823 h 3322235"/>
              <a:gd name="connsiteX40" fmla="*/ 3488920 w 12191998"/>
              <a:gd name="connsiteY40" fmla="*/ 1136211 h 3322235"/>
              <a:gd name="connsiteX41" fmla="*/ 5204947 w 12191998"/>
              <a:gd name="connsiteY41" fmla="*/ 1136211 h 3322235"/>
              <a:gd name="connsiteX42" fmla="*/ 5204947 w 12191998"/>
              <a:gd name="connsiteY42" fmla="*/ 2214823 h 3322235"/>
              <a:gd name="connsiteX43" fmla="*/ 3488920 w 12191998"/>
              <a:gd name="connsiteY43" fmla="*/ 2214823 h 3322235"/>
              <a:gd name="connsiteX44" fmla="*/ 1 w 12191998"/>
              <a:gd name="connsiteY44" fmla="*/ 1136211 h 3322235"/>
              <a:gd name="connsiteX45" fmla="*/ 1715293 w 12191998"/>
              <a:gd name="connsiteY45" fmla="*/ 1136211 h 3322235"/>
              <a:gd name="connsiteX46" fmla="*/ 1715293 w 12191998"/>
              <a:gd name="connsiteY46" fmla="*/ 2214823 h 3322235"/>
              <a:gd name="connsiteX47" fmla="*/ 1 w 12191998"/>
              <a:gd name="connsiteY47" fmla="*/ 2214823 h 3322235"/>
              <a:gd name="connsiteX48" fmla="*/ 10468232 w 12191998"/>
              <a:gd name="connsiteY48" fmla="*/ 0 h 3322235"/>
              <a:gd name="connsiteX49" fmla="*/ 12191998 w 12191998"/>
              <a:gd name="connsiteY49" fmla="*/ 0 h 3322235"/>
              <a:gd name="connsiteX50" fmla="*/ 12191998 w 12191998"/>
              <a:gd name="connsiteY50" fmla="*/ 1107411 h 3322235"/>
              <a:gd name="connsiteX51" fmla="*/ 10468232 w 12191998"/>
              <a:gd name="connsiteY51" fmla="*/ 1107411 h 3322235"/>
              <a:gd name="connsiteX52" fmla="*/ 6978575 w 12191998"/>
              <a:gd name="connsiteY52" fmla="*/ 0 h 3322235"/>
              <a:gd name="connsiteX53" fmla="*/ 8694604 w 12191998"/>
              <a:gd name="connsiteY53" fmla="*/ 0 h 3322235"/>
              <a:gd name="connsiteX54" fmla="*/ 8694604 w 12191998"/>
              <a:gd name="connsiteY54" fmla="*/ 1107411 h 3322235"/>
              <a:gd name="connsiteX55" fmla="*/ 6978575 w 12191998"/>
              <a:gd name="connsiteY55" fmla="*/ 1107411 h 3322235"/>
              <a:gd name="connsiteX56" fmla="*/ 5233750 w 12191998"/>
              <a:gd name="connsiteY56" fmla="*/ 0 h 3322235"/>
              <a:gd name="connsiteX57" fmla="*/ 6949775 w 12191998"/>
              <a:gd name="connsiteY57" fmla="*/ 0 h 3322235"/>
              <a:gd name="connsiteX58" fmla="*/ 6949775 w 12191998"/>
              <a:gd name="connsiteY58" fmla="*/ 1107411 h 3322235"/>
              <a:gd name="connsiteX59" fmla="*/ 5233750 w 12191998"/>
              <a:gd name="connsiteY59" fmla="*/ 1107411 h 3322235"/>
              <a:gd name="connsiteX60" fmla="*/ 3488921 w 12191998"/>
              <a:gd name="connsiteY60" fmla="*/ 0 h 3322235"/>
              <a:gd name="connsiteX61" fmla="*/ 5204947 w 12191998"/>
              <a:gd name="connsiteY61" fmla="*/ 0 h 3322235"/>
              <a:gd name="connsiteX62" fmla="*/ 5204947 w 12191998"/>
              <a:gd name="connsiteY62" fmla="*/ 1107411 h 3322235"/>
              <a:gd name="connsiteX63" fmla="*/ 3488921 w 12191998"/>
              <a:gd name="connsiteY63" fmla="*/ 1107411 h 3322235"/>
              <a:gd name="connsiteX64" fmla="*/ 2 w 12191998"/>
              <a:gd name="connsiteY64" fmla="*/ 0 h 3322235"/>
              <a:gd name="connsiteX65" fmla="*/ 1715294 w 12191998"/>
              <a:gd name="connsiteY65" fmla="*/ 0 h 3322235"/>
              <a:gd name="connsiteX66" fmla="*/ 1715294 w 12191998"/>
              <a:gd name="connsiteY66" fmla="*/ 1107411 h 3322235"/>
              <a:gd name="connsiteX67" fmla="*/ 2 w 12191998"/>
              <a:gd name="connsiteY67" fmla="*/ 1107411 h 3322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2191998" h="3322235">
                <a:moveTo>
                  <a:pt x="10468232" y="2243623"/>
                </a:moveTo>
                <a:lnTo>
                  <a:pt x="12191998" y="2243623"/>
                </a:lnTo>
                <a:lnTo>
                  <a:pt x="12191998" y="3322235"/>
                </a:lnTo>
                <a:lnTo>
                  <a:pt x="10468232" y="3322235"/>
                </a:lnTo>
                <a:close/>
                <a:moveTo>
                  <a:pt x="8723404" y="2243623"/>
                </a:moveTo>
                <a:lnTo>
                  <a:pt x="10439433" y="2243623"/>
                </a:lnTo>
                <a:lnTo>
                  <a:pt x="10439433" y="3322235"/>
                </a:lnTo>
                <a:lnTo>
                  <a:pt x="8723404" y="3322235"/>
                </a:lnTo>
                <a:close/>
                <a:moveTo>
                  <a:pt x="6978575" y="2243623"/>
                </a:moveTo>
                <a:lnTo>
                  <a:pt x="8694604" y="2243623"/>
                </a:lnTo>
                <a:lnTo>
                  <a:pt x="8694604" y="3322235"/>
                </a:lnTo>
                <a:lnTo>
                  <a:pt x="6978575" y="3322235"/>
                </a:lnTo>
                <a:close/>
                <a:moveTo>
                  <a:pt x="5233748" y="2243623"/>
                </a:moveTo>
                <a:lnTo>
                  <a:pt x="6949775" y="2243623"/>
                </a:lnTo>
                <a:lnTo>
                  <a:pt x="6949775" y="3322235"/>
                </a:lnTo>
                <a:lnTo>
                  <a:pt x="5233748" y="3322235"/>
                </a:lnTo>
                <a:close/>
                <a:moveTo>
                  <a:pt x="3488919" y="2243623"/>
                </a:moveTo>
                <a:lnTo>
                  <a:pt x="5204947" y="2243623"/>
                </a:lnTo>
                <a:lnTo>
                  <a:pt x="5204947" y="3322235"/>
                </a:lnTo>
                <a:lnTo>
                  <a:pt x="3488919" y="3322235"/>
                </a:lnTo>
                <a:close/>
                <a:moveTo>
                  <a:pt x="1744091" y="2243623"/>
                </a:moveTo>
                <a:lnTo>
                  <a:pt x="3460119" y="2243623"/>
                </a:lnTo>
                <a:lnTo>
                  <a:pt x="3460119" y="3322235"/>
                </a:lnTo>
                <a:lnTo>
                  <a:pt x="1744091" y="3322235"/>
                </a:lnTo>
                <a:close/>
                <a:moveTo>
                  <a:pt x="0" y="2243623"/>
                </a:moveTo>
                <a:lnTo>
                  <a:pt x="1715292" y="2243623"/>
                </a:lnTo>
                <a:lnTo>
                  <a:pt x="1715292" y="3322235"/>
                </a:lnTo>
                <a:lnTo>
                  <a:pt x="0" y="3322235"/>
                </a:lnTo>
                <a:close/>
                <a:moveTo>
                  <a:pt x="10468232" y="1136211"/>
                </a:moveTo>
                <a:lnTo>
                  <a:pt x="12191998" y="1136211"/>
                </a:lnTo>
                <a:lnTo>
                  <a:pt x="12191998" y="2214823"/>
                </a:lnTo>
                <a:lnTo>
                  <a:pt x="10468232" y="2214823"/>
                </a:lnTo>
                <a:close/>
                <a:moveTo>
                  <a:pt x="6978575" y="1136211"/>
                </a:moveTo>
                <a:lnTo>
                  <a:pt x="8694604" y="1136211"/>
                </a:lnTo>
                <a:lnTo>
                  <a:pt x="8694604" y="2214823"/>
                </a:lnTo>
                <a:lnTo>
                  <a:pt x="6978575" y="2214823"/>
                </a:lnTo>
                <a:close/>
                <a:moveTo>
                  <a:pt x="5233750" y="1136211"/>
                </a:moveTo>
                <a:lnTo>
                  <a:pt x="6949775" y="1136211"/>
                </a:lnTo>
                <a:lnTo>
                  <a:pt x="6949775" y="2214823"/>
                </a:lnTo>
                <a:lnTo>
                  <a:pt x="5233750" y="2214823"/>
                </a:lnTo>
                <a:close/>
                <a:moveTo>
                  <a:pt x="3488920" y="1136211"/>
                </a:moveTo>
                <a:lnTo>
                  <a:pt x="5204947" y="1136211"/>
                </a:lnTo>
                <a:lnTo>
                  <a:pt x="5204947" y="2214823"/>
                </a:lnTo>
                <a:lnTo>
                  <a:pt x="3488920" y="2214823"/>
                </a:lnTo>
                <a:close/>
                <a:moveTo>
                  <a:pt x="1" y="1136211"/>
                </a:moveTo>
                <a:lnTo>
                  <a:pt x="1715293" y="1136211"/>
                </a:lnTo>
                <a:lnTo>
                  <a:pt x="1715293" y="2214823"/>
                </a:lnTo>
                <a:lnTo>
                  <a:pt x="1" y="2214823"/>
                </a:lnTo>
                <a:close/>
                <a:moveTo>
                  <a:pt x="10468232" y="0"/>
                </a:moveTo>
                <a:lnTo>
                  <a:pt x="12191998" y="0"/>
                </a:lnTo>
                <a:lnTo>
                  <a:pt x="12191998" y="1107411"/>
                </a:lnTo>
                <a:lnTo>
                  <a:pt x="10468232" y="1107411"/>
                </a:lnTo>
                <a:close/>
                <a:moveTo>
                  <a:pt x="6978575" y="0"/>
                </a:moveTo>
                <a:lnTo>
                  <a:pt x="8694604" y="0"/>
                </a:lnTo>
                <a:lnTo>
                  <a:pt x="8694604" y="1107411"/>
                </a:lnTo>
                <a:lnTo>
                  <a:pt x="6978575" y="1107411"/>
                </a:lnTo>
                <a:close/>
                <a:moveTo>
                  <a:pt x="5233750" y="0"/>
                </a:moveTo>
                <a:lnTo>
                  <a:pt x="6949775" y="0"/>
                </a:lnTo>
                <a:lnTo>
                  <a:pt x="6949775" y="1107411"/>
                </a:lnTo>
                <a:lnTo>
                  <a:pt x="5233750" y="1107411"/>
                </a:lnTo>
                <a:close/>
                <a:moveTo>
                  <a:pt x="3488921" y="0"/>
                </a:moveTo>
                <a:lnTo>
                  <a:pt x="5204947" y="0"/>
                </a:lnTo>
                <a:lnTo>
                  <a:pt x="5204947" y="1107411"/>
                </a:lnTo>
                <a:lnTo>
                  <a:pt x="3488921" y="1107411"/>
                </a:lnTo>
                <a:close/>
                <a:moveTo>
                  <a:pt x="2" y="0"/>
                </a:moveTo>
                <a:lnTo>
                  <a:pt x="1715294" y="0"/>
                </a:lnTo>
                <a:lnTo>
                  <a:pt x="1715294" y="1107411"/>
                </a:lnTo>
                <a:lnTo>
                  <a:pt x="2" y="1107411"/>
                </a:lnTo>
                <a:close/>
              </a:path>
            </a:pathLst>
          </a:custGeom>
        </p:spPr>
        <p:txBody>
          <a:bodyPr wrap="square">
            <a:no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D997B5FA-0921-464F-AAE1-844C04324D75}" type="datetimeFigureOut">
              <a:rPr lang="zh-CN" altLang="en-US" smtClean="0"/>
              <a:t>2024/8/19</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0" indent="0" algn="l" defTabSz="914400" rtl="0" eaLnBrk="1" latinLnBrk="0" hangingPunct="1">
        <a:lnSpc>
          <a:spcPct val="130000"/>
        </a:lnSpc>
        <a:spcBef>
          <a:spcPts val="1000"/>
        </a:spcBef>
        <a:buFont typeface="Arial" panose="020B0604020202020204" pitchFamily="34" charset="0"/>
        <a:buNone/>
        <a:defRPr sz="2000" kern="1200">
          <a:solidFill>
            <a:schemeClr val="tx1"/>
          </a:solidFill>
          <a:latin typeface="微软雅黑" panose="020B0503020204020204" charset="-122"/>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kern="1200">
          <a:solidFill>
            <a:schemeClr val="tx1"/>
          </a:solidFill>
          <a:latin typeface="微软雅黑" panose="020B0503020204020204" charset="-122"/>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kern="1200">
          <a:solidFill>
            <a:schemeClr val="tx1"/>
          </a:solidFill>
          <a:latin typeface="微软雅黑" panose="020B0503020204020204" charset="-122"/>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微软雅黑" panose="020B0503020204020204" charset="-122"/>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微软雅黑" panose="020B050302020402020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hyperlink" Target="http://www.bxyuan.com/ns_detail.php?id=9293&amp;nowmenuid=13732&amp;cpath=1967:&amp;catid=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4.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5.xml"/><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4.jpe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32.png"/><Relationship Id="rId4" Type="http://schemas.openxmlformats.org/officeDocument/2006/relationships/image" Target="../media/image31.emf"/></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wmf"/><Relationship Id="rId4"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wmf"/><Relationship Id="rId4"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5.png"/><Relationship Id="rId7"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wmf"/><Relationship Id="rId4" Type="http://schemas.openxmlformats.org/officeDocument/2006/relationships/oleObject" Target="../embeddings/oleObject3.bin"/></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46.wmf"/><Relationship Id="rId4" Type="http://schemas.openxmlformats.org/officeDocument/2006/relationships/oleObject" Target="../embeddings/oleObject4.bin"/></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wmf"/><Relationship Id="rId4"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53.png"/><Relationship Id="rId5" Type="http://schemas.microsoft.com/office/2007/relationships/hdphoto" Target="../media/hdphoto1.wdp"/><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4.jpe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4.jpe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notesSlide" Target="../notesSlides/notesSlide47.xml"/><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8.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71.png"/><Relationship Id="rId4" Type="http://schemas.openxmlformats.org/officeDocument/2006/relationships/image" Target="../media/image70.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4.xml"/><Relationship Id="rId5" Type="http://schemas.openxmlformats.org/officeDocument/2006/relationships/image" Target="../media/image73.png"/><Relationship Id="rId4" Type="http://schemas.openxmlformats.org/officeDocument/2006/relationships/image" Target="../media/image7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4.jpe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7.png"/><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78.png"/></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79.png"/></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openxmlformats.org/officeDocument/2006/relationships/image" Target="../media/image81.png"/><Relationship Id="rId4" Type="http://schemas.openxmlformats.org/officeDocument/2006/relationships/image" Target="../media/image80.png"/></Relationships>
</file>

<file path=ppt/slides/_rels/slide6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014209" y="709658"/>
            <a:ext cx="1198880" cy="398780"/>
          </a:xfrm>
          <a:prstGeom prst="rect">
            <a:avLst/>
          </a:prstGeom>
        </p:spPr>
        <p:txBody>
          <a:bodyPr wrap="none">
            <a:spAutoFit/>
          </a:bodyPr>
          <a:lstStyle/>
          <a:p>
            <a:r>
              <a:rPr lang="zh-CN" altLang="en-US" sz="2000" dirty="0">
                <a:solidFill>
                  <a:schemeClr val="bg1"/>
                </a:solidFill>
                <a:cs typeface="+mn-ea"/>
                <a:sym typeface="+mn-lt"/>
              </a:rPr>
              <a:t>博学慎思</a:t>
            </a:r>
          </a:p>
        </p:txBody>
      </p:sp>
      <p:sp>
        <p:nvSpPr>
          <p:cNvPr id="9" name="矩形 8"/>
          <p:cNvSpPr/>
          <p:nvPr/>
        </p:nvSpPr>
        <p:spPr>
          <a:xfrm>
            <a:off x="10431714" y="1222802"/>
            <a:ext cx="1198880" cy="398780"/>
          </a:xfrm>
          <a:prstGeom prst="rect">
            <a:avLst/>
          </a:prstGeom>
        </p:spPr>
        <p:txBody>
          <a:bodyPr wrap="none">
            <a:spAutoFit/>
          </a:bodyPr>
          <a:lstStyle/>
          <a:p>
            <a:r>
              <a:rPr lang="zh-CN" altLang="en-US" sz="2000" dirty="0">
                <a:solidFill>
                  <a:schemeClr val="bg1"/>
                </a:solidFill>
                <a:cs typeface="+mn-ea"/>
                <a:sym typeface="+mn-lt"/>
              </a:rPr>
              <a:t>明辨笃行</a:t>
            </a:r>
          </a:p>
        </p:txBody>
      </p:sp>
      <p:sp>
        <p:nvSpPr>
          <p:cNvPr id="11" name="矩形 10"/>
          <p:cNvSpPr/>
          <p:nvPr/>
        </p:nvSpPr>
        <p:spPr>
          <a:xfrm>
            <a:off x="635" y="2008505"/>
            <a:ext cx="12192000" cy="1563370"/>
          </a:xfrm>
          <a:prstGeom prst="rect">
            <a:avLst/>
          </a:prstGeom>
          <a:solidFill>
            <a:srgbClr val="1D50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15" name="文本框 14"/>
          <p:cNvSpPr txBox="1"/>
          <p:nvPr/>
        </p:nvSpPr>
        <p:spPr>
          <a:xfrm>
            <a:off x="1238885" y="2008505"/>
            <a:ext cx="9716135" cy="1593513"/>
          </a:xfrm>
          <a:prstGeom prst="rect">
            <a:avLst/>
          </a:prstGeom>
          <a:noFill/>
        </p:spPr>
        <p:txBody>
          <a:bodyPr wrap="square" lIns="0" rtlCol="0">
            <a:spAutoFit/>
          </a:bodyPr>
          <a:lstStyle/>
          <a:p>
            <a:pPr algn="ctr">
              <a:lnSpc>
                <a:spcPct val="150000"/>
              </a:lnSpc>
            </a:pPr>
            <a:r>
              <a:rPr lang="zh-CN" altLang="en-US" sz="4400" b="1" dirty="0">
                <a:solidFill>
                  <a:schemeClr val="bg1"/>
                </a:solidFill>
                <a:ea typeface="华文行楷" panose="02010800040101010101" pitchFamily="2" charset="-122"/>
                <a:sym typeface="+mn-lt"/>
              </a:rPr>
              <a:t>第一章  绪论</a:t>
            </a:r>
          </a:p>
          <a:p>
            <a:pPr algn="ctr">
              <a:lnSpc>
                <a:spcPct val="150000"/>
              </a:lnSpc>
            </a:pPr>
            <a:r>
              <a:rPr lang="en-US" altLang="zh-CN" sz="2400" b="1" dirty="0">
                <a:solidFill>
                  <a:schemeClr val="bg1"/>
                </a:solidFill>
                <a:latin typeface="Arial" panose="020B0604020202020204" pitchFamily="34" charset="0"/>
                <a:ea typeface="宋体" panose="02010600030101010101" pitchFamily="2" charset="-122"/>
                <a:cs typeface="Arial" panose="020B0604020202020204" pitchFamily="34" charset="0"/>
                <a:sym typeface="+mn-ea"/>
              </a:rPr>
              <a:t>Introduction</a:t>
            </a:r>
            <a:endParaRPr lang="zh-CN" sz="2400" b="1" dirty="0">
              <a:solidFill>
                <a:schemeClr val="bg1"/>
              </a:solidFill>
              <a:latin typeface="Arial" panose="020B0604020202020204" pitchFamily="34" charset="0"/>
              <a:ea typeface="宋体" panose="02010600030101010101" pitchFamily="2" charset="-122"/>
              <a:cs typeface="Arial" panose="020B0604020202020204" pitchFamily="34" charset="0"/>
              <a:sym typeface="+mn-ea"/>
            </a:endParaRPr>
          </a:p>
        </p:txBody>
      </p:sp>
      <p:pic>
        <p:nvPicPr>
          <p:cNvPr id="27" name="图片 26" descr="C:/Users/君怡的~1/AppData/Local/Temp/kaimatting/20220312092813/output_aiMatting_20220312092845.pngoutput_aiMatting_20220312092845"/>
          <p:cNvPicPr>
            <a:picLocks noChangeAspect="1"/>
          </p:cNvPicPr>
          <p:nvPr/>
        </p:nvPicPr>
        <p:blipFill>
          <a:blip r:embed="rId2"/>
          <a:srcRect l="12439" t="-3264" r="19187" b="33140"/>
          <a:stretch>
            <a:fillRect/>
          </a:stretch>
        </p:blipFill>
        <p:spPr>
          <a:xfrm>
            <a:off x="294005" y="111125"/>
            <a:ext cx="1579245" cy="1596390"/>
          </a:xfrm>
          <a:prstGeom prst="ellipse">
            <a:avLst/>
          </a:prstGeom>
        </p:spPr>
      </p:pic>
      <p:sp>
        <p:nvSpPr>
          <p:cNvPr id="3" name="Rectangle 3"/>
          <p:cNvSpPr txBox="1">
            <a:spLocks noChangeArrowheads="1"/>
          </p:cNvSpPr>
          <p:nvPr/>
        </p:nvSpPr>
        <p:spPr>
          <a:xfrm>
            <a:off x="1753534" y="4311398"/>
            <a:ext cx="9201486" cy="17526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zh-CN" altLang="en-US" sz="2400" b="1" dirty="0">
                <a:latin typeface="+mn-ea"/>
              </a:rPr>
              <a:t>华南理工大学生物科学与工程学院</a:t>
            </a:r>
          </a:p>
          <a:p>
            <a:pPr marL="0" indent="0" algn="ctr">
              <a:lnSpc>
                <a:spcPct val="150000"/>
              </a:lnSpc>
              <a:buNone/>
            </a:pPr>
            <a:r>
              <a:rPr lang="en-US" altLang="zh-CN" sz="1600" b="1" dirty="0">
                <a:latin typeface="+mn-ea"/>
              </a:rPr>
              <a:t>School of Biology and Biological Engineering, South China University of Technology</a:t>
            </a:r>
            <a:r>
              <a:rPr lang="en-US" altLang="zh-CN" sz="2400" b="1" dirty="0">
                <a:latin typeface="+mn-ea"/>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图片 111"/>
          <p:cNvPicPr/>
          <p:nvPr/>
        </p:nvPicPr>
        <p:blipFill>
          <a:blip r:embed="rId3"/>
          <a:stretch>
            <a:fillRect/>
          </a:stretch>
        </p:blipFill>
        <p:spPr>
          <a:xfrm>
            <a:off x="0" y="4582940"/>
            <a:ext cx="12192000" cy="2266315"/>
          </a:xfrm>
          <a:prstGeom prst="rect">
            <a:avLst/>
          </a:prstGeom>
          <a:noFill/>
          <a:ln w="9525">
            <a:noFill/>
          </a:ln>
        </p:spPr>
      </p:pic>
      <p:sp>
        <p:nvSpPr>
          <p:cNvPr id="14" name="矩形 13"/>
          <p:cNvSpPr/>
          <p:nvPr/>
        </p:nvSpPr>
        <p:spPr>
          <a:xfrm>
            <a:off x="5696565" y="-42270"/>
            <a:ext cx="4850111" cy="6837045"/>
          </a:xfrm>
          <a:prstGeom prst="rect">
            <a:avLst/>
          </a:prstGeom>
          <a:solidFill>
            <a:srgbClr val="1D50A2">
              <a:alpha val="69000"/>
            </a:srgbClr>
          </a:solidFill>
          <a:ln w="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sp>
        <p:nvSpPr>
          <p:cNvPr id="17" name="文本框 16"/>
          <p:cNvSpPr txBox="1"/>
          <p:nvPr/>
        </p:nvSpPr>
        <p:spPr>
          <a:xfrm>
            <a:off x="1195705" y="2248535"/>
            <a:ext cx="3982720" cy="1322070"/>
          </a:xfrm>
          <a:prstGeom prst="rect">
            <a:avLst/>
          </a:prstGeom>
          <a:noFill/>
        </p:spPr>
        <p:txBody>
          <a:bodyPr wrap="square" lIns="0" rtlCol="0">
            <a:spAutoFit/>
          </a:bodyPr>
          <a:lstStyle/>
          <a:p>
            <a:r>
              <a:rPr lang="zh-CN" altLang="en-US" sz="6000" b="1" dirty="0">
                <a:solidFill>
                  <a:srgbClr val="1D50A2"/>
                </a:solidFill>
                <a:cs typeface="+mn-ea"/>
                <a:sym typeface="+mn-lt"/>
              </a:rPr>
              <a:t>主要内容</a:t>
            </a:r>
          </a:p>
          <a:p>
            <a:r>
              <a:rPr lang="en-US" altLang="zh-CN" sz="2000" b="1" dirty="0">
                <a:sym typeface="+mn-ea"/>
              </a:rPr>
              <a:t>Main Contents</a:t>
            </a:r>
            <a:endParaRPr lang="zh-CN" altLang="en-US" sz="2000" b="1" dirty="0">
              <a:solidFill>
                <a:srgbClr val="1D50A2"/>
              </a:solidFill>
              <a:cs typeface="+mn-ea"/>
              <a:sym typeface="+mn-lt"/>
            </a:endParaRPr>
          </a:p>
        </p:txBody>
      </p:sp>
      <p:grpSp>
        <p:nvGrpSpPr>
          <p:cNvPr id="91" name="组合 90">
            <a:extLst>
              <a:ext uri="{FF2B5EF4-FFF2-40B4-BE49-F238E27FC236}">
                <a16:creationId xmlns:a16="http://schemas.microsoft.com/office/drawing/2014/main" id="{1217C62B-39EC-9ABA-4C38-36BFBCED5A60}"/>
              </a:ext>
            </a:extLst>
          </p:cNvPr>
          <p:cNvGrpSpPr/>
          <p:nvPr/>
        </p:nvGrpSpPr>
        <p:grpSpPr>
          <a:xfrm>
            <a:off x="6161310" y="5690806"/>
            <a:ext cx="2552646" cy="584775"/>
            <a:chOff x="6198162" y="5875482"/>
            <a:chExt cx="2552646" cy="584775"/>
          </a:xfrm>
        </p:grpSpPr>
        <p:grpSp>
          <p:nvGrpSpPr>
            <p:cNvPr id="60" name="组合 59"/>
            <p:cNvGrpSpPr/>
            <p:nvPr/>
          </p:nvGrpSpPr>
          <p:grpSpPr>
            <a:xfrm>
              <a:off x="6198162" y="5875482"/>
              <a:ext cx="663415" cy="584775"/>
              <a:chOff x="1184113" y="4050357"/>
              <a:chExt cx="663415" cy="584775"/>
            </a:xfrm>
          </p:grpSpPr>
          <p:sp>
            <p:nvSpPr>
              <p:cNvPr id="62" name="文本框 61"/>
              <p:cNvSpPr txBox="1"/>
              <p:nvPr/>
            </p:nvSpPr>
            <p:spPr>
              <a:xfrm>
                <a:off x="1184113" y="4050357"/>
                <a:ext cx="663415" cy="584775"/>
              </a:xfrm>
              <a:prstGeom prst="rect">
                <a:avLst/>
              </a:prstGeom>
              <a:noFill/>
            </p:spPr>
            <p:txBody>
              <a:bodyPr wrap="square" lIns="0" rtlCol="0">
                <a:spAutoFit/>
              </a:bodyPr>
              <a:lstStyle/>
              <a:p>
                <a:pPr algn="l"/>
                <a:r>
                  <a:rPr lang="en-US" altLang="zh-CN" sz="3200" b="1" dirty="0">
                    <a:solidFill>
                      <a:schemeClr val="bg1"/>
                    </a:solidFill>
                    <a:cs typeface="+mn-ea"/>
                    <a:sym typeface="+mn-lt"/>
                  </a:rPr>
                  <a:t>08</a:t>
                </a:r>
              </a:p>
            </p:txBody>
          </p:sp>
          <p:cxnSp>
            <p:nvCxnSpPr>
              <p:cNvPr id="63" name="直接连接符"/>
              <p:cNvCxnSpPr/>
              <p:nvPr/>
            </p:nvCxnSpPr>
            <p:spPr bwMode="auto">
              <a:xfrm flipH="1">
                <a:off x="1515820" y="4333461"/>
                <a:ext cx="240312" cy="2310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1" name="文本框 60"/>
            <p:cNvSpPr txBox="1"/>
            <p:nvPr/>
          </p:nvSpPr>
          <p:spPr>
            <a:xfrm>
              <a:off x="6861578" y="6040159"/>
              <a:ext cx="1889230" cy="398780"/>
            </a:xfrm>
            <a:prstGeom prst="rect">
              <a:avLst/>
            </a:prstGeom>
            <a:noFill/>
          </p:spPr>
          <p:txBody>
            <a:bodyPr wrap="square" lIns="0" rtlCol="0">
              <a:spAutoFit/>
            </a:bodyPr>
            <a:lstStyle/>
            <a:p>
              <a:r>
                <a:rPr lang="zh-CN" altLang="en-US" sz="2000" b="1" dirty="0">
                  <a:solidFill>
                    <a:schemeClr val="bg1"/>
                  </a:solidFill>
                  <a:cs typeface="+mn-ea"/>
                  <a:sym typeface="+mn-lt"/>
                </a:rPr>
                <a:t>酶工程发展概况</a:t>
              </a:r>
            </a:p>
          </p:txBody>
        </p:sp>
      </p:grpSp>
      <p:sp>
        <p:nvSpPr>
          <p:cNvPr id="42" name="íṧlidé"/>
          <p:cNvSpPr txBox="1"/>
          <p:nvPr/>
        </p:nvSpPr>
        <p:spPr>
          <a:xfrm>
            <a:off x="2636838" y="7205398"/>
            <a:ext cx="4659689" cy="430545"/>
          </a:xfrm>
          <a:prstGeom prst="rect">
            <a:avLst/>
          </a:prstGeom>
          <a:noFill/>
        </p:spPr>
        <p:txBody>
          <a:bodyPr wrap="square" lIns="91440" tIns="45720" rIns="91440" bIns="45720" anchor="b" anchorCtr="0">
            <a:normAutofit/>
          </a:bodyPr>
          <a:lstStyle/>
          <a:p>
            <a:endParaRPr lang="zh-CN" altLang="en-US" sz="2000" b="1" dirty="0">
              <a:cs typeface="+mn-ea"/>
              <a:sym typeface="+mn-lt"/>
            </a:endParaRPr>
          </a:p>
        </p:txBody>
      </p:sp>
      <p:pic>
        <p:nvPicPr>
          <p:cNvPr id="115" name="图片 114"/>
          <p:cNvPicPr/>
          <p:nvPr/>
        </p:nvPicPr>
        <p:blipFill>
          <a:blip r:embed="rId4"/>
          <a:srcRect b="7504"/>
          <a:stretch>
            <a:fillRect/>
          </a:stretch>
        </p:blipFill>
        <p:spPr>
          <a:xfrm>
            <a:off x="230505" y="97155"/>
            <a:ext cx="1701800" cy="1150620"/>
          </a:xfrm>
          <a:prstGeom prst="rect">
            <a:avLst/>
          </a:prstGeom>
          <a:noFill/>
          <a:ln w="9525">
            <a:noFill/>
          </a:ln>
        </p:spPr>
      </p:pic>
      <p:grpSp>
        <p:nvGrpSpPr>
          <p:cNvPr id="90" name="组合 89">
            <a:extLst>
              <a:ext uri="{FF2B5EF4-FFF2-40B4-BE49-F238E27FC236}">
                <a16:creationId xmlns:a16="http://schemas.microsoft.com/office/drawing/2014/main" id="{C266E92F-ABE4-9320-AC75-D93D3FE8B5B5}"/>
              </a:ext>
            </a:extLst>
          </p:cNvPr>
          <p:cNvGrpSpPr/>
          <p:nvPr/>
        </p:nvGrpSpPr>
        <p:grpSpPr>
          <a:xfrm>
            <a:off x="6176962" y="4944267"/>
            <a:ext cx="3888116" cy="584775"/>
            <a:chOff x="6169135" y="5263616"/>
            <a:chExt cx="3888116" cy="584775"/>
          </a:xfrm>
        </p:grpSpPr>
        <p:grpSp>
          <p:nvGrpSpPr>
            <p:cNvPr id="55" name="组合 54"/>
            <p:cNvGrpSpPr/>
            <p:nvPr/>
          </p:nvGrpSpPr>
          <p:grpSpPr>
            <a:xfrm>
              <a:off x="6169135" y="5263616"/>
              <a:ext cx="721467" cy="584775"/>
              <a:chOff x="1184114" y="4012862"/>
              <a:chExt cx="663415" cy="584775"/>
            </a:xfrm>
          </p:grpSpPr>
          <p:sp>
            <p:nvSpPr>
              <p:cNvPr id="57" name="文本框 56"/>
              <p:cNvSpPr txBox="1"/>
              <p:nvPr/>
            </p:nvSpPr>
            <p:spPr>
              <a:xfrm>
                <a:off x="1184114" y="4012862"/>
                <a:ext cx="663415" cy="584775"/>
              </a:xfrm>
              <a:prstGeom prst="rect">
                <a:avLst/>
              </a:prstGeom>
              <a:noFill/>
            </p:spPr>
            <p:txBody>
              <a:bodyPr wrap="square" lIns="0" rtlCol="0">
                <a:spAutoFit/>
              </a:bodyPr>
              <a:lstStyle/>
              <a:p>
                <a:pPr algn="l"/>
                <a:r>
                  <a:rPr lang="en-US" altLang="zh-CN" sz="3200" b="1" dirty="0">
                    <a:solidFill>
                      <a:schemeClr val="bg1"/>
                    </a:solidFill>
                    <a:cs typeface="+mn-ea"/>
                    <a:sym typeface="+mn-lt"/>
                  </a:rPr>
                  <a:t>07</a:t>
                </a:r>
              </a:p>
            </p:txBody>
          </p:sp>
          <p:cxnSp>
            <p:nvCxnSpPr>
              <p:cNvPr id="58" name="直接连接符"/>
              <p:cNvCxnSpPr/>
              <p:nvPr/>
            </p:nvCxnSpPr>
            <p:spPr bwMode="auto">
              <a:xfrm flipH="1">
                <a:off x="1515820" y="4333461"/>
                <a:ext cx="240312" cy="2310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6" name="文本框 55"/>
            <p:cNvSpPr txBox="1"/>
            <p:nvPr/>
          </p:nvSpPr>
          <p:spPr>
            <a:xfrm>
              <a:off x="7022586" y="5316625"/>
              <a:ext cx="3034665"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3" name="文本框 2">
              <a:extLst>
                <a:ext uri="{FF2B5EF4-FFF2-40B4-BE49-F238E27FC236}">
                  <a16:creationId xmlns:a16="http://schemas.microsoft.com/office/drawing/2014/main" id="{1F2CF3CF-36E0-2A6A-C68B-D0A0DDC10C46}"/>
                </a:ext>
              </a:extLst>
            </p:cNvPr>
            <p:cNvSpPr txBox="1"/>
            <p:nvPr/>
          </p:nvSpPr>
          <p:spPr>
            <a:xfrm>
              <a:off x="6861578" y="5416863"/>
              <a:ext cx="1715496" cy="398780"/>
            </a:xfrm>
            <a:prstGeom prst="rect">
              <a:avLst/>
            </a:prstGeom>
            <a:noFill/>
          </p:spPr>
          <p:txBody>
            <a:bodyPr wrap="square" lIns="0" rtlCol="0">
              <a:spAutoFit/>
            </a:bodyPr>
            <a:lstStyle/>
            <a:p>
              <a:r>
                <a:rPr lang="zh-CN" altLang="en-US" sz="2000" b="1" dirty="0">
                  <a:solidFill>
                    <a:schemeClr val="bg1"/>
                  </a:solidFill>
                  <a:cs typeface="+mn-ea"/>
                  <a:sym typeface="+mn-lt"/>
                </a:rPr>
                <a:t>酶的生产方法</a:t>
              </a:r>
            </a:p>
          </p:txBody>
        </p:sp>
      </p:grpSp>
      <p:grpSp>
        <p:nvGrpSpPr>
          <p:cNvPr id="89" name="组合 88">
            <a:extLst>
              <a:ext uri="{FF2B5EF4-FFF2-40B4-BE49-F238E27FC236}">
                <a16:creationId xmlns:a16="http://schemas.microsoft.com/office/drawing/2014/main" id="{39A6B10F-8BCF-E3D8-A55F-E466B924EFD8}"/>
              </a:ext>
            </a:extLst>
          </p:cNvPr>
          <p:cNvGrpSpPr/>
          <p:nvPr/>
        </p:nvGrpSpPr>
        <p:grpSpPr>
          <a:xfrm>
            <a:off x="6177635" y="4195714"/>
            <a:ext cx="3940595" cy="584775"/>
            <a:chOff x="6161596" y="4615983"/>
            <a:chExt cx="3940595" cy="584775"/>
          </a:xfrm>
        </p:grpSpPr>
        <p:grpSp>
          <p:nvGrpSpPr>
            <p:cNvPr id="35" name="组合 34"/>
            <p:cNvGrpSpPr/>
            <p:nvPr/>
          </p:nvGrpSpPr>
          <p:grpSpPr>
            <a:xfrm>
              <a:off x="6161596" y="4615983"/>
              <a:ext cx="663415" cy="584775"/>
              <a:chOff x="1184113" y="4050357"/>
              <a:chExt cx="663415" cy="584775"/>
            </a:xfrm>
          </p:grpSpPr>
          <p:sp>
            <p:nvSpPr>
              <p:cNvPr id="37" name="文本框 36"/>
              <p:cNvSpPr txBox="1"/>
              <p:nvPr/>
            </p:nvSpPr>
            <p:spPr>
              <a:xfrm>
                <a:off x="1184113" y="4050357"/>
                <a:ext cx="663415" cy="584775"/>
              </a:xfrm>
              <a:prstGeom prst="rect">
                <a:avLst/>
              </a:prstGeom>
              <a:noFill/>
            </p:spPr>
            <p:txBody>
              <a:bodyPr wrap="square" lIns="0" rtlCol="0">
                <a:spAutoFit/>
              </a:bodyPr>
              <a:lstStyle/>
              <a:p>
                <a:pPr algn="l"/>
                <a:r>
                  <a:rPr lang="en-US" altLang="zh-CN" sz="3200" b="1" dirty="0">
                    <a:solidFill>
                      <a:schemeClr val="bg1"/>
                    </a:solidFill>
                    <a:cs typeface="+mn-ea"/>
                    <a:sym typeface="+mn-lt"/>
                  </a:rPr>
                  <a:t>06</a:t>
                </a:r>
              </a:p>
            </p:txBody>
          </p:sp>
          <p:cxnSp>
            <p:nvCxnSpPr>
              <p:cNvPr id="38" name="直接连接符"/>
              <p:cNvCxnSpPr/>
              <p:nvPr/>
            </p:nvCxnSpPr>
            <p:spPr bwMode="auto">
              <a:xfrm flipH="1">
                <a:off x="1515820" y="4333461"/>
                <a:ext cx="240312" cy="2310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文本框 35"/>
            <p:cNvSpPr txBox="1"/>
            <p:nvPr/>
          </p:nvSpPr>
          <p:spPr>
            <a:xfrm>
              <a:off x="6879566" y="4694659"/>
              <a:ext cx="3222625" cy="39878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5" name="文本框 4">
              <a:extLst>
                <a:ext uri="{FF2B5EF4-FFF2-40B4-BE49-F238E27FC236}">
                  <a16:creationId xmlns:a16="http://schemas.microsoft.com/office/drawing/2014/main" id="{A1BAB8B1-56FF-C023-AA65-98B6F277BA94}"/>
                </a:ext>
              </a:extLst>
            </p:cNvPr>
            <p:cNvSpPr txBox="1"/>
            <p:nvPr/>
          </p:nvSpPr>
          <p:spPr>
            <a:xfrm>
              <a:off x="6875009" y="4768952"/>
              <a:ext cx="1702064" cy="400110"/>
            </a:xfrm>
            <a:prstGeom prst="rect">
              <a:avLst/>
            </a:prstGeom>
            <a:noFill/>
          </p:spPr>
          <p:txBody>
            <a:bodyPr wrap="square" lIns="0" rtlCol="0">
              <a:spAutoFit/>
            </a:bodyPr>
            <a:lstStyle/>
            <a:p>
              <a:r>
                <a:rPr lang="zh-CN" altLang="en-US" sz="2000" b="1" dirty="0">
                  <a:solidFill>
                    <a:schemeClr val="bg1"/>
                  </a:solidFill>
                  <a:cs typeface="+mn-ea"/>
                  <a:sym typeface="+mn-lt"/>
                </a:rPr>
                <a:t>酶的活力测定</a:t>
              </a:r>
            </a:p>
          </p:txBody>
        </p:sp>
      </p:grpSp>
      <p:grpSp>
        <p:nvGrpSpPr>
          <p:cNvPr id="88" name="组合 87">
            <a:extLst>
              <a:ext uri="{FF2B5EF4-FFF2-40B4-BE49-F238E27FC236}">
                <a16:creationId xmlns:a16="http://schemas.microsoft.com/office/drawing/2014/main" id="{BE76BF7A-FB5C-24A7-634D-97EA961CA1BF}"/>
              </a:ext>
            </a:extLst>
          </p:cNvPr>
          <p:cNvGrpSpPr/>
          <p:nvPr/>
        </p:nvGrpSpPr>
        <p:grpSpPr>
          <a:xfrm>
            <a:off x="6176962" y="3437071"/>
            <a:ext cx="3755185" cy="584775"/>
            <a:chOff x="6176962" y="4017642"/>
            <a:chExt cx="3755185" cy="584775"/>
          </a:xfrm>
        </p:grpSpPr>
        <p:grpSp>
          <p:nvGrpSpPr>
            <p:cNvPr id="30" name="组合 29"/>
            <p:cNvGrpSpPr/>
            <p:nvPr/>
          </p:nvGrpSpPr>
          <p:grpSpPr>
            <a:xfrm>
              <a:off x="6176962" y="4017642"/>
              <a:ext cx="663415" cy="584775"/>
              <a:chOff x="1184113" y="4050357"/>
              <a:chExt cx="663415" cy="584775"/>
            </a:xfrm>
          </p:grpSpPr>
          <p:sp>
            <p:nvSpPr>
              <p:cNvPr id="32" name="文本框 31"/>
              <p:cNvSpPr txBox="1"/>
              <p:nvPr/>
            </p:nvSpPr>
            <p:spPr>
              <a:xfrm>
                <a:off x="1184113" y="4050357"/>
                <a:ext cx="663415" cy="584775"/>
              </a:xfrm>
              <a:prstGeom prst="rect">
                <a:avLst/>
              </a:prstGeom>
              <a:noFill/>
            </p:spPr>
            <p:txBody>
              <a:bodyPr wrap="square" lIns="0" rtlCol="0">
                <a:spAutoFit/>
              </a:bodyPr>
              <a:lstStyle/>
              <a:p>
                <a:pPr algn="l"/>
                <a:r>
                  <a:rPr lang="en-US" altLang="zh-CN" sz="3200" b="1" dirty="0">
                    <a:solidFill>
                      <a:schemeClr val="bg1"/>
                    </a:solidFill>
                    <a:cs typeface="+mn-ea"/>
                    <a:sym typeface="+mn-lt"/>
                  </a:rPr>
                  <a:t>05</a:t>
                </a:r>
              </a:p>
            </p:txBody>
          </p:sp>
          <p:cxnSp>
            <p:nvCxnSpPr>
              <p:cNvPr id="33" name="直接连接符"/>
              <p:cNvCxnSpPr/>
              <p:nvPr/>
            </p:nvCxnSpPr>
            <p:spPr bwMode="auto">
              <a:xfrm flipH="1">
                <a:off x="1515820" y="4333461"/>
                <a:ext cx="240312" cy="2310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1" name="文本框 30"/>
            <p:cNvSpPr txBox="1"/>
            <p:nvPr/>
          </p:nvSpPr>
          <p:spPr>
            <a:xfrm>
              <a:off x="6960347" y="4072188"/>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6" name="文本框 5">
              <a:extLst>
                <a:ext uri="{FF2B5EF4-FFF2-40B4-BE49-F238E27FC236}">
                  <a16:creationId xmlns:a16="http://schemas.microsoft.com/office/drawing/2014/main" id="{E8F0C981-6042-072D-9E9C-A9F95AB07AE4}"/>
                </a:ext>
              </a:extLst>
            </p:cNvPr>
            <p:cNvSpPr txBox="1"/>
            <p:nvPr/>
          </p:nvSpPr>
          <p:spPr>
            <a:xfrm>
              <a:off x="6879566" y="4091447"/>
              <a:ext cx="1991211" cy="39878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7" name="文本框 6">
              <a:extLst>
                <a:ext uri="{FF2B5EF4-FFF2-40B4-BE49-F238E27FC236}">
                  <a16:creationId xmlns:a16="http://schemas.microsoft.com/office/drawing/2014/main" id="{FBD63781-0E47-2F90-FB6A-3B27B83A9470}"/>
                </a:ext>
              </a:extLst>
            </p:cNvPr>
            <p:cNvSpPr txBox="1"/>
            <p:nvPr/>
          </p:nvSpPr>
          <p:spPr>
            <a:xfrm>
              <a:off x="6875008" y="4165740"/>
              <a:ext cx="1875799" cy="400110"/>
            </a:xfrm>
            <a:prstGeom prst="rect">
              <a:avLst/>
            </a:prstGeom>
            <a:noFill/>
          </p:spPr>
          <p:txBody>
            <a:bodyPr wrap="square" lIns="0" rtlCol="0">
              <a:spAutoFit/>
            </a:bodyPr>
            <a:lstStyle/>
            <a:p>
              <a:r>
                <a:rPr lang="zh-CN" altLang="en-US" sz="2000" b="1" dirty="0">
                  <a:solidFill>
                    <a:schemeClr val="bg1"/>
                  </a:solidFill>
                  <a:cs typeface="+mn-ea"/>
                  <a:sym typeface="+mn-lt"/>
                </a:rPr>
                <a:t>酶的分类与命名</a:t>
              </a:r>
            </a:p>
          </p:txBody>
        </p:sp>
      </p:grpSp>
      <p:grpSp>
        <p:nvGrpSpPr>
          <p:cNvPr id="54" name="组合 53">
            <a:extLst>
              <a:ext uri="{FF2B5EF4-FFF2-40B4-BE49-F238E27FC236}">
                <a16:creationId xmlns:a16="http://schemas.microsoft.com/office/drawing/2014/main" id="{2BC97161-B2AD-223B-42B3-5486477AF13B}"/>
              </a:ext>
            </a:extLst>
          </p:cNvPr>
          <p:cNvGrpSpPr/>
          <p:nvPr/>
        </p:nvGrpSpPr>
        <p:grpSpPr>
          <a:xfrm>
            <a:off x="6171953" y="2722825"/>
            <a:ext cx="3755366" cy="584775"/>
            <a:chOff x="6230009" y="2693797"/>
            <a:chExt cx="3755366" cy="584775"/>
          </a:xfrm>
        </p:grpSpPr>
        <p:grpSp>
          <p:nvGrpSpPr>
            <p:cNvPr id="34" name="组合 33">
              <a:extLst>
                <a:ext uri="{FF2B5EF4-FFF2-40B4-BE49-F238E27FC236}">
                  <a16:creationId xmlns:a16="http://schemas.microsoft.com/office/drawing/2014/main" id="{6F1BDAC1-F3D8-F1FF-5903-251092C76175}"/>
                </a:ext>
              </a:extLst>
            </p:cNvPr>
            <p:cNvGrpSpPr/>
            <p:nvPr/>
          </p:nvGrpSpPr>
          <p:grpSpPr>
            <a:xfrm>
              <a:off x="6230009" y="2693797"/>
              <a:ext cx="663415" cy="584775"/>
              <a:chOff x="1184113" y="4050357"/>
              <a:chExt cx="663415" cy="584775"/>
            </a:xfrm>
          </p:grpSpPr>
          <p:sp>
            <p:nvSpPr>
              <p:cNvPr id="39" name="文本框 38">
                <a:extLst>
                  <a:ext uri="{FF2B5EF4-FFF2-40B4-BE49-F238E27FC236}">
                    <a16:creationId xmlns:a16="http://schemas.microsoft.com/office/drawing/2014/main" id="{5A7E5155-A2AB-632D-42A4-BA93677D085D}"/>
                  </a:ext>
                </a:extLst>
              </p:cNvPr>
              <p:cNvSpPr txBox="1"/>
              <p:nvPr/>
            </p:nvSpPr>
            <p:spPr>
              <a:xfrm>
                <a:off x="1184113" y="4050357"/>
                <a:ext cx="663415" cy="584775"/>
              </a:xfrm>
              <a:prstGeom prst="rect">
                <a:avLst/>
              </a:prstGeom>
              <a:noFill/>
            </p:spPr>
            <p:txBody>
              <a:bodyPr wrap="square" lIns="0" rtlCol="0">
                <a:spAutoFit/>
              </a:bodyPr>
              <a:lstStyle/>
              <a:p>
                <a:pPr algn="l"/>
                <a:r>
                  <a:rPr lang="en-US" altLang="zh-CN" sz="3200" b="1" dirty="0">
                    <a:solidFill>
                      <a:schemeClr val="bg1"/>
                    </a:solidFill>
                    <a:cs typeface="+mn-ea"/>
                    <a:sym typeface="+mn-lt"/>
                  </a:rPr>
                  <a:t>04</a:t>
                </a:r>
              </a:p>
            </p:txBody>
          </p:sp>
          <p:cxnSp>
            <p:nvCxnSpPr>
              <p:cNvPr id="40" name="直接连接符">
                <a:extLst>
                  <a:ext uri="{FF2B5EF4-FFF2-40B4-BE49-F238E27FC236}">
                    <a16:creationId xmlns:a16="http://schemas.microsoft.com/office/drawing/2014/main" id="{D476FFB2-C4A1-28DF-6D6B-46DCB4A6A952}"/>
                  </a:ext>
                </a:extLst>
              </p:cNvPr>
              <p:cNvCxnSpPr/>
              <p:nvPr/>
            </p:nvCxnSpPr>
            <p:spPr bwMode="auto">
              <a:xfrm flipH="1">
                <a:off x="1515820" y="4333461"/>
                <a:ext cx="240312" cy="2310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1" name="文本框 40">
              <a:extLst>
                <a:ext uri="{FF2B5EF4-FFF2-40B4-BE49-F238E27FC236}">
                  <a16:creationId xmlns:a16="http://schemas.microsoft.com/office/drawing/2014/main" id="{E0F01BE9-BF36-8DA1-FD7E-7184C04B17ED}"/>
                </a:ext>
              </a:extLst>
            </p:cNvPr>
            <p:cNvSpPr txBox="1"/>
            <p:nvPr/>
          </p:nvSpPr>
          <p:spPr>
            <a:xfrm>
              <a:off x="7013575" y="2748707"/>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43" name="文本框 42">
              <a:extLst>
                <a:ext uri="{FF2B5EF4-FFF2-40B4-BE49-F238E27FC236}">
                  <a16:creationId xmlns:a16="http://schemas.microsoft.com/office/drawing/2014/main" id="{1E79F012-BBBD-9695-2DD9-A84DAA9717C2}"/>
                </a:ext>
              </a:extLst>
            </p:cNvPr>
            <p:cNvSpPr txBox="1"/>
            <p:nvPr/>
          </p:nvSpPr>
          <p:spPr>
            <a:xfrm>
              <a:off x="6939860" y="2754434"/>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44" name="文本框 43">
              <a:extLst>
                <a:ext uri="{FF2B5EF4-FFF2-40B4-BE49-F238E27FC236}">
                  <a16:creationId xmlns:a16="http://schemas.microsoft.com/office/drawing/2014/main" id="{94462F9F-DA33-1792-2BE9-DFAD9E6345EE}"/>
                </a:ext>
              </a:extLst>
            </p:cNvPr>
            <p:cNvSpPr txBox="1"/>
            <p:nvPr/>
          </p:nvSpPr>
          <p:spPr>
            <a:xfrm>
              <a:off x="6859079" y="2773693"/>
              <a:ext cx="1991211" cy="39878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45" name="文本框 44">
              <a:extLst>
                <a:ext uri="{FF2B5EF4-FFF2-40B4-BE49-F238E27FC236}">
                  <a16:creationId xmlns:a16="http://schemas.microsoft.com/office/drawing/2014/main" id="{14AB1220-C9C8-0C2A-0F97-D024B5F81EB6}"/>
                </a:ext>
              </a:extLst>
            </p:cNvPr>
            <p:cNvSpPr txBox="1"/>
            <p:nvPr/>
          </p:nvSpPr>
          <p:spPr>
            <a:xfrm>
              <a:off x="6854521" y="2847986"/>
              <a:ext cx="2666850" cy="400110"/>
            </a:xfrm>
            <a:prstGeom prst="rect">
              <a:avLst/>
            </a:prstGeom>
            <a:noFill/>
          </p:spPr>
          <p:txBody>
            <a:bodyPr wrap="square" lIns="0" rtlCol="0">
              <a:spAutoFit/>
            </a:bodyPr>
            <a:lstStyle/>
            <a:p>
              <a:r>
                <a:rPr lang="zh-CN" altLang="en-US" sz="2000" b="1" dirty="0">
                  <a:solidFill>
                    <a:schemeClr val="bg1"/>
                  </a:solidFill>
                  <a:cs typeface="+mn-ea"/>
                  <a:sym typeface="+mn-lt"/>
                </a:rPr>
                <a:t>影响酶催化作用的因素</a:t>
              </a:r>
            </a:p>
          </p:txBody>
        </p:sp>
      </p:grpSp>
      <p:grpSp>
        <p:nvGrpSpPr>
          <p:cNvPr id="64" name="组合 63">
            <a:extLst>
              <a:ext uri="{FF2B5EF4-FFF2-40B4-BE49-F238E27FC236}">
                <a16:creationId xmlns:a16="http://schemas.microsoft.com/office/drawing/2014/main" id="{C18535B5-4E78-0023-D4F0-C014D02682EF}"/>
              </a:ext>
            </a:extLst>
          </p:cNvPr>
          <p:cNvGrpSpPr/>
          <p:nvPr/>
        </p:nvGrpSpPr>
        <p:grpSpPr>
          <a:xfrm>
            <a:off x="6199354" y="1995153"/>
            <a:ext cx="3755366" cy="584775"/>
            <a:chOff x="6230009" y="2693797"/>
            <a:chExt cx="3755366" cy="584775"/>
          </a:xfrm>
        </p:grpSpPr>
        <p:grpSp>
          <p:nvGrpSpPr>
            <p:cNvPr id="65" name="组合 64">
              <a:extLst>
                <a:ext uri="{FF2B5EF4-FFF2-40B4-BE49-F238E27FC236}">
                  <a16:creationId xmlns:a16="http://schemas.microsoft.com/office/drawing/2014/main" id="{D35B4D47-5E75-4B75-9418-A350169F7CBF}"/>
                </a:ext>
              </a:extLst>
            </p:cNvPr>
            <p:cNvGrpSpPr/>
            <p:nvPr/>
          </p:nvGrpSpPr>
          <p:grpSpPr>
            <a:xfrm>
              <a:off x="6230009" y="2693797"/>
              <a:ext cx="663415" cy="584775"/>
              <a:chOff x="1184113" y="4050357"/>
              <a:chExt cx="663415" cy="584775"/>
            </a:xfrm>
          </p:grpSpPr>
          <p:sp>
            <p:nvSpPr>
              <p:cNvPr id="70" name="文本框 69">
                <a:extLst>
                  <a:ext uri="{FF2B5EF4-FFF2-40B4-BE49-F238E27FC236}">
                    <a16:creationId xmlns:a16="http://schemas.microsoft.com/office/drawing/2014/main" id="{A2DEB6CD-0028-2C62-2A0B-99D758ECAE2A}"/>
                  </a:ext>
                </a:extLst>
              </p:cNvPr>
              <p:cNvSpPr txBox="1"/>
              <p:nvPr/>
            </p:nvSpPr>
            <p:spPr>
              <a:xfrm>
                <a:off x="1184113" y="4050357"/>
                <a:ext cx="663415" cy="584775"/>
              </a:xfrm>
              <a:prstGeom prst="rect">
                <a:avLst/>
              </a:prstGeom>
              <a:noFill/>
            </p:spPr>
            <p:txBody>
              <a:bodyPr wrap="square" lIns="0" rtlCol="0">
                <a:spAutoFit/>
              </a:bodyPr>
              <a:lstStyle/>
              <a:p>
                <a:pPr algn="l"/>
                <a:r>
                  <a:rPr lang="en-US" altLang="zh-CN" sz="3200" b="1" dirty="0">
                    <a:solidFill>
                      <a:schemeClr val="bg1"/>
                    </a:solidFill>
                    <a:cs typeface="+mn-ea"/>
                    <a:sym typeface="+mn-lt"/>
                  </a:rPr>
                  <a:t>03</a:t>
                </a:r>
              </a:p>
            </p:txBody>
          </p:sp>
          <p:cxnSp>
            <p:nvCxnSpPr>
              <p:cNvPr id="71" name="直接连接符">
                <a:extLst>
                  <a:ext uri="{FF2B5EF4-FFF2-40B4-BE49-F238E27FC236}">
                    <a16:creationId xmlns:a16="http://schemas.microsoft.com/office/drawing/2014/main" id="{0DC3E9AE-1ED9-77FC-F40A-297B79F1533D}"/>
                  </a:ext>
                </a:extLst>
              </p:cNvPr>
              <p:cNvCxnSpPr/>
              <p:nvPr/>
            </p:nvCxnSpPr>
            <p:spPr bwMode="auto">
              <a:xfrm flipH="1">
                <a:off x="1515820" y="4333461"/>
                <a:ext cx="240312" cy="2310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6" name="文本框 65">
              <a:extLst>
                <a:ext uri="{FF2B5EF4-FFF2-40B4-BE49-F238E27FC236}">
                  <a16:creationId xmlns:a16="http://schemas.microsoft.com/office/drawing/2014/main" id="{96EA12F9-84D7-0468-44F4-7B5051FEA801}"/>
                </a:ext>
              </a:extLst>
            </p:cNvPr>
            <p:cNvSpPr txBox="1"/>
            <p:nvPr/>
          </p:nvSpPr>
          <p:spPr>
            <a:xfrm>
              <a:off x="7013575" y="2748707"/>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67" name="文本框 66">
              <a:extLst>
                <a:ext uri="{FF2B5EF4-FFF2-40B4-BE49-F238E27FC236}">
                  <a16:creationId xmlns:a16="http://schemas.microsoft.com/office/drawing/2014/main" id="{9150192A-626E-F3F3-4448-2BF44EA8F73E}"/>
                </a:ext>
              </a:extLst>
            </p:cNvPr>
            <p:cNvSpPr txBox="1"/>
            <p:nvPr/>
          </p:nvSpPr>
          <p:spPr>
            <a:xfrm>
              <a:off x="6939860" y="2754434"/>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68" name="文本框 67">
              <a:extLst>
                <a:ext uri="{FF2B5EF4-FFF2-40B4-BE49-F238E27FC236}">
                  <a16:creationId xmlns:a16="http://schemas.microsoft.com/office/drawing/2014/main" id="{BD5B023B-BB46-120C-6117-4166FD5C4330}"/>
                </a:ext>
              </a:extLst>
            </p:cNvPr>
            <p:cNvSpPr txBox="1"/>
            <p:nvPr/>
          </p:nvSpPr>
          <p:spPr>
            <a:xfrm>
              <a:off x="6859079" y="2773693"/>
              <a:ext cx="1991211" cy="39878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69" name="文本框 68">
              <a:extLst>
                <a:ext uri="{FF2B5EF4-FFF2-40B4-BE49-F238E27FC236}">
                  <a16:creationId xmlns:a16="http://schemas.microsoft.com/office/drawing/2014/main" id="{94499803-AF6D-E0E7-3A8C-0F462319BF09}"/>
                </a:ext>
              </a:extLst>
            </p:cNvPr>
            <p:cNvSpPr txBox="1"/>
            <p:nvPr/>
          </p:nvSpPr>
          <p:spPr>
            <a:xfrm>
              <a:off x="6854521" y="2847986"/>
              <a:ext cx="1875799" cy="400110"/>
            </a:xfrm>
            <a:prstGeom prst="rect">
              <a:avLst/>
            </a:prstGeom>
            <a:noFill/>
          </p:spPr>
          <p:txBody>
            <a:bodyPr wrap="square" lIns="0" rtlCol="0">
              <a:spAutoFit/>
            </a:bodyPr>
            <a:lstStyle/>
            <a:p>
              <a:r>
                <a:rPr lang="zh-CN" altLang="en-US" sz="2000" b="1" dirty="0">
                  <a:solidFill>
                    <a:schemeClr val="bg1"/>
                  </a:solidFill>
                  <a:cs typeface="+mn-ea"/>
                  <a:sym typeface="+mn-lt"/>
                </a:rPr>
                <a:t>酶的作用机制</a:t>
              </a:r>
            </a:p>
          </p:txBody>
        </p:sp>
      </p:grpSp>
      <p:grpSp>
        <p:nvGrpSpPr>
          <p:cNvPr id="72" name="组合 71">
            <a:extLst>
              <a:ext uri="{FF2B5EF4-FFF2-40B4-BE49-F238E27FC236}">
                <a16:creationId xmlns:a16="http://schemas.microsoft.com/office/drawing/2014/main" id="{8A880863-9855-ACF0-5DE1-155143D3496E}"/>
              </a:ext>
            </a:extLst>
          </p:cNvPr>
          <p:cNvGrpSpPr/>
          <p:nvPr/>
        </p:nvGrpSpPr>
        <p:grpSpPr>
          <a:xfrm>
            <a:off x="6188678" y="1300006"/>
            <a:ext cx="4357999" cy="584775"/>
            <a:chOff x="6230009" y="2693797"/>
            <a:chExt cx="4357999" cy="584775"/>
          </a:xfrm>
        </p:grpSpPr>
        <p:grpSp>
          <p:nvGrpSpPr>
            <p:cNvPr id="73" name="组合 72">
              <a:extLst>
                <a:ext uri="{FF2B5EF4-FFF2-40B4-BE49-F238E27FC236}">
                  <a16:creationId xmlns:a16="http://schemas.microsoft.com/office/drawing/2014/main" id="{F60D9120-0024-A6A5-94A3-F8E75164A58A}"/>
                </a:ext>
              </a:extLst>
            </p:cNvPr>
            <p:cNvGrpSpPr/>
            <p:nvPr/>
          </p:nvGrpSpPr>
          <p:grpSpPr>
            <a:xfrm>
              <a:off x="6230009" y="2693797"/>
              <a:ext cx="663415" cy="584775"/>
              <a:chOff x="1184113" y="4050357"/>
              <a:chExt cx="663415" cy="584775"/>
            </a:xfrm>
          </p:grpSpPr>
          <p:sp>
            <p:nvSpPr>
              <p:cNvPr id="78" name="文本框 77">
                <a:extLst>
                  <a:ext uri="{FF2B5EF4-FFF2-40B4-BE49-F238E27FC236}">
                    <a16:creationId xmlns:a16="http://schemas.microsoft.com/office/drawing/2014/main" id="{656DB4F5-DE04-9356-844B-8B00BCDBB12B}"/>
                  </a:ext>
                </a:extLst>
              </p:cNvPr>
              <p:cNvSpPr txBox="1"/>
              <p:nvPr/>
            </p:nvSpPr>
            <p:spPr>
              <a:xfrm>
                <a:off x="1184113" y="4050357"/>
                <a:ext cx="663415" cy="584775"/>
              </a:xfrm>
              <a:prstGeom prst="rect">
                <a:avLst/>
              </a:prstGeom>
              <a:noFill/>
            </p:spPr>
            <p:txBody>
              <a:bodyPr wrap="square" lIns="0" rtlCol="0">
                <a:spAutoFit/>
              </a:bodyPr>
              <a:lstStyle/>
              <a:p>
                <a:pPr algn="l"/>
                <a:r>
                  <a:rPr lang="en-US" altLang="zh-CN" sz="3200" b="1" dirty="0">
                    <a:solidFill>
                      <a:schemeClr val="bg1"/>
                    </a:solidFill>
                    <a:cs typeface="+mn-ea"/>
                    <a:sym typeface="+mn-lt"/>
                  </a:rPr>
                  <a:t>02</a:t>
                </a:r>
              </a:p>
            </p:txBody>
          </p:sp>
          <p:cxnSp>
            <p:nvCxnSpPr>
              <p:cNvPr id="79" name="直接连接符">
                <a:extLst>
                  <a:ext uri="{FF2B5EF4-FFF2-40B4-BE49-F238E27FC236}">
                    <a16:creationId xmlns:a16="http://schemas.microsoft.com/office/drawing/2014/main" id="{DEA855A4-0894-D1A2-B68A-802221810061}"/>
                  </a:ext>
                </a:extLst>
              </p:cNvPr>
              <p:cNvCxnSpPr/>
              <p:nvPr/>
            </p:nvCxnSpPr>
            <p:spPr bwMode="auto">
              <a:xfrm flipH="1">
                <a:off x="1515820" y="4333461"/>
                <a:ext cx="240312" cy="2310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4" name="文本框 73">
              <a:extLst>
                <a:ext uri="{FF2B5EF4-FFF2-40B4-BE49-F238E27FC236}">
                  <a16:creationId xmlns:a16="http://schemas.microsoft.com/office/drawing/2014/main" id="{28326445-D7E1-F5A7-830E-1FE724828EBE}"/>
                </a:ext>
              </a:extLst>
            </p:cNvPr>
            <p:cNvSpPr txBox="1"/>
            <p:nvPr/>
          </p:nvSpPr>
          <p:spPr>
            <a:xfrm>
              <a:off x="7013575" y="2748707"/>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75" name="文本框 74">
              <a:extLst>
                <a:ext uri="{FF2B5EF4-FFF2-40B4-BE49-F238E27FC236}">
                  <a16:creationId xmlns:a16="http://schemas.microsoft.com/office/drawing/2014/main" id="{148E7F0B-A2D2-E52D-3DBF-B82351472F0E}"/>
                </a:ext>
              </a:extLst>
            </p:cNvPr>
            <p:cNvSpPr txBox="1"/>
            <p:nvPr/>
          </p:nvSpPr>
          <p:spPr>
            <a:xfrm>
              <a:off x="6939860" y="2754434"/>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76" name="文本框 75">
              <a:extLst>
                <a:ext uri="{FF2B5EF4-FFF2-40B4-BE49-F238E27FC236}">
                  <a16:creationId xmlns:a16="http://schemas.microsoft.com/office/drawing/2014/main" id="{E5DF9991-A2B9-75C3-05A8-5BE33F886BC7}"/>
                </a:ext>
              </a:extLst>
            </p:cNvPr>
            <p:cNvSpPr txBox="1"/>
            <p:nvPr/>
          </p:nvSpPr>
          <p:spPr>
            <a:xfrm>
              <a:off x="6859079" y="2773693"/>
              <a:ext cx="1991211" cy="39878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77" name="文本框 76">
              <a:extLst>
                <a:ext uri="{FF2B5EF4-FFF2-40B4-BE49-F238E27FC236}">
                  <a16:creationId xmlns:a16="http://schemas.microsoft.com/office/drawing/2014/main" id="{EAB157A5-6840-CA42-1EE4-7532FE2B99C7}"/>
                </a:ext>
              </a:extLst>
            </p:cNvPr>
            <p:cNvSpPr txBox="1"/>
            <p:nvPr/>
          </p:nvSpPr>
          <p:spPr>
            <a:xfrm>
              <a:off x="6854521" y="2847986"/>
              <a:ext cx="3733487" cy="400110"/>
            </a:xfrm>
            <a:prstGeom prst="rect">
              <a:avLst/>
            </a:prstGeom>
            <a:noFill/>
          </p:spPr>
          <p:txBody>
            <a:bodyPr wrap="square" lIns="0" rtlCol="0">
              <a:spAutoFit/>
            </a:bodyPr>
            <a:lstStyle/>
            <a:p>
              <a:r>
                <a:rPr lang="zh-CN" altLang="en-US" sz="2000" b="1" dirty="0">
                  <a:solidFill>
                    <a:schemeClr val="bg1"/>
                  </a:solidFill>
                  <a:cs typeface="+mn-ea"/>
                  <a:sym typeface="+mn-lt"/>
                </a:rPr>
                <a:t>酶的化学性质及催化作用的特点</a:t>
              </a:r>
            </a:p>
          </p:txBody>
        </p:sp>
      </p:grpSp>
      <p:grpSp>
        <p:nvGrpSpPr>
          <p:cNvPr id="80" name="组合 79">
            <a:extLst>
              <a:ext uri="{FF2B5EF4-FFF2-40B4-BE49-F238E27FC236}">
                <a16:creationId xmlns:a16="http://schemas.microsoft.com/office/drawing/2014/main" id="{28574C27-3AF4-96FE-770C-1ADC3ADA9D1D}"/>
              </a:ext>
            </a:extLst>
          </p:cNvPr>
          <p:cNvGrpSpPr/>
          <p:nvPr/>
        </p:nvGrpSpPr>
        <p:grpSpPr>
          <a:xfrm>
            <a:off x="6200981" y="573945"/>
            <a:ext cx="3755366" cy="584775"/>
            <a:chOff x="6230009" y="2693797"/>
            <a:chExt cx="3755366" cy="584775"/>
          </a:xfrm>
        </p:grpSpPr>
        <p:grpSp>
          <p:nvGrpSpPr>
            <p:cNvPr id="81" name="组合 80">
              <a:extLst>
                <a:ext uri="{FF2B5EF4-FFF2-40B4-BE49-F238E27FC236}">
                  <a16:creationId xmlns:a16="http://schemas.microsoft.com/office/drawing/2014/main" id="{88F2EE58-3C82-38B5-69BC-BD3DA9526E8F}"/>
                </a:ext>
              </a:extLst>
            </p:cNvPr>
            <p:cNvGrpSpPr/>
            <p:nvPr/>
          </p:nvGrpSpPr>
          <p:grpSpPr>
            <a:xfrm>
              <a:off x="6230009" y="2693797"/>
              <a:ext cx="663415" cy="584775"/>
              <a:chOff x="1184113" y="4050357"/>
              <a:chExt cx="663415" cy="584775"/>
            </a:xfrm>
          </p:grpSpPr>
          <p:sp>
            <p:nvSpPr>
              <p:cNvPr id="86" name="文本框 85">
                <a:extLst>
                  <a:ext uri="{FF2B5EF4-FFF2-40B4-BE49-F238E27FC236}">
                    <a16:creationId xmlns:a16="http://schemas.microsoft.com/office/drawing/2014/main" id="{BF7D25DA-A651-F702-A893-406F3F7907F0}"/>
                  </a:ext>
                </a:extLst>
              </p:cNvPr>
              <p:cNvSpPr txBox="1"/>
              <p:nvPr/>
            </p:nvSpPr>
            <p:spPr>
              <a:xfrm>
                <a:off x="1184113" y="4050357"/>
                <a:ext cx="663415" cy="584775"/>
              </a:xfrm>
              <a:prstGeom prst="rect">
                <a:avLst/>
              </a:prstGeom>
              <a:noFill/>
            </p:spPr>
            <p:txBody>
              <a:bodyPr wrap="square" lIns="0" rtlCol="0">
                <a:spAutoFit/>
              </a:bodyPr>
              <a:lstStyle/>
              <a:p>
                <a:pPr algn="l"/>
                <a:r>
                  <a:rPr lang="en-US" altLang="zh-CN" sz="3200" b="1" dirty="0">
                    <a:solidFill>
                      <a:schemeClr val="bg1"/>
                    </a:solidFill>
                    <a:cs typeface="+mn-ea"/>
                    <a:sym typeface="+mn-lt"/>
                  </a:rPr>
                  <a:t>01</a:t>
                </a:r>
              </a:p>
            </p:txBody>
          </p:sp>
          <p:cxnSp>
            <p:nvCxnSpPr>
              <p:cNvPr id="87" name="直接连接符">
                <a:extLst>
                  <a:ext uri="{FF2B5EF4-FFF2-40B4-BE49-F238E27FC236}">
                    <a16:creationId xmlns:a16="http://schemas.microsoft.com/office/drawing/2014/main" id="{A30B2761-AA41-B644-2F44-F252E0ACBB1E}"/>
                  </a:ext>
                </a:extLst>
              </p:cNvPr>
              <p:cNvCxnSpPr/>
              <p:nvPr/>
            </p:nvCxnSpPr>
            <p:spPr bwMode="auto">
              <a:xfrm flipH="1">
                <a:off x="1515820" y="4333461"/>
                <a:ext cx="240312" cy="2310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82" name="文本框 81">
              <a:extLst>
                <a:ext uri="{FF2B5EF4-FFF2-40B4-BE49-F238E27FC236}">
                  <a16:creationId xmlns:a16="http://schemas.microsoft.com/office/drawing/2014/main" id="{318B7FD4-C03E-30DB-1FD9-C09D05772474}"/>
                </a:ext>
              </a:extLst>
            </p:cNvPr>
            <p:cNvSpPr txBox="1"/>
            <p:nvPr/>
          </p:nvSpPr>
          <p:spPr>
            <a:xfrm>
              <a:off x="7013575" y="2748707"/>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83" name="文本框 82">
              <a:extLst>
                <a:ext uri="{FF2B5EF4-FFF2-40B4-BE49-F238E27FC236}">
                  <a16:creationId xmlns:a16="http://schemas.microsoft.com/office/drawing/2014/main" id="{C776A8A3-F2D2-8DA4-E529-AF95A9749FB4}"/>
                </a:ext>
              </a:extLst>
            </p:cNvPr>
            <p:cNvSpPr txBox="1"/>
            <p:nvPr/>
          </p:nvSpPr>
          <p:spPr>
            <a:xfrm>
              <a:off x="6939860" y="2754434"/>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84" name="文本框 83">
              <a:extLst>
                <a:ext uri="{FF2B5EF4-FFF2-40B4-BE49-F238E27FC236}">
                  <a16:creationId xmlns:a16="http://schemas.microsoft.com/office/drawing/2014/main" id="{0E2D5117-C67E-973D-C38B-C3B910BB71BB}"/>
                </a:ext>
              </a:extLst>
            </p:cNvPr>
            <p:cNvSpPr txBox="1"/>
            <p:nvPr/>
          </p:nvSpPr>
          <p:spPr>
            <a:xfrm>
              <a:off x="6859079" y="2773693"/>
              <a:ext cx="1991211" cy="398780"/>
            </a:xfrm>
            <a:prstGeom prst="rect">
              <a:avLst/>
            </a:prstGeom>
            <a:noFill/>
          </p:spPr>
          <p:txBody>
            <a:bodyPr wrap="square" lIns="0" rtlCol="0">
              <a:spAutoFit/>
            </a:bodyPr>
            <a:lstStyle/>
            <a:p>
              <a:r>
                <a:rPr lang="zh-CN" altLang="en-US" sz="2000" b="1" dirty="0">
                  <a:solidFill>
                    <a:schemeClr val="bg1"/>
                  </a:solidFill>
                  <a:cs typeface="+mn-ea"/>
                  <a:sym typeface="+mn-lt"/>
                </a:rPr>
                <a:t> </a:t>
              </a:r>
            </a:p>
          </p:txBody>
        </p:sp>
        <p:sp>
          <p:nvSpPr>
            <p:cNvPr id="85" name="文本框 84">
              <a:extLst>
                <a:ext uri="{FF2B5EF4-FFF2-40B4-BE49-F238E27FC236}">
                  <a16:creationId xmlns:a16="http://schemas.microsoft.com/office/drawing/2014/main" id="{E1763C8F-2F79-D515-1407-8BC3A06AC0CE}"/>
                </a:ext>
              </a:extLst>
            </p:cNvPr>
            <p:cNvSpPr txBox="1"/>
            <p:nvPr/>
          </p:nvSpPr>
          <p:spPr>
            <a:xfrm>
              <a:off x="6854521" y="2847986"/>
              <a:ext cx="2971800" cy="400110"/>
            </a:xfrm>
            <a:prstGeom prst="rect">
              <a:avLst/>
            </a:prstGeom>
            <a:noFill/>
          </p:spPr>
          <p:txBody>
            <a:bodyPr wrap="square" lIns="0" rtlCol="0">
              <a:spAutoFit/>
            </a:bodyPr>
            <a:lstStyle/>
            <a:p>
              <a:r>
                <a:rPr lang="zh-CN" altLang="en-US" sz="2000" b="1" dirty="0">
                  <a:solidFill>
                    <a:schemeClr val="bg1"/>
                  </a:solidFill>
                  <a:cs typeface="+mn-ea"/>
                  <a:sym typeface="+mn-lt"/>
                </a:rPr>
                <a:t>酶的基本概念与发展历史</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4">
            <a:alphaModFix amt="58000"/>
          </a:blip>
          <a:srcRect b="29236"/>
          <a:stretch>
            <a:fillRect/>
          </a:stretch>
        </p:blipFill>
        <p:spPr>
          <a:xfrm flipH="1">
            <a:off x="0" y="4321940"/>
            <a:ext cx="12191365" cy="2548890"/>
          </a:xfrm>
          <a:prstGeom prst="rect">
            <a:avLst/>
          </a:prstGeom>
          <a:noFill/>
          <a:ln w="9525">
            <a:noFill/>
          </a:ln>
        </p:spPr>
      </p:pic>
      <p:grpSp>
        <p:nvGrpSpPr>
          <p:cNvPr id="22" name="组合 21"/>
          <p:cNvGrpSpPr/>
          <p:nvPr/>
        </p:nvGrpSpPr>
        <p:grpSpPr>
          <a:xfrm>
            <a:off x="4485640" y="902970"/>
            <a:ext cx="2757805" cy="2565400"/>
            <a:chOff x="3890050" y="1242332"/>
            <a:chExt cx="4318184" cy="4195175"/>
          </a:xfrm>
        </p:grpSpPr>
        <p:sp>
          <p:nvSpPr>
            <p:cNvPr id="28" name="椭圆 27"/>
            <p:cNvSpPr/>
            <p:nvPr/>
          </p:nvSpPr>
          <p:spPr>
            <a:xfrm>
              <a:off x="3890050" y="1242332"/>
              <a:ext cx="4318184" cy="4195175"/>
            </a:xfrm>
            <a:prstGeom prst="ellipse">
              <a:avLst/>
            </a:prstGeom>
            <a:solidFill>
              <a:schemeClr val="bg1">
                <a:alpha val="33000"/>
              </a:schemeClr>
            </a:solidFill>
            <a:ln>
              <a:gradFill>
                <a:gsLst>
                  <a:gs pos="0">
                    <a:srgbClr val="20A3E8"/>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zh-CN" altLang="en-US" sz="900">
                <a:latin typeface="Lato Light"/>
              </a:endParaRPr>
            </a:p>
          </p:txBody>
        </p:sp>
        <p:sp>
          <p:nvSpPr>
            <p:cNvPr id="29" name="椭圆 28"/>
            <p:cNvSpPr/>
            <p:nvPr/>
          </p:nvSpPr>
          <p:spPr>
            <a:xfrm>
              <a:off x="4258022" y="1591020"/>
              <a:ext cx="3675957" cy="3675957"/>
            </a:xfrm>
            <a:prstGeom prst="ellipse">
              <a:avLst/>
            </a:prstGeom>
            <a:solidFill>
              <a:schemeClr val="bg1"/>
            </a:solidFill>
            <a:ln w="57150">
              <a:gradFill>
                <a:gsLst>
                  <a:gs pos="0">
                    <a:schemeClr val="bg1"/>
                  </a:gs>
                  <a:gs pos="100000">
                    <a:srgbClr val="20A3E8"/>
                  </a:gs>
                </a:gsLst>
                <a:lin ang="16200000" scaled="0"/>
              </a:gradFill>
            </a:ln>
            <a:effectLst>
              <a:outerShdw blurRad="444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6" name="TextBox 20"/>
          <p:cNvSpPr txBox="1"/>
          <p:nvPr/>
        </p:nvSpPr>
        <p:spPr>
          <a:xfrm>
            <a:off x="4976341" y="1866677"/>
            <a:ext cx="1835970" cy="748711"/>
          </a:xfrm>
          <a:prstGeom prst="rect">
            <a:avLst/>
          </a:prstGeom>
          <a:noFill/>
        </p:spPr>
        <p:txBody>
          <a:bodyPr wrap="none" lIns="70907" tIns="35455" rIns="70907" bIns="35455" rtlCol="0">
            <a:spAutoFit/>
          </a:bodyPr>
          <a:lstStyle/>
          <a:p>
            <a:pPr algn="ctr"/>
            <a:r>
              <a:rPr lang="zh-CN" altLang="en-US" sz="4400" b="1" dirty="0">
                <a:solidFill>
                  <a:srgbClr val="1F4E79"/>
                </a:solidFill>
                <a:latin typeface="+mj-ea"/>
                <a:ea typeface="+mj-ea"/>
                <a:cs typeface="+mn-ea"/>
                <a:sym typeface="+mn-lt"/>
              </a:rPr>
              <a:t>第一节</a:t>
            </a:r>
          </a:p>
        </p:txBody>
      </p:sp>
      <p:sp>
        <p:nvSpPr>
          <p:cNvPr id="2" name="文本框 1"/>
          <p:cNvSpPr txBox="1"/>
          <p:nvPr/>
        </p:nvSpPr>
        <p:spPr>
          <a:xfrm>
            <a:off x="2100820" y="3348493"/>
            <a:ext cx="8173480" cy="923330"/>
          </a:xfrm>
          <a:prstGeom prst="rect">
            <a:avLst/>
          </a:prstGeom>
          <a:noFill/>
          <a:ln w="9525">
            <a:noFill/>
          </a:ln>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lvl="0" algn="ctr" defTabSz="342900">
              <a:spcBef>
                <a:spcPct val="0"/>
              </a:spcBef>
              <a:defRPr/>
            </a:pPr>
            <a:r>
              <a:rPr lang="zh-CN" altLang="en-US" sz="5400" b="1" dirty="0">
                <a:solidFill>
                  <a:srgbClr val="1F4E79"/>
                </a:solidFill>
                <a:effectLst/>
                <a:ea typeface="宋体" panose="02010600030101010101" pitchFamily="2" charset="-122"/>
                <a:sym typeface="+mn-lt"/>
              </a:rPr>
              <a:t>酶的基本概念与发展历史</a:t>
            </a:r>
            <a:endParaRPr lang="zh-CN" sz="5400" b="1" dirty="0">
              <a:solidFill>
                <a:srgbClr val="1F4E79"/>
              </a:solidFill>
              <a:effectLst/>
              <a:ea typeface="宋体" panose="02010600030101010101" pitchFamily="2" charset="-122"/>
            </a:endParaRPr>
          </a:p>
        </p:txBody>
      </p:sp>
    </p:spTree>
    <p:extLst>
      <p:ext uri="{BB962C8B-B14F-4D97-AF65-F5344CB8AC3E}">
        <p14:creationId xmlns:p14="http://schemas.microsoft.com/office/powerpoint/2010/main" val="4044515113"/>
      </p:ext>
    </p:extLst>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793785" y="1051555"/>
            <a:ext cx="2331285" cy="523220"/>
          </a:xfrm>
          <a:prstGeom prst="rect">
            <a:avLst/>
          </a:prstGeom>
          <a:noFill/>
        </p:spPr>
        <p:txBody>
          <a:bodyPr wrap="square">
            <a:spAutoFit/>
          </a:bodyPr>
          <a:lstStyle/>
          <a:p>
            <a:r>
              <a:rPr lang="zh-CN" altLang="en-US" sz="2800" b="1" dirty="0">
                <a:solidFill>
                  <a:srgbClr val="1D50A2"/>
                </a:solidFill>
                <a:cs typeface="+mn-ea"/>
              </a:rPr>
              <a:t>酶工程的范畴</a:t>
            </a:r>
          </a:p>
        </p:txBody>
      </p:sp>
      <p:sp>
        <p:nvSpPr>
          <p:cNvPr id="3" name="文本框 2">
            <a:extLst>
              <a:ext uri="{FF2B5EF4-FFF2-40B4-BE49-F238E27FC236}">
                <a16:creationId xmlns:a16="http://schemas.microsoft.com/office/drawing/2014/main" id="{6E00D313-8CBD-ED1D-C7EE-2754BA887C5F}"/>
              </a:ext>
            </a:extLst>
          </p:cNvPr>
          <p:cNvSpPr txBox="1"/>
          <p:nvPr/>
        </p:nvSpPr>
        <p:spPr>
          <a:xfrm>
            <a:off x="961553" y="2119336"/>
            <a:ext cx="5852795" cy="398780"/>
          </a:xfrm>
          <a:prstGeom prst="rect">
            <a:avLst/>
          </a:prstGeom>
          <a:noFill/>
          <a:ln w="9525">
            <a:noFill/>
          </a:ln>
        </p:spPr>
        <p:txBody>
          <a:bodyPr wrap="square">
            <a:spAutoFit/>
          </a:bodyPr>
          <a:lstStyle/>
          <a:p>
            <a:pPr marL="342900" indent="-342900">
              <a:buFont typeface="Wingdings" panose="05000000000000000000" charset="0"/>
              <a:buChar char="n"/>
            </a:pPr>
            <a:r>
              <a:rPr lang="zh-CN" sz="2000" dirty="0">
                <a:latin typeface="+mj-ea"/>
                <a:ea typeface="+mj-ea"/>
                <a:cs typeface="宋体" panose="02010600030101010101" pitchFamily="2" charset="-122"/>
              </a:rPr>
              <a:t>酶的生产、改性和应用的技术过程称为酶工程。</a:t>
            </a:r>
          </a:p>
        </p:txBody>
      </p:sp>
      <p:sp>
        <p:nvSpPr>
          <p:cNvPr id="6" name="文本框 5">
            <a:extLst>
              <a:ext uri="{FF2B5EF4-FFF2-40B4-BE49-F238E27FC236}">
                <a16:creationId xmlns:a16="http://schemas.microsoft.com/office/drawing/2014/main" id="{880B0530-69EC-A669-15E5-6608B8130B7F}"/>
              </a:ext>
            </a:extLst>
          </p:cNvPr>
          <p:cNvSpPr txBox="1"/>
          <p:nvPr/>
        </p:nvSpPr>
        <p:spPr>
          <a:xfrm>
            <a:off x="961553" y="2755606"/>
            <a:ext cx="10765155" cy="499624"/>
          </a:xfrm>
          <a:prstGeom prst="rect">
            <a:avLst/>
          </a:prstGeom>
          <a:noFill/>
        </p:spPr>
        <p:txBody>
          <a:bodyPr wrap="square" rtlCol="0">
            <a:spAutoFit/>
          </a:bodyPr>
          <a:lstStyle/>
          <a:p>
            <a:pPr algn="l" fontAlgn="auto">
              <a:lnSpc>
                <a:spcPct val="150000"/>
              </a:lnSpc>
            </a:pPr>
            <a:r>
              <a:rPr lang="zh-CN" sz="2000" b="1" dirty="0">
                <a:solidFill>
                  <a:srgbClr val="C00000"/>
                </a:solidFill>
                <a:latin typeface="+mj-ea"/>
                <a:ea typeface="+mj-ea"/>
                <a:cs typeface="宋体" panose="02010600030101010101" pitchFamily="2" charset="-122"/>
              </a:rPr>
              <a:t>酶的生产</a:t>
            </a:r>
            <a:r>
              <a:rPr lang="zh-CN" sz="2000" dirty="0">
                <a:latin typeface="+mj-ea"/>
                <a:ea typeface="+mj-ea"/>
                <a:cs typeface="宋体" panose="02010600030101010101" pitchFamily="2" charset="-122"/>
              </a:rPr>
              <a:t>（enzyme production）：指通过各种方法获得人们所需的酶的技术过程。</a:t>
            </a:r>
          </a:p>
        </p:txBody>
      </p:sp>
      <p:sp>
        <p:nvSpPr>
          <p:cNvPr id="7" name="文本框 6">
            <a:extLst>
              <a:ext uri="{FF2B5EF4-FFF2-40B4-BE49-F238E27FC236}">
                <a16:creationId xmlns:a16="http://schemas.microsoft.com/office/drawing/2014/main" id="{C4CDF600-3CFB-D92A-CB55-0793B13B9C76}"/>
              </a:ext>
            </a:extLst>
          </p:cNvPr>
          <p:cNvSpPr txBox="1"/>
          <p:nvPr/>
        </p:nvSpPr>
        <p:spPr>
          <a:xfrm>
            <a:off x="961553" y="3644606"/>
            <a:ext cx="10765155" cy="961289"/>
          </a:xfrm>
          <a:prstGeom prst="rect">
            <a:avLst/>
          </a:prstGeom>
          <a:noFill/>
        </p:spPr>
        <p:txBody>
          <a:bodyPr wrap="square" rtlCol="0">
            <a:spAutoFit/>
          </a:bodyPr>
          <a:lstStyle/>
          <a:p>
            <a:pPr algn="l" fontAlgn="auto">
              <a:lnSpc>
                <a:spcPct val="150000"/>
              </a:lnSpc>
            </a:pPr>
            <a:r>
              <a:rPr lang="zh-CN" sz="2000" b="1" dirty="0">
                <a:solidFill>
                  <a:srgbClr val="C00000"/>
                </a:solidFill>
                <a:latin typeface="+mj-ea"/>
                <a:ea typeface="+mj-ea"/>
                <a:cs typeface="宋体" panose="02010600030101010101" pitchFamily="2" charset="-122"/>
              </a:rPr>
              <a:t>酶的改性</a:t>
            </a:r>
            <a:r>
              <a:rPr lang="zh-CN" sz="2000" dirty="0">
                <a:latin typeface="+mj-ea"/>
                <a:ea typeface="+mj-ea"/>
                <a:cs typeface="宋体" panose="02010600030101010101" pitchFamily="2" charset="-122"/>
              </a:rPr>
              <a:t>（enzyme improving）：是通过各种方法改进酶的催化特性的技术过程，主要包括酶分子修饰、酶固定化、酶非水相催化和酶定向进化等。</a:t>
            </a:r>
          </a:p>
        </p:txBody>
      </p:sp>
      <p:sp>
        <p:nvSpPr>
          <p:cNvPr id="8" name="文本框 7">
            <a:extLst>
              <a:ext uri="{FF2B5EF4-FFF2-40B4-BE49-F238E27FC236}">
                <a16:creationId xmlns:a16="http://schemas.microsoft.com/office/drawing/2014/main" id="{88A3066C-9A01-394D-8C5E-1BAD9484C05F}"/>
              </a:ext>
            </a:extLst>
          </p:cNvPr>
          <p:cNvSpPr txBox="1"/>
          <p:nvPr/>
        </p:nvSpPr>
        <p:spPr>
          <a:xfrm>
            <a:off x="961553" y="4995251"/>
            <a:ext cx="10578806" cy="961289"/>
          </a:xfrm>
          <a:prstGeom prst="rect">
            <a:avLst/>
          </a:prstGeom>
          <a:noFill/>
        </p:spPr>
        <p:txBody>
          <a:bodyPr wrap="square" rtlCol="0">
            <a:spAutoFit/>
          </a:bodyPr>
          <a:lstStyle/>
          <a:p>
            <a:pPr algn="l" fontAlgn="auto">
              <a:lnSpc>
                <a:spcPct val="150000"/>
              </a:lnSpc>
            </a:pPr>
            <a:r>
              <a:rPr lang="zh-CN" sz="2000" b="1" dirty="0">
                <a:solidFill>
                  <a:srgbClr val="C00000"/>
                </a:solidFill>
                <a:latin typeface="+mj-ea"/>
                <a:ea typeface="+mj-ea"/>
                <a:cs typeface="宋体" panose="02010600030101010101" pitchFamily="2" charset="-122"/>
              </a:rPr>
              <a:t>酶的应用</a:t>
            </a:r>
            <a:r>
              <a:rPr lang="zh-CN" sz="2000" dirty="0">
                <a:latin typeface="+mj-ea"/>
                <a:ea typeface="+mj-ea"/>
                <a:cs typeface="宋体" panose="02010600030101010101" pitchFamily="2" charset="-122"/>
              </a:rPr>
              <a:t>（enzyme application）：是</a:t>
            </a:r>
            <a:r>
              <a:rPr lang="zh-CN" altLang="en-US" sz="2000" dirty="0">
                <a:latin typeface="+mj-ea"/>
                <a:ea typeface="+mj-ea"/>
                <a:cs typeface="宋体" panose="02010600030101010101" pitchFamily="2" charset="-122"/>
              </a:rPr>
              <a:t>通过酶的催化作用获得人们所需的物质</a:t>
            </a:r>
            <a:r>
              <a:rPr lang="en-US" altLang="zh-CN" sz="2000" dirty="0">
                <a:latin typeface="+mj-ea"/>
                <a:ea typeface="+mj-ea"/>
                <a:cs typeface="宋体" panose="02010600030101010101" pitchFamily="2" charset="-122"/>
              </a:rPr>
              <a:t>,</a:t>
            </a:r>
            <a:r>
              <a:rPr lang="zh-CN" altLang="en-US" sz="2000" dirty="0">
                <a:latin typeface="+mj-ea"/>
                <a:ea typeface="+mj-ea"/>
                <a:cs typeface="宋体" panose="02010600030101010101" pitchFamily="2" charset="-122"/>
              </a:rPr>
              <a:t>除去不良物质，或者获取所需信息的技术过程。</a:t>
            </a:r>
            <a:endParaRPr lang="zh-CN" sz="2000" dirty="0">
              <a:latin typeface="+mj-ea"/>
              <a:ea typeface="+mj-ea"/>
              <a:cs typeface="宋体" panose="02010600030101010101" pitchFamily="2" charset="-122"/>
            </a:endParaRPr>
          </a:p>
        </p:txBody>
      </p:sp>
    </p:spTree>
    <p:extLst>
      <p:ext uri="{BB962C8B-B14F-4D97-AF65-F5344CB8AC3E}">
        <p14:creationId xmlns:p14="http://schemas.microsoft.com/office/powerpoint/2010/main" val="3480745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433578" y="1023638"/>
            <a:ext cx="2572512" cy="523220"/>
          </a:xfrm>
          <a:prstGeom prst="rect">
            <a:avLst/>
          </a:prstGeom>
          <a:noFill/>
        </p:spPr>
        <p:txBody>
          <a:bodyPr wrap="square">
            <a:spAutoFit/>
          </a:bodyPr>
          <a:lstStyle/>
          <a:p>
            <a:r>
              <a:rPr lang="zh-CN" altLang="en-US" sz="2800" b="1" dirty="0">
                <a:solidFill>
                  <a:srgbClr val="1D50A2"/>
                </a:solidFill>
                <a:cs typeface="+mn-ea"/>
              </a:rPr>
              <a:t>酶的发展历史</a:t>
            </a:r>
          </a:p>
        </p:txBody>
      </p:sp>
      <p:sp>
        <p:nvSpPr>
          <p:cNvPr id="4" name="文本框 3">
            <a:extLst>
              <a:ext uri="{FF2B5EF4-FFF2-40B4-BE49-F238E27FC236}">
                <a16:creationId xmlns:a16="http://schemas.microsoft.com/office/drawing/2014/main" id="{19F6F58E-2A1A-C51C-C72A-B8B037A299A1}"/>
              </a:ext>
            </a:extLst>
          </p:cNvPr>
          <p:cNvSpPr txBox="1"/>
          <p:nvPr/>
        </p:nvSpPr>
        <p:spPr>
          <a:xfrm>
            <a:off x="433578" y="1672720"/>
            <a:ext cx="8667242" cy="4437753"/>
          </a:xfrm>
          <a:prstGeom prst="rect">
            <a:avLst/>
          </a:prstGeom>
          <a:noFill/>
        </p:spPr>
        <p:txBody>
          <a:bodyPr wrap="square">
            <a:spAutoFit/>
          </a:bodyPr>
          <a:lstStyle/>
          <a:p>
            <a:pPr marL="285750" indent="-285750">
              <a:lnSpc>
                <a:spcPct val="150000"/>
              </a:lnSpc>
              <a:buFont typeface="Wingdings" panose="05000000000000000000" pitchFamily="2" charset="2"/>
              <a:buChar char="n"/>
            </a:pPr>
            <a:r>
              <a:rPr lang="zh-CN" sz="2400" b="1" dirty="0">
                <a:latin typeface="黑体" panose="02010609060101010101" charset="-122"/>
                <a:ea typeface="黑体" panose="02010609060101010101" charset="-122"/>
                <a:cs typeface="宋体" panose="02010600030101010101" pitchFamily="2" charset="-122"/>
              </a:rPr>
              <a:t>人们对酶的认识起源于生产与生活实践。</a:t>
            </a:r>
          </a:p>
          <a:p>
            <a:pPr marL="285750" indent="-285750">
              <a:lnSpc>
                <a:spcPct val="150000"/>
              </a:lnSpc>
              <a:buFont typeface="Wingdings" panose="05000000000000000000" pitchFamily="2" charset="2"/>
              <a:buChar char="n"/>
            </a:pPr>
            <a:r>
              <a:rPr lang="zh-CN" sz="2400" b="1" dirty="0">
                <a:latin typeface="黑体" panose="02010609060101010101" charset="-122"/>
                <a:ea typeface="黑体" panose="02010609060101010101" charset="-122"/>
                <a:cs typeface="宋体" panose="02010600030101010101" pitchFamily="2" charset="-122"/>
              </a:rPr>
              <a:t>夏禹时代，人们掌握了酿酒技术。</a:t>
            </a:r>
          </a:p>
          <a:p>
            <a:pPr marL="285750" indent="-285750">
              <a:lnSpc>
                <a:spcPct val="150000"/>
              </a:lnSpc>
              <a:buFont typeface="Wingdings" panose="05000000000000000000" pitchFamily="2" charset="2"/>
              <a:buChar char="n"/>
            </a:pPr>
            <a:r>
              <a:rPr lang="zh-CN" sz="2400" b="1" dirty="0">
                <a:latin typeface="黑体" panose="02010609060101010101" charset="-122"/>
                <a:ea typeface="黑体" panose="02010609060101010101" charset="-122"/>
                <a:cs typeface="宋体" panose="02010600030101010101" pitchFamily="2" charset="-122"/>
              </a:rPr>
              <a:t>公元</a:t>
            </a:r>
            <a:r>
              <a:rPr lang="en-US" altLang="zh-CN" sz="2400" b="1" dirty="0">
                <a:latin typeface="黑体" panose="02010609060101010101" charset="-122"/>
                <a:ea typeface="黑体" panose="02010609060101010101" charset="-122"/>
                <a:cs typeface="宋体" panose="02010600030101010101" pitchFamily="2" charset="-122"/>
              </a:rPr>
              <a:t>3000</a:t>
            </a:r>
            <a:r>
              <a:rPr lang="zh-CN" altLang="en-US" sz="2400" b="1" dirty="0">
                <a:latin typeface="黑体" panose="02010609060101010101" charset="-122"/>
                <a:ea typeface="黑体" panose="02010609060101010101" charset="-122"/>
                <a:cs typeface="宋体" panose="02010600030101010101" pitchFamily="2" charset="-122"/>
              </a:rPr>
              <a:t>多年前的</a:t>
            </a:r>
            <a:r>
              <a:rPr lang="zh-CN" sz="2400" b="1" dirty="0">
                <a:latin typeface="黑体" panose="02010609060101010101" charset="-122"/>
                <a:ea typeface="黑体" panose="02010609060101010101" charset="-122"/>
                <a:cs typeface="宋体" panose="02010600030101010101" pitchFamily="2" charset="-122"/>
              </a:rPr>
              <a:t>周朝，人们酿酒，制作饴糖、食酱等食品。</a:t>
            </a:r>
          </a:p>
          <a:p>
            <a:pPr marL="285750" indent="-285750">
              <a:lnSpc>
                <a:spcPct val="150000"/>
              </a:lnSpc>
              <a:buFont typeface="Wingdings" panose="05000000000000000000" pitchFamily="2" charset="2"/>
              <a:buChar char="n"/>
            </a:pPr>
            <a:r>
              <a:rPr lang="zh-CN" sz="2400" b="1" dirty="0">
                <a:latin typeface="黑体" panose="02010609060101010101" charset="-122"/>
                <a:ea typeface="黑体" panose="02010609060101010101" charset="-122"/>
                <a:cs typeface="宋体" panose="02010600030101010101" pitchFamily="2" charset="-122"/>
              </a:rPr>
              <a:t>春秋战国时期，已知用</a:t>
            </a:r>
            <a:r>
              <a:rPr lang="zh-CN" sz="2400" b="1" dirty="0">
                <a:solidFill>
                  <a:srgbClr val="C00000"/>
                </a:solidFill>
                <a:latin typeface="黑体" panose="02010609060101010101" charset="-122"/>
                <a:ea typeface="黑体" panose="02010609060101010101" charset="-122"/>
                <a:cs typeface="宋体" panose="02010600030101010101" pitchFamily="2" charset="-122"/>
              </a:rPr>
              <a:t>麴(曲)治疗消化不良的疾病</a:t>
            </a:r>
            <a:r>
              <a:rPr lang="zh-CN" sz="2400" b="1" dirty="0">
                <a:latin typeface="黑体" panose="02010609060101010101" charset="-122"/>
                <a:ea typeface="黑体" panose="02010609060101010101" charset="-122"/>
                <a:cs typeface="宋体" panose="02010600030101010101" pitchFamily="2" charset="-122"/>
              </a:rPr>
              <a:t>。</a:t>
            </a:r>
          </a:p>
          <a:p>
            <a:pPr marL="285750" indent="-285750">
              <a:lnSpc>
                <a:spcPct val="150000"/>
              </a:lnSpc>
              <a:buFont typeface="Wingdings" panose="05000000000000000000" pitchFamily="2" charset="2"/>
              <a:buChar char="n"/>
            </a:pPr>
            <a:r>
              <a:rPr lang="zh-CN" sz="2400" b="1" dirty="0">
                <a:solidFill>
                  <a:srgbClr val="C00000"/>
                </a:solidFill>
                <a:latin typeface="黑体" panose="02010609060101010101" charset="-122"/>
                <a:ea typeface="黑体" panose="02010609060101010101" charset="-122"/>
                <a:cs typeface="宋体" panose="02010600030101010101" pitchFamily="2" charset="-122"/>
              </a:rPr>
              <a:t>1716年</a:t>
            </a:r>
            <a:r>
              <a:rPr lang="zh-CN" sz="2400" b="1" dirty="0">
                <a:latin typeface="黑体" panose="02010609060101010101" charset="-122"/>
                <a:ea typeface="黑体" panose="02010609060101010101" charset="-122"/>
                <a:cs typeface="宋体" panose="02010600030101010101" pitchFamily="2" charset="-122"/>
              </a:rPr>
              <a:t>《康熙词典》收录“酶”字，并给出“</a:t>
            </a:r>
            <a:r>
              <a:rPr lang="zh-CN" sz="2400" b="1" dirty="0">
                <a:solidFill>
                  <a:srgbClr val="C00000"/>
                </a:solidFill>
                <a:latin typeface="黑体" panose="02010609060101010101" charset="-122"/>
                <a:ea typeface="黑体" panose="02010609060101010101" charset="-122"/>
                <a:cs typeface="宋体" panose="02010600030101010101" pitchFamily="2" charset="-122"/>
              </a:rPr>
              <a:t>酶者，酒母也</a:t>
            </a:r>
            <a:r>
              <a:rPr lang="zh-CN" sz="2400" b="1" dirty="0">
                <a:latin typeface="黑体" panose="02010609060101010101" charset="-122"/>
                <a:ea typeface="黑体" panose="02010609060101010101" charset="-122"/>
                <a:cs typeface="宋体" panose="02010600030101010101" pitchFamily="2" charset="-122"/>
              </a:rPr>
              <a:t>”的确切含义</a:t>
            </a:r>
          </a:p>
          <a:p>
            <a:pPr marL="285750" indent="-285750">
              <a:lnSpc>
                <a:spcPct val="150000"/>
              </a:lnSpc>
              <a:buFont typeface="Wingdings" panose="05000000000000000000" pitchFamily="2" charset="2"/>
              <a:buChar char="n"/>
            </a:pPr>
            <a:r>
              <a:rPr lang="en-US" altLang="zh-CN" sz="2400" b="1" dirty="0">
                <a:solidFill>
                  <a:srgbClr val="C00000"/>
                </a:solidFill>
                <a:latin typeface="黑体" panose="02010609060101010101" charset="-122"/>
                <a:ea typeface="黑体" panose="02010609060101010101" charset="-122"/>
                <a:cs typeface="宋体" panose="02010600030101010101" pitchFamily="2" charset="-122"/>
              </a:rPr>
              <a:t>1878</a:t>
            </a:r>
            <a:r>
              <a:rPr lang="zh-CN" altLang="en-US" sz="2400" b="1" dirty="0">
                <a:solidFill>
                  <a:srgbClr val="C00000"/>
                </a:solidFill>
                <a:latin typeface="黑体" panose="02010609060101010101" charset="-122"/>
                <a:ea typeface="黑体" panose="02010609060101010101" charset="-122"/>
                <a:cs typeface="宋体" panose="02010600030101010101" pitchFamily="2" charset="-122"/>
              </a:rPr>
              <a:t>年</a:t>
            </a:r>
            <a:r>
              <a:rPr lang="zh-CN" altLang="en-US" sz="2400" b="1" dirty="0">
                <a:latin typeface="黑体" panose="02010609060101010101" charset="-122"/>
                <a:ea typeface="黑体" panose="02010609060101010101" charset="-122"/>
                <a:cs typeface="宋体" panose="02010600030101010101" pitchFamily="2" charset="-122"/>
              </a:rPr>
              <a:t>昆尼（Kuhne）提出“</a:t>
            </a:r>
            <a:r>
              <a:rPr lang="zh-CN" altLang="en-US" sz="2400" b="1" dirty="0">
                <a:solidFill>
                  <a:srgbClr val="C00000"/>
                </a:solidFill>
                <a:latin typeface="黑体" panose="02010609060101010101" charset="-122"/>
                <a:ea typeface="黑体" panose="02010609060101010101" charset="-122"/>
                <a:cs typeface="宋体" panose="02010600030101010101" pitchFamily="2" charset="-122"/>
              </a:rPr>
              <a:t>enzyme</a:t>
            </a:r>
            <a:r>
              <a:rPr lang="zh-CN" altLang="en-US" sz="2400" b="1" dirty="0">
                <a:latin typeface="黑体" panose="02010609060101010101" charset="-122"/>
                <a:ea typeface="黑体" panose="02010609060101010101" charset="-122"/>
                <a:cs typeface="宋体" panose="02010600030101010101" pitchFamily="2" charset="-122"/>
              </a:rPr>
              <a:t>”（来自希腊文，意思是在酵母中）</a:t>
            </a:r>
          </a:p>
        </p:txBody>
      </p:sp>
      <p:pic>
        <p:nvPicPr>
          <p:cNvPr id="5" name="Picture 4">
            <a:hlinkClick r:id="rId4"/>
            <a:extLst>
              <a:ext uri="{FF2B5EF4-FFF2-40B4-BE49-F238E27FC236}">
                <a16:creationId xmlns:a16="http://schemas.microsoft.com/office/drawing/2014/main" id="{C1DC8F05-3585-8533-FB78-262D455B00C4}"/>
              </a:ext>
            </a:extLst>
          </p:cNvPr>
          <p:cNvPicPr>
            <a:picLocks noChangeAspect="1"/>
          </p:cNvPicPr>
          <p:nvPr/>
        </p:nvPicPr>
        <p:blipFill>
          <a:blip r:embed="rId5"/>
          <a:stretch>
            <a:fillRect/>
          </a:stretch>
        </p:blipFill>
        <p:spPr>
          <a:xfrm>
            <a:off x="9100820" y="1546858"/>
            <a:ext cx="2752725" cy="4689475"/>
          </a:xfrm>
          <a:prstGeom prst="rect">
            <a:avLst/>
          </a:prstGeom>
          <a:noFill/>
          <a:ln w="9525">
            <a:noFill/>
          </a:ln>
        </p:spPr>
      </p:pic>
    </p:spTree>
    <p:extLst>
      <p:ext uri="{BB962C8B-B14F-4D97-AF65-F5344CB8AC3E}">
        <p14:creationId xmlns:p14="http://schemas.microsoft.com/office/powerpoint/2010/main" val="2592819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433578" y="1023638"/>
            <a:ext cx="2572512" cy="523220"/>
          </a:xfrm>
          <a:prstGeom prst="rect">
            <a:avLst/>
          </a:prstGeom>
          <a:noFill/>
        </p:spPr>
        <p:txBody>
          <a:bodyPr wrap="square">
            <a:spAutoFit/>
          </a:bodyPr>
          <a:lstStyle/>
          <a:p>
            <a:r>
              <a:rPr lang="zh-CN" altLang="en-US" sz="2800" b="1" dirty="0">
                <a:solidFill>
                  <a:srgbClr val="1D50A2"/>
                </a:solidFill>
                <a:cs typeface="+mn-ea"/>
              </a:rPr>
              <a:t>酶的发展历史</a:t>
            </a:r>
          </a:p>
        </p:txBody>
      </p:sp>
      <p:sp>
        <p:nvSpPr>
          <p:cNvPr id="2" name="文本框 1">
            <a:extLst>
              <a:ext uri="{FF2B5EF4-FFF2-40B4-BE49-F238E27FC236}">
                <a16:creationId xmlns:a16="http://schemas.microsoft.com/office/drawing/2014/main" id="{641768C7-5A5F-6A2C-788B-42AF7E89B66B}"/>
              </a:ext>
            </a:extLst>
          </p:cNvPr>
          <p:cNvSpPr txBox="1"/>
          <p:nvPr/>
        </p:nvSpPr>
        <p:spPr>
          <a:xfrm>
            <a:off x="6472644" y="1986619"/>
            <a:ext cx="5076733" cy="3843809"/>
          </a:xfrm>
          <a:prstGeom prst="rect">
            <a:avLst/>
          </a:prstGeom>
          <a:noFill/>
        </p:spPr>
        <p:txBody>
          <a:bodyPr wrap="square">
            <a:spAutoFit/>
          </a:bodyPr>
          <a:lstStyle/>
          <a:p>
            <a:pPr marL="285750" indent="-285750">
              <a:lnSpc>
                <a:spcPct val="150000"/>
              </a:lnSpc>
              <a:spcAft>
                <a:spcPts val="600"/>
              </a:spcAft>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西方国家</a:t>
            </a:r>
            <a:r>
              <a:rPr lang="en-US" altLang="zh-CN" sz="1800" b="1" dirty="0">
                <a:latin typeface="黑体" panose="02010609060101010101" pitchFamily="49" charset="-122"/>
                <a:ea typeface="黑体" panose="02010609060101010101" pitchFamily="49" charset="-122"/>
              </a:rPr>
              <a:t>19</a:t>
            </a:r>
            <a:r>
              <a:rPr lang="zh-CN" altLang="en-US" sz="1800" b="1" dirty="0">
                <a:latin typeface="黑体" panose="02010609060101010101" pitchFamily="49" charset="-122"/>
                <a:ea typeface="黑体" panose="02010609060101010101" pitchFamily="49" charset="-122"/>
              </a:rPr>
              <a:t>世纪对酿酒发酵过程进行了大量研究。直到</a:t>
            </a:r>
            <a:r>
              <a:rPr lang="en-US" altLang="zh-CN" sz="1800" b="1" dirty="0">
                <a:latin typeface="黑体" panose="02010609060101010101" pitchFamily="49" charset="-122"/>
                <a:ea typeface="黑体" panose="02010609060101010101" pitchFamily="49" charset="-122"/>
              </a:rPr>
              <a:t>1897</a:t>
            </a:r>
            <a:r>
              <a:rPr lang="zh-CN" altLang="en-US" sz="1800" b="1" dirty="0">
                <a:latin typeface="黑体" panose="02010609060101010101" pitchFamily="49" charset="-122"/>
                <a:ea typeface="黑体" panose="02010609060101010101" pitchFamily="49" charset="-122"/>
              </a:rPr>
              <a:t>年，德国巴克纳</a:t>
            </a:r>
            <a:r>
              <a:rPr lang="en-US" altLang="zh-CN" sz="1800" b="1" dirty="0">
                <a:latin typeface="黑体" panose="02010609060101010101" pitchFamily="49" charset="-122"/>
                <a:ea typeface="黑体" panose="02010609060101010101" pitchFamily="49" charset="-122"/>
              </a:rPr>
              <a:t>Buchner</a:t>
            </a:r>
            <a:r>
              <a:rPr lang="zh-CN" altLang="en-US" sz="1800" b="1" dirty="0">
                <a:latin typeface="黑体" panose="02010609060101010101" pitchFamily="49" charset="-122"/>
                <a:ea typeface="黑体" panose="02010609060101010101" pitchFamily="49" charset="-122"/>
              </a:rPr>
              <a:t>兄弟用石英砂磨碎酵母细胞，制备了不含酵母细胞的抽提液，并证明此，说明</a:t>
            </a:r>
            <a:r>
              <a:rPr lang="zh-CN" altLang="en-US" b="1" dirty="0">
                <a:solidFill>
                  <a:srgbClr val="C00000"/>
                </a:solidFill>
                <a:latin typeface="黑体" panose="02010609060101010101" pitchFamily="49" charset="-122"/>
                <a:ea typeface="黑体" panose="02010609060101010101" pitchFamily="49" charset="-122"/>
              </a:rPr>
              <a:t>发酵与细胞的活动无关</a:t>
            </a:r>
            <a:r>
              <a:rPr lang="zh-CN" altLang="en-US" sz="1800" b="1" dirty="0">
                <a:latin typeface="黑体" panose="02010609060101010101" pitchFamily="49" charset="-122"/>
                <a:ea typeface="黑体" panose="02010609060101010101" pitchFamily="49" charset="-122"/>
              </a:rPr>
              <a:t>。从而</a:t>
            </a:r>
            <a:r>
              <a:rPr lang="zh-CN" altLang="en-US" sz="1800" b="1" dirty="0">
                <a:solidFill>
                  <a:srgbClr val="C00000"/>
                </a:solidFill>
                <a:latin typeface="黑体" panose="02010609060101010101" pitchFamily="49" charset="-122"/>
                <a:ea typeface="黑体" panose="02010609060101010101" pitchFamily="49" charset="-122"/>
              </a:rPr>
              <a:t>说明了发酵是酶作用的化学本质</a:t>
            </a:r>
            <a:r>
              <a:rPr lang="zh-CN" altLang="en-US" sz="1800" b="1" dirty="0">
                <a:latin typeface="黑体" panose="02010609060101010101" pitchFamily="49" charset="-122"/>
                <a:ea typeface="黑体" panose="02010609060101010101" pitchFamily="49" charset="-122"/>
              </a:rPr>
              <a:t>，为此</a:t>
            </a:r>
            <a:r>
              <a:rPr lang="en-US" altLang="zh-CN" sz="1800" b="1" dirty="0">
                <a:latin typeface="黑体" panose="02010609060101010101" pitchFamily="49" charset="-122"/>
                <a:ea typeface="黑体" panose="02010609060101010101" pitchFamily="49" charset="-122"/>
              </a:rPr>
              <a:t>Buchner</a:t>
            </a:r>
            <a:r>
              <a:rPr lang="zh-CN" altLang="en-US" sz="1800" b="1" dirty="0">
                <a:latin typeface="黑体" panose="02010609060101010101" pitchFamily="49" charset="-122"/>
                <a:ea typeface="黑体" panose="02010609060101010101" pitchFamily="49" charset="-122"/>
              </a:rPr>
              <a:t>获得了</a:t>
            </a:r>
            <a:r>
              <a:rPr lang="en-US" altLang="zh-CN" b="1" dirty="0">
                <a:solidFill>
                  <a:srgbClr val="C00000"/>
                </a:solidFill>
                <a:latin typeface="黑体" panose="02010609060101010101" pitchFamily="49" charset="-122"/>
                <a:ea typeface="黑体" panose="02010609060101010101" pitchFamily="49" charset="-122"/>
              </a:rPr>
              <a:t>1911</a:t>
            </a:r>
            <a:r>
              <a:rPr lang="zh-CN" altLang="en-US" b="1" dirty="0">
                <a:solidFill>
                  <a:srgbClr val="C00000"/>
                </a:solidFill>
                <a:latin typeface="黑体" panose="02010609060101010101" pitchFamily="49" charset="-122"/>
                <a:ea typeface="黑体" panose="02010609060101010101" pitchFamily="49" charset="-122"/>
              </a:rPr>
              <a:t>年诺贝尔化学奖</a:t>
            </a:r>
            <a:r>
              <a:rPr lang="zh-CN" altLang="en-US" sz="1800" b="1" dirty="0">
                <a:latin typeface="黑体" panose="02010609060101010101" pitchFamily="49" charset="-122"/>
                <a:ea typeface="黑体" panose="02010609060101010101" pitchFamily="49" charset="-122"/>
              </a:rPr>
              <a:t>。</a:t>
            </a:r>
            <a:endParaRPr lang="en-US" altLang="zh-CN" sz="1800" b="1" dirty="0">
              <a:latin typeface="黑体" panose="02010609060101010101" pitchFamily="49" charset="-122"/>
              <a:ea typeface="黑体" panose="02010609060101010101" pitchFamily="49" charset="-122"/>
            </a:endParaRPr>
          </a:p>
          <a:p>
            <a:pPr marL="285750" indent="-285750">
              <a:lnSpc>
                <a:spcPct val="150000"/>
              </a:lnSpc>
              <a:spcAft>
                <a:spcPts val="600"/>
              </a:spcAft>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1896</a:t>
            </a:r>
            <a:r>
              <a:rPr lang="zh-CN" altLang="en-US" sz="1800" b="1" dirty="0">
                <a:latin typeface="黑体" panose="02010609060101010101" pitchFamily="49" charset="-122"/>
                <a:ea typeface="黑体" panose="02010609060101010101" pitchFamily="49" charset="-122"/>
              </a:rPr>
              <a:t>年</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日本的高峰让吉首先从米曲霉中制得高峰淀粉酶</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用作消化剂</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开创了有目的的进行酶生产和应用的先例。</a:t>
            </a:r>
          </a:p>
        </p:txBody>
      </p:sp>
      <p:pic>
        <p:nvPicPr>
          <p:cNvPr id="3" name="图片 2">
            <a:extLst>
              <a:ext uri="{FF2B5EF4-FFF2-40B4-BE49-F238E27FC236}">
                <a16:creationId xmlns:a16="http://schemas.microsoft.com/office/drawing/2014/main" id="{42E7681C-60A6-2CB2-80A6-D0C96D83C477}"/>
              </a:ext>
            </a:extLst>
          </p:cNvPr>
          <p:cNvPicPr>
            <a:picLocks noChangeAspect="1"/>
          </p:cNvPicPr>
          <p:nvPr/>
        </p:nvPicPr>
        <p:blipFill>
          <a:blip r:embed="rId4"/>
          <a:stretch>
            <a:fillRect/>
          </a:stretch>
        </p:blipFill>
        <p:spPr>
          <a:xfrm>
            <a:off x="433578" y="1986618"/>
            <a:ext cx="2610346" cy="3676543"/>
          </a:xfrm>
          <a:prstGeom prst="rect">
            <a:avLst/>
          </a:prstGeom>
        </p:spPr>
      </p:pic>
      <p:pic>
        <p:nvPicPr>
          <p:cNvPr id="6" name="图片 5">
            <a:extLst>
              <a:ext uri="{FF2B5EF4-FFF2-40B4-BE49-F238E27FC236}">
                <a16:creationId xmlns:a16="http://schemas.microsoft.com/office/drawing/2014/main" id="{2D3D7611-8F72-A782-3BFD-FB2EAB3171B7}"/>
              </a:ext>
            </a:extLst>
          </p:cNvPr>
          <p:cNvPicPr>
            <a:picLocks noChangeAspect="1"/>
          </p:cNvPicPr>
          <p:nvPr/>
        </p:nvPicPr>
        <p:blipFill rotWithShape="1">
          <a:blip r:embed="rId5"/>
          <a:srcRect r="3027" b="9811"/>
          <a:stretch/>
        </p:blipFill>
        <p:spPr>
          <a:xfrm>
            <a:off x="3508538" y="1986618"/>
            <a:ext cx="2797853" cy="3676543"/>
          </a:xfrm>
          <a:prstGeom prst="rect">
            <a:avLst/>
          </a:prstGeom>
        </p:spPr>
      </p:pic>
      <p:sp>
        <p:nvSpPr>
          <p:cNvPr id="8" name="文本框 7">
            <a:extLst>
              <a:ext uri="{FF2B5EF4-FFF2-40B4-BE49-F238E27FC236}">
                <a16:creationId xmlns:a16="http://schemas.microsoft.com/office/drawing/2014/main" id="{14B73D88-3BD4-BABD-F7C4-7FF6A298BC9D}"/>
              </a:ext>
            </a:extLst>
          </p:cNvPr>
          <p:cNvSpPr txBox="1"/>
          <p:nvPr/>
        </p:nvSpPr>
        <p:spPr>
          <a:xfrm>
            <a:off x="3397697" y="5830427"/>
            <a:ext cx="3411141" cy="369332"/>
          </a:xfrm>
          <a:prstGeom prst="rect">
            <a:avLst/>
          </a:prstGeom>
          <a:noFill/>
        </p:spPr>
        <p:txBody>
          <a:bodyPr wrap="square">
            <a:spAutoFit/>
          </a:bodyPr>
          <a:lstStyle/>
          <a:p>
            <a:r>
              <a:rPr lang="zh-CN" altLang="en-US" b="1" dirty="0">
                <a:latin typeface="+mn-ea"/>
                <a:cs typeface="Times New Roman" panose="02020603050405020304" pitchFamily="18" charset="0"/>
              </a:rPr>
              <a:t>高峰让吉</a:t>
            </a:r>
            <a:r>
              <a:rPr lang="zh-CN" altLang="en-US" dirty="0">
                <a:latin typeface="+mn-ea"/>
                <a:cs typeface="Times New Roman" panose="02020603050405020304" pitchFamily="18" charset="0"/>
              </a:rPr>
              <a:t>（</a:t>
            </a:r>
            <a:r>
              <a:rPr lang="en-US" altLang="zh-CN" dirty="0">
                <a:latin typeface="+mn-ea"/>
                <a:cs typeface="Times New Roman" panose="02020603050405020304" pitchFamily="18" charset="0"/>
              </a:rPr>
              <a:t>Takamine </a:t>
            </a:r>
            <a:r>
              <a:rPr lang="en-US" altLang="zh-CN" dirty="0" err="1">
                <a:latin typeface="+mn-ea"/>
                <a:cs typeface="Times New Roman" panose="02020603050405020304" pitchFamily="18" charset="0"/>
              </a:rPr>
              <a:t>Jokichi</a:t>
            </a:r>
            <a:r>
              <a:rPr lang="zh-CN" altLang="en-US" dirty="0">
                <a:latin typeface="+mn-ea"/>
                <a:cs typeface="Times New Roman" panose="02020603050405020304" pitchFamily="18" charset="0"/>
              </a:rPr>
              <a:t>）</a:t>
            </a:r>
          </a:p>
        </p:txBody>
      </p:sp>
      <p:sp>
        <p:nvSpPr>
          <p:cNvPr id="12" name="文本框 11">
            <a:extLst>
              <a:ext uri="{FF2B5EF4-FFF2-40B4-BE49-F238E27FC236}">
                <a16:creationId xmlns:a16="http://schemas.microsoft.com/office/drawing/2014/main" id="{0A59E3DF-B5DC-B71B-13C3-052D0EC535DC}"/>
              </a:ext>
            </a:extLst>
          </p:cNvPr>
          <p:cNvSpPr txBox="1"/>
          <p:nvPr/>
        </p:nvSpPr>
        <p:spPr>
          <a:xfrm>
            <a:off x="378165" y="5830427"/>
            <a:ext cx="2964120" cy="369332"/>
          </a:xfrm>
          <a:prstGeom prst="rect">
            <a:avLst/>
          </a:prstGeom>
          <a:noFill/>
        </p:spPr>
        <p:txBody>
          <a:bodyPr wrap="square">
            <a:spAutoFit/>
          </a:bodyPr>
          <a:lstStyle/>
          <a:p>
            <a:r>
              <a:rPr lang="zh-CN" altLang="en-US" sz="1800" b="1" dirty="0">
                <a:latin typeface="+mn-ea"/>
              </a:rPr>
              <a:t>巴克纳（</a:t>
            </a:r>
            <a:r>
              <a:rPr lang="en-US" altLang="zh-CN" dirty="0">
                <a:latin typeface="+mn-ea"/>
              </a:rPr>
              <a:t>Eduard Buchner</a:t>
            </a:r>
            <a:r>
              <a:rPr lang="zh-CN" altLang="en-US" dirty="0">
                <a:latin typeface="+mn-ea"/>
              </a:rPr>
              <a:t>）</a:t>
            </a:r>
          </a:p>
        </p:txBody>
      </p:sp>
    </p:spTree>
    <p:extLst>
      <p:ext uri="{BB962C8B-B14F-4D97-AF65-F5344CB8AC3E}">
        <p14:creationId xmlns:p14="http://schemas.microsoft.com/office/powerpoint/2010/main" val="1558753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433578" y="1023638"/>
            <a:ext cx="2572512" cy="523220"/>
          </a:xfrm>
          <a:prstGeom prst="rect">
            <a:avLst/>
          </a:prstGeom>
          <a:noFill/>
        </p:spPr>
        <p:txBody>
          <a:bodyPr wrap="square">
            <a:spAutoFit/>
          </a:bodyPr>
          <a:lstStyle/>
          <a:p>
            <a:r>
              <a:rPr lang="zh-CN" altLang="en-US" sz="2800" b="1" dirty="0">
                <a:solidFill>
                  <a:srgbClr val="1D50A2"/>
                </a:solidFill>
                <a:cs typeface="+mn-ea"/>
              </a:rPr>
              <a:t>酶的发展历史</a:t>
            </a:r>
          </a:p>
        </p:txBody>
      </p:sp>
      <p:sp>
        <p:nvSpPr>
          <p:cNvPr id="2" name="Rectangle 2">
            <a:extLst>
              <a:ext uri="{FF2B5EF4-FFF2-40B4-BE49-F238E27FC236}">
                <a16:creationId xmlns:a16="http://schemas.microsoft.com/office/drawing/2014/main" id="{B1DB495B-65CA-DC08-2C89-D1A3FBED3F00}"/>
              </a:ext>
            </a:extLst>
          </p:cNvPr>
          <p:cNvSpPr txBox="1">
            <a:spLocks noChangeArrowheads="1"/>
          </p:cNvSpPr>
          <p:nvPr/>
        </p:nvSpPr>
        <p:spPr bwMode="auto">
          <a:xfrm>
            <a:off x="910590" y="2152402"/>
            <a:ext cx="10170922" cy="2359680"/>
          </a:xfrm>
          <a:prstGeom prst="rect">
            <a:avLst/>
          </a:prstGeom>
        </p:spPr>
        <p:txBody>
          <a:bodyPr wrap="square" numCol="1" anchor="t" anchorCtr="0" compatLnSpc="1">
            <a:prstTxWarp prst="textNoShape">
              <a:avLst/>
            </a:prstTxWarp>
          </a:bodyPr>
          <a:lstStyle>
            <a:lvl1pPr marL="0" indent="0" algn="l" defTabSz="914400" rtl="0" eaLnBrk="1" latinLnBrk="0" hangingPunct="1">
              <a:lnSpc>
                <a:spcPct val="130000"/>
              </a:lnSpc>
              <a:spcBef>
                <a:spcPts val="1000"/>
              </a:spcBef>
              <a:buFont typeface="Arial" panose="020B0604020202020204" pitchFamily="34" charset="0"/>
              <a:buNone/>
              <a:defRPr sz="2000" kern="1200">
                <a:solidFill>
                  <a:schemeClr val="tx1"/>
                </a:solidFill>
                <a:latin typeface="微软雅黑" panose="020B0503020204020204" charset="-122"/>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kern="1200">
                <a:solidFill>
                  <a:schemeClr val="tx1"/>
                </a:solidFill>
                <a:latin typeface="微软雅黑" panose="020B0503020204020204" charset="-122"/>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kern="1200">
                <a:solidFill>
                  <a:schemeClr val="tx1"/>
                </a:solidFill>
                <a:latin typeface="微软雅黑" panose="020B0503020204020204" charset="-122"/>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微软雅黑" panose="020B0503020204020204" charset="-122"/>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微软雅黑" panose="020B050302020402020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600" dirty="0">
                <a:latin typeface="宋体" panose="02010600030101010101" pitchFamily="2" charset="-122"/>
              </a:rPr>
              <a:t>后来对酶的作用机理及酶的本质做了深入研究，</a:t>
            </a:r>
          </a:p>
          <a:p>
            <a:r>
              <a:rPr lang="en-US" altLang="zh-CN" sz="2600" dirty="0">
                <a:latin typeface="宋体" panose="02010600030101010101" pitchFamily="2" charset="-122"/>
                <a:cs typeface="Times New Roman" panose="02020603050405020304" pitchFamily="18" charset="0"/>
              </a:rPr>
              <a:t>1930</a:t>
            </a:r>
            <a:r>
              <a:rPr lang="zh-CN" altLang="en-US" sz="2600" dirty="0">
                <a:latin typeface="宋体" panose="02010600030101010101" pitchFamily="2" charset="-122"/>
              </a:rPr>
              <a:t>年，</a:t>
            </a:r>
            <a:r>
              <a:rPr lang="zh-CN" altLang="en-US" sz="2600" dirty="0">
                <a:latin typeface="宋体" panose="02010600030101010101" pitchFamily="2" charset="-122"/>
                <a:cs typeface="Times New Roman" panose="02020603050405020304" pitchFamily="18" charset="0"/>
              </a:rPr>
              <a:t>证实酶是一种蛋白质</a:t>
            </a:r>
            <a:r>
              <a:rPr lang="zh-CN" altLang="en-US" sz="2600" dirty="0">
                <a:latin typeface="宋体" panose="02010600030101010101" pitchFamily="2" charset="-122"/>
              </a:rPr>
              <a:t>；</a:t>
            </a:r>
          </a:p>
          <a:p>
            <a:r>
              <a:rPr lang="en-US" altLang="zh-CN" sz="2600" dirty="0">
                <a:latin typeface="宋体" panose="02010600030101010101" pitchFamily="2" charset="-122"/>
                <a:cs typeface="Times New Roman" panose="02020603050405020304" pitchFamily="18" charset="0"/>
              </a:rPr>
              <a:t>80</a:t>
            </a:r>
            <a:r>
              <a:rPr lang="zh-CN" altLang="en-US" sz="2600" dirty="0">
                <a:latin typeface="宋体" panose="02010600030101010101" pitchFamily="2" charset="-122"/>
                <a:cs typeface="Times New Roman" panose="02020603050405020304" pitchFamily="18" charset="0"/>
              </a:rPr>
              <a:t>年代初发现了具有催化功能的</a:t>
            </a:r>
            <a:r>
              <a:rPr lang="en-US" altLang="zh-CN" sz="2600" dirty="0">
                <a:latin typeface="宋体" panose="02010600030101010101" pitchFamily="2" charset="-122"/>
                <a:cs typeface="Times New Roman" panose="02020603050405020304" pitchFamily="18" charset="0"/>
              </a:rPr>
              <a:t>RNA</a:t>
            </a:r>
            <a:r>
              <a:rPr lang="en-US" altLang="zh-CN" sz="2600" dirty="0">
                <a:cs typeface="Times New Roman" panose="02020603050405020304" pitchFamily="18" charset="0"/>
              </a:rPr>
              <a:t>——</a:t>
            </a:r>
            <a:r>
              <a:rPr lang="zh-CN" altLang="en-US" sz="26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核酶</a:t>
            </a:r>
            <a:r>
              <a:rPr lang="en-US" altLang="zh-CN" sz="26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(ribozyme)</a:t>
            </a:r>
            <a:r>
              <a:rPr lang="zh-CN" altLang="en-US" sz="2600" dirty="0">
                <a:latin typeface="宋体" panose="02010600030101010101" pitchFamily="2" charset="-122"/>
                <a:cs typeface="Times New Roman" panose="02020603050405020304" pitchFamily="18" charset="0"/>
              </a:rPr>
              <a:t>，这一发现打破了酶是蛋白质的传统观念，开辟了酶学研究的新领域，</a:t>
            </a:r>
            <a:endParaRPr lang="en-US" altLang="zh-CN" sz="2600" dirty="0">
              <a:latin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15FAB59C-451A-BC5F-A3FC-D9174F692419}"/>
              </a:ext>
            </a:extLst>
          </p:cNvPr>
          <p:cNvSpPr txBox="1"/>
          <p:nvPr/>
        </p:nvSpPr>
        <p:spPr>
          <a:xfrm>
            <a:off x="1309878" y="5314259"/>
            <a:ext cx="10170922" cy="461665"/>
          </a:xfrm>
          <a:prstGeom prst="rect">
            <a:avLst/>
          </a:prstGeom>
          <a:noFill/>
        </p:spPr>
        <p:txBody>
          <a:bodyPr wrap="square">
            <a:spAutoFit/>
          </a:bodyPr>
          <a:lstStyle/>
          <a:p>
            <a:r>
              <a:rPr lang="zh-CN" altLang="en-US" sz="2400" b="1" dirty="0">
                <a:latin typeface="宋体" panose="02010600030101010101" pitchFamily="2" charset="-122"/>
              </a:rPr>
              <a:t>现已鉴定出</a:t>
            </a:r>
            <a:r>
              <a:rPr lang="en-US" altLang="zh-CN" sz="2400" b="1" dirty="0">
                <a:latin typeface="宋体" panose="02010600030101010101" pitchFamily="2" charset="-122"/>
              </a:rPr>
              <a:t>4000</a:t>
            </a:r>
            <a:r>
              <a:rPr lang="zh-CN" altLang="en-US" sz="2400" b="1" dirty="0">
                <a:latin typeface="宋体" panose="02010600030101010101" pitchFamily="2" charset="-122"/>
              </a:rPr>
              <a:t>多种酶，数百种酶已得到结晶，而且每年都有新酶被发现。</a:t>
            </a:r>
          </a:p>
        </p:txBody>
      </p:sp>
    </p:spTree>
    <p:extLst>
      <p:ext uri="{BB962C8B-B14F-4D97-AF65-F5344CB8AC3E}">
        <p14:creationId xmlns:p14="http://schemas.microsoft.com/office/powerpoint/2010/main" val="5311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checkerboard(across)">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checkerboard(across)">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斜纹 42">
            <a:extLst>
              <a:ext uri="{FF2B5EF4-FFF2-40B4-BE49-F238E27FC236}">
                <a16:creationId xmlns:a16="http://schemas.microsoft.com/office/drawing/2014/main" id="{5F6CB0B2-70EB-80E7-B948-84A88E08C226}"/>
              </a:ext>
            </a:extLst>
          </p:cNvPr>
          <p:cNvSpPr/>
          <p:nvPr/>
        </p:nvSpPr>
        <p:spPr>
          <a:xfrm>
            <a:off x="9777098" y="3694804"/>
            <a:ext cx="723900" cy="874959"/>
          </a:xfrm>
          <a:prstGeom prst="diagStripe">
            <a:avLst/>
          </a:prstGeom>
          <a:solidFill>
            <a:srgbClr val="4AED8F"/>
          </a:solidFill>
          <a:ln>
            <a:noFill/>
          </a:ln>
          <a:scene3d>
            <a:camera prst="orthographicFront">
              <a:rot lat="0" lon="0" rev="48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mj-ea"/>
              <a:ea typeface="+mj-ea"/>
            </a:endParaRPr>
          </a:p>
        </p:txBody>
      </p:sp>
      <p:sp>
        <p:nvSpPr>
          <p:cNvPr id="40" name="斜纹 39">
            <a:extLst>
              <a:ext uri="{FF2B5EF4-FFF2-40B4-BE49-F238E27FC236}">
                <a16:creationId xmlns:a16="http://schemas.microsoft.com/office/drawing/2014/main" id="{EF8C87BF-6501-EDD5-2C58-6481FB1853C7}"/>
              </a:ext>
            </a:extLst>
          </p:cNvPr>
          <p:cNvSpPr/>
          <p:nvPr/>
        </p:nvSpPr>
        <p:spPr>
          <a:xfrm>
            <a:off x="1161351" y="3703800"/>
            <a:ext cx="723900" cy="874959"/>
          </a:xfrm>
          <a:prstGeom prst="diagStripe">
            <a:avLst/>
          </a:prstGeom>
          <a:solidFill>
            <a:srgbClr val="6C439E"/>
          </a:solidFill>
          <a:ln>
            <a:noFill/>
          </a:ln>
          <a:scene3d>
            <a:camera prst="orthographicFront">
              <a:rot lat="0" lon="0" rev="48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mj-ea"/>
              <a:ea typeface="+mj-ea"/>
            </a:endParaRPr>
          </a:p>
        </p:txBody>
      </p:sp>
      <p:sp>
        <p:nvSpPr>
          <p:cNvPr id="35" name="斜纹 34">
            <a:extLst>
              <a:ext uri="{FF2B5EF4-FFF2-40B4-BE49-F238E27FC236}">
                <a16:creationId xmlns:a16="http://schemas.microsoft.com/office/drawing/2014/main" id="{F1978DC7-9922-B450-5C77-C5DAD6F16510}"/>
              </a:ext>
            </a:extLst>
          </p:cNvPr>
          <p:cNvSpPr/>
          <p:nvPr/>
        </p:nvSpPr>
        <p:spPr>
          <a:xfrm>
            <a:off x="8382523" y="2971104"/>
            <a:ext cx="723900" cy="874959"/>
          </a:xfrm>
          <a:prstGeom prst="diagStripe">
            <a:avLst/>
          </a:prstGeom>
          <a:solidFill>
            <a:srgbClr val="47FA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mj-ea"/>
              <a:ea typeface="+mj-ea"/>
            </a:endParaRPr>
          </a:p>
        </p:txBody>
      </p:sp>
      <p:sp>
        <p:nvSpPr>
          <p:cNvPr id="32" name="斜纹 31">
            <a:extLst>
              <a:ext uri="{FF2B5EF4-FFF2-40B4-BE49-F238E27FC236}">
                <a16:creationId xmlns:a16="http://schemas.microsoft.com/office/drawing/2014/main" id="{A93B0842-CE0D-8132-AE1C-CA8481AD7CE8}"/>
              </a:ext>
            </a:extLst>
          </p:cNvPr>
          <p:cNvSpPr/>
          <p:nvPr/>
        </p:nvSpPr>
        <p:spPr>
          <a:xfrm>
            <a:off x="7487285" y="3670507"/>
            <a:ext cx="723900" cy="874959"/>
          </a:xfrm>
          <a:prstGeom prst="diagStripe">
            <a:avLst/>
          </a:prstGeom>
          <a:solidFill>
            <a:srgbClr val="4AED8F"/>
          </a:solidFill>
          <a:ln>
            <a:noFill/>
          </a:ln>
          <a:scene3d>
            <a:camera prst="orthographicFront">
              <a:rot lat="0" lon="0" rev="48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mj-ea"/>
              <a:ea typeface="+mj-ea"/>
            </a:endParaRPr>
          </a:p>
        </p:txBody>
      </p:sp>
      <p:sp>
        <p:nvSpPr>
          <p:cNvPr id="29" name="斜纹 28">
            <a:extLst>
              <a:ext uri="{FF2B5EF4-FFF2-40B4-BE49-F238E27FC236}">
                <a16:creationId xmlns:a16="http://schemas.microsoft.com/office/drawing/2014/main" id="{7CD31E4F-CF50-F12D-5F11-5094A2F5A4C9}"/>
              </a:ext>
            </a:extLst>
          </p:cNvPr>
          <p:cNvSpPr/>
          <p:nvPr/>
        </p:nvSpPr>
        <p:spPr>
          <a:xfrm>
            <a:off x="6115240" y="3002808"/>
            <a:ext cx="723900" cy="874959"/>
          </a:xfrm>
          <a:prstGeom prst="diagStripe">
            <a:avLst/>
          </a:prstGeom>
          <a:solidFill>
            <a:srgbClr val="53C1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mj-ea"/>
              <a:ea typeface="+mj-ea"/>
            </a:endParaRPr>
          </a:p>
        </p:txBody>
      </p:sp>
      <p:sp>
        <p:nvSpPr>
          <p:cNvPr id="22" name="斜纹 21">
            <a:extLst>
              <a:ext uri="{FF2B5EF4-FFF2-40B4-BE49-F238E27FC236}">
                <a16:creationId xmlns:a16="http://schemas.microsoft.com/office/drawing/2014/main" id="{A75C2E86-25E1-3978-F2AD-2F4F94D613F5}"/>
              </a:ext>
            </a:extLst>
          </p:cNvPr>
          <p:cNvSpPr/>
          <p:nvPr/>
        </p:nvSpPr>
        <p:spPr>
          <a:xfrm>
            <a:off x="3190685" y="2973464"/>
            <a:ext cx="723900" cy="874959"/>
          </a:xfrm>
          <a:prstGeom prst="diagStripe">
            <a:avLst/>
          </a:prstGeom>
          <a:solidFill>
            <a:srgbClr val="6276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mj-ea"/>
              <a:ea typeface="+mj-ea"/>
            </a:endParaRPr>
          </a:p>
        </p:txBody>
      </p:sp>
      <p:sp>
        <p:nvSpPr>
          <p:cNvPr id="14" name="斜纹 13">
            <a:extLst>
              <a:ext uri="{FF2B5EF4-FFF2-40B4-BE49-F238E27FC236}">
                <a16:creationId xmlns:a16="http://schemas.microsoft.com/office/drawing/2014/main" id="{B12A2BBD-16F2-BDB2-68BE-A70902D0826A}"/>
              </a:ext>
            </a:extLst>
          </p:cNvPr>
          <p:cNvSpPr/>
          <p:nvPr/>
        </p:nvSpPr>
        <p:spPr>
          <a:xfrm>
            <a:off x="4850132" y="3696454"/>
            <a:ext cx="723900" cy="874959"/>
          </a:xfrm>
          <a:prstGeom prst="diagStripe">
            <a:avLst/>
          </a:prstGeom>
          <a:solidFill>
            <a:srgbClr val="59A496"/>
          </a:solidFill>
          <a:ln>
            <a:noFill/>
          </a:ln>
          <a:scene3d>
            <a:camera prst="orthographicFront">
              <a:rot lat="0" lon="0" rev="48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mj-ea"/>
              <a:ea typeface="+mj-ea"/>
            </a:endParaRPr>
          </a:p>
        </p:txBody>
      </p:sp>
      <p:sp>
        <p:nvSpPr>
          <p:cNvPr id="13" name="斜纹 12">
            <a:extLst>
              <a:ext uri="{FF2B5EF4-FFF2-40B4-BE49-F238E27FC236}">
                <a16:creationId xmlns:a16="http://schemas.microsoft.com/office/drawing/2014/main" id="{16C2FC8C-9673-F7D5-E4DC-9875E6203C97}"/>
              </a:ext>
            </a:extLst>
          </p:cNvPr>
          <p:cNvSpPr/>
          <p:nvPr/>
        </p:nvSpPr>
        <p:spPr>
          <a:xfrm>
            <a:off x="1169288" y="2991520"/>
            <a:ext cx="723900" cy="874959"/>
          </a:xfrm>
          <a:prstGeom prst="diagStrip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mj-ea"/>
              <a:ea typeface="+mj-ea"/>
            </a:endParaRPr>
          </a:p>
        </p:txBody>
      </p:sp>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549783" y="829434"/>
            <a:ext cx="2449322" cy="523220"/>
          </a:xfrm>
          <a:prstGeom prst="rect">
            <a:avLst/>
          </a:prstGeom>
          <a:noFill/>
        </p:spPr>
        <p:txBody>
          <a:bodyPr wrap="square">
            <a:spAutoFit/>
          </a:bodyPr>
          <a:lstStyle/>
          <a:p>
            <a:r>
              <a:rPr lang="zh-CN" altLang="en-US" sz="2800" b="1" dirty="0">
                <a:solidFill>
                  <a:srgbClr val="1D50A2"/>
                </a:solidFill>
                <a:cs typeface="+mn-ea"/>
              </a:rPr>
              <a:t>酶的应用历史</a:t>
            </a:r>
          </a:p>
        </p:txBody>
      </p:sp>
      <p:sp>
        <p:nvSpPr>
          <p:cNvPr id="3" name="箭头: 右 2">
            <a:extLst>
              <a:ext uri="{FF2B5EF4-FFF2-40B4-BE49-F238E27FC236}">
                <a16:creationId xmlns:a16="http://schemas.microsoft.com/office/drawing/2014/main" id="{106F44F7-1F1D-2649-325B-7D9F9C41E588}"/>
              </a:ext>
            </a:extLst>
          </p:cNvPr>
          <p:cNvSpPr/>
          <p:nvPr/>
        </p:nvSpPr>
        <p:spPr>
          <a:xfrm>
            <a:off x="549783" y="3115204"/>
            <a:ext cx="10769600" cy="1257300"/>
          </a:xfrm>
          <a:prstGeom prst="rightArrow">
            <a:avLst/>
          </a:prstGeom>
          <a:gradFill flip="none" rotWithShape="1">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mj-ea"/>
              <a:ea typeface="+mj-ea"/>
            </a:endParaRPr>
          </a:p>
        </p:txBody>
      </p:sp>
      <p:sp>
        <p:nvSpPr>
          <p:cNvPr id="6" name="文本框 5">
            <a:extLst>
              <a:ext uri="{FF2B5EF4-FFF2-40B4-BE49-F238E27FC236}">
                <a16:creationId xmlns:a16="http://schemas.microsoft.com/office/drawing/2014/main" id="{AFAAB559-2851-853E-C701-A0832B45A29B}"/>
              </a:ext>
            </a:extLst>
          </p:cNvPr>
          <p:cNvSpPr txBox="1"/>
          <p:nvPr/>
        </p:nvSpPr>
        <p:spPr>
          <a:xfrm>
            <a:off x="849312" y="3496963"/>
            <a:ext cx="1214755" cy="461665"/>
          </a:xfrm>
          <a:prstGeom prst="rect">
            <a:avLst/>
          </a:prstGeom>
          <a:noFill/>
        </p:spPr>
        <p:txBody>
          <a:bodyPr wrap="square">
            <a:spAutoFit/>
          </a:bodyPr>
          <a:lstStyle/>
          <a:p>
            <a:r>
              <a:rPr lang="en-US" altLang="zh-CN" sz="2400" dirty="0">
                <a:solidFill>
                  <a:schemeClr val="bg1"/>
                </a:solidFill>
                <a:latin typeface="宋体" panose="02010600030101010101" pitchFamily="2" charset="-122"/>
              </a:rPr>
              <a:t>1908</a:t>
            </a:r>
            <a:r>
              <a:rPr lang="zh-CN" altLang="en-US" sz="2400" dirty="0">
                <a:solidFill>
                  <a:schemeClr val="bg1"/>
                </a:solidFill>
                <a:latin typeface="宋体" panose="02010600030101010101" pitchFamily="2" charset="-122"/>
              </a:rPr>
              <a:t>年</a:t>
            </a:r>
            <a:endParaRPr lang="zh-CN" altLang="en-US" sz="2400" dirty="0">
              <a:solidFill>
                <a:schemeClr val="bg1"/>
              </a:solidFill>
            </a:endParaRPr>
          </a:p>
        </p:txBody>
      </p:sp>
      <p:sp>
        <p:nvSpPr>
          <p:cNvPr id="10" name="文本框 9">
            <a:extLst>
              <a:ext uri="{FF2B5EF4-FFF2-40B4-BE49-F238E27FC236}">
                <a16:creationId xmlns:a16="http://schemas.microsoft.com/office/drawing/2014/main" id="{A2FDE815-441A-E15D-CE11-89F14CF2C503}"/>
              </a:ext>
            </a:extLst>
          </p:cNvPr>
          <p:cNvSpPr txBox="1"/>
          <p:nvPr/>
        </p:nvSpPr>
        <p:spPr>
          <a:xfrm>
            <a:off x="403605" y="2052493"/>
            <a:ext cx="1889506" cy="923330"/>
          </a:xfrm>
          <a:prstGeom prst="rect">
            <a:avLst/>
          </a:prstGeom>
          <a:noFill/>
          <a:ln>
            <a:solidFill>
              <a:schemeClr val="tx1"/>
            </a:solidFill>
          </a:ln>
        </p:spPr>
        <p:txBody>
          <a:bodyPr wrap="square">
            <a:spAutoFit/>
          </a:bodyPr>
          <a:lstStyle/>
          <a:p>
            <a:r>
              <a:rPr lang="en-US" altLang="zh-CN" dirty="0"/>
              <a:t>1908</a:t>
            </a:r>
            <a:r>
              <a:rPr lang="zh-CN" altLang="en-US" dirty="0"/>
              <a:t>年</a:t>
            </a:r>
            <a:r>
              <a:rPr lang="en-US" altLang="zh-CN" dirty="0"/>
              <a:t>,</a:t>
            </a:r>
            <a:r>
              <a:rPr lang="zh-CN" altLang="en-US" dirty="0"/>
              <a:t>德国的罗姆制得胰酶，用于皮革的软化。</a:t>
            </a:r>
          </a:p>
        </p:txBody>
      </p:sp>
      <p:sp>
        <p:nvSpPr>
          <p:cNvPr id="12" name="文本框 11">
            <a:extLst>
              <a:ext uri="{FF2B5EF4-FFF2-40B4-BE49-F238E27FC236}">
                <a16:creationId xmlns:a16="http://schemas.microsoft.com/office/drawing/2014/main" id="{0C1D1385-2226-13D2-E56A-8E1B24AC6D4D}"/>
              </a:ext>
            </a:extLst>
          </p:cNvPr>
          <p:cNvSpPr txBox="1"/>
          <p:nvPr/>
        </p:nvSpPr>
        <p:spPr>
          <a:xfrm>
            <a:off x="362012" y="4516604"/>
            <a:ext cx="2338451" cy="923330"/>
          </a:xfrm>
          <a:prstGeom prst="rect">
            <a:avLst/>
          </a:prstGeom>
          <a:solidFill>
            <a:schemeClr val="bg1"/>
          </a:solidFill>
          <a:ln>
            <a:solidFill>
              <a:schemeClr val="tx1"/>
            </a:solidFill>
          </a:ln>
        </p:spPr>
        <p:txBody>
          <a:bodyPr wrap="square">
            <a:spAutoFit/>
          </a:bodyPr>
          <a:lstStyle>
            <a:defPPr>
              <a:defRPr lang="zh-CN"/>
            </a:defPPr>
          </a:lstStyle>
          <a:p>
            <a:r>
              <a:rPr lang="en-US" altLang="zh-CN" dirty="0"/>
              <a:t>1908</a:t>
            </a:r>
            <a:r>
              <a:rPr lang="zh-CN" altLang="en-US" dirty="0"/>
              <a:t>年</a:t>
            </a:r>
            <a:r>
              <a:rPr lang="en-US" altLang="zh-CN" dirty="0"/>
              <a:t>,</a:t>
            </a:r>
            <a:r>
              <a:rPr lang="zh-CN" altLang="en-US" dirty="0"/>
              <a:t>法国的波伊登制备了细菌淀粉酶，应用于纺织品的退浆。</a:t>
            </a:r>
          </a:p>
        </p:txBody>
      </p:sp>
      <p:sp>
        <p:nvSpPr>
          <p:cNvPr id="16" name="文本框 15">
            <a:extLst>
              <a:ext uri="{FF2B5EF4-FFF2-40B4-BE49-F238E27FC236}">
                <a16:creationId xmlns:a16="http://schemas.microsoft.com/office/drawing/2014/main" id="{81ED966F-1E5E-1D8B-FC73-1F8645418E4E}"/>
              </a:ext>
            </a:extLst>
          </p:cNvPr>
          <p:cNvSpPr txBox="1"/>
          <p:nvPr/>
        </p:nvSpPr>
        <p:spPr>
          <a:xfrm>
            <a:off x="3019806" y="3523229"/>
            <a:ext cx="1214754" cy="461665"/>
          </a:xfrm>
          <a:prstGeom prst="rect">
            <a:avLst/>
          </a:prstGeom>
          <a:noFill/>
        </p:spPr>
        <p:txBody>
          <a:bodyPr wrap="square">
            <a:spAutoFit/>
          </a:bodyPr>
          <a:lstStyle>
            <a:defPPr>
              <a:defRPr lang="zh-CN"/>
            </a:defPPr>
            <a:lvl1pPr>
              <a:defRPr sz="2400">
                <a:solidFill>
                  <a:schemeClr val="bg1"/>
                </a:solidFill>
                <a:latin typeface="宋体" panose="02010600030101010101" pitchFamily="2" charset="-122"/>
              </a:defRPr>
            </a:lvl1pPr>
          </a:lstStyle>
          <a:p>
            <a:r>
              <a:rPr lang="en-US" altLang="zh-CN" dirty="0"/>
              <a:t>1911</a:t>
            </a:r>
            <a:r>
              <a:rPr lang="zh-CN" altLang="en-US" dirty="0"/>
              <a:t>年</a:t>
            </a:r>
          </a:p>
        </p:txBody>
      </p:sp>
      <p:sp>
        <p:nvSpPr>
          <p:cNvPr id="21" name="文本框 20">
            <a:extLst>
              <a:ext uri="{FF2B5EF4-FFF2-40B4-BE49-F238E27FC236}">
                <a16:creationId xmlns:a16="http://schemas.microsoft.com/office/drawing/2014/main" id="{D79006E8-2BEE-3117-7E7B-1E67AC19AAC8}"/>
              </a:ext>
            </a:extLst>
          </p:cNvPr>
          <p:cNvSpPr txBox="1"/>
          <p:nvPr/>
        </p:nvSpPr>
        <p:spPr>
          <a:xfrm>
            <a:off x="2392489" y="2050134"/>
            <a:ext cx="2758062" cy="923330"/>
          </a:xfrm>
          <a:prstGeom prst="rect">
            <a:avLst/>
          </a:prstGeom>
          <a:noFill/>
          <a:ln>
            <a:solidFill>
              <a:schemeClr val="tx1"/>
            </a:solidFill>
          </a:ln>
        </p:spPr>
        <p:txBody>
          <a:bodyPr wrap="square">
            <a:spAutoFit/>
          </a:bodyPr>
          <a:lstStyle>
            <a:defPPr>
              <a:defRPr lang="zh-CN"/>
            </a:defPPr>
          </a:lstStyle>
          <a:p>
            <a:r>
              <a:rPr lang="en-US" altLang="zh-CN" dirty="0"/>
              <a:t>1911</a:t>
            </a:r>
            <a:r>
              <a:rPr lang="zh-CN" altLang="en-US" dirty="0"/>
              <a:t>年</a:t>
            </a:r>
            <a:r>
              <a:rPr lang="en-US" altLang="zh-CN" dirty="0"/>
              <a:t>,</a:t>
            </a:r>
            <a:r>
              <a:rPr lang="zh-CN" altLang="en-US" dirty="0"/>
              <a:t>美国的华勒斯坦制得木瓜蛋白酶，用于除去啤酒中的蛋白质浑浊。</a:t>
            </a:r>
          </a:p>
        </p:txBody>
      </p:sp>
      <p:sp>
        <p:nvSpPr>
          <p:cNvPr id="24" name="文本框 23">
            <a:extLst>
              <a:ext uri="{FF2B5EF4-FFF2-40B4-BE49-F238E27FC236}">
                <a16:creationId xmlns:a16="http://schemas.microsoft.com/office/drawing/2014/main" id="{015B89C2-1ECE-8E02-7508-1DF12D4E1713}"/>
              </a:ext>
            </a:extLst>
          </p:cNvPr>
          <p:cNvSpPr txBox="1"/>
          <p:nvPr/>
        </p:nvSpPr>
        <p:spPr>
          <a:xfrm>
            <a:off x="4433826" y="3523229"/>
            <a:ext cx="1214754" cy="461665"/>
          </a:xfrm>
          <a:prstGeom prst="rect">
            <a:avLst/>
          </a:prstGeom>
          <a:noFill/>
        </p:spPr>
        <p:txBody>
          <a:bodyPr wrap="square">
            <a:spAutoFit/>
          </a:bodyPr>
          <a:lstStyle>
            <a:defPPr>
              <a:defRPr lang="zh-CN"/>
            </a:defPPr>
            <a:lvl1pPr>
              <a:defRPr sz="2400">
                <a:solidFill>
                  <a:schemeClr val="bg1"/>
                </a:solidFill>
                <a:latin typeface="宋体" panose="02010600030101010101" pitchFamily="2" charset="-122"/>
              </a:defRPr>
            </a:lvl1pPr>
          </a:lstStyle>
          <a:p>
            <a:r>
              <a:rPr lang="en-US" altLang="zh-CN" dirty="0"/>
              <a:t>1949</a:t>
            </a:r>
            <a:r>
              <a:rPr lang="zh-CN" altLang="en-US" dirty="0"/>
              <a:t>年</a:t>
            </a:r>
          </a:p>
        </p:txBody>
      </p:sp>
      <p:sp>
        <p:nvSpPr>
          <p:cNvPr id="26" name="文本框 25">
            <a:extLst>
              <a:ext uri="{FF2B5EF4-FFF2-40B4-BE49-F238E27FC236}">
                <a16:creationId xmlns:a16="http://schemas.microsoft.com/office/drawing/2014/main" id="{E83FFCE2-3D09-DB99-23FD-A189BCE73916}"/>
              </a:ext>
            </a:extLst>
          </p:cNvPr>
          <p:cNvSpPr txBox="1"/>
          <p:nvPr/>
        </p:nvSpPr>
        <p:spPr>
          <a:xfrm>
            <a:off x="3337943" y="4496188"/>
            <a:ext cx="3024378" cy="923330"/>
          </a:xfrm>
          <a:prstGeom prst="rect">
            <a:avLst/>
          </a:prstGeom>
          <a:solidFill>
            <a:schemeClr val="bg1"/>
          </a:solidFill>
          <a:ln>
            <a:solidFill>
              <a:schemeClr val="tx1"/>
            </a:solidFill>
          </a:ln>
        </p:spPr>
        <p:txBody>
          <a:bodyPr wrap="square">
            <a:spAutoFit/>
          </a:bodyPr>
          <a:lstStyle>
            <a:defPPr>
              <a:defRPr lang="zh-CN"/>
            </a:defPPr>
          </a:lstStyle>
          <a:p>
            <a:r>
              <a:rPr lang="en-US" altLang="zh-CN" dirty="0"/>
              <a:t>1949</a:t>
            </a:r>
            <a:r>
              <a:rPr lang="zh-CN" altLang="en-US" dirty="0"/>
              <a:t>年，用</a:t>
            </a:r>
            <a:r>
              <a:rPr lang="zh-CN" altLang="en-US" dirty="0">
                <a:solidFill>
                  <a:srgbClr val="C00000"/>
                </a:solidFill>
              </a:rPr>
              <a:t>液体深层培养法</a:t>
            </a:r>
            <a:r>
              <a:rPr lang="zh-CN" altLang="en-US" dirty="0"/>
              <a:t>进行细菌淀粉酶的发酵生产，</a:t>
            </a:r>
            <a:r>
              <a:rPr lang="zh-CN" altLang="en-US" dirty="0">
                <a:solidFill>
                  <a:srgbClr val="C00000"/>
                </a:solidFill>
              </a:rPr>
              <a:t>揭开了近代酶工业的序幕</a:t>
            </a:r>
            <a:r>
              <a:rPr lang="zh-CN" altLang="en-US" dirty="0"/>
              <a:t>。</a:t>
            </a:r>
          </a:p>
        </p:txBody>
      </p:sp>
      <p:sp>
        <p:nvSpPr>
          <p:cNvPr id="28" name="文本框 27">
            <a:extLst>
              <a:ext uri="{FF2B5EF4-FFF2-40B4-BE49-F238E27FC236}">
                <a16:creationId xmlns:a16="http://schemas.microsoft.com/office/drawing/2014/main" id="{27577D90-C907-0591-3BE1-80C2FA346DC5}"/>
              </a:ext>
            </a:extLst>
          </p:cNvPr>
          <p:cNvSpPr txBox="1"/>
          <p:nvPr/>
        </p:nvSpPr>
        <p:spPr>
          <a:xfrm>
            <a:off x="5241989" y="1247555"/>
            <a:ext cx="2274317" cy="1754326"/>
          </a:xfrm>
          <a:prstGeom prst="rect">
            <a:avLst/>
          </a:prstGeom>
          <a:noFill/>
          <a:ln>
            <a:solidFill>
              <a:schemeClr val="tx1"/>
            </a:solidFill>
          </a:ln>
        </p:spPr>
        <p:txBody>
          <a:bodyPr wrap="square">
            <a:spAutoFit/>
          </a:bodyPr>
          <a:lstStyle>
            <a:defPPr>
              <a:defRPr lang="zh-CN"/>
            </a:defPPr>
          </a:lstStyle>
          <a:p>
            <a:r>
              <a:rPr lang="en-US" altLang="zh-CN" dirty="0"/>
              <a:t>1953</a:t>
            </a:r>
            <a:r>
              <a:rPr lang="zh-CN" altLang="en-US" dirty="0"/>
              <a:t>年德国科学家首先将聚氨基苯乙烯树脂与淀粉酶，胃蛋白酶，羧肽酶和核糖核酸酶等结合，制成了</a:t>
            </a:r>
            <a:r>
              <a:rPr lang="zh-CN" altLang="en-US" dirty="0">
                <a:solidFill>
                  <a:srgbClr val="C00000"/>
                </a:solidFill>
              </a:rPr>
              <a:t>固定化酶</a:t>
            </a:r>
          </a:p>
        </p:txBody>
      </p:sp>
      <p:sp>
        <p:nvSpPr>
          <p:cNvPr id="31" name="文本框 30">
            <a:extLst>
              <a:ext uri="{FF2B5EF4-FFF2-40B4-BE49-F238E27FC236}">
                <a16:creationId xmlns:a16="http://schemas.microsoft.com/office/drawing/2014/main" id="{8FA1C781-675F-9538-FCB3-69370A9714D9}"/>
              </a:ext>
            </a:extLst>
          </p:cNvPr>
          <p:cNvSpPr txBox="1"/>
          <p:nvPr/>
        </p:nvSpPr>
        <p:spPr>
          <a:xfrm>
            <a:off x="6524816" y="4483129"/>
            <a:ext cx="2527110" cy="2031325"/>
          </a:xfrm>
          <a:prstGeom prst="rect">
            <a:avLst/>
          </a:prstGeom>
          <a:solidFill>
            <a:schemeClr val="bg1"/>
          </a:solidFill>
          <a:ln>
            <a:solidFill>
              <a:schemeClr val="tx1"/>
            </a:solidFill>
          </a:ln>
        </p:spPr>
        <p:txBody>
          <a:bodyPr wrap="square">
            <a:spAutoFit/>
          </a:bodyPr>
          <a:lstStyle>
            <a:defPPr>
              <a:defRPr lang="zh-CN"/>
            </a:defPPr>
          </a:lstStyle>
          <a:p>
            <a:r>
              <a:rPr lang="en-US" altLang="zh-CN" dirty="0"/>
              <a:t>1969</a:t>
            </a:r>
            <a:r>
              <a:rPr lang="zh-CN" altLang="en-US" dirty="0"/>
              <a:t>年</a:t>
            </a:r>
            <a:r>
              <a:rPr lang="en-US" altLang="zh-CN" dirty="0"/>
              <a:t>,</a:t>
            </a:r>
            <a:r>
              <a:rPr lang="zh-CN" altLang="en-US" dirty="0"/>
              <a:t>日本的千烟一郎首次在工业上应用固定化氨基酰化酶从</a:t>
            </a:r>
            <a:r>
              <a:rPr lang="en-US" altLang="zh-CN" dirty="0"/>
              <a:t>DL-</a:t>
            </a:r>
            <a:r>
              <a:rPr lang="zh-CN" altLang="en-US" dirty="0"/>
              <a:t>氨基酸生产</a:t>
            </a:r>
            <a:r>
              <a:rPr lang="en-US" altLang="zh-CN" dirty="0"/>
              <a:t>L-</a:t>
            </a:r>
            <a:r>
              <a:rPr lang="zh-CN" altLang="en-US" dirty="0"/>
              <a:t>氨基酸。出现了“</a:t>
            </a:r>
            <a:r>
              <a:rPr lang="zh-CN" altLang="en-US" dirty="0">
                <a:solidFill>
                  <a:srgbClr val="C00000"/>
                </a:solidFill>
              </a:rPr>
              <a:t>酶工程</a:t>
            </a:r>
            <a:r>
              <a:rPr lang="zh-CN" altLang="en-US" dirty="0"/>
              <a:t>”这个名词来代表有效利用酶的科学技术领域。</a:t>
            </a:r>
          </a:p>
        </p:txBody>
      </p:sp>
      <p:sp>
        <p:nvSpPr>
          <p:cNvPr id="34" name="文本框 33">
            <a:extLst>
              <a:ext uri="{FF2B5EF4-FFF2-40B4-BE49-F238E27FC236}">
                <a16:creationId xmlns:a16="http://schemas.microsoft.com/office/drawing/2014/main" id="{87B262CA-7CE9-B6BD-C25A-1B3CE2AE07A3}"/>
              </a:ext>
            </a:extLst>
          </p:cNvPr>
          <p:cNvSpPr txBox="1"/>
          <p:nvPr/>
        </p:nvSpPr>
        <p:spPr>
          <a:xfrm>
            <a:off x="7739696" y="1216778"/>
            <a:ext cx="2316717" cy="1754326"/>
          </a:xfrm>
          <a:prstGeom prst="rect">
            <a:avLst/>
          </a:prstGeom>
          <a:noFill/>
          <a:ln>
            <a:solidFill>
              <a:schemeClr val="tx1"/>
            </a:solidFill>
          </a:ln>
        </p:spPr>
        <p:txBody>
          <a:bodyPr wrap="square">
            <a:spAutoFit/>
          </a:bodyPr>
          <a:lstStyle>
            <a:defPPr>
              <a:defRPr lang="zh-CN"/>
            </a:defPPr>
          </a:lstStyle>
          <a:p>
            <a:r>
              <a:rPr lang="en-US" altLang="zh-CN" dirty="0"/>
              <a:t>1971</a:t>
            </a:r>
            <a:r>
              <a:rPr lang="zh-CN" altLang="en-US" dirty="0"/>
              <a:t>年</a:t>
            </a:r>
            <a:r>
              <a:rPr lang="zh-CN" altLang="en-US" dirty="0">
                <a:solidFill>
                  <a:srgbClr val="C00000"/>
                </a:solidFill>
              </a:rPr>
              <a:t>第一届国际酶工程学术会议</a:t>
            </a:r>
            <a:r>
              <a:rPr lang="zh-CN" altLang="en-US" dirty="0"/>
              <a:t>在美国召开，当时的主题即是固定化酶，进一步开展了对微生物细胞固定化的研究。</a:t>
            </a:r>
          </a:p>
        </p:txBody>
      </p:sp>
      <p:sp>
        <p:nvSpPr>
          <p:cNvPr id="36" name="文本框 35">
            <a:extLst>
              <a:ext uri="{FF2B5EF4-FFF2-40B4-BE49-F238E27FC236}">
                <a16:creationId xmlns:a16="http://schemas.microsoft.com/office/drawing/2014/main" id="{4AC36379-2C41-F99B-CDEA-EC44713076BB}"/>
              </a:ext>
            </a:extLst>
          </p:cNvPr>
          <p:cNvSpPr txBox="1"/>
          <p:nvPr/>
        </p:nvSpPr>
        <p:spPr>
          <a:xfrm>
            <a:off x="5735740" y="3523229"/>
            <a:ext cx="1214754" cy="461665"/>
          </a:xfrm>
          <a:prstGeom prst="rect">
            <a:avLst/>
          </a:prstGeom>
          <a:noFill/>
        </p:spPr>
        <p:txBody>
          <a:bodyPr wrap="square">
            <a:spAutoFit/>
          </a:bodyPr>
          <a:lstStyle>
            <a:defPPr>
              <a:defRPr lang="zh-CN"/>
            </a:defPPr>
            <a:lvl1pPr>
              <a:defRPr sz="2400">
                <a:solidFill>
                  <a:schemeClr val="bg1"/>
                </a:solidFill>
                <a:latin typeface="宋体" panose="02010600030101010101" pitchFamily="2" charset="-122"/>
              </a:defRPr>
            </a:lvl1pPr>
          </a:lstStyle>
          <a:p>
            <a:r>
              <a:rPr lang="en-US" altLang="zh-CN" dirty="0"/>
              <a:t>1953</a:t>
            </a:r>
            <a:r>
              <a:rPr lang="zh-CN" altLang="en-US" dirty="0"/>
              <a:t>年</a:t>
            </a:r>
          </a:p>
        </p:txBody>
      </p:sp>
      <p:sp>
        <p:nvSpPr>
          <p:cNvPr id="37" name="文本框 36">
            <a:extLst>
              <a:ext uri="{FF2B5EF4-FFF2-40B4-BE49-F238E27FC236}">
                <a16:creationId xmlns:a16="http://schemas.microsoft.com/office/drawing/2014/main" id="{F12C7001-E1AF-D112-AADA-EF87BBA17937}"/>
              </a:ext>
            </a:extLst>
          </p:cNvPr>
          <p:cNvSpPr txBox="1"/>
          <p:nvPr/>
        </p:nvSpPr>
        <p:spPr>
          <a:xfrm>
            <a:off x="6908929" y="3496963"/>
            <a:ext cx="1214754" cy="461665"/>
          </a:xfrm>
          <a:prstGeom prst="rect">
            <a:avLst/>
          </a:prstGeom>
          <a:noFill/>
        </p:spPr>
        <p:txBody>
          <a:bodyPr wrap="square">
            <a:spAutoFit/>
          </a:bodyPr>
          <a:lstStyle>
            <a:defPPr>
              <a:defRPr lang="zh-CN"/>
            </a:defPPr>
            <a:lvl1pPr>
              <a:defRPr sz="2400">
                <a:solidFill>
                  <a:schemeClr val="bg1"/>
                </a:solidFill>
                <a:latin typeface="宋体" panose="02010600030101010101" pitchFamily="2" charset="-122"/>
              </a:defRPr>
            </a:lvl1pPr>
          </a:lstStyle>
          <a:p>
            <a:r>
              <a:rPr lang="en-US" altLang="zh-CN" dirty="0"/>
              <a:t>1969</a:t>
            </a:r>
            <a:r>
              <a:rPr lang="zh-CN" altLang="en-US" dirty="0"/>
              <a:t>年</a:t>
            </a:r>
          </a:p>
        </p:txBody>
      </p:sp>
      <p:sp>
        <p:nvSpPr>
          <p:cNvPr id="38" name="文本框 37">
            <a:extLst>
              <a:ext uri="{FF2B5EF4-FFF2-40B4-BE49-F238E27FC236}">
                <a16:creationId xmlns:a16="http://schemas.microsoft.com/office/drawing/2014/main" id="{8EC2E09B-31CC-A499-DF10-FBFE6F6BF261}"/>
              </a:ext>
            </a:extLst>
          </p:cNvPr>
          <p:cNvSpPr txBox="1"/>
          <p:nvPr/>
        </p:nvSpPr>
        <p:spPr>
          <a:xfrm>
            <a:off x="7998594" y="3508082"/>
            <a:ext cx="1214754" cy="461665"/>
          </a:xfrm>
          <a:prstGeom prst="rect">
            <a:avLst/>
          </a:prstGeom>
          <a:noFill/>
        </p:spPr>
        <p:txBody>
          <a:bodyPr wrap="square">
            <a:spAutoFit/>
          </a:bodyPr>
          <a:lstStyle>
            <a:defPPr>
              <a:defRPr lang="zh-CN"/>
            </a:defPPr>
            <a:lvl1pPr>
              <a:defRPr sz="2400">
                <a:solidFill>
                  <a:schemeClr val="bg1"/>
                </a:solidFill>
                <a:latin typeface="宋体" panose="02010600030101010101" pitchFamily="2" charset="-122"/>
              </a:defRPr>
            </a:lvl1pPr>
          </a:lstStyle>
          <a:p>
            <a:r>
              <a:rPr lang="en-US" altLang="zh-CN" dirty="0"/>
              <a:t>1971</a:t>
            </a:r>
            <a:r>
              <a:rPr lang="zh-CN" altLang="en-US" dirty="0"/>
              <a:t>年</a:t>
            </a:r>
          </a:p>
        </p:txBody>
      </p:sp>
      <p:sp>
        <p:nvSpPr>
          <p:cNvPr id="42" name="文本框 41">
            <a:extLst>
              <a:ext uri="{FF2B5EF4-FFF2-40B4-BE49-F238E27FC236}">
                <a16:creationId xmlns:a16="http://schemas.microsoft.com/office/drawing/2014/main" id="{A36FCDB6-A065-D523-B05F-7AA83239AE4C}"/>
              </a:ext>
            </a:extLst>
          </p:cNvPr>
          <p:cNvSpPr txBox="1"/>
          <p:nvPr/>
        </p:nvSpPr>
        <p:spPr>
          <a:xfrm>
            <a:off x="9437824" y="3502096"/>
            <a:ext cx="1378520" cy="461665"/>
          </a:xfrm>
          <a:prstGeom prst="rect">
            <a:avLst/>
          </a:prstGeom>
          <a:noFill/>
        </p:spPr>
        <p:txBody>
          <a:bodyPr wrap="square">
            <a:spAutoFit/>
          </a:bodyPr>
          <a:lstStyle>
            <a:defPPr>
              <a:defRPr lang="zh-CN"/>
            </a:defPPr>
            <a:lvl1pPr>
              <a:defRPr sz="2400">
                <a:solidFill>
                  <a:schemeClr val="bg1"/>
                </a:solidFill>
                <a:latin typeface="宋体" panose="02010600030101010101" pitchFamily="2" charset="-122"/>
              </a:defRPr>
            </a:lvl1pPr>
          </a:lstStyle>
          <a:p>
            <a:r>
              <a:rPr lang="zh-CN" altLang="en-US" dirty="0"/>
              <a:t>近</a:t>
            </a:r>
            <a:r>
              <a:rPr lang="en-US" altLang="zh-CN" dirty="0"/>
              <a:t>20</a:t>
            </a:r>
            <a:r>
              <a:rPr lang="zh-CN" altLang="en-US" dirty="0"/>
              <a:t>年</a:t>
            </a:r>
          </a:p>
        </p:txBody>
      </p:sp>
      <p:sp>
        <p:nvSpPr>
          <p:cNvPr id="45" name="文本框 44">
            <a:extLst>
              <a:ext uri="{FF2B5EF4-FFF2-40B4-BE49-F238E27FC236}">
                <a16:creationId xmlns:a16="http://schemas.microsoft.com/office/drawing/2014/main" id="{80EA3378-79D3-E2C3-28BA-6E73056F3430}"/>
              </a:ext>
            </a:extLst>
          </p:cNvPr>
          <p:cNvSpPr txBox="1"/>
          <p:nvPr/>
        </p:nvSpPr>
        <p:spPr>
          <a:xfrm>
            <a:off x="9367272" y="4510882"/>
            <a:ext cx="2267452" cy="923330"/>
          </a:xfrm>
          <a:prstGeom prst="rect">
            <a:avLst/>
          </a:prstGeom>
          <a:solidFill>
            <a:schemeClr val="bg1"/>
          </a:solidFill>
          <a:ln>
            <a:solidFill>
              <a:schemeClr val="tx1"/>
            </a:solidFill>
          </a:ln>
        </p:spPr>
        <p:txBody>
          <a:bodyPr wrap="square">
            <a:spAutoFit/>
          </a:bodyPr>
          <a:lstStyle>
            <a:defPPr>
              <a:defRPr lang="zh-CN"/>
            </a:defPPr>
          </a:lstStyle>
          <a:p>
            <a:r>
              <a:rPr lang="zh-CN" altLang="en-US" dirty="0"/>
              <a:t>对抗体酶，人工酶，模拟酶等方面，以及酶的应用技术研究 </a:t>
            </a:r>
          </a:p>
        </p:txBody>
      </p:sp>
    </p:spTree>
    <p:extLst>
      <p:ext uri="{BB962C8B-B14F-4D97-AF65-F5344CB8AC3E}">
        <p14:creationId xmlns:p14="http://schemas.microsoft.com/office/powerpoint/2010/main" val="3838753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4">
            <a:alphaModFix amt="58000"/>
          </a:blip>
          <a:srcRect b="29236"/>
          <a:stretch>
            <a:fillRect/>
          </a:stretch>
        </p:blipFill>
        <p:spPr>
          <a:xfrm flipH="1">
            <a:off x="635" y="4309110"/>
            <a:ext cx="12191365" cy="2548890"/>
          </a:xfrm>
          <a:prstGeom prst="rect">
            <a:avLst/>
          </a:prstGeom>
          <a:noFill/>
          <a:ln w="9525">
            <a:noFill/>
          </a:ln>
        </p:spPr>
      </p:pic>
      <p:grpSp>
        <p:nvGrpSpPr>
          <p:cNvPr id="22" name="组合 21"/>
          <p:cNvGrpSpPr/>
          <p:nvPr/>
        </p:nvGrpSpPr>
        <p:grpSpPr>
          <a:xfrm>
            <a:off x="4485640" y="902970"/>
            <a:ext cx="2757805" cy="2565400"/>
            <a:chOff x="3890050" y="1242332"/>
            <a:chExt cx="4318184" cy="4195175"/>
          </a:xfrm>
        </p:grpSpPr>
        <p:sp>
          <p:nvSpPr>
            <p:cNvPr id="28" name="椭圆 27"/>
            <p:cNvSpPr/>
            <p:nvPr/>
          </p:nvSpPr>
          <p:spPr>
            <a:xfrm>
              <a:off x="3890050" y="1242332"/>
              <a:ext cx="4318184" cy="4195175"/>
            </a:xfrm>
            <a:prstGeom prst="ellipse">
              <a:avLst/>
            </a:prstGeom>
            <a:solidFill>
              <a:schemeClr val="bg1">
                <a:alpha val="33000"/>
              </a:schemeClr>
            </a:solidFill>
            <a:ln>
              <a:gradFill>
                <a:gsLst>
                  <a:gs pos="0">
                    <a:srgbClr val="20A3E8"/>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zh-CN" altLang="en-US" sz="900">
                <a:latin typeface="Lato Light"/>
              </a:endParaRPr>
            </a:p>
          </p:txBody>
        </p:sp>
        <p:sp>
          <p:nvSpPr>
            <p:cNvPr id="29" name="椭圆 28"/>
            <p:cNvSpPr/>
            <p:nvPr/>
          </p:nvSpPr>
          <p:spPr>
            <a:xfrm>
              <a:off x="4258022" y="1591020"/>
              <a:ext cx="3675957" cy="3675957"/>
            </a:xfrm>
            <a:prstGeom prst="ellipse">
              <a:avLst/>
            </a:prstGeom>
            <a:solidFill>
              <a:schemeClr val="bg1"/>
            </a:solidFill>
            <a:ln w="57150">
              <a:gradFill>
                <a:gsLst>
                  <a:gs pos="0">
                    <a:schemeClr val="bg1"/>
                  </a:gs>
                  <a:gs pos="100000">
                    <a:srgbClr val="20A3E8"/>
                  </a:gs>
                </a:gsLst>
                <a:lin ang="16200000" scaled="0"/>
              </a:gradFill>
            </a:ln>
            <a:effectLst>
              <a:outerShdw blurRad="444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6" name="TextBox 20"/>
          <p:cNvSpPr txBox="1"/>
          <p:nvPr/>
        </p:nvSpPr>
        <p:spPr>
          <a:xfrm>
            <a:off x="4974738" y="1866677"/>
            <a:ext cx="1839176" cy="748711"/>
          </a:xfrm>
          <a:prstGeom prst="rect">
            <a:avLst/>
          </a:prstGeom>
          <a:noFill/>
        </p:spPr>
        <p:txBody>
          <a:bodyPr wrap="none" lIns="70907" tIns="35455" rIns="70907" bIns="35455" rtlCol="0">
            <a:spAutoFit/>
          </a:bodyPr>
          <a:lstStyle/>
          <a:p>
            <a:pPr algn="ctr"/>
            <a:r>
              <a:rPr lang="zh-CN" altLang="en-US" sz="4400" b="1" dirty="0">
                <a:solidFill>
                  <a:srgbClr val="1F4E79"/>
                </a:solidFill>
                <a:latin typeface="+mj-ea"/>
                <a:ea typeface="+mj-ea"/>
                <a:cs typeface="+mn-ea"/>
                <a:sym typeface="+mn-lt"/>
              </a:rPr>
              <a:t>第二节</a:t>
            </a:r>
          </a:p>
        </p:txBody>
      </p:sp>
      <p:sp>
        <p:nvSpPr>
          <p:cNvPr id="2" name="文本框 1"/>
          <p:cNvSpPr txBox="1"/>
          <p:nvPr/>
        </p:nvSpPr>
        <p:spPr>
          <a:xfrm>
            <a:off x="1224520" y="3338864"/>
            <a:ext cx="10027680" cy="923330"/>
          </a:xfrm>
          <a:prstGeom prst="rect">
            <a:avLst/>
          </a:prstGeom>
          <a:noFill/>
          <a:ln w="9525">
            <a:noFill/>
          </a:ln>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lvl="0" algn="ctr" defTabSz="342900">
              <a:spcBef>
                <a:spcPct val="0"/>
              </a:spcBef>
              <a:defRPr/>
            </a:pPr>
            <a:r>
              <a:rPr lang="zh-CN" altLang="en-US" sz="5400" b="1" dirty="0">
                <a:solidFill>
                  <a:srgbClr val="1F4E79"/>
                </a:solidFill>
                <a:effectLst/>
                <a:ea typeface="宋体" panose="02010600030101010101" pitchFamily="2" charset="-122"/>
                <a:sym typeface="+mn-lt"/>
              </a:rPr>
              <a:t>酶的化学性质及催化作用的特点</a:t>
            </a:r>
            <a:endParaRPr lang="zh-CN" sz="5400" b="1" dirty="0">
              <a:solidFill>
                <a:srgbClr val="1F4E79"/>
              </a:solidFill>
              <a:effectLst/>
              <a:ea typeface="宋体" panose="02010600030101010101" pitchFamily="2" charset="-122"/>
            </a:endParaRPr>
          </a:p>
        </p:txBody>
      </p:sp>
    </p:spTree>
    <p:extLst>
      <p:ext uri="{BB962C8B-B14F-4D97-AF65-F5344CB8AC3E}">
        <p14:creationId xmlns:p14="http://schemas.microsoft.com/office/powerpoint/2010/main" val="3074996180"/>
      </p:ext>
    </p:extLst>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433578" y="888532"/>
            <a:ext cx="2572512" cy="523220"/>
          </a:xfrm>
          <a:prstGeom prst="rect">
            <a:avLst/>
          </a:prstGeom>
          <a:noFill/>
        </p:spPr>
        <p:txBody>
          <a:bodyPr wrap="square">
            <a:spAutoFit/>
          </a:bodyPr>
          <a:lstStyle/>
          <a:p>
            <a:r>
              <a:rPr lang="zh-CN" altLang="en-US" sz="2800" b="1" dirty="0">
                <a:solidFill>
                  <a:srgbClr val="1D50A2"/>
                </a:solidFill>
                <a:cs typeface="+mn-ea"/>
              </a:rPr>
              <a:t>酶的化学性质</a:t>
            </a:r>
          </a:p>
        </p:txBody>
      </p:sp>
      <p:sp>
        <p:nvSpPr>
          <p:cNvPr id="3" name="文本框 2">
            <a:extLst>
              <a:ext uri="{FF2B5EF4-FFF2-40B4-BE49-F238E27FC236}">
                <a16:creationId xmlns:a16="http://schemas.microsoft.com/office/drawing/2014/main" id="{FC6F97F0-48F6-3FFF-BB7C-E7F53B07E6ED}"/>
              </a:ext>
            </a:extLst>
          </p:cNvPr>
          <p:cNvSpPr txBox="1"/>
          <p:nvPr/>
        </p:nvSpPr>
        <p:spPr>
          <a:xfrm>
            <a:off x="436372" y="1650164"/>
            <a:ext cx="8504428" cy="400110"/>
          </a:xfrm>
          <a:prstGeom prst="rect">
            <a:avLst/>
          </a:prstGeom>
          <a:noFill/>
        </p:spPr>
        <p:txBody>
          <a:bodyPr wrap="square">
            <a:spAutoFit/>
          </a:bodyPr>
          <a:lstStyle/>
          <a:p>
            <a:r>
              <a:rPr lang="zh-CN" altLang="en-US" sz="2000" b="1" dirty="0">
                <a:solidFill>
                  <a:srgbClr val="C00000"/>
                </a:solidFill>
                <a:effectLst/>
                <a:latin typeface="Times New Roman" panose="02020603050405020304" pitchFamily="18" charset="0"/>
                <a:cs typeface="Times New Roman" panose="02020603050405020304" pitchFamily="18" charset="0"/>
              </a:rPr>
              <a:t>酶的化学本质：</a:t>
            </a:r>
            <a:r>
              <a:rPr lang="zh-CN" altLang="zh-CN" sz="2000" dirty="0">
                <a:effectLst/>
                <a:latin typeface="Times New Roman" panose="02020603050405020304" pitchFamily="18" charset="0"/>
                <a:cs typeface="Times New Roman" panose="02020603050405020304" pitchFamily="18" charset="0"/>
              </a:rPr>
              <a:t>酶的化学本质除有催化活性的</a:t>
            </a:r>
            <a:r>
              <a:rPr lang="en-US" altLang="zh-CN" sz="2000" dirty="0">
                <a:effectLst/>
                <a:latin typeface="Times New Roman" panose="02020603050405020304" pitchFamily="18" charset="0"/>
                <a:cs typeface="Times New Roman" panose="02020603050405020304" pitchFamily="18" charset="0"/>
              </a:rPr>
              <a:t>RNA</a:t>
            </a:r>
            <a:r>
              <a:rPr lang="zh-CN" altLang="zh-CN" sz="2000" dirty="0">
                <a:effectLst/>
                <a:latin typeface="Times New Roman" panose="02020603050405020304" pitchFamily="18" charset="0"/>
                <a:cs typeface="Times New Roman" panose="02020603050405020304" pitchFamily="18" charset="0"/>
              </a:rPr>
              <a:t>外几乎都是蛋白质。</a:t>
            </a:r>
            <a:endParaRPr lang="zh-CN" altLang="en-US" sz="2000" dirty="0">
              <a:latin typeface="Times New Roman" panose="02020603050405020304" pitchFamily="18" charset="0"/>
              <a:cs typeface="Times New Roman" panose="02020603050405020304" pitchFamily="18" charset="0"/>
            </a:endParaRPr>
          </a:p>
        </p:txBody>
      </p:sp>
      <p:sp>
        <p:nvSpPr>
          <p:cNvPr id="7" name="Text Box 3">
            <a:extLst>
              <a:ext uri="{FF2B5EF4-FFF2-40B4-BE49-F238E27FC236}">
                <a16:creationId xmlns:a16="http://schemas.microsoft.com/office/drawing/2014/main" id="{7C341E4C-A774-A8B0-A2B2-1D69308DF55D}"/>
              </a:ext>
            </a:extLst>
          </p:cNvPr>
          <p:cNvSpPr txBox="1"/>
          <p:nvPr/>
        </p:nvSpPr>
        <p:spPr>
          <a:xfrm>
            <a:off x="465266" y="2319037"/>
            <a:ext cx="5823350" cy="874407"/>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285750" indent="-285750">
              <a:lnSpc>
                <a:spcPct val="150000"/>
              </a:lnSpc>
              <a:spcBef>
                <a:spcPct val="50000"/>
              </a:spcBef>
              <a:buFont typeface="Wingdings" panose="05000000000000000000" pitchFamily="2" charset="2"/>
              <a:buChar char="Ø"/>
            </a:pPr>
            <a:r>
              <a:rPr lang="en-US" altLang="zh-CN" b="1" dirty="0">
                <a:latin typeface="+mn-ea"/>
                <a:ea typeface="+mn-ea"/>
              </a:rPr>
              <a:t>1926</a:t>
            </a:r>
            <a:r>
              <a:rPr lang="zh-CN" altLang="en-US" b="1" dirty="0">
                <a:latin typeface="+mn-ea"/>
                <a:ea typeface="+mn-ea"/>
              </a:rPr>
              <a:t>年</a:t>
            </a:r>
            <a:r>
              <a:rPr lang="en-US" altLang="zh-CN" b="1" dirty="0">
                <a:latin typeface="+mn-ea"/>
                <a:ea typeface="+mn-ea"/>
              </a:rPr>
              <a:t>J.B.Sumner</a:t>
            </a:r>
            <a:r>
              <a:rPr lang="zh-CN" altLang="en-US" b="1" dirty="0">
                <a:latin typeface="+mn-ea"/>
                <a:ea typeface="+mn-ea"/>
              </a:rPr>
              <a:t>首次从刀豆制备出脲酶结晶，证明其为蛋白质，并提出</a:t>
            </a:r>
            <a:r>
              <a:rPr lang="zh-CN" altLang="en-US" b="1" dirty="0">
                <a:solidFill>
                  <a:srgbClr val="FF0000"/>
                </a:solidFill>
                <a:latin typeface="+mn-ea"/>
                <a:ea typeface="+mn-ea"/>
              </a:rPr>
              <a:t>酶的本质就是蛋白质</a:t>
            </a:r>
            <a:r>
              <a:rPr lang="zh-CN" altLang="en-US" b="1" dirty="0">
                <a:latin typeface="+mn-ea"/>
                <a:ea typeface="+mn-ea"/>
              </a:rPr>
              <a:t>的观点。</a:t>
            </a:r>
          </a:p>
        </p:txBody>
      </p:sp>
      <p:sp>
        <p:nvSpPr>
          <p:cNvPr id="9" name="Text Box 5">
            <a:extLst>
              <a:ext uri="{FF2B5EF4-FFF2-40B4-BE49-F238E27FC236}">
                <a16:creationId xmlns:a16="http://schemas.microsoft.com/office/drawing/2014/main" id="{E177433C-B2A0-1DA0-8B9E-0F3AD7D4A4C8}"/>
              </a:ext>
            </a:extLst>
          </p:cNvPr>
          <p:cNvSpPr txBox="1"/>
          <p:nvPr/>
        </p:nvSpPr>
        <p:spPr>
          <a:xfrm>
            <a:off x="436372" y="3529238"/>
            <a:ext cx="5659628" cy="1289905"/>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285750" indent="-285750">
              <a:lnSpc>
                <a:spcPct val="150000"/>
              </a:lnSpc>
              <a:spcBef>
                <a:spcPct val="50000"/>
              </a:spcBef>
              <a:buFont typeface="Wingdings" panose="05000000000000000000" pitchFamily="2" charset="2"/>
              <a:buChar char="Ø"/>
            </a:pPr>
            <a:r>
              <a:rPr lang="en-US" altLang="zh-CN" b="1" dirty="0">
                <a:latin typeface="+mn-ea"/>
                <a:ea typeface="+mn-ea"/>
              </a:rPr>
              <a:t>1982</a:t>
            </a:r>
            <a:r>
              <a:rPr lang="zh-CN" altLang="en-US" b="1" dirty="0">
                <a:latin typeface="+mn-ea"/>
                <a:ea typeface="+mn-ea"/>
              </a:rPr>
              <a:t>年</a:t>
            </a:r>
            <a:r>
              <a:rPr lang="en-US" altLang="zh-CN" b="1" dirty="0" err="1">
                <a:latin typeface="+mn-ea"/>
                <a:ea typeface="+mn-ea"/>
              </a:rPr>
              <a:t>T.Cech</a:t>
            </a:r>
            <a:r>
              <a:rPr lang="zh-CN" altLang="en-US" b="1" dirty="0">
                <a:latin typeface="+mn-ea"/>
                <a:ea typeface="+mn-ea"/>
              </a:rPr>
              <a:t>发现了第</a:t>
            </a:r>
            <a:r>
              <a:rPr lang="en-US" altLang="zh-CN" b="1" dirty="0">
                <a:latin typeface="+mn-ea"/>
                <a:ea typeface="+mn-ea"/>
              </a:rPr>
              <a:t>1</a:t>
            </a:r>
            <a:r>
              <a:rPr lang="zh-CN" altLang="en-US" b="1" dirty="0">
                <a:latin typeface="+mn-ea"/>
                <a:ea typeface="+mn-ea"/>
              </a:rPr>
              <a:t>个有催化活性的天然</a:t>
            </a:r>
            <a:r>
              <a:rPr lang="en-US" altLang="zh-CN" b="1" dirty="0">
                <a:latin typeface="+mn-ea"/>
                <a:ea typeface="+mn-ea"/>
              </a:rPr>
              <a:t>RNA——</a:t>
            </a:r>
            <a:r>
              <a:rPr lang="en-US" altLang="zh-CN" b="1" dirty="0">
                <a:solidFill>
                  <a:srgbClr val="FF0000"/>
                </a:solidFill>
                <a:latin typeface="+mn-ea"/>
                <a:ea typeface="+mn-ea"/>
              </a:rPr>
              <a:t>ribozyme</a:t>
            </a:r>
            <a:r>
              <a:rPr lang="zh-CN" altLang="en-US" b="1" dirty="0">
                <a:solidFill>
                  <a:srgbClr val="FF0000"/>
                </a:solidFill>
                <a:latin typeface="+mn-ea"/>
                <a:ea typeface="+mn-ea"/>
              </a:rPr>
              <a:t>（核酶），</a:t>
            </a:r>
            <a:r>
              <a:rPr lang="zh-CN" altLang="en-US" b="1" dirty="0">
                <a:latin typeface="+mn-ea"/>
                <a:ea typeface="+mn-ea"/>
              </a:rPr>
              <a:t>以后</a:t>
            </a:r>
            <a:r>
              <a:rPr lang="en-US" altLang="zh-CN" b="1" dirty="0">
                <a:latin typeface="+mn-ea"/>
                <a:ea typeface="+mn-ea"/>
              </a:rPr>
              <a:t>Altman</a:t>
            </a:r>
            <a:r>
              <a:rPr lang="zh-CN" altLang="en-US" b="1" dirty="0">
                <a:latin typeface="+mn-ea"/>
                <a:ea typeface="+mn-ea"/>
              </a:rPr>
              <a:t>和</a:t>
            </a:r>
            <a:r>
              <a:rPr lang="en-US" altLang="zh-CN" b="1" dirty="0">
                <a:latin typeface="+mn-ea"/>
                <a:ea typeface="+mn-ea"/>
              </a:rPr>
              <a:t>Pace</a:t>
            </a:r>
            <a:r>
              <a:rPr lang="zh-CN" altLang="en-US" b="1" dirty="0">
                <a:latin typeface="+mn-ea"/>
                <a:ea typeface="+mn-ea"/>
              </a:rPr>
              <a:t>等又陆续发现了真正的</a:t>
            </a:r>
            <a:r>
              <a:rPr lang="en-US" altLang="zh-CN" b="1" dirty="0">
                <a:solidFill>
                  <a:srgbClr val="FF0000"/>
                </a:solidFill>
                <a:latin typeface="+mn-ea"/>
                <a:ea typeface="+mn-ea"/>
              </a:rPr>
              <a:t>RNA</a:t>
            </a:r>
            <a:r>
              <a:rPr lang="zh-CN" altLang="en-US" b="1" dirty="0">
                <a:solidFill>
                  <a:srgbClr val="FF0000"/>
                </a:solidFill>
                <a:latin typeface="+mn-ea"/>
                <a:ea typeface="+mn-ea"/>
              </a:rPr>
              <a:t>催化剂</a:t>
            </a:r>
            <a:r>
              <a:rPr lang="zh-CN" altLang="en-US" b="1" dirty="0">
                <a:latin typeface="+mn-ea"/>
                <a:ea typeface="+mn-ea"/>
              </a:rPr>
              <a:t>。</a:t>
            </a:r>
          </a:p>
        </p:txBody>
      </p:sp>
      <p:sp>
        <p:nvSpPr>
          <p:cNvPr id="10" name="Text Box 6">
            <a:extLst>
              <a:ext uri="{FF2B5EF4-FFF2-40B4-BE49-F238E27FC236}">
                <a16:creationId xmlns:a16="http://schemas.microsoft.com/office/drawing/2014/main" id="{9AA3BDAA-43B3-31C6-6084-30CF9FCA981B}"/>
              </a:ext>
            </a:extLst>
          </p:cNvPr>
          <p:cNvSpPr txBox="1"/>
          <p:nvPr/>
        </p:nvSpPr>
        <p:spPr>
          <a:xfrm>
            <a:off x="436372" y="5002960"/>
            <a:ext cx="5659628" cy="874407"/>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285750" indent="-285750">
              <a:lnSpc>
                <a:spcPct val="150000"/>
              </a:lnSpc>
              <a:spcBef>
                <a:spcPct val="50000"/>
              </a:spcBef>
              <a:buFont typeface="Wingdings" panose="05000000000000000000" pitchFamily="2" charset="2"/>
              <a:buChar char="Ø"/>
            </a:pPr>
            <a:r>
              <a:rPr lang="zh-CN" altLang="en-US" b="1" dirty="0">
                <a:latin typeface="+mn-ea"/>
                <a:ea typeface="+mn-ea"/>
              </a:rPr>
              <a:t>核酶的发现不仅表明酶不一定都是蛋白质，还促进了有关生命起源、生物进化等问题的进一步探讨。</a:t>
            </a:r>
          </a:p>
        </p:txBody>
      </p:sp>
      <p:pic>
        <p:nvPicPr>
          <p:cNvPr id="11" name="图片 10">
            <a:extLst>
              <a:ext uri="{FF2B5EF4-FFF2-40B4-BE49-F238E27FC236}">
                <a16:creationId xmlns:a16="http://schemas.microsoft.com/office/drawing/2014/main" id="{21296A04-7782-C713-412E-3F25C1B250CC}"/>
              </a:ext>
            </a:extLst>
          </p:cNvPr>
          <p:cNvPicPr>
            <a:picLocks noChangeAspect="1"/>
          </p:cNvPicPr>
          <p:nvPr/>
        </p:nvPicPr>
        <p:blipFill>
          <a:blip r:embed="rId4"/>
          <a:stretch>
            <a:fillRect/>
          </a:stretch>
        </p:blipFill>
        <p:spPr>
          <a:xfrm>
            <a:off x="6481231" y="2417326"/>
            <a:ext cx="2172496" cy="3413922"/>
          </a:xfrm>
          <a:prstGeom prst="rect">
            <a:avLst/>
          </a:prstGeom>
        </p:spPr>
      </p:pic>
      <p:pic>
        <p:nvPicPr>
          <p:cNvPr id="12" name="图片 11">
            <a:extLst>
              <a:ext uri="{FF2B5EF4-FFF2-40B4-BE49-F238E27FC236}">
                <a16:creationId xmlns:a16="http://schemas.microsoft.com/office/drawing/2014/main" id="{493DAC8C-7779-D30D-9420-5FA5BBF2CD47}"/>
              </a:ext>
            </a:extLst>
          </p:cNvPr>
          <p:cNvPicPr>
            <a:picLocks noChangeAspect="1"/>
          </p:cNvPicPr>
          <p:nvPr/>
        </p:nvPicPr>
        <p:blipFill>
          <a:blip r:embed="rId5"/>
          <a:stretch>
            <a:fillRect/>
          </a:stretch>
        </p:blipFill>
        <p:spPr>
          <a:xfrm>
            <a:off x="9196329" y="2452861"/>
            <a:ext cx="2359676" cy="3390168"/>
          </a:xfrm>
          <a:prstGeom prst="rect">
            <a:avLst/>
          </a:prstGeom>
        </p:spPr>
      </p:pic>
      <p:sp>
        <p:nvSpPr>
          <p:cNvPr id="14" name="文本框 13">
            <a:extLst>
              <a:ext uri="{FF2B5EF4-FFF2-40B4-BE49-F238E27FC236}">
                <a16:creationId xmlns:a16="http://schemas.microsoft.com/office/drawing/2014/main" id="{D6775912-E607-5A03-C936-F5A3A955E65E}"/>
              </a:ext>
            </a:extLst>
          </p:cNvPr>
          <p:cNvSpPr txBox="1"/>
          <p:nvPr/>
        </p:nvSpPr>
        <p:spPr>
          <a:xfrm>
            <a:off x="7124700" y="5961373"/>
            <a:ext cx="1529027" cy="369332"/>
          </a:xfrm>
          <a:prstGeom prst="rect">
            <a:avLst/>
          </a:prstGeom>
          <a:noFill/>
        </p:spPr>
        <p:txBody>
          <a:bodyPr wrap="square">
            <a:spAutoFit/>
          </a:bodyPr>
          <a:lstStyle/>
          <a:p>
            <a:r>
              <a:rPr lang="en-US" altLang="zh-CN" b="1" dirty="0" err="1">
                <a:latin typeface="+mn-ea"/>
                <a:cs typeface="Times New Roman" panose="02020603050405020304" pitchFamily="18" charset="0"/>
              </a:rPr>
              <a:t>J.B.Sumner</a:t>
            </a:r>
            <a:endParaRPr lang="zh-CN" altLang="en-US" dirty="0">
              <a:latin typeface="+mn-ea"/>
              <a:cs typeface="Times New Roman" panose="02020603050405020304" pitchFamily="18" charset="0"/>
            </a:endParaRPr>
          </a:p>
        </p:txBody>
      </p:sp>
      <p:sp>
        <p:nvSpPr>
          <p:cNvPr id="16" name="文本框 15">
            <a:extLst>
              <a:ext uri="{FF2B5EF4-FFF2-40B4-BE49-F238E27FC236}">
                <a16:creationId xmlns:a16="http://schemas.microsoft.com/office/drawing/2014/main" id="{E9079F8D-4A1E-E51D-4CAD-3399598124E7}"/>
              </a:ext>
            </a:extLst>
          </p:cNvPr>
          <p:cNvSpPr txBox="1"/>
          <p:nvPr/>
        </p:nvSpPr>
        <p:spPr>
          <a:xfrm>
            <a:off x="9946637" y="5961373"/>
            <a:ext cx="1369063" cy="369332"/>
          </a:xfrm>
          <a:prstGeom prst="rect">
            <a:avLst/>
          </a:prstGeom>
          <a:noFill/>
        </p:spPr>
        <p:txBody>
          <a:bodyPr wrap="square">
            <a:spAutoFit/>
          </a:bodyPr>
          <a:lstStyle/>
          <a:p>
            <a:r>
              <a:rPr lang="zh-CN" altLang="en-US" b="1" dirty="0">
                <a:latin typeface="+mn-ea"/>
                <a:cs typeface="Times New Roman" panose="02020603050405020304" pitchFamily="18" charset="0"/>
              </a:rPr>
              <a:t>T.Cech</a:t>
            </a:r>
          </a:p>
        </p:txBody>
      </p:sp>
    </p:spTree>
    <p:extLst>
      <p:ext uri="{BB962C8B-B14F-4D97-AF65-F5344CB8AC3E}">
        <p14:creationId xmlns:p14="http://schemas.microsoft.com/office/powerpoint/2010/main" val="3200369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605790" y="920245"/>
            <a:ext cx="2480310" cy="523220"/>
          </a:xfrm>
          <a:prstGeom prst="rect">
            <a:avLst/>
          </a:prstGeom>
          <a:noFill/>
        </p:spPr>
        <p:txBody>
          <a:bodyPr wrap="square">
            <a:spAutoFit/>
          </a:bodyPr>
          <a:lstStyle/>
          <a:p>
            <a:r>
              <a:rPr lang="zh-CN" altLang="en-US" sz="2800" b="1" dirty="0">
                <a:cs typeface="+mn-ea"/>
              </a:rPr>
              <a:t>酶的化学组成</a:t>
            </a:r>
          </a:p>
        </p:txBody>
      </p:sp>
      <p:sp>
        <p:nvSpPr>
          <p:cNvPr id="56" name="Text Box 3">
            <a:extLst>
              <a:ext uri="{FF2B5EF4-FFF2-40B4-BE49-F238E27FC236}">
                <a16:creationId xmlns:a16="http://schemas.microsoft.com/office/drawing/2014/main" id="{C4DFE5F2-245D-9C39-585C-4BF1FC9FBBAD}"/>
              </a:ext>
            </a:extLst>
          </p:cNvPr>
          <p:cNvSpPr txBox="1"/>
          <p:nvPr/>
        </p:nvSpPr>
        <p:spPr>
          <a:xfrm>
            <a:off x="1507400" y="2295059"/>
            <a:ext cx="609600" cy="400110"/>
          </a:xfrm>
          <a:prstGeom prst="rect">
            <a:avLst/>
          </a:prstGeom>
          <a:solidFill>
            <a:srgbClr val="4472C4">
              <a:lumMod val="60000"/>
              <a:lumOff val="40000"/>
            </a:srgbClr>
          </a:solid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酶</a:t>
            </a:r>
          </a:p>
        </p:txBody>
      </p:sp>
      <p:sp>
        <p:nvSpPr>
          <p:cNvPr id="57" name="AutoShape 4">
            <a:extLst>
              <a:ext uri="{FF2B5EF4-FFF2-40B4-BE49-F238E27FC236}">
                <a16:creationId xmlns:a16="http://schemas.microsoft.com/office/drawing/2014/main" id="{C8819D4C-2693-450A-88C9-F387039DA21E}"/>
              </a:ext>
            </a:extLst>
          </p:cNvPr>
          <p:cNvSpPr/>
          <p:nvPr/>
        </p:nvSpPr>
        <p:spPr>
          <a:xfrm>
            <a:off x="2209800" y="1923614"/>
            <a:ext cx="381000" cy="1143000"/>
          </a:xfrm>
          <a:prstGeom prst="leftBrace">
            <a:avLst>
              <a:gd name="adj1" fmla="val 25000"/>
              <a:gd name="adj2" fmla="val 50000"/>
            </a:avLst>
          </a:prstGeom>
          <a:no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58" name="Text Box 5">
            <a:extLst>
              <a:ext uri="{FF2B5EF4-FFF2-40B4-BE49-F238E27FC236}">
                <a16:creationId xmlns:a16="http://schemas.microsoft.com/office/drawing/2014/main" id="{9EA9AC5B-6939-B51D-D267-6632C44E1540}"/>
              </a:ext>
            </a:extLst>
          </p:cNvPr>
          <p:cNvSpPr txBox="1"/>
          <p:nvPr/>
        </p:nvSpPr>
        <p:spPr>
          <a:xfrm>
            <a:off x="2726600" y="1711682"/>
            <a:ext cx="1143000" cy="400110"/>
          </a:xfrm>
          <a:prstGeom prst="rect">
            <a:avLst/>
          </a:prstGeom>
          <a:solidFill>
            <a:srgbClr val="4472C4">
              <a:lumMod val="60000"/>
              <a:lumOff val="40000"/>
            </a:srgbClr>
          </a:solid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pitchFamily="2" charset="-122"/>
                <a:cs typeface="+mn-cs"/>
              </a:rPr>
              <a:t>单纯酶</a:t>
            </a:r>
          </a:p>
        </p:txBody>
      </p:sp>
      <p:sp>
        <p:nvSpPr>
          <p:cNvPr id="59" name="Text Box 6">
            <a:extLst>
              <a:ext uri="{FF2B5EF4-FFF2-40B4-BE49-F238E27FC236}">
                <a16:creationId xmlns:a16="http://schemas.microsoft.com/office/drawing/2014/main" id="{36CCD865-5D5D-F7B1-733F-8C6FDC5C9068}"/>
              </a:ext>
            </a:extLst>
          </p:cNvPr>
          <p:cNvSpPr txBox="1"/>
          <p:nvPr/>
        </p:nvSpPr>
        <p:spPr>
          <a:xfrm>
            <a:off x="2726600" y="2850599"/>
            <a:ext cx="1143000" cy="400110"/>
          </a:xfrm>
          <a:prstGeom prst="rect">
            <a:avLst/>
          </a:prstGeom>
          <a:solidFill>
            <a:srgbClr val="4472C4">
              <a:lumMod val="60000"/>
              <a:lumOff val="40000"/>
            </a:srgbClr>
          </a:solid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20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结合酶</a:t>
            </a:r>
          </a:p>
        </p:txBody>
      </p:sp>
      <p:sp>
        <p:nvSpPr>
          <p:cNvPr id="60" name="Text Box 7">
            <a:extLst>
              <a:ext uri="{FF2B5EF4-FFF2-40B4-BE49-F238E27FC236}">
                <a16:creationId xmlns:a16="http://schemas.microsoft.com/office/drawing/2014/main" id="{13CC7049-1DD1-6644-E014-8969EC0EFE8A}"/>
              </a:ext>
            </a:extLst>
          </p:cNvPr>
          <p:cNvSpPr txBox="1"/>
          <p:nvPr/>
        </p:nvSpPr>
        <p:spPr>
          <a:xfrm>
            <a:off x="4265249" y="2861963"/>
            <a:ext cx="4835236" cy="400110"/>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a:spcBef>
                <a:spcPct val="50000"/>
              </a:spcBef>
            </a:pPr>
            <a:r>
              <a:rPr lang="zh-CN" altLang="en-US" sz="2000" b="1" dirty="0">
                <a:solidFill>
                  <a:prstClr val="black"/>
                </a:solidFill>
                <a:latin typeface="黑体" panose="02010609060101010101" pitchFamily="49" charset="-122"/>
                <a:ea typeface="黑体" panose="02010609060101010101" pitchFamily="49" charset="-122"/>
              </a:rPr>
              <a:t>（全酶）</a:t>
            </a:r>
            <a:r>
              <a:rPr lang="en-US" altLang="zh-CN" sz="2000" b="1" dirty="0">
                <a:solidFill>
                  <a:prstClr val="black"/>
                </a:solidFill>
                <a:latin typeface="黑体" panose="02010609060101010101" pitchFamily="49" charset="-122"/>
                <a:ea typeface="黑体" panose="02010609060101010101" pitchFamily="49" charset="-122"/>
              </a:rPr>
              <a:t>=  </a:t>
            </a:r>
            <a:r>
              <a:rPr lang="zh-CN" altLang="en-US" sz="2000" b="1" dirty="0">
                <a:solidFill>
                  <a:prstClr val="black"/>
                </a:solidFill>
                <a:latin typeface="黑体" panose="02010609060101010101" pitchFamily="49" charset="-122"/>
                <a:ea typeface="黑体" panose="02010609060101010101" pitchFamily="49" charset="-122"/>
              </a:rPr>
              <a:t>酶蛋白 </a:t>
            </a:r>
            <a:r>
              <a:rPr lang="en-US" altLang="zh-CN" sz="2000" b="1" dirty="0">
                <a:solidFill>
                  <a:prstClr val="black"/>
                </a:solidFill>
                <a:latin typeface="黑体" panose="02010609060101010101" pitchFamily="49" charset="-122"/>
                <a:ea typeface="黑体" panose="02010609060101010101" pitchFamily="49" charset="-122"/>
              </a:rPr>
              <a:t>+ </a:t>
            </a:r>
            <a:r>
              <a:rPr lang="zh-CN" altLang="en-US" sz="2000" b="1" dirty="0">
                <a:solidFill>
                  <a:prstClr val="black"/>
                </a:solidFill>
                <a:latin typeface="黑体" panose="02010609060101010101" pitchFamily="49" charset="-122"/>
                <a:ea typeface="黑体" panose="02010609060101010101" pitchFamily="49" charset="-122"/>
              </a:rPr>
              <a:t>辅因子</a:t>
            </a:r>
          </a:p>
        </p:txBody>
      </p:sp>
      <p:sp>
        <p:nvSpPr>
          <p:cNvPr id="61" name="Text Box 8">
            <a:extLst>
              <a:ext uri="{FF2B5EF4-FFF2-40B4-BE49-F238E27FC236}">
                <a16:creationId xmlns:a16="http://schemas.microsoft.com/office/drawing/2014/main" id="{63E8A788-8F1B-1544-D703-56A104CDD0F3}"/>
              </a:ext>
            </a:extLst>
          </p:cNvPr>
          <p:cNvSpPr txBox="1"/>
          <p:nvPr/>
        </p:nvSpPr>
        <p:spPr>
          <a:xfrm>
            <a:off x="974000" y="4505658"/>
            <a:ext cx="1143000" cy="400110"/>
          </a:xfrm>
          <a:prstGeom prst="rect">
            <a:avLst/>
          </a:prstGeom>
          <a:solidFill>
            <a:srgbClr val="954F72"/>
          </a:solid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mn-cs"/>
              </a:rPr>
              <a:t>辅因子</a:t>
            </a:r>
          </a:p>
        </p:txBody>
      </p:sp>
      <p:sp>
        <p:nvSpPr>
          <p:cNvPr id="62" name="AutoShape 9">
            <a:extLst>
              <a:ext uri="{FF2B5EF4-FFF2-40B4-BE49-F238E27FC236}">
                <a16:creationId xmlns:a16="http://schemas.microsoft.com/office/drawing/2014/main" id="{4583C701-437C-A289-ADE4-5C4EDA14D14A}"/>
              </a:ext>
            </a:extLst>
          </p:cNvPr>
          <p:cNvSpPr/>
          <p:nvPr/>
        </p:nvSpPr>
        <p:spPr>
          <a:xfrm>
            <a:off x="2175738" y="4124658"/>
            <a:ext cx="381000" cy="1143000"/>
          </a:xfrm>
          <a:prstGeom prst="leftBrace">
            <a:avLst>
              <a:gd name="adj1" fmla="val 25000"/>
              <a:gd name="adj2" fmla="val 50000"/>
            </a:avLst>
          </a:prstGeom>
          <a:no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63" name="Text Box 10">
            <a:extLst>
              <a:ext uri="{FF2B5EF4-FFF2-40B4-BE49-F238E27FC236}">
                <a16:creationId xmlns:a16="http://schemas.microsoft.com/office/drawing/2014/main" id="{C4E24BDA-AC1D-D9CA-0023-5228DE09FCF7}"/>
              </a:ext>
            </a:extLst>
          </p:cNvPr>
          <p:cNvSpPr txBox="1"/>
          <p:nvPr/>
        </p:nvSpPr>
        <p:spPr>
          <a:xfrm>
            <a:off x="2726600" y="3819858"/>
            <a:ext cx="838200" cy="400110"/>
          </a:xfrm>
          <a:prstGeom prst="rect">
            <a:avLst/>
          </a:prstGeom>
          <a:solidFill>
            <a:srgbClr val="954F72"/>
          </a:solid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mn-cs"/>
              </a:rPr>
              <a:t>辅酶</a:t>
            </a:r>
          </a:p>
        </p:txBody>
      </p:sp>
      <p:sp>
        <p:nvSpPr>
          <p:cNvPr id="64" name="Text Box 11">
            <a:extLst>
              <a:ext uri="{FF2B5EF4-FFF2-40B4-BE49-F238E27FC236}">
                <a16:creationId xmlns:a16="http://schemas.microsoft.com/office/drawing/2014/main" id="{14410126-5C22-8A36-D6AE-876B2D06C152}"/>
              </a:ext>
            </a:extLst>
          </p:cNvPr>
          <p:cNvSpPr txBox="1"/>
          <p:nvPr/>
        </p:nvSpPr>
        <p:spPr>
          <a:xfrm>
            <a:off x="4173648" y="3740094"/>
            <a:ext cx="5943600" cy="400110"/>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a:spcBef>
                <a:spcPct val="50000"/>
              </a:spcBef>
            </a:pPr>
            <a:r>
              <a:rPr lang="en-US" altLang="zh-CN" sz="2000" b="1" dirty="0">
                <a:solidFill>
                  <a:prstClr val="black"/>
                </a:solidFill>
                <a:latin typeface="黑体" panose="02010609060101010101" pitchFamily="49" charset="-122"/>
                <a:ea typeface="黑体" panose="02010609060101010101" pitchFamily="49" charset="-122"/>
              </a:rPr>
              <a:t> </a:t>
            </a:r>
            <a:r>
              <a:rPr lang="zh-CN" altLang="en-US" sz="2000" b="1" dirty="0">
                <a:solidFill>
                  <a:prstClr val="black"/>
                </a:solidFill>
                <a:latin typeface="黑体" panose="02010609060101010101" pitchFamily="49" charset="-122"/>
                <a:ea typeface="黑体" panose="02010609060101010101" pitchFamily="49" charset="-122"/>
              </a:rPr>
              <a:t>与酶蛋白结合得比较松的小分子有机物。</a:t>
            </a:r>
          </a:p>
        </p:txBody>
      </p:sp>
      <p:sp>
        <p:nvSpPr>
          <p:cNvPr id="65" name="Text Box 12">
            <a:extLst>
              <a:ext uri="{FF2B5EF4-FFF2-40B4-BE49-F238E27FC236}">
                <a16:creationId xmlns:a16="http://schemas.microsoft.com/office/drawing/2014/main" id="{A3F5602A-7EC3-B476-7BF5-D32FE8CFCB8E}"/>
              </a:ext>
            </a:extLst>
          </p:cNvPr>
          <p:cNvSpPr txBox="1"/>
          <p:nvPr/>
        </p:nvSpPr>
        <p:spPr>
          <a:xfrm>
            <a:off x="2726600" y="4429458"/>
            <a:ext cx="914400" cy="400110"/>
          </a:xfrm>
          <a:prstGeom prst="rect">
            <a:avLst/>
          </a:prstGeom>
          <a:solidFill>
            <a:srgbClr val="954F72"/>
          </a:solid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mn-cs"/>
              </a:rPr>
              <a:t>辅基</a:t>
            </a:r>
          </a:p>
        </p:txBody>
      </p:sp>
      <p:sp>
        <p:nvSpPr>
          <p:cNvPr id="66" name="Text Box 13">
            <a:extLst>
              <a:ext uri="{FF2B5EF4-FFF2-40B4-BE49-F238E27FC236}">
                <a16:creationId xmlns:a16="http://schemas.microsoft.com/office/drawing/2014/main" id="{AF996772-DDFB-CF0B-885C-DF5C65834BCD}"/>
              </a:ext>
            </a:extLst>
          </p:cNvPr>
          <p:cNvSpPr txBox="1"/>
          <p:nvPr/>
        </p:nvSpPr>
        <p:spPr>
          <a:xfrm>
            <a:off x="4402248" y="4349694"/>
            <a:ext cx="5715000" cy="400110"/>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a:spcBef>
                <a:spcPct val="50000"/>
              </a:spcBef>
            </a:pPr>
            <a:r>
              <a:rPr lang="en-US" altLang="zh-CN" sz="2000" b="1" dirty="0">
                <a:solidFill>
                  <a:prstClr val="black"/>
                </a:solidFill>
                <a:latin typeface="黑体" panose="02010609060101010101" pitchFamily="49" charset="-122"/>
                <a:ea typeface="黑体" panose="02010609060101010101" pitchFamily="49" charset="-122"/>
              </a:rPr>
              <a:t> </a:t>
            </a:r>
            <a:r>
              <a:rPr lang="zh-CN" altLang="en-US" sz="2000" b="1" dirty="0">
                <a:solidFill>
                  <a:prstClr val="black"/>
                </a:solidFill>
                <a:latin typeface="黑体" panose="02010609060101010101" pitchFamily="49" charset="-122"/>
                <a:ea typeface="黑体" panose="02010609060101010101" pitchFamily="49" charset="-122"/>
              </a:rPr>
              <a:t>与膜蛋白结合得紧密的小分子有机物。</a:t>
            </a:r>
          </a:p>
        </p:txBody>
      </p:sp>
      <p:sp>
        <p:nvSpPr>
          <p:cNvPr id="67" name="Text Box 14">
            <a:extLst>
              <a:ext uri="{FF2B5EF4-FFF2-40B4-BE49-F238E27FC236}">
                <a16:creationId xmlns:a16="http://schemas.microsoft.com/office/drawing/2014/main" id="{DA03CDE8-00B6-ED37-16BF-FB8A8755E737}"/>
              </a:ext>
            </a:extLst>
          </p:cNvPr>
          <p:cNvSpPr txBox="1"/>
          <p:nvPr/>
        </p:nvSpPr>
        <p:spPr>
          <a:xfrm>
            <a:off x="2726600" y="5039058"/>
            <a:ext cx="1675648" cy="400110"/>
          </a:xfrm>
          <a:prstGeom prst="rect">
            <a:avLst/>
          </a:prstGeom>
          <a:solidFill>
            <a:srgbClr val="954F72"/>
          </a:solid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mn-cs"/>
              </a:rPr>
              <a:t>金属激活剂</a:t>
            </a:r>
          </a:p>
        </p:txBody>
      </p:sp>
      <p:sp>
        <p:nvSpPr>
          <p:cNvPr id="68" name="Text Box 15">
            <a:extLst>
              <a:ext uri="{FF2B5EF4-FFF2-40B4-BE49-F238E27FC236}">
                <a16:creationId xmlns:a16="http://schemas.microsoft.com/office/drawing/2014/main" id="{E018E7FE-2613-BAB2-F8EB-4734D678167C}"/>
              </a:ext>
            </a:extLst>
          </p:cNvPr>
          <p:cNvSpPr txBox="1"/>
          <p:nvPr/>
        </p:nvSpPr>
        <p:spPr>
          <a:xfrm>
            <a:off x="4973748" y="5046049"/>
            <a:ext cx="4800600" cy="400110"/>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a:spcBef>
                <a:spcPct val="50000"/>
              </a:spcBef>
            </a:pPr>
            <a:r>
              <a:rPr lang="en-US" altLang="zh-CN" sz="2000" b="1" dirty="0">
                <a:solidFill>
                  <a:prstClr val="black"/>
                </a:solidFill>
                <a:latin typeface="黑体" panose="02010609060101010101" pitchFamily="49" charset="-122"/>
                <a:ea typeface="黑体" panose="02010609060101010101" pitchFamily="49" charset="-122"/>
              </a:rPr>
              <a:t> </a:t>
            </a:r>
            <a:r>
              <a:rPr lang="zh-CN" altLang="en-US" sz="2000" b="1" dirty="0">
                <a:solidFill>
                  <a:prstClr val="black"/>
                </a:solidFill>
                <a:latin typeface="黑体" panose="02010609060101010101" pitchFamily="49" charset="-122"/>
                <a:ea typeface="黑体" panose="02010609060101010101" pitchFamily="49" charset="-122"/>
              </a:rPr>
              <a:t>金属离子作为辅助因子。</a:t>
            </a:r>
          </a:p>
        </p:txBody>
      </p:sp>
      <p:sp>
        <p:nvSpPr>
          <p:cNvPr id="69" name="Text Box 16">
            <a:extLst>
              <a:ext uri="{FF2B5EF4-FFF2-40B4-BE49-F238E27FC236}">
                <a16:creationId xmlns:a16="http://schemas.microsoft.com/office/drawing/2014/main" id="{03C9B8E8-A99C-0069-9A31-C0B9EA19627B}"/>
              </a:ext>
            </a:extLst>
          </p:cNvPr>
          <p:cNvSpPr txBox="1"/>
          <p:nvPr/>
        </p:nvSpPr>
        <p:spPr>
          <a:xfrm>
            <a:off x="3298100" y="5742404"/>
            <a:ext cx="6633300" cy="861774"/>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285750" indent="-285750">
              <a:spcBef>
                <a:spcPct val="50000"/>
              </a:spcBef>
              <a:buFont typeface="Wingdings" panose="05000000000000000000" pitchFamily="2" charset="2"/>
              <a:buChar char="Ø"/>
            </a:pPr>
            <a:r>
              <a:rPr lang="zh-CN" altLang="en-US" sz="2000" b="1" dirty="0">
                <a:solidFill>
                  <a:prstClr val="black"/>
                </a:solidFill>
                <a:latin typeface="黑体" panose="02010609060101010101" pitchFamily="49" charset="-122"/>
                <a:ea typeface="黑体" panose="02010609060101010101" pitchFamily="49" charset="-122"/>
              </a:rPr>
              <a:t>酶的催化</a:t>
            </a:r>
            <a:r>
              <a:rPr lang="zh-CN" altLang="en-US" sz="2000" b="1" dirty="0">
                <a:solidFill>
                  <a:srgbClr val="FF0000"/>
                </a:solidFill>
                <a:latin typeface="黑体" panose="02010609060101010101" pitchFamily="49" charset="-122"/>
                <a:ea typeface="黑体" panose="02010609060101010101" pitchFamily="49" charset="-122"/>
              </a:rPr>
              <a:t>专一性</a:t>
            </a:r>
            <a:r>
              <a:rPr lang="zh-CN" altLang="en-US" sz="2000" b="1" dirty="0">
                <a:solidFill>
                  <a:prstClr val="black"/>
                </a:solidFill>
                <a:latin typeface="黑体" panose="02010609060101010101" pitchFamily="49" charset="-122"/>
                <a:ea typeface="黑体" panose="02010609060101010101" pitchFamily="49" charset="-122"/>
              </a:rPr>
              <a:t>主要决定于膜蛋白部分。</a:t>
            </a:r>
            <a:endParaRPr lang="en-US" altLang="zh-CN" sz="2000" b="1" dirty="0">
              <a:solidFill>
                <a:prstClr val="black"/>
              </a:solidFill>
              <a:latin typeface="黑体" panose="02010609060101010101" pitchFamily="49" charset="-122"/>
              <a:ea typeface="黑体" panose="02010609060101010101" pitchFamily="49" charset="-122"/>
            </a:endParaRPr>
          </a:p>
          <a:p>
            <a:pPr marL="285750" indent="-285750">
              <a:spcBef>
                <a:spcPct val="50000"/>
              </a:spcBef>
              <a:buClr>
                <a:prstClr val="black"/>
              </a:buClr>
              <a:buFont typeface="Wingdings" panose="05000000000000000000" pitchFamily="2" charset="2"/>
              <a:buChar char="Ø"/>
            </a:pPr>
            <a:r>
              <a:rPr lang="zh-CN" altLang="en-US" sz="2000" b="1" dirty="0">
                <a:solidFill>
                  <a:srgbClr val="FF0000"/>
                </a:solidFill>
                <a:latin typeface="黑体" panose="02010609060101010101" pitchFamily="49" charset="-122"/>
                <a:ea typeface="黑体" panose="02010609060101010101" pitchFamily="49" charset="-122"/>
              </a:rPr>
              <a:t>辅因子</a:t>
            </a:r>
            <a:r>
              <a:rPr lang="zh-CN" altLang="en-US" sz="2000" b="1" dirty="0">
                <a:solidFill>
                  <a:prstClr val="black"/>
                </a:solidFill>
                <a:latin typeface="黑体" panose="02010609060101010101" pitchFamily="49" charset="-122"/>
                <a:ea typeface="黑体" panose="02010609060101010101" pitchFamily="49" charset="-122"/>
              </a:rPr>
              <a:t>通常是作为电子、原子或某些化学基团的载体。</a:t>
            </a:r>
          </a:p>
        </p:txBody>
      </p:sp>
    </p:spTree>
    <p:extLst>
      <p:ext uri="{BB962C8B-B14F-4D97-AF65-F5344CB8AC3E}">
        <p14:creationId xmlns:p14="http://schemas.microsoft.com/office/powerpoint/2010/main" val="3302291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46" name="Text Box 3">
            <a:extLst>
              <a:ext uri="{FF2B5EF4-FFF2-40B4-BE49-F238E27FC236}">
                <a16:creationId xmlns:a16="http://schemas.microsoft.com/office/drawing/2014/main" id="{9BEEB904-229F-EA82-EBC4-1BBCD8C99325}"/>
              </a:ext>
            </a:extLst>
          </p:cNvPr>
          <p:cNvSpPr txBox="1"/>
          <p:nvPr/>
        </p:nvSpPr>
        <p:spPr>
          <a:xfrm>
            <a:off x="800099" y="1660927"/>
            <a:ext cx="10442864" cy="458908"/>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a:lnSpc>
                <a:spcPct val="150000"/>
              </a:lnSpc>
              <a:spcBef>
                <a:spcPct val="50000"/>
              </a:spcBef>
            </a:pPr>
            <a:r>
              <a:rPr lang="en-US" altLang="zh-CN" b="1" dirty="0">
                <a:solidFill>
                  <a:prstClr val="black"/>
                </a:solidFill>
                <a:latin typeface="+mn-ea"/>
                <a:ea typeface="+mn-ea"/>
              </a:rPr>
              <a:t>1. </a:t>
            </a:r>
            <a:r>
              <a:rPr lang="zh-CN" altLang="en-US" b="1" dirty="0">
                <a:solidFill>
                  <a:srgbClr val="FF0000"/>
                </a:solidFill>
                <a:latin typeface="+mn-ea"/>
                <a:ea typeface="+mn-ea"/>
              </a:rPr>
              <a:t>单体酶（</a:t>
            </a:r>
            <a:r>
              <a:rPr lang="en-US" altLang="zh-CN" b="1" dirty="0">
                <a:solidFill>
                  <a:srgbClr val="FF0000"/>
                </a:solidFill>
                <a:latin typeface="+mn-ea"/>
                <a:ea typeface="+mn-ea"/>
              </a:rPr>
              <a:t>monomeric enzyme)</a:t>
            </a:r>
            <a:r>
              <a:rPr lang="zh-CN" altLang="en-US" dirty="0">
                <a:solidFill>
                  <a:srgbClr val="FF0000"/>
                </a:solidFill>
                <a:latin typeface="+mn-ea"/>
                <a:ea typeface="+mn-ea"/>
              </a:rPr>
              <a:t>：</a:t>
            </a:r>
            <a:r>
              <a:rPr lang="zh-CN" altLang="en-US" b="1" dirty="0">
                <a:solidFill>
                  <a:prstClr val="black"/>
                </a:solidFill>
                <a:latin typeface="+mn-ea"/>
                <a:ea typeface="+mn-ea"/>
              </a:rPr>
              <a:t>仅有一条具有活性部位的多肽链，全部参与水解反应。</a:t>
            </a:r>
          </a:p>
        </p:txBody>
      </p:sp>
      <p:sp>
        <p:nvSpPr>
          <p:cNvPr id="47" name="Text Box 4">
            <a:extLst>
              <a:ext uri="{FF2B5EF4-FFF2-40B4-BE49-F238E27FC236}">
                <a16:creationId xmlns:a16="http://schemas.microsoft.com/office/drawing/2014/main" id="{57524A98-E5DC-6D1B-9390-0FA3DA05DFEB}"/>
              </a:ext>
            </a:extLst>
          </p:cNvPr>
          <p:cNvSpPr txBox="1"/>
          <p:nvPr/>
        </p:nvSpPr>
        <p:spPr>
          <a:xfrm>
            <a:off x="800101" y="2185833"/>
            <a:ext cx="10337800" cy="879472"/>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a:lnSpc>
                <a:spcPct val="150000"/>
              </a:lnSpc>
              <a:spcBef>
                <a:spcPct val="50000"/>
              </a:spcBef>
            </a:pPr>
            <a:r>
              <a:rPr lang="en-US" altLang="zh-CN" b="1" dirty="0">
                <a:solidFill>
                  <a:prstClr val="black"/>
                </a:solidFill>
                <a:latin typeface="+mn-ea"/>
                <a:ea typeface="+mn-ea"/>
              </a:rPr>
              <a:t>2. </a:t>
            </a:r>
            <a:r>
              <a:rPr lang="zh-CN" altLang="en-US" b="1" dirty="0">
                <a:solidFill>
                  <a:srgbClr val="FF0000"/>
                </a:solidFill>
                <a:latin typeface="+mn-ea"/>
                <a:ea typeface="+mn-ea"/>
              </a:rPr>
              <a:t>寡聚酶 </a:t>
            </a:r>
            <a:r>
              <a:rPr lang="en-US" altLang="zh-CN" b="1" dirty="0">
                <a:solidFill>
                  <a:srgbClr val="FF0000"/>
                </a:solidFill>
                <a:latin typeface="+mn-ea"/>
                <a:ea typeface="+mn-ea"/>
              </a:rPr>
              <a:t>(oligomeric enzyme)</a:t>
            </a:r>
            <a:r>
              <a:rPr lang="zh-CN" altLang="en-US" b="1" dirty="0">
                <a:solidFill>
                  <a:prstClr val="black"/>
                </a:solidFill>
                <a:latin typeface="+mn-ea"/>
                <a:ea typeface="+mn-ea"/>
              </a:rPr>
              <a:t>：由几个或多个亚基组成，亚基牢固地联在一起，单个亚基没有催化活性。亚基之间以非共价键结合。</a:t>
            </a:r>
          </a:p>
        </p:txBody>
      </p:sp>
      <p:sp>
        <p:nvSpPr>
          <p:cNvPr id="48" name="Text Box 5">
            <a:extLst>
              <a:ext uri="{FF2B5EF4-FFF2-40B4-BE49-F238E27FC236}">
                <a16:creationId xmlns:a16="http://schemas.microsoft.com/office/drawing/2014/main" id="{AFA1F1C4-6105-48CF-333A-9F6D35C78FB2}"/>
              </a:ext>
            </a:extLst>
          </p:cNvPr>
          <p:cNvSpPr txBox="1"/>
          <p:nvPr/>
        </p:nvSpPr>
        <p:spPr>
          <a:xfrm>
            <a:off x="787500" y="3198656"/>
            <a:ext cx="10468062" cy="879472"/>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a:lnSpc>
                <a:spcPct val="150000"/>
              </a:lnSpc>
              <a:spcBef>
                <a:spcPct val="50000"/>
              </a:spcBef>
            </a:pPr>
            <a:r>
              <a:rPr lang="en-US" altLang="zh-CN" b="1" dirty="0">
                <a:solidFill>
                  <a:prstClr val="black"/>
                </a:solidFill>
                <a:latin typeface="+mn-ea"/>
                <a:ea typeface="+mn-ea"/>
              </a:rPr>
              <a:t>3. </a:t>
            </a:r>
            <a:r>
              <a:rPr lang="zh-CN" altLang="en-US" b="1" dirty="0">
                <a:solidFill>
                  <a:srgbClr val="FF0000"/>
                </a:solidFill>
                <a:latin typeface="+mn-ea"/>
                <a:ea typeface="+mn-ea"/>
              </a:rPr>
              <a:t>多酶复合物 </a:t>
            </a:r>
            <a:r>
              <a:rPr lang="en-US" altLang="zh-CN" b="1" dirty="0">
                <a:solidFill>
                  <a:srgbClr val="FF0000"/>
                </a:solidFill>
                <a:latin typeface="+mn-ea"/>
                <a:ea typeface="+mn-ea"/>
              </a:rPr>
              <a:t>(multienzyme system)</a:t>
            </a:r>
            <a:r>
              <a:rPr lang="zh-CN" altLang="en-US" b="1" dirty="0">
                <a:solidFill>
                  <a:prstClr val="black"/>
                </a:solidFill>
                <a:latin typeface="+mn-ea"/>
                <a:ea typeface="+mn-ea"/>
              </a:rPr>
              <a:t>：几个酶镶嵌而成的复合物。这些酶催化将底物转化为产物的一系列顺序反应。</a:t>
            </a:r>
          </a:p>
        </p:txBody>
      </p:sp>
      <p:grpSp>
        <p:nvGrpSpPr>
          <p:cNvPr id="49" name="Group 8">
            <a:extLst>
              <a:ext uri="{FF2B5EF4-FFF2-40B4-BE49-F238E27FC236}">
                <a16:creationId xmlns:a16="http://schemas.microsoft.com/office/drawing/2014/main" id="{A40B9099-AC64-056F-E9FC-AFB1C81A1B0A}"/>
              </a:ext>
            </a:extLst>
          </p:cNvPr>
          <p:cNvGrpSpPr/>
          <p:nvPr/>
        </p:nvGrpSpPr>
        <p:grpSpPr>
          <a:xfrm>
            <a:off x="2212974" y="4733171"/>
            <a:ext cx="7766051" cy="1371600"/>
            <a:chOff x="353" y="1976"/>
            <a:chExt cx="4892" cy="864"/>
          </a:xfrm>
        </p:grpSpPr>
        <p:grpSp>
          <p:nvGrpSpPr>
            <p:cNvPr id="50" name="Group 9">
              <a:extLst>
                <a:ext uri="{FF2B5EF4-FFF2-40B4-BE49-F238E27FC236}">
                  <a16:creationId xmlns:a16="http://schemas.microsoft.com/office/drawing/2014/main" id="{5B52EEDF-1473-7158-57D2-5D089FFAEFD3}"/>
                </a:ext>
              </a:extLst>
            </p:cNvPr>
            <p:cNvGrpSpPr/>
            <p:nvPr/>
          </p:nvGrpSpPr>
          <p:grpSpPr>
            <a:xfrm>
              <a:off x="353" y="2072"/>
              <a:ext cx="1183" cy="288"/>
              <a:chOff x="353" y="1584"/>
              <a:chExt cx="1183" cy="288"/>
            </a:xfrm>
          </p:grpSpPr>
          <p:grpSp>
            <p:nvGrpSpPr>
              <p:cNvPr id="90" name="Group 10">
                <a:extLst>
                  <a:ext uri="{FF2B5EF4-FFF2-40B4-BE49-F238E27FC236}">
                    <a16:creationId xmlns:a16="http://schemas.microsoft.com/office/drawing/2014/main" id="{8BEE8CF3-4C96-0F70-151D-5511A96C0AF2}"/>
                  </a:ext>
                </a:extLst>
              </p:cNvPr>
              <p:cNvGrpSpPr/>
              <p:nvPr/>
            </p:nvGrpSpPr>
            <p:grpSpPr>
              <a:xfrm>
                <a:off x="353" y="1584"/>
                <a:ext cx="528" cy="288"/>
                <a:chOff x="545" y="2208"/>
                <a:chExt cx="528" cy="288"/>
              </a:xfrm>
            </p:grpSpPr>
            <p:sp>
              <p:nvSpPr>
                <p:cNvPr id="97" name="Oval 11">
                  <a:extLst>
                    <a:ext uri="{FF2B5EF4-FFF2-40B4-BE49-F238E27FC236}">
                      <a16:creationId xmlns:a16="http://schemas.microsoft.com/office/drawing/2014/main" id="{A007F6EA-C7FB-8F4D-A55F-8752C189AA5C}"/>
                    </a:ext>
                  </a:extLst>
                </p:cNvPr>
                <p:cNvSpPr/>
                <p:nvPr/>
              </p:nvSpPr>
              <p:spPr>
                <a:xfrm>
                  <a:off x="624" y="2208"/>
                  <a:ext cx="336" cy="288"/>
                </a:xfrm>
                <a:prstGeom prst="ellipse">
                  <a:avLst/>
                </a:prstGeom>
                <a:solidFill>
                  <a:srgbClr val="FF0066"/>
                </a:solid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98" name="Text Box 12">
                  <a:extLst>
                    <a:ext uri="{FF2B5EF4-FFF2-40B4-BE49-F238E27FC236}">
                      <a16:creationId xmlns:a16="http://schemas.microsoft.com/office/drawing/2014/main" id="{42FCF62D-9418-A684-5AC1-D01F410D7D53}"/>
                    </a:ext>
                  </a:extLst>
                </p:cNvPr>
                <p:cNvSpPr txBox="1"/>
                <p:nvPr/>
              </p:nvSpPr>
              <p:spPr>
                <a:xfrm>
                  <a:off x="545" y="2214"/>
                  <a:ext cx="528"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rPr>
                    <a:t>E</a:t>
                  </a:r>
                  <a:r>
                    <a:rPr kumimoji="0" lang="en-US" altLang="zh-CN" sz="1800" b="1" i="0" u="none" strike="noStrike" kern="1200" cap="none" spc="0" normalizeH="0" baseline="-25000" noProof="0" dirty="0">
                      <a:ln>
                        <a:noFill/>
                      </a:ln>
                      <a:solidFill>
                        <a:prstClr val="white"/>
                      </a:solidFill>
                      <a:effectLst/>
                      <a:uLnTx/>
                      <a:uFillTx/>
                      <a:latin typeface="Times New Roman" panose="02020603050405020304" pitchFamily="18" charset="0"/>
                      <a:ea typeface="等线" panose="02010600030101010101" pitchFamily="2" charset="-122"/>
                      <a:cs typeface="+mn-cs"/>
                    </a:rPr>
                    <a:t>Ⅰ</a:t>
                  </a:r>
                  <a:endPar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endParaRPr>
                </a:p>
              </p:txBody>
            </p:sp>
          </p:grpSp>
          <p:grpSp>
            <p:nvGrpSpPr>
              <p:cNvPr id="91" name="Group 13">
                <a:extLst>
                  <a:ext uri="{FF2B5EF4-FFF2-40B4-BE49-F238E27FC236}">
                    <a16:creationId xmlns:a16="http://schemas.microsoft.com/office/drawing/2014/main" id="{D293873A-DF2D-10A0-6078-DD1C844A1683}"/>
                  </a:ext>
                </a:extLst>
              </p:cNvPr>
              <p:cNvGrpSpPr/>
              <p:nvPr/>
            </p:nvGrpSpPr>
            <p:grpSpPr>
              <a:xfrm>
                <a:off x="757" y="1584"/>
                <a:ext cx="432" cy="288"/>
                <a:chOff x="997" y="2400"/>
                <a:chExt cx="432" cy="288"/>
              </a:xfrm>
            </p:grpSpPr>
            <p:sp>
              <p:nvSpPr>
                <p:cNvPr id="95" name="Oval 14">
                  <a:extLst>
                    <a:ext uri="{FF2B5EF4-FFF2-40B4-BE49-F238E27FC236}">
                      <a16:creationId xmlns:a16="http://schemas.microsoft.com/office/drawing/2014/main" id="{A3654125-C802-64D9-D4B9-03581550F7B6}"/>
                    </a:ext>
                  </a:extLst>
                </p:cNvPr>
                <p:cNvSpPr/>
                <p:nvPr/>
              </p:nvSpPr>
              <p:spPr>
                <a:xfrm>
                  <a:off x="1008" y="2400"/>
                  <a:ext cx="336" cy="288"/>
                </a:xfrm>
                <a:prstGeom prst="ellipse">
                  <a:avLst/>
                </a:prstGeom>
                <a:solidFill>
                  <a:srgbClr val="008000"/>
                </a:solid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96" name="Text Box 15">
                  <a:extLst>
                    <a:ext uri="{FF2B5EF4-FFF2-40B4-BE49-F238E27FC236}">
                      <a16:creationId xmlns:a16="http://schemas.microsoft.com/office/drawing/2014/main" id="{ECB761AF-7A79-051B-36E4-2221F882E9BD}"/>
                    </a:ext>
                  </a:extLst>
                </p:cNvPr>
                <p:cNvSpPr txBox="1"/>
                <p:nvPr/>
              </p:nvSpPr>
              <p:spPr>
                <a:xfrm>
                  <a:off x="997" y="2406"/>
                  <a:ext cx="432"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rPr>
                    <a:t>E</a:t>
                  </a:r>
                  <a:r>
                    <a:rPr kumimoji="0" lang="en-US" altLang="zh-CN" sz="1800" b="1" i="0" u="none" strike="noStrike" kern="1200" cap="none" spc="0" normalizeH="0" baseline="-25000" noProof="0" dirty="0">
                      <a:ln>
                        <a:noFill/>
                      </a:ln>
                      <a:solidFill>
                        <a:prstClr val="white"/>
                      </a:solidFill>
                      <a:effectLst/>
                      <a:uLnTx/>
                      <a:uFillTx/>
                      <a:latin typeface="Times New Roman" panose="02020603050405020304" pitchFamily="18" charset="0"/>
                      <a:ea typeface="等线" panose="02010600030101010101" pitchFamily="2" charset="-122"/>
                      <a:cs typeface="+mn-cs"/>
                    </a:rPr>
                    <a:t>Ⅱ</a:t>
                  </a:r>
                  <a:endPar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endParaRPr>
                </a:p>
              </p:txBody>
            </p:sp>
          </p:grpSp>
          <p:grpSp>
            <p:nvGrpSpPr>
              <p:cNvPr id="92" name="Group 16">
                <a:extLst>
                  <a:ext uri="{FF2B5EF4-FFF2-40B4-BE49-F238E27FC236}">
                    <a16:creationId xmlns:a16="http://schemas.microsoft.com/office/drawing/2014/main" id="{C681FC16-87CD-DE0A-64F9-9A88F66FE3BE}"/>
                  </a:ext>
                </a:extLst>
              </p:cNvPr>
              <p:cNvGrpSpPr/>
              <p:nvPr/>
            </p:nvGrpSpPr>
            <p:grpSpPr>
              <a:xfrm>
                <a:off x="1056" y="1584"/>
                <a:ext cx="480" cy="288"/>
                <a:chOff x="1296" y="1296"/>
                <a:chExt cx="480" cy="288"/>
              </a:xfrm>
            </p:grpSpPr>
            <p:sp>
              <p:nvSpPr>
                <p:cNvPr id="93" name="Oval 17">
                  <a:extLst>
                    <a:ext uri="{FF2B5EF4-FFF2-40B4-BE49-F238E27FC236}">
                      <a16:creationId xmlns:a16="http://schemas.microsoft.com/office/drawing/2014/main" id="{E9F2F5CA-1A96-6D34-D606-795D00D6F92B}"/>
                    </a:ext>
                  </a:extLst>
                </p:cNvPr>
                <p:cNvSpPr/>
                <p:nvPr/>
              </p:nvSpPr>
              <p:spPr>
                <a:xfrm>
                  <a:off x="1344" y="1296"/>
                  <a:ext cx="336" cy="288"/>
                </a:xfrm>
                <a:prstGeom prst="ellipse">
                  <a:avLst/>
                </a:prstGeom>
                <a:solidFill>
                  <a:srgbClr val="003399"/>
                </a:solid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94" name="Text Box 18">
                  <a:extLst>
                    <a:ext uri="{FF2B5EF4-FFF2-40B4-BE49-F238E27FC236}">
                      <a16:creationId xmlns:a16="http://schemas.microsoft.com/office/drawing/2014/main" id="{BF562D5E-900E-EABA-6D32-5A398A548011}"/>
                    </a:ext>
                  </a:extLst>
                </p:cNvPr>
                <p:cNvSpPr txBox="1"/>
                <p:nvPr/>
              </p:nvSpPr>
              <p:spPr>
                <a:xfrm>
                  <a:off x="1296" y="1302"/>
                  <a:ext cx="480"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rPr>
                    <a:t>E</a:t>
                  </a:r>
                  <a:r>
                    <a:rPr kumimoji="0" lang="en-US" altLang="zh-CN" sz="1800" b="1" i="0" u="none" strike="noStrike" kern="1200" cap="none" spc="0" normalizeH="0" baseline="-25000" noProof="0" dirty="0">
                      <a:ln>
                        <a:noFill/>
                      </a:ln>
                      <a:solidFill>
                        <a:prstClr val="white"/>
                      </a:solidFill>
                      <a:effectLst/>
                      <a:uLnTx/>
                      <a:uFillTx/>
                      <a:latin typeface="Times New Roman" panose="02020603050405020304" pitchFamily="18" charset="0"/>
                      <a:ea typeface="等线" panose="02010600030101010101" pitchFamily="2" charset="-122"/>
                      <a:cs typeface="+mn-cs"/>
                    </a:rPr>
                    <a:t>Ⅲ</a:t>
                  </a:r>
                  <a:endPar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endParaRPr>
                </a:p>
              </p:txBody>
            </p:sp>
          </p:grpSp>
        </p:grpSp>
        <p:sp>
          <p:nvSpPr>
            <p:cNvPr id="51" name="Line 19">
              <a:extLst>
                <a:ext uri="{FF2B5EF4-FFF2-40B4-BE49-F238E27FC236}">
                  <a16:creationId xmlns:a16="http://schemas.microsoft.com/office/drawing/2014/main" id="{8F34E320-6F2E-BD87-CBCE-6044E341C343}"/>
                </a:ext>
              </a:extLst>
            </p:cNvPr>
            <p:cNvSpPr/>
            <p:nvPr/>
          </p:nvSpPr>
          <p:spPr>
            <a:xfrm>
              <a:off x="1536" y="2264"/>
              <a:ext cx="720" cy="0"/>
            </a:xfrm>
            <a:prstGeom prst="line">
              <a:avLst/>
            </a:prstGeom>
            <a:ln w="9525" cap="flat" cmpd="sng">
              <a:solidFill>
                <a:sysClr val="windowText" lastClr="000000"/>
              </a:solidFill>
              <a:prstDash val="solid"/>
              <a:round/>
              <a:headEnd type="none" w="med" len="med"/>
              <a:tailEnd type="triangle" w="med" len="med"/>
            </a:ln>
          </p:spPr>
        </p:sp>
        <p:sp>
          <p:nvSpPr>
            <p:cNvPr id="52" name="Text Box 20">
              <a:extLst>
                <a:ext uri="{FF2B5EF4-FFF2-40B4-BE49-F238E27FC236}">
                  <a16:creationId xmlns:a16="http://schemas.microsoft.com/office/drawing/2014/main" id="{490A7F69-38A4-75C7-609A-96CC5C917BAA}"/>
                </a:ext>
              </a:extLst>
            </p:cNvPr>
            <p:cNvSpPr txBox="1"/>
            <p:nvPr/>
          </p:nvSpPr>
          <p:spPr>
            <a:xfrm>
              <a:off x="1632" y="1976"/>
              <a:ext cx="624"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Times New Roman" panose="02020603050405020304" pitchFamily="18" charset="0"/>
                </a:rPr>
                <a:t>碱性</a:t>
              </a:r>
            </a:p>
          </p:txBody>
        </p:sp>
        <p:grpSp>
          <p:nvGrpSpPr>
            <p:cNvPr id="53" name="Group 21">
              <a:extLst>
                <a:ext uri="{FF2B5EF4-FFF2-40B4-BE49-F238E27FC236}">
                  <a16:creationId xmlns:a16="http://schemas.microsoft.com/office/drawing/2014/main" id="{541CCFD0-8929-5F38-3DCB-E76DD63E4DA1}"/>
                </a:ext>
              </a:extLst>
            </p:cNvPr>
            <p:cNvGrpSpPr/>
            <p:nvPr/>
          </p:nvGrpSpPr>
          <p:grpSpPr>
            <a:xfrm>
              <a:off x="2212" y="2091"/>
              <a:ext cx="1528" cy="299"/>
              <a:chOff x="2212" y="1075"/>
              <a:chExt cx="1528" cy="299"/>
            </a:xfrm>
          </p:grpSpPr>
          <p:grpSp>
            <p:nvGrpSpPr>
              <p:cNvPr id="80" name="Group 22">
                <a:extLst>
                  <a:ext uri="{FF2B5EF4-FFF2-40B4-BE49-F238E27FC236}">
                    <a16:creationId xmlns:a16="http://schemas.microsoft.com/office/drawing/2014/main" id="{D97F926C-05DA-E441-A76C-25A20AAD5D89}"/>
                  </a:ext>
                </a:extLst>
              </p:cNvPr>
              <p:cNvGrpSpPr/>
              <p:nvPr/>
            </p:nvGrpSpPr>
            <p:grpSpPr>
              <a:xfrm>
                <a:off x="2212" y="1075"/>
                <a:ext cx="528" cy="288"/>
                <a:chOff x="580" y="2179"/>
                <a:chExt cx="528" cy="288"/>
              </a:xfrm>
            </p:grpSpPr>
            <p:sp>
              <p:nvSpPr>
                <p:cNvPr id="88" name="Oval 23">
                  <a:extLst>
                    <a:ext uri="{FF2B5EF4-FFF2-40B4-BE49-F238E27FC236}">
                      <a16:creationId xmlns:a16="http://schemas.microsoft.com/office/drawing/2014/main" id="{3600D611-A6FD-F88F-05E5-734E9A3F14D3}"/>
                    </a:ext>
                  </a:extLst>
                </p:cNvPr>
                <p:cNvSpPr/>
                <p:nvPr/>
              </p:nvSpPr>
              <p:spPr>
                <a:xfrm>
                  <a:off x="676" y="2179"/>
                  <a:ext cx="336" cy="288"/>
                </a:xfrm>
                <a:prstGeom prst="ellipse">
                  <a:avLst/>
                </a:prstGeom>
                <a:solidFill>
                  <a:srgbClr val="FF0066"/>
                </a:solid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89" name="Text Box 24">
                  <a:extLst>
                    <a:ext uri="{FF2B5EF4-FFF2-40B4-BE49-F238E27FC236}">
                      <a16:creationId xmlns:a16="http://schemas.microsoft.com/office/drawing/2014/main" id="{9FEBBBAD-9F21-E3B4-C5B5-802E9445C187}"/>
                    </a:ext>
                  </a:extLst>
                </p:cNvPr>
                <p:cNvSpPr txBox="1"/>
                <p:nvPr/>
              </p:nvSpPr>
              <p:spPr>
                <a:xfrm>
                  <a:off x="580" y="2185"/>
                  <a:ext cx="528"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rPr>
                    <a:t>E</a:t>
                  </a:r>
                  <a:r>
                    <a:rPr kumimoji="0" lang="en-US" altLang="zh-CN" sz="1800" b="1" i="0" u="none" strike="noStrike" kern="1200" cap="none" spc="0" normalizeH="0" baseline="-25000" noProof="0" dirty="0">
                      <a:ln>
                        <a:noFill/>
                      </a:ln>
                      <a:solidFill>
                        <a:prstClr val="white"/>
                      </a:solidFill>
                      <a:effectLst/>
                      <a:uLnTx/>
                      <a:uFillTx/>
                      <a:latin typeface="Times New Roman" panose="02020603050405020304" pitchFamily="18" charset="0"/>
                      <a:ea typeface="等线" panose="02010600030101010101" pitchFamily="2" charset="-122"/>
                      <a:cs typeface="+mn-cs"/>
                    </a:rPr>
                    <a:t>Ⅰ</a:t>
                  </a:r>
                  <a:endPar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endParaRPr>
                </a:p>
              </p:txBody>
            </p:sp>
          </p:grpSp>
          <p:grpSp>
            <p:nvGrpSpPr>
              <p:cNvPr id="81" name="Group 25">
                <a:extLst>
                  <a:ext uri="{FF2B5EF4-FFF2-40B4-BE49-F238E27FC236}">
                    <a16:creationId xmlns:a16="http://schemas.microsoft.com/office/drawing/2014/main" id="{427CAE4D-6B20-CDB6-AB30-8326387D26CE}"/>
                  </a:ext>
                </a:extLst>
              </p:cNvPr>
              <p:cNvGrpSpPr/>
              <p:nvPr/>
            </p:nvGrpSpPr>
            <p:grpSpPr>
              <a:xfrm>
                <a:off x="2929" y="1086"/>
                <a:ext cx="432" cy="288"/>
                <a:chOff x="961" y="2382"/>
                <a:chExt cx="432" cy="288"/>
              </a:xfrm>
            </p:grpSpPr>
            <p:sp>
              <p:nvSpPr>
                <p:cNvPr id="86" name="Oval 26">
                  <a:extLst>
                    <a:ext uri="{FF2B5EF4-FFF2-40B4-BE49-F238E27FC236}">
                      <a16:creationId xmlns:a16="http://schemas.microsoft.com/office/drawing/2014/main" id="{58954631-425F-0165-9899-AADF8C8F531B}"/>
                    </a:ext>
                  </a:extLst>
                </p:cNvPr>
                <p:cNvSpPr/>
                <p:nvPr/>
              </p:nvSpPr>
              <p:spPr>
                <a:xfrm>
                  <a:off x="991" y="2382"/>
                  <a:ext cx="336" cy="288"/>
                </a:xfrm>
                <a:prstGeom prst="ellipse">
                  <a:avLst/>
                </a:prstGeom>
                <a:solidFill>
                  <a:srgbClr val="008000"/>
                </a:solid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87" name="Text Box 27">
                  <a:extLst>
                    <a:ext uri="{FF2B5EF4-FFF2-40B4-BE49-F238E27FC236}">
                      <a16:creationId xmlns:a16="http://schemas.microsoft.com/office/drawing/2014/main" id="{03611B7B-9EC5-80A6-26AE-3115F61ADFA7}"/>
                    </a:ext>
                  </a:extLst>
                </p:cNvPr>
                <p:cNvSpPr txBox="1"/>
                <p:nvPr/>
              </p:nvSpPr>
              <p:spPr>
                <a:xfrm>
                  <a:off x="961" y="2388"/>
                  <a:ext cx="432"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rPr>
                    <a:t>E</a:t>
                  </a:r>
                  <a:r>
                    <a:rPr kumimoji="0" lang="en-US" altLang="zh-CN" sz="1800" b="1" i="0" u="none" strike="noStrike" kern="1200" cap="none" spc="0" normalizeH="0" baseline="-25000" noProof="0" dirty="0">
                      <a:ln>
                        <a:noFill/>
                      </a:ln>
                      <a:solidFill>
                        <a:prstClr val="white"/>
                      </a:solidFill>
                      <a:effectLst/>
                      <a:uLnTx/>
                      <a:uFillTx/>
                      <a:latin typeface="Times New Roman" panose="02020603050405020304" pitchFamily="18" charset="0"/>
                      <a:ea typeface="等线" panose="02010600030101010101" pitchFamily="2" charset="-122"/>
                      <a:cs typeface="+mn-cs"/>
                    </a:rPr>
                    <a:t>Ⅱ</a:t>
                  </a:r>
                  <a:endPar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endParaRPr>
                </a:p>
              </p:txBody>
            </p:sp>
          </p:grpSp>
          <p:grpSp>
            <p:nvGrpSpPr>
              <p:cNvPr id="82" name="Group 28">
                <a:extLst>
                  <a:ext uri="{FF2B5EF4-FFF2-40B4-BE49-F238E27FC236}">
                    <a16:creationId xmlns:a16="http://schemas.microsoft.com/office/drawing/2014/main" id="{D153EE1D-11E6-AFCE-AE8B-7E197BB0375C}"/>
                  </a:ext>
                </a:extLst>
              </p:cNvPr>
              <p:cNvGrpSpPr/>
              <p:nvPr/>
            </p:nvGrpSpPr>
            <p:grpSpPr>
              <a:xfrm>
                <a:off x="3260" y="1086"/>
                <a:ext cx="480" cy="288"/>
                <a:chOff x="1292" y="1278"/>
                <a:chExt cx="480" cy="288"/>
              </a:xfrm>
            </p:grpSpPr>
            <p:sp>
              <p:nvSpPr>
                <p:cNvPr id="84" name="Oval 29">
                  <a:extLst>
                    <a:ext uri="{FF2B5EF4-FFF2-40B4-BE49-F238E27FC236}">
                      <a16:creationId xmlns:a16="http://schemas.microsoft.com/office/drawing/2014/main" id="{B329BC8B-0C2B-910B-CF16-54747E172B9C}"/>
                    </a:ext>
                  </a:extLst>
                </p:cNvPr>
                <p:cNvSpPr/>
                <p:nvPr/>
              </p:nvSpPr>
              <p:spPr>
                <a:xfrm>
                  <a:off x="1327" y="1278"/>
                  <a:ext cx="336" cy="288"/>
                </a:xfrm>
                <a:prstGeom prst="ellipse">
                  <a:avLst/>
                </a:prstGeom>
                <a:solidFill>
                  <a:srgbClr val="003399"/>
                </a:solid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85" name="Text Box 30">
                  <a:extLst>
                    <a:ext uri="{FF2B5EF4-FFF2-40B4-BE49-F238E27FC236}">
                      <a16:creationId xmlns:a16="http://schemas.microsoft.com/office/drawing/2014/main" id="{85D8FAB6-DD4E-32AB-1589-4B254AF57948}"/>
                    </a:ext>
                  </a:extLst>
                </p:cNvPr>
                <p:cNvSpPr txBox="1"/>
                <p:nvPr/>
              </p:nvSpPr>
              <p:spPr>
                <a:xfrm>
                  <a:off x="1292" y="1285"/>
                  <a:ext cx="480"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rPr>
                    <a:t>E</a:t>
                  </a:r>
                  <a:r>
                    <a:rPr kumimoji="0" lang="en-US" altLang="zh-CN" sz="1800" b="1" i="0" u="none" strike="noStrike" kern="1200" cap="none" spc="0" normalizeH="0" baseline="-25000" noProof="0" dirty="0">
                      <a:ln>
                        <a:noFill/>
                      </a:ln>
                      <a:solidFill>
                        <a:prstClr val="white"/>
                      </a:solidFill>
                      <a:effectLst/>
                      <a:uLnTx/>
                      <a:uFillTx/>
                      <a:latin typeface="Times New Roman" panose="02020603050405020304" pitchFamily="18" charset="0"/>
                      <a:ea typeface="等线" panose="02010600030101010101" pitchFamily="2" charset="-122"/>
                      <a:cs typeface="+mn-cs"/>
                    </a:rPr>
                    <a:t>Ⅲ</a:t>
                  </a:r>
                  <a:endPar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endParaRPr>
                </a:p>
              </p:txBody>
            </p:sp>
          </p:grpSp>
          <p:sp>
            <p:nvSpPr>
              <p:cNvPr id="83" name="Text Box 31">
                <a:extLst>
                  <a:ext uri="{FF2B5EF4-FFF2-40B4-BE49-F238E27FC236}">
                    <a16:creationId xmlns:a16="http://schemas.microsoft.com/office/drawing/2014/main" id="{7C32F4DA-2CEC-B43A-EA4E-7E80ADC9A770}"/>
                  </a:ext>
                </a:extLst>
              </p:cNvPr>
              <p:cNvSpPr txBox="1"/>
              <p:nvPr/>
            </p:nvSpPr>
            <p:spPr>
              <a:xfrm>
                <a:off x="2688" y="1104"/>
                <a:ext cx="192"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a:t>
                </a:r>
              </a:p>
            </p:txBody>
          </p:sp>
        </p:grpSp>
        <p:grpSp>
          <p:nvGrpSpPr>
            <p:cNvPr id="54" name="Group 32">
              <a:extLst>
                <a:ext uri="{FF2B5EF4-FFF2-40B4-BE49-F238E27FC236}">
                  <a16:creationId xmlns:a16="http://schemas.microsoft.com/office/drawing/2014/main" id="{B1CA6C50-3575-F76A-C4D2-6EE870F4CC5D}"/>
                </a:ext>
              </a:extLst>
            </p:cNvPr>
            <p:cNvGrpSpPr/>
            <p:nvPr/>
          </p:nvGrpSpPr>
          <p:grpSpPr>
            <a:xfrm>
              <a:off x="3312" y="2408"/>
              <a:ext cx="1933" cy="432"/>
              <a:chOff x="3408" y="1920"/>
              <a:chExt cx="1933" cy="432"/>
            </a:xfrm>
          </p:grpSpPr>
          <p:grpSp>
            <p:nvGrpSpPr>
              <p:cNvPr id="55" name="Group 33">
                <a:extLst>
                  <a:ext uri="{FF2B5EF4-FFF2-40B4-BE49-F238E27FC236}">
                    <a16:creationId xmlns:a16="http://schemas.microsoft.com/office/drawing/2014/main" id="{6E5263DE-B96F-BC62-C5E8-BF33B4494CBC}"/>
                  </a:ext>
                </a:extLst>
              </p:cNvPr>
              <p:cNvGrpSpPr/>
              <p:nvPr/>
            </p:nvGrpSpPr>
            <p:grpSpPr>
              <a:xfrm>
                <a:off x="4163" y="2064"/>
                <a:ext cx="432" cy="288"/>
                <a:chOff x="995" y="2400"/>
                <a:chExt cx="432" cy="288"/>
              </a:xfrm>
            </p:grpSpPr>
            <p:sp>
              <p:nvSpPr>
                <p:cNvPr id="78" name="Oval 34">
                  <a:extLst>
                    <a:ext uri="{FF2B5EF4-FFF2-40B4-BE49-F238E27FC236}">
                      <a16:creationId xmlns:a16="http://schemas.microsoft.com/office/drawing/2014/main" id="{05197FFF-9BE8-5BB6-265B-DF8DF9195CED}"/>
                    </a:ext>
                  </a:extLst>
                </p:cNvPr>
                <p:cNvSpPr/>
                <p:nvPr/>
              </p:nvSpPr>
              <p:spPr>
                <a:xfrm>
                  <a:off x="1008" y="2400"/>
                  <a:ext cx="336" cy="288"/>
                </a:xfrm>
                <a:prstGeom prst="ellipse">
                  <a:avLst/>
                </a:prstGeom>
                <a:solidFill>
                  <a:srgbClr val="008000"/>
                </a:solid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79" name="Text Box 35">
                  <a:extLst>
                    <a:ext uri="{FF2B5EF4-FFF2-40B4-BE49-F238E27FC236}">
                      <a16:creationId xmlns:a16="http://schemas.microsoft.com/office/drawing/2014/main" id="{8BF61003-4BF6-E254-1928-F7E285DE346E}"/>
                    </a:ext>
                  </a:extLst>
                </p:cNvPr>
                <p:cNvSpPr txBox="1"/>
                <p:nvPr/>
              </p:nvSpPr>
              <p:spPr>
                <a:xfrm>
                  <a:off x="995" y="2421"/>
                  <a:ext cx="432"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rPr>
                    <a:t>E</a:t>
                  </a:r>
                  <a:r>
                    <a:rPr kumimoji="0" lang="en-US" altLang="zh-CN" sz="1800" b="1" i="0" u="none" strike="noStrike" kern="1200" cap="none" spc="0" normalizeH="0" baseline="-25000" noProof="0" dirty="0">
                      <a:ln>
                        <a:noFill/>
                      </a:ln>
                      <a:solidFill>
                        <a:prstClr val="white"/>
                      </a:solidFill>
                      <a:effectLst/>
                      <a:uLnTx/>
                      <a:uFillTx/>
                      <a:latin typeface="Times New Roman" panose="02020603050405020304" pitchFamily="18" charset="0"/>
                      <a:ea typeface="等线" panose="02010600030101010101" pitchFamily="2" charset="-122"/>
                      <a:cs typeface="+mn-cs"/>
                    </a:rPr>
                    <a:t>Ⅱ</a:t>
                  </a:r>
                  <a:endPar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endParaRPr>
                </a:p>
              </p:txBody>
            </p:sp>
          </p:grpSp>
          <p:grpSp>
            <p:nvGrpSpPr>
              <p:cNvPr id="70" name="Group 36">
                <a:extLst>
                  <a:ext uri="{FF2B5EF4-FFF2-40B4-BE49-F238E27FC236}">
                    <a16:creationId xmlns:a16="http://schemas.microsoft.com/office/drawing/2014/main" id="{30F6240D-0E0F-F530-7B1A-2F547F6BAFF2}"/>
                  </a:ext>
                </a:extLst>
              </p:cNvPr>
              <p:cNvGrpSpPr/>
              <p:nvPr/>
            </p:nvGrpSpPr>
            <p:grpSpPr>
              <a:xfrm>
                <a:off x="4861" y="2064"/>
                <a:ext cx="480" cy="288"/>
                <a:chOff x="1309" y="1296"/>
                <a:chExt cx="480" cy="288"/>
              </a:xfrm>
            </p:grpSpPr>
            <p:sp>
              <p:nvSpPr>
                <p:cNvPr id="76" name="Oval 37">
                  <a:extLst>
                    <a:ext uri="{FF2B5EF4-FFF2-40B4-BE49-F238E27FC236}">
                      <a16:creationId xmlns:a16="http://schemas.microsoft.com/office/drawing/2014/main" id="{57E95F54-DAD5-44FB-9A44-F674904FFAE6}"/>
                    </a:ext>
                  </a:extLst>
                </p:cNvPr>
                <p:cNvSpPr/>
                <p:nvPr/>
              </p:nvSpPr>
              <p:spPr>
                <a:xfrm>
                  <a:off x="1344" y="1296"/>
                  <a:ext cx="336" cy="288"/>
                </a:xfrm>
                <a:prstGeom prst="ellipse">
                  <a:avLst/>
                </a:prstGeom>
                <a:solidFill>
                  <a:srgbClr val="003399"/>
                </a:solid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77" name="Text Box 38">
                  <a:extLst>
                    <a:ext uri="{FF2B5EF4-FFF2-40B4-BE49-F238E27FC236}">
                      <a16:creationId xmlns:a16="http://schemas.microsoft.com/office/drawing/2014/main" id="{A09F1B94-9670-F9C4-93FD-5A4612FDC073}"/>
                    </a:ext>
                  </a:extLst>
                </p:cNvPr>
                <p:cNvSpPr txBox="1"/>
                <p:nvPr/>
              </p:nvSpPr>
              <p:spPr>
                <a:xfrm>
                  <a:off x="1309" y="1317"/>
                  <a:ext cx="480"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rPr>
                    <a:t>E</a:t>
                  </a:r>
                  <a:r>
                    <a:rPr kumimoji="0" lang="en-US" altLang="zh-CN" sz="1800" b="1" i="0" u="none" strike="noStrike" kern="1200" cap="none" spc="0" normalizeH="0" baseline="-25000" noProof="0" dirty="0">
                      <a:ln>
                        <a:noFill/>
                      </a:ln>
                      <a:solidFill>
                        <a:prstClr val="white"/>
                      </a:solidFill>
                      <a:effectLst/>
                      <a:uLnTx/>
                      <a:uFillTx/>
                      <a:latin typeface="Times New Roman" panose="02020603050405020304" pitchFamily="18" charset="0"/>
                      <a:ea typeface="等线" panose="02010600030101010101" pitchFamily="2" charset="-122"/>
                      <a:cs typeface="+mn-cs"/>
                    </a:rPr>
                    <a:t>Ⅲ</a:t>
                  </a:r>
                  <a:endParaRPr kumimoji="0" lang="en-US" altLang="zh-CN"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pitchFamily="2" charset="-122"/>
                    <a:cs typeface="+mn-cs"/>
                  </a:endParaRPr>
                </a:p>
              </p:txBody>
            </p:sp>
          </p:grpSp>
          <p:grpSp>
            <p:nvGrpSpPr>
              <p:cNvPr id="71" name="Group 39">
                <a:extLst>
                  <a:ext uri="{FF2B5EF4-FFF2-40B4-BE49-F238E27FC236}">
                    <a16:creationId xmlns:a16="http://schemas.microsoft.com/office/drawing/2014/main" id="{AAD63B77-4ECD-8655-3A21-41B8C85F486A}"/>
                  </a:ext>
                </a:extLst>
              </p:cNvPr>
              <p:cNvGrpSpPr/>
              <p:nvPr/>
            </p:nvGrpSpPr>
            <p:grpSpPr>
              <a:xfrm>
                <a:off x="3408" y="1920"/>
                <a:ext cx="720" cy="288"/>
                <a:chOff x="3312" y="1392"/>
                <a:chExt cx="720" cy="288"/>
              </a:xfrm>
            </p:grpSpPr>
            <p:sp>
              <p:nvSpPr>
                <p:cNvPr id="74" name="Line 40">
                  <a:extLst>
                    <a:ext uri="{FF2B5EF4-FFF2-40B4-BE49-F238E27FC236}">
                      <a16:creationId xmlns:a16="http://schemas.microsoft.com/office/drawing/2014/main" id="{045EDD7E-AAB2-8B26-739D-2B21E2730675}"/>
                    </a:ext>
                  </a:extLst>
                </p:cNvPr>
                <p:cNvSpPr/>
                <p:nvPr/>
              </p:nvSpPr>
              <p:spPr>
                <a:xfrm>
                  <a:off x="3312" y="1392"/>
                  <a:ext cx="0" cy="288"/>
                </a:xfrm>
                <a:prstGeom prst="line">
                  <a:avLst/>
                </a:prstGeom>
                <a:ln w="9525" cap="flat" cmpd="sng">
                  <a:solidFill>
                    <a:sysClr val="windowText" lastClr="000000"/>
                  </a:solidFill>
                  <a:prstDash val="solid"/>
                  <a:round/>
                  <a:headEnd type="none" w="med" len="med"/>
                  <a:tailEnd type="none" w="med" len="med"/>
                </a:ln>
              </p:spPr>
            </p:sp>
            <p:sp>
              <p:nvSpPr>
                <p:cNvPr id="75" name="Line 41">
                  <a:extLst>
                    <a:ext uri="{FF2B5EF4-FFF2-40B4-BE49-F238E27FC236}">
                      <a16:creationId xmlns:a16="http://schemas.microsoft.com/office/drawing/2014/main" id="{2D972EA7-E1CB-AFF0-5599-B645E8DE40AD}"/>
                    </a:ext>
                  </a:extLst>
                </p:cNvPr>
                <p:cNvSpPr/>
                <p:nvPr/>
              </p:nvSpPr>
              <p:spPr>
                <a:xfrm>
                  <a:off x="3312" y="1680"/>
                  <a:ext cx="720" cy="0"/>
                </a:xfrm>
                <a:prstGeom prst="line">
                  <a:avLst/>
                </a:prstGeom>
                <a:ln w="9525" cap="flat" cmpd="sng">
                  <a:solidFill>
                    <a:sysClr val="windowText" lastClr="000000"/>
                  </a:solidFill>
                  <a:prstDash val="solid"/>
                  <a:round/>
                  <a:headEnd type="none" w="med" len="med"/>
                  <a:tailEnd type="triangle" w="med" len="med"/>
                </a:ln>
              </p:spPr>
            </p:sp>
          </p:grpSp>
          <p:sp>
            <p:nvSpPr>
              <p:cNvPr id="72" name="Text Box 42">
                <a:extLst>
                  <a:ext uri="{FF2B5EF4-FFF2-40B4-BE49-F238E27FC236}">
                    <a16:creationId xmlns:a16="http://schemas.microsoft.com/office/drawing/2014/main" id="{8FD760F8-A54A-15BD-8737-B08E23FF8E89}"/>
                  </a:ext>
                </a:extLst>
              </p:cNvPr>
              <p:cNvSpPr txBox="1"/>
              <p:nvPr/>
            </p:nvSpPr>
            <p:spPr>
              <a:xfrm>
                <a:off x="4608" y="2064"/>
                <a:ext cx="240"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a:t>
                </a:r>
              </a:p>
            </p:txBody>
          </p:sp>
          <p:sp>
            <p:nvSpPr>
              <p:cNvPr id="73" name="Text Box 43">
                <a:extLst>
                  <a:ext uri="{FF2B5EF4-FFF2-40B4-BE49-F238E27FC236}">
                    <a16:creationId xmlns:a16="http://schemas.microsoft.com/office/drawing/2014/main" id="{A20F52EB-8E40-14FC-4D5D-A057044FED88}"/>
                  </a:ext>
                </a:extLst>
              </p:cNvPr>
              <p:cNvSpPr txBox="1"/>
              <p:nvPr/>
            </p:nvSpPr>
            <p:spPr>
              <a:xfrm>
                <a:off x="3600" y="1968"/>
                <a:ext cx="432"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脲</a:t>
                </a:r>
              </a:p>
            </p:txBody>
          </p:sp>
        </p:grpSp>
      </p:grpSp>
      <p:sp>
        <p:nvSpPr>
          <p:cNvPr id="99" name="文本框 98">
            <a:extLst>
              <a:ext uri="{FF2B5EF4-FFF2-40B4-BE49-F238E27FC236}">
                <a16:creationId xmlns:a16="http://schemas.microsoft.com/office/drawing/2014/main" id="{B99A48D6-B6ED-0B6F-4C70-5155F94A62B1}"/>
              </a:ext>
            </a:extLst>
          </p:cNvPr>
          <p:cNvSpPr txBox="1"/>
          <p:nvPr/>
        </p:nvSpPr>
        <p:spPr>
          <a:xfrm>
            <a:off x="605790" y="906391"/>
            <a:ext cx="4969510" cy="523220"/>
          </a:xfrm>
          <a:prstGeom prst="rect">
            <a:avLst/>
          </a:prstGeom>
          <a:noFill/>
        </p:spPr>
        <p:txBody>
          <a:bodyPr wrap="square">
            <a:spAutoFit/>
          </a:bodyPr>
          <a:lstStyle/>
          <a:p>
            <a:r>
              <a:rPr lang="zh-CN" altLang="en-US" sz="2800" b="1" dirty="0">
                <a:cs typeface="+mn-ea"/>
              </a:rPr>
              <a:t>单体酶、寡聚酶和多酶复合物</a:t>
            </a:r>
          </a:p>
        </p:txBody>
      </p:sp>
      <p:sp>
        <p:nvSpPr>
          <p:cNvPr id="3" name="文本框 2">
            <a:extLst>
              <a:ext uri="{FF2B5EF4-FFF2-40B4-BE49-F238E27FC236}">
                <a16:creationId xmlns:a16="http://schemas.microsoft.com/office/drawing/2014/main" id="{44312AC8-45A0-ABEC-A2FE-73DFE019A5F5}"/>
              </a:ext>
            </a:extLst>
          </p:cNvPr>
          <p:cNvSpPr txBox="1"/>
          <p:nvPr/>
        </p:nvSpPr>
        <p:spPr>
          <a:xfrm>
            <a:off x="810072" y="4240004"/>
            <a:ext cx="10781960" cy="369332"/>
          </a:xfrm>
          <a:prstGeom prst="rect">
            <a:avLst/>
          </a:prstGeom>
          <a:noFill/>
        </p:spPr>
        <p:txBody>
          <a:bodyPr wrap="square">
            <a:spAutoFit/>
          </a:bodyPr>
          <a:lstStyle/>
          <a:p>
            <a:pPr eaLnBrk="1" hangingPunct="1">
              <a:spcBef>
                <a:spcPct val="50000"/>
              </a:spcBef>
            </a:pPr>
            <a:r>
              <a:rPr lang="zh-CN" altLang="en-US" b="1" dirty="0">
                <a:latin typeface="+mn-ea"/>
              </a:rPr>
              <a:t>丙酮酸脱氢酶系（</a:t>
            </a:r>
            <a:r>
              <a:rPr lang="en-US" altLang="zh-CN" b="1" dirty="0">
                <a:latin typeface="+mn-ea"/>
              </a:rPr>
              <a:t>E.coli</a:t>
            </a:r>
            <a:r>
              <a:rPr lang="zh-CN" altLang="en-US" b="1" dirty="0">
                <a:latin typeface="+mn-ea"/>
              </a:rPr>
              <a:t>）：丙酮酸脱氢酶（</a:t>
            </a:r>
            <a:r>
              <a:rPr lang="en-US" altLang="zh-CN" b="1" dirty="0" err="1">
                <a:solidFill>
                  <a:srgbClr val="FF0000"/>
                </a:solidFill>
                <a:latin typeface="+mn-ea"/>
              </a:rPr>
              <a:t>E</a:t>
            </a:r>
            <a:r>
              <a:rPr lang="en-US" altLang="zh-CN" b="1" baseline="-25000" dirty="0" err="1">
                <a:solidFill>
                  <a:srgbClr val="FF0000"/>
                </a:solidFill>
                <a:latin typeface="+mn-ea"/>
              </a:rPr>
              <a:t>Ⅰ</a:t>
            </a:r>
            <a:r>
              <a:rPr lang="zh-CN" altLang="en-US" b="1" dirty="0">
                <a:latin typeface="+mn-ea"/>
              </a:rPr>
              <a:t>）、硫辛酰转乙酰酶（</a:t>
            </a:r>
            <a:r>
              <a:rPr lang="en-US" altLang="zh-CN" b="1" dirty="0" err="1">
                <a:solidFill>
                  <a:srgbClr val="00B050"/>
                </a:solidFill>
                <a:latin typeface="+mn-ea"/>
              </a:rPr>
              <a:t>E</a:t>
            </a:r>
            <a:r>
              <a:rPr lang="en-US" altLang="zh-CN" b="1" baseline="-25000" dirty="0" err="1">
                <a:solidFill>
                  <a:srgbClr val="00B050"/>
                </a:solidFill>
                <a:latin typeface="+mn-ea"/>
              </a:rPr>
              <a:t>Ⅱ</a:t>
            </a:r>
            <a:r>
              <a:rPr lang="zh-CN" altLang="en-US" b="1" dirty="0">
                <a:latin typeface="+mn-ea"/>
              </a:rPr>
              <a:t>）和二氢硫辛酰脱氢酶（</a:t>
            </a:r>
            <a:r>
              <a:rPr lang="en-US" altLang="zh-CN" b="1" dirty="0" err="1">
                <a:solidFill>
                  <a:srgbClr val="0070C0"/>
                </a:solidFill>
                <a:latin typeface="+mn-ea"/>
              </a:rPr>
              <a:t>E</a:t>
            </a:r>
            <a:r>
              <a:rPr lang="en-US" altLang="zh-CN" b="1" baseline="-25000" dirty="0" err="1">
                <a:solidFill>
                  <a:srgbClr val="0070C0"/>
                </a:solidFill>
                <a:latin typeface="+mn-ea"/>
              </a:rPr>
              <a:t>Ⅲ</a:t>
            </a:r>
            <a:r>
              <a:rPr lang="zh-CN" altLang="en-US" b="1" dirty="0">
                <a:latin typeface="+mn-ea"/>
              </a:rPr>
              <a:t>）。</a:t>
            </a:r>
          </a:p>
        </p:txBody>
      </p:sp>
    </p:spTree>
    <p:extLst>
      <p:ext uri="{BB962C8B-B14F-4D97-AF65-F5344CB8AC3E}">
        <p14:creationId xmlns:p14="http://schemas.microsoft.com/office/powerpoint/2010/main" val="2764089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99" name="文本框 98">
            <a:extLst>
              <a:ext uri="{FF2B5EF4-FFF2-40B4-BE49-F238E27FC236}">
                <a16:creationId xmlns:a16="http://schemas.microsoft.com/office/drawing/2014/main" id="{B99A48D6-B6ED-0B6F-4C70-5155F94A62B1}"/>
              </a:ext>
            </a:extLst>
          </p:cNvPr>
          <p:cNvSpPr txBox="1"/>
          <p:nvPr/>
        </p:nvSpPr>
        <p:spPr>
          <a:xfrm>
            <a:off x="504190" y="957191"/>
            <a:ext cx="2366010" cy="523220"/>
          </a:xfrm>
          <a:prstGeom prst="rect">
            <a:avLst/>
          </a:prstGeom>
          <a:noFill/>
        </p:spPr>
        <p:txBody>
          <a:bodyPr wrap="square">
            <a:spAutoFit/>
          </a:bodyPr>
          <a:lstStyle/>
          <a:p>
            <a:r>
              <a:rPr lang="zh-CN" altLang="en-US" sz="2800" b="1" dirty="0">
                <a:solidFill>
                  <a:srgbClr val="1D50A2"/>
                </a:solidFill>
                <a:cs typeface="+mn-ea"/>
              </a:rPr>
              <a:t>酶的催化特点</a:t>
            </a:r>
          </a:p>
        </p:txBody>
      </p:sp>
      <p:sp>
        <p:nvSpPr>
          <p:cNvPr id="3" name="文本框 2">
            <a:extLst>
              <a:ext uri="{FF2B5EF4-FFF2-40B4-BE49-F238E27FC236}">
                <a16:creationId xmlns:a16="http://schemas.microsoft.com/office/drawing/2014/main" id="{2938D1E7-3F24-5171-5778-65E20F05A1D5}"/>
              </a:ext>
            </a:extLst>
          </p:cNvPr>
          <p:cNvSpPr txBox="1"/>
          <p:nvPr/>
        </p:nvSpPr>
        <p:spPr>
          <a:xfrm>
            <a:off x="605608" y="1568088"/>
            <a:ext cx="3115491" cy="400110"/>
          </a:xfrm>
          <a:prstGeom prst="rect">
            <a:avLst/>
          </a:prstGeom>
          <a:noFill/>
        </p:spPr>
        <p:txBody>
          <a:bodyPr wrap="square">
            <a:spAutoFit/>
          </a:bodyPr>
          <a:lstStyle/>
          <a:p>
            <a:r>
              <a:rPr lang="en-US" altLang="zh-CN" sz="2000" dirty="0">
                <a:effectLst/>
                <a:ea typeface="黑体" panose="02010609060101010101" pitchFamily="49" charset="-122"/>
                <a:cs typeface="Times New Roman" panose="02020603050405020304" pitchFamily="18" charset="0"/>
              </a:rPr>
              <a:t>1. </a:t>
            </a:r>
            <a:r>
              <a:rPr lang="zh-CN" altLang="zh-CN" sz="2000" dirty="0">
                <a:effectLst/>
                <a:ea typeface="黑体" panose="02010609060101010101" pitchFamily="49" charset="-122"/>
                <a:cs typeface="Times New Roman" panose="02020603050405020304" pitchFamily="18" charset="0"/>
              </a:rPr>
              <a:t>酶催化作用的专一性强</a:t>
            </a:r>
            <a:endParaRPr lang="zh-CN" altLang="en-US" sz="2000" dirty="0"/>
          </a:p>
        </p:txBody>
      </p:sp>
      <p:grpSp>
        <p:nvGrpSpPr>
          <p:cNvPr id="16" name="Group 11">
            <a:extLst>
              <a:ext uri="{FF2B5EF4-FFF2-40B4-BE49-F238E27FC236}">
                <a16:creationId xmlns:a16="http://schemas.microsoft.com/office/drawing/2014/main" id="{F34193D4-1412-C027-53F7-CBB34F636F42}"/>
              </a:ext>
            </a:extLst>
          </p:cNvPr>
          <p:cNvGrpSpPr/>
          <p:nvPr/>
        </p:nvGrpSpPr>
        <p:grpSpPr>
          <a:xfrm>
            <a:off x="2141906" y="3063992"/>
            <a:ext cx="7696200" cy="3146425"/>
            <a:chOff x="288" y="1348"/>
            <a:chExt cx="4848" cy="1982"/>
          </a:xfrm>
        </p:grpSpPr>
        <p:sp>
          <p:nvSpPr>
            <p:cNvPr id="17" name="Text Box 2">
              <a:extLst>
                <a:ext uri="{FF2B5EF4-FFF2-40B4-BE49-F238E27FC236}">
                  <a16:creationId xmlns:a16="http://schemas.microsoft.com/office/drawing/2014/main" id="{526319FD-A3D8-ED10-ECD5-7BBF1046F3A4}"/>
                </a:ext>
              </a:extLst>
            </p:cNvPr>
            <p:cNvSpPr txBox="1"/>
            <p:nvPr/>
          </p:nvSpPr>
          <p:spPr>
            <a:xfrm>
              <a:off x="288" y="2477"/>
              <a:ext cx="1164" cy="233"/>
            </a:xfrm>
            <a:prstGeom prst="rect">
              <a:avLst/>
            </a:prstGeom>
            <a:solidFill>
              <a:srgbClr val="4472C4">
                <a:lumMod val="60000"/>
                <a:lumOff val="40000"/>
              </a:srgbClr>
            </a:solid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酶作用的专一性</a:t>
              </a:r>
            </a:p>
          </p:txBody>
        </p:sp>
        <p:sp>
          <p:nvSpPr>
            <p:cNvPr id="20" name="AutoShape 3">
              <a:extLst>
                <a:ext uri="{FF2B5EF4-FFF2-40B4-BE49-F238E27FC236}">
                  <a16:creationId xmlns:a16="http://schemas.microsoft.com/office/drawing/2014/main" id="{278ED2F4-2F11-878A-5ED7-575E59E9FCCC}"/>
                </a:ext>
              </a:extLst>
            </p:cNvPr>
            <p:cNvSpPr/>
            <p:nvPr/>
          </p:nvSpPr>
          <p:spPr>
            <a:xfrm>
              <a:off x="1488" y="1945"/>
              <a:ext cx="336" cy="1344"/>
            </a:xfrm>
            <a:prstGeom prst="leftBrace">
              <a:avLst>
                <a:gd name="adj1" fmla="val 33314"/>
                <a:gd name="adj2" fmla="val 50000"/>
              </a:avLst>
            </a:prstGeom>
            <a:no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21" name="Text Box 4">
              <a:extLst>
                <a:ext uri="{FF2B5EF4-FFF2-40B4-BE49-F238E27FC236}">
                  <a16:creationId xmlns:a16="http://schemas.microsoft.com/office/drawing/2014/main" id="{A274D6FC-DFB2-2CDE-4555-BFEB953C887B}"/>
                </a:ext>
              </a:extLst>
            </p:cNvPr>
            <p:cNvSpPr txBox="1"/>
            <p:nvPr/>
          </p:nvSpPr>
          <p:spPr>
            <a:xfrm>
              <a:off x="1872" y="1781"/>
              <a:ext cx="1200" cy="233"/>
            </a:xfrm>
            <a:prstGeom prst="rect">
              <a:avLst/>
            </a:prstGeom>
            <a:solidFill>
              <a:srgbClr val="4472C4">
                <a:lumMod val="60000"/>
                <a:lumOff val="40000"/>
              </a:srgbClr>
            </a:solid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结构专一性</a:t>
              </a:r>
            </a:p>
          </p:txBody>
        </p:sp>
        <p:sp>
          <p:nvSpPr>
            <p:cNvPr id="22" name="Text Box 5">
              <a:extLst>
                <a:ext uri="{FF2B5EF4-FFF2-40B4-BE49-F238E27FC236}">
                  <a16:creationId xmlns:a16="http://schemas.microsoft.com/office/drawing/2014/main" id="{2D0BD621-4F3E-892F-04ED-1DEC93390EC7}"/>
                </a:ext>
              </a:extLst>
            </p:cNvPr>
            <p:cNvSpPr txBox="1"/>
            <p:nvPr/>
          </p:nvSpPr>
          <p:spPr>
            <a:xfrm>
              <a:off x="1872" y="3097"/>
              <a:ext cx="1200" cy="233"/>
            </a:xfrm>
            <a:prstGeom prst="rect">
              <a:avLst/>
            </a:prstGeom>
            <a:solidFill>
              <a:srgbClr val="4472C4">
                <a:lumMod val="60000"/>
                <a:lumOff val="40000"/>
              </a:srgbClr>
            </a:solid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立体异构专一性</a:t>
              </a:r>
            </a:p>
          </p:txBody>
        </p:sp>
        <p:sp>
          <p:nvSpPr>
            <p:cNvPr id="23" name="AutoShape 6">
              <a:extLst>
                <a:ext uri="{FF2B5EF4-FFF2-40B4-BE49-F238E27FC236}">
                  <a16:creationId xmlns:a16="http://schemas.microsoft.com/office/drawing/2014/main" id="{553CED42-DED9-8645-D175-C3EFE195EF26}"/>
                </a:ext>
              </a:extLst>
            </p:cNvPr>
            <p:cNvSpPr/>
            <p:nvPr/>
          </p:nvSpPr>
          <p:spPr>
            <a:xfrm>
              <a:off x="3120" y="1490"/>
              <a:ext cx="240" cy="816"/>
            </a:xfrm>
            <a:prstGeom prst="leftBrace">
              <a:avLst>
                <a:gd name="adj1" fmla="val 25941"/>
                <a:gd name="adj2" fmla="val 50000"/>
              </a:avLst>
            </a:prstGeom>
            <a:noFill/>
            <a:ln w="9525" cap="flat" cmpd="sng">
              <a:solidFill>
                <a:sysClr val="windowText" lastClr="000000"/>
              </a:solidFill>
              <a:prstDash val="solid"/>
              <a:round/>
              <a:headEnd type="none" w="med" len="med"/>
              <a:tailEnd type="none" w="med" len="med"/>
            </a:ln>
          </p:spPr>
          <p:txBody>
            <a:bodyPr wrap="none" anchor="ctr"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24" name="Text Box 7">
              <a:extLst>
                <a:ext uri="{FF2B5EF4-FFF2-40B4-BE49-F238E27FC236}">
                  <a16:creationId xmlns:a16="http://schemas.microsoft.com/office/drawing/2014/main" id="{0C4C57AB-99E0-D3BE-457F-09ECB8DBC51C}"/>
                </a:ext>
              </a:extLst>
            </p:cNvPr>
            <p:cNvSpPr txBox="1"/>
            <p:nvPr/>
          </p:nvSpPr>
          <p:spPr>
            <a:xfrm>
              <a:off x="3408" y="1348"/>
              <a:ext cx="1728"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dirty="0">
                  <a:ln>
                    <a:noFill/>
                  </a:ln>
                  <a:solidFill>
                    <a:srgbClr val="4472C4"/>
                  </a:solidFill>
                  <a:effectLst/>
                  <a:uLnTx/>
                  <a:uFillTx/>
                  <a:latin typeface="黑体" panose="02010609060101010101" pitchFamily="49" charset="-122"/>
                  <a:ea typeface="黑体" panose="02010609060101010101" pitchFamily="49" charset="-122"/>
                  <a:cs typeface="+mn-cs"/>
                </a:rPr>
                <a:t>相对专一性</a:t>
              </a:r>
            </a:p>
          </p:txBody>
        </p:sp>
        <p:sp>
          <p:nvSpPr>
            <p:cNvPr id="25" name="Text Box 8">
              <a:extLst>
                <a:ext uri="{FF2B5EF4-FFF2-40B4-BE49-F238E27FC236}">
                  <a16:creationId xmlns:a16="http://schemas.microsoft.com/office/drawing/2014/main" id="{42B0C553-40C6-4386-63C5-6DB347A20DEE}"/>
                </a:ext>
              </a:extLst>
            </p:cNvPr>
            <p:cNvSpPr txBox="1"/>
            <p:nvPr/>
          </p:nvSpPr>
          <p:spPr>
            <a:xfrm>
              <a:off x="3408" y="2157"/>
              <a:ext cx="1440" cy="233"/>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zh-CN" altLang="en-US" sz="1800" b="1" i="0" u="none" strike="noStrike" kern="1200" cap="none" spc="0" normalizeH="0" baseline="0" noProof="0" dirty="0">
                  <a:ln>
                    <a:noFill/>
                  </a:ln>
                  <a:solidFill>
                    <a:srgbClr val="4472C4"/>
                  </a:solidFill>
                  <a:effectLst/>
                  <a:uLnTx/>
                  <a:uFillTx/>
                  <a:latin typeface="黑体" panose="02010609060101010101" pitchFamily="49" charset="-122"/>
                  <a:ea typeface="黑体" panose="02010609060101010101" pitchFamily="49" charset="-122"/>
                  <a:cs typeface="+mn-cs"/>
                </a:rPr>
                <a:t>绝对专一性</a:t>
              </a:r>
            </a:p>
          </p:txBody>
        </p:sp>
      </p:grpSp>
      <p:sp>
        <p:nvSpPr>
          <p:cNvPr id="26" name="Text Box 14">
            <a:extLst>
              <a:ext uri="{FF2B5EF4-FFF2-40B4-BE49-F238E27FC236}">
                <a16:creationId xmlns:a16="http://schemas.microsoft.com/office/drawing/2014/main" id="{A18A311D-BA73-07E1-70AD-6E880B9E4A3B}"/>
              </a:ext>
            </a:extLst>
          </p:cNvPr>
          <p:cNvSpPr txBox="1"/>
          <p:nvPr/>
        </p:nvSpPr>
        <p:spPr>
          <a:xfrm>
            <a:off x="504190" y="2643376"/>
            <a:ext cx="6032097" cy="369332"/>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285750" indent="-285750">
              <a:spcBef>
                <a:spcPct val="50000"/>
              </a:spcBef>
              <a:buFont typeface="Wingdings" panose="05000000000000000000" pitchFamily="2" charset="2"/>
              <a:buChar char="Ø"/>
            </a:pPr>
            <a:r>
              <a:rPr lang="zh-CN" altLang="en-US" b="1" dirty="0">
                <a:solidFill>
                  <a:prstClr val="black"/>
                </a:solidFill>
                <a:latin typeface="黑体" panose="02010609060101010101" pitchFamily="49" charset="-122"/>
                <a:ea typeface="黑体" panose="02010609060101010101" pitchFamily="49" charset="-122"/>
              </a:rPr>
              <a:t>相对专一性：可作用于</a:t>
            </a:r>
            <a:r>
              <a:rPr lang="zh-CN" altLang="en-US" b="1" dirty="0">
                <a:solidFill>
                  <a:srgbClr val="FF0000"/>
                </a:solidFill>
                <a:latin typeface="黑体" panose="02010609060101010101" pitchFamily="49" charset="-122"/>
                <a:ea typeface="黑体" panose="02010609060101010101" pitchFamily="49" charset="-122"/>
              </a:rPr>
              <a:t>一类或一些</a:t>
            </a:r>
            <a:r>
              <a:rPr lang="zh-CN" altLang="en-US" b="1" dirty="0">
                <a:solidFill>
                  <a:prstClr val="black"/>
                </a:solidFill>
                <a:latin typeface="黑体" panose="02010609060101010101" pitchFamily="49" charset="-122"/>
                <a:ea typeface="黑体" panose="02010609060101010101" pitchFamily="49" charset="-122"/>
              </a:rPr>
              <a:t>结构很相似的底物。</a:t>
            </a:r>
          </a:p>
        </p:txBody>
      </p:sp>
      <p:sp>
        <p:nvSpPr>
          <p:cNvPr id="27" name="Text Box 15">
            <a:extLst>
              <a:ext uri="{FF2B5EF4-FFF2-40B4-BE49-F238E27FC236}">
                <a16:creationId xmlns:a16="http://schemas.microsoft.com/office/drawing/2014/main" id="{62195AEB-A15A-0673-B6A1-CDF468142A38}"/>
              </a:ext>
            </a:extLst>
          </p:cNvPr>
          <p:cNvSpPr txBox="1"/>
          <p:nvPr/>
        </p:nvSpPr>
        <p:spPr>
          <a:xfrm>
            <a:off x="504190" y="2106581"/>
            <a:ext cx="8305800" cy="369332"/>
          </a:xfrm>
          <a:prstGeom prst="rect">
            <a:avLst/>
          </a:prstGeom>
          <a:noFill/>
          <a:ln w="9525">
            <a:noFill/>
          </a:ln>
        </p:spPr>
        <p:txBody>
          <a:bodyPr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等线" panose="02010600030101010101" pitchFamily="2" charset="-122"/>
                <a:ea typeface="等线" panose="02010600030101010101" pitchFamily="2" charset="-122"/>
                <a:cs typeface="+mn-cs"/>
              </a:defRPr>
            </a:lvl9pPr>
          </a:lstStyle>
          <a:p>
            <a:pPr marL="285750" indent="-285750">
              <a:spcBef>
                <a:spcPct val="50000"/>
              </a:spcBef>
              <a:buFont typeface="Wingdings" panose="05000000000000000000" pitchFamily="2" charset="2"/>
              <a:buChar char="Ø"/>
            </a:pPr>
            <a:r>
              <a:rPr lang="zh-CN" altLang="en-US" b="1" dirty="0">
                <a:solidFill>
                  <a:prstClr val="black"/>
                </a:solidFill>
                <a:latin typeface="黑体" panose="02010609060101010101" pitchFamily="49" charset="-122"/>
                <a:ea typeface="黑体" panose="02010609060101010101" pitchFamily="49" charset="-122"/>
              </a:rPr>
              <a:t>绝对专一性：只能作用于</a:t>
            </a:r>
            <a:r>
              <a:rPr lang="zh-CN" altLang="en-US" b="1" dirty="0">
                <a:solidFill>
                  <a:srgbClr val="FF0000"/>
                </a:solidFill>
                <a:latin typeface="黑体" panose="02010609060101010101" pitchFamily="49" charset="-122"/>
                <a:ea typeface="黑体" panose="02010609060101010101" pitchFamily="49" charset="-122"/>
              </a:rPr>
              <a:t>某一</a:t>
            </a:r>
            <a:r>
              <a:rPr lang="zh-CN" altLang="en-US" b="1" dirty="0">
                <a:solidFill>
                  <a:prstClr val="black"/>
                </a:solidFill>
                <a:latin typeface="黑体" panose="02010609060101010101" pitchFamily="49" charset="-122"/>
                <a:ea typeface="黑体" panose="02010609060101010101" pitchFamily="49" charset="-122"/>
              </a:rPr>
              <a:t>底物。</a:t>
            </a:r>
          </a:p>
        </p:txBody>
      </p:sp>
      <p:pic>
        <p:nvPicPr>
          <p:cNvPr id="28" name="图片 27">
            <a:extLst>
              <a:ext uri="{FF2B5EF4-FFF2-40B4-BE49-F238E27FC236}">
                <a16:creationId xmlns:a16="http://schemas.microsoft.com/office/drawing/2014/main" id="{EDDDC301-2865-091D-48C0-0054EAC658F8}"/>
              </a:ext>
            </a:extLst>
          </p:cNvPr>
          <p:cNvPicPr>
            <a:picLocks noChangeAspect="1"/>
          </p:cNvPicPr>
          <p:nvPr/>
        </p:nvPicPr>
        <p:blipFill>
          <a:blip r:embed="rId4"/>
          <a:stretch>
            <a:fillRect/>
          </a:stretch>
        </p:blipFill>
        <p:spPr>
          <a:xfrm>
            <a:off x="7094906" y="4756857"/>
            <a:ext cx="5097094" cy="1030492"/>
          </a:xfrm>
          <a:prstGeom prst="rect">
            <a:avLst/>
          </a:prstGeom>
        </p:spPr>
      </p:pic>
      <p:pic>
        <p:nvPicPr>
          <p:cNvPr id="29" name="图片 28">
            <a:extLst>
              <a:ext uri="{FF2B5EF4-FFF2-40B4-BE49-F238E27FC236}">
                <a16:creationId xmlns:a16="http://schemas.microsoft.com/office/drawing/2014/main" id="{6A293575-2A40-641E-AF3E-507404E0DACC}"/>
              </a:ext>
            </a:extLst>
          </p:cNvPr>
          <p:cNvPicPr>
            <a:picLocks noChangeAspect="1"/>
          </p:cNvPicPr>
          <p:nvPr/>
        </p:nvPicPr>
        <p:blipFill>
          <a:blip r:embed="rId5"/>
          <a:stretch>
            <a:fillRect/>
          </a:stretch>
        </p:blipFill>
        <p:spPr>
          <a:xfrm>
            <a:off x="8466506" y="2643376"/>
            <a:ext cx="3192094" cy="1299325"/>
          </a:xfrm>
          <a:prstGeom prst="rect">
            <a:avLst/>
          </a:prstGeom>
        </p:spPr>
      </p:pic>
    </p:spTree>
    <p:extLst>
      <p:ext uri="{BB962C8B-B14F-4D97-AF65-F5344CB8AC3E}">
        <p14:creationId xmlns:p14="http://schemas.microsoft.com/office/powerpoint/2010/main" val="445039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99" name="文本框 98">
            <a:extLst>
              <a:ext uri="{FF2B5EF4-FFF2-40B4-BE49-F238E27FC236}">
                <a16:creationId xmlns:a16="http://schemas.microsoft.com/office/drawing/2014/main" id="{B99A48D6-B6ED-0B6F-4C70-5155F94A62B1}"/>
              </a:ext>
            </a:extLst>
          </p:cNvPr>
          <p:cNvSpPr txBox="1"/>
          <p:nvPr/>
        </p:nvSpPr>
        <p:spPr>
          <a:xfrm>
            <a:off x="504190" y="957191"/>
            <a:ext cx="2366010" cy="523220"/>
          </a:xfrm>
          <a:prstGeom prst="rect">
            <a:avLst/>
          </a:prstGeom>
          <a:noFill/>
        </p:spPr>
        <p:txBody>
          <a:bodyPr wrap="square">
            <a:spAutoFit/>
          </a:bodyPr>
          <a:lstStyle/>
          <a:p>
            <a:r>
              <a:rPr lang="zh-CN" altLang="en-US" sz="2800" b="1" dirty="0">
                <a:solidFill>
                  <a:srgbClr val="1D50A2"/>
                </a:solidFill>
                <a:cs typeface="+mn-ea"/>
              </a:rPr>
              <a:t>酶的催化特点</a:t>
            </a:r>
          </a:p>
        </p:txBody>
      </p:sp>
      <p:sp>
        <p:nvSpPr>
          <p:cNvPr id="3" name="文本框 2">
            <a:extLst>
              <a:ext uri="{FF2B5EF4-FFF2-40B4-BE49-F238E27FC236}">
                <a16:creationId xmlns:a16="http://schemas.microsoft.com/office/drawing/2014/main" id="{2938D1E7-3F24-5171-5778-65E20F05A1D5}"/>
              </a:ext>
            </a:extLst>
          </p:cNvPr>
          <p:cNvSpPr txBox="1"/>
          <p:nvPr/>
        </p:nvSpPr>
        <p:spPr>
          <a:xfrm>
            <a:off x="631009" y="1601360"/>
            <a:ext cx="2935696" cy="400110"/>
          </a:xfrm>
          <a:prstGeom prst="rect">
            <a:avLst/>
          </a:prstGeom>
          <a:noFill/>
        </p:spPr>
        <p:txBody>
          <a:bodyPr wrap="square">
            <a:spAutoFit/>
          </a:bodyPr>
          <a:lstStyle/>
          <a:p>
            <a:r>
              <a:rPr lang="en-US" altLang="zh-CN" sz="2000" dirty="0">
                <a:effectLst/>
                <a:ea typeface="黑体" panose="02010609060101010101" pitchFamily="49" charset="-122"/>
                <a:cs typeface="Times New Roman" panose="02020603050405020304" pitchFamily="18" charset="0"/>
              </a:rPr>
              <a:t>2. </a:t>
            </a:r>
            <a:r>
              <a:rPr lang="zh-CN" altLang="en-US" sz="2000" dirty="0">
                <a:effectLst/>
                <a:ea typeface="黑体" panose="02010609060101010101" pitchFamily="49" charset="-122"/>
                <a:cs typeface="Times New Roman" panose="02020603050405020304" pitchFamily="18" charset="0"/>
              </a:rPr>
              <a:t>酶催化作用的效率高</a:t>
            </a:r>
            <a:endParaRPr lang="zh-CN" altLang="en-US" sz="2000" dirty="0"/>
          </a:p>
        </p:txBody>
      </p:sp>
      <p:grpSp>
        <p:nvGrpSpPr>
          <p:cNvPr id="2" name="组合 1">
            <a:extLst>
              <a:ext uri="{FF2B5EF4-FFF2-40B4-BE49-F238E27FC236}">
                <a16:creationId xmlns:a16="http://schemas.microsoft.com/office/drawing/2014/main" id="{4EDFB9FE-244A-30C5-F50B-07B7094772A5}"/>
              </a:ext>
            </a:extLst>
          </p:cNvPr>
          <p:cNvGrpSpPr/>
          <p:nvPr/>
        </p:nvGrpSpPr>
        <p:grpSpPr>
          <a:xfrm>
            <a:off x="835344" y="2409677"/>
            <a:ext cx="4529861" cy="3089526"/>
            <a:chOff x="0" y="0"/>
            <a:chExt cx="2018040" cy="1409238"/>
          </a:xfrm>
        </p:grpSpPr>
        <p:grpSp>
          <p:nvGrpSpPr>
            <p:cNvPr id="4" name="Group 47">
              <a:extLst>
                <a:ext uri="{FF2B5EF4-FFF2-40B4-BE49-F238E27FC236}">
                  <a16:creationId xmlns:a16="http://schemas.microsoft.com/office/drawing/2014/main" id="{1FACCE8D-3BAD-883E-B43A-9E9D828176BF}"/>
                </a:ext>
              </a:extLst>
            </p:cNvPr>
            <p:cNvGrpSpPr/>
            <p:nvPr/>
          </p:nvGrpSpPr>
          <p:grpSpPr>
            <a:xfrm>
              <a:off x="203200" y="0"/>
              <a:ext cx="1814840" cy="1409238"/>
              <a:chOff x="6600" y="254"/>
              <a:chExt cx="2661" cy="1871"/>
            </a:xfrm>
          </p:grpSpPr>
          <p:pic>
            <p:nvPicPr>
              <p:cNvPr id="6" name="Picture 48">
                <a:extLst>
                  <a:ext uri="{FF2B5EF4-FFF2-40B4-BE49-F238E27FC236}">
                    <a16:creationId xmlns:a16="http://schemas.microsoft.com/office/drawing/2014/main" id="{033EB4B1-849B-5115-3F10-CDF24314DB9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6600" y="254"/>
                <a:ext cx="2400" cy="1677"/>
              </a:xfrm>
              <a:prstGeom prst="rect">
                <a:avLst/>
              </a:prstGeom>
              <a:noFill/>
            </p:spPr>
          </p:pic>
          <p:pic>
            <p:nvPicPr>
              <p:cNvPr id="7" name="Picture 49">
                <a:extLst>
                  <a:ext uri="{FF2B5EF4-FFF2-40B4-BE49-F238E27FC236}">
                    <a16:creationId xmlns:a16="http://schemas.microsoft.com/office/drawing/2014/main" id="{89FD6072-6A45-60E5-BF06-1DBA2666C0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8356" y="358"/>
                <a:ext cx="905" cy="162"/>
              </a:xfrm>
              <a:prstGeom prst="rect">
                <a:avLst/>
              </a:prstGeom>
              <a:noFill/>
            </p:spPr>
          </p:pic>
          <p:pic>
            <p:nvPicPr>
              <p:cNvPr id="8" name="Picture 50">
                <a:extLst>
                  <a:ext uri="{FF2B5EF4-FFF2-40B4-BE49-F238E27FC236}">
                    <a16:creationId xmlns:a16="http://schemas.microsoft.com/office/drawing/2014/main" id="{D25CAD17-3C06-FD41-C8B5-58EF87BFD8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8478" y="1258"/>
                <a:ext cx="760" cy="161"/>
              </a:xfrm>
              <a:prstGeom prst="rect">
                <a:avLst/>
              </a:prstGeom>
              <a:noFill/>
            </p:spPr>
          </p:pic>
          <p:pic>
            <p:nvPicPr>
              <p:cNvPr id="9" name="Picture 51">
                <a:extLst>
                  <a:ext uri="{FF2B5EF4-FFF2-40B4-BE49-F238E27FC236}">
                    <a16:creationId xmlns:a16="http://schemas.microsoft.com/office/drawing/2014/main" id="{E1CDA114-105A-AE1B-3DB8-9C8965647D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8503" y="1965"/>
                <a:ext cx="609" cy="160"/>
              </a:xfrm>
              <a:prstGeom prst="rect">
                <a:avLst/>
              </a:prstGeom>
              <a:noFill/>
            </p:spPr>
          </p:pic>
        </p:grpSp>
        <p:pic>
          <p:nvPicPr>
            <p:cNvPr id="5" name="图片 4">
              <a:extLst>
                <a:ext uri="{FF2B5EF4-FFF2-40B4-BE49-F238E27FC236}">
                  <a16:creationId xmlns:a16="http://schemas.microsoft.com/office/drawing/2014/main" id="{36775ACE-E0F8-9FC6-7995-235FC25D577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0" y="410634"/>
              <a:ext cx="100965" cy="287655"/>
            </a:xfrm>
            <a:prstGeom prst="rect">
              <a:avLst/>
            </a:prstGeom>
            <a:noFill/>
          </p:spPr>
        </p:pic>
      </p:grpSp>
      <p:sp>
        <p:nvSpPr>
          <p:cNvPr id="11" name="文本框 10">
            <a:extLst>
              <a:ext uri="{FF2B5EF4-FFF2-40B4-BE49-F238E27FC236}">
                <a16:creationId xmlns:a16="http://schemas.microsoft.com/office/drawing/2014/main" id="{7ECB4FE5-7B0E-ADA3-430C-6DB8F4EF4E90}"/>
              </a:ext>
            </a:extLst>
          </p:cNvPr>
          <p:cNvSpPr txBox="1"/>
          <p:nvPr/>
        </p:nvSpPr>
        <p:spPr>
          <a:xfrm>
            <a:off x="1061978" y="5642510"/>
            <a:ext cx="4529861" cy="875881"/>
          </a:xfrm>
          <a:prstGeom prst="rect">
            <a:avLst/>
          </a:prstGeom>
          <a:noFill/>
        </p:spPr>
        <p:txBody>
          <a:bodyPr wrap="square">
            <a:spAutoFit/>
          </a:bodyPr>
          <a:lstStyle/>
          <a:p>
            <a:pPr marR="88265" algn="just">
              <a:lnSpc>
                <a:spcPct val="150000"/>
              </a:lnSpc>
            </a:pPr>
            <a:r>
              <a:rPr lang="zh-CN" altLang="zh-CN" sz="1800" b="1" dirty="0">
                <a:effectLst/>
                <a:latin typeface="+mn-ea"/>
                <a:cs typeface="Times New Roman" panose="02020603050405020304" pitchFamily="18" charset="0"/>
              </a:rPr>
              <a:t>酶的催化效率之所以这么高，是由于酶催化可以使反应所需的活化能显著降低。</a:t>
            </a:r>
            <a:endParaRPr lang="zh-CN" altLang="zh-CN" sz="2000" b="1" dirty="0">
              <a:effectLst/>
              <a:latin typeface="+mn-ea"/>
              <a:cs typeface="Times New Roman" panose="02020603050405020304" pitchFamily="18" charset="0"/>
            </a:endParaRPr>
          </a:p>
        </p:txBody>
      </p:sp>
      <p:sp>
        <p:nvSpPr>
          <p:cNvPr id="12" name="文本框 11">
            <a:extLst>
              <a:ext uri="{FF2B5EF4-FFF2-40B4-BE49-F238E27FC236}">
                <a16:creationId xmlns:a16="http://schemas.microsoft.com/office/drawing/2014/main" id="{1EED4C35-E027-1FAA-5053-B63B30C7D725}"/>
              </a:ext>
            </a:extLst>
          </p:cNvPr>
          <p:cNvSpPr txBox="1"/>
          <p:nvPr/>
        </p:nvSpPr>
        <p:spPr>
          <a:xfrm>
            <a:off x="6371409" y="1583530"/>
            <a:ext cx="3051992" cy="400110"/>
          </a:xfrm>
          <a:prstGeom prst="rect">
            <a:avLst/>
          </a:prstGeom>
          <a:noFill/>
        </p:spPr>
        <p:txBody>
          <a:bodyPr wrap="square">
            <a:spAutoFit/>
          </a:bodyPr>
          <a:lstStyle/>
          <a:p>
            <a:r>
              <a:rPr lang="en-US" altLang="zh-CN" sz="2000" dirty="0">
                <a:effectLst/>
                <a:ea typeface="黑体" panose="02010609060101010101" pitchFamily="49" charset="-122"/>
                <a:cs typeface="Times New Roman" panose="02020603050405020304" pitchFamily="18" charset="0"/>
              </a:rPr>
              <a:t>3. </a:t>
            </a:r>
            <a:r>
              <a:rPr lang="zh-CN" altLang="en-US" sz="2000" dirty="0">
                <a:effectLst/>
                <a:ea typeface="黑体" panose="02010609060101010101" pitchFamily="49" charset="-122"/>
                <a:cs typeface="Times New Roman" panose="02020603050405020304" pitchFamily="18" charset="0"/>
              </a:rPr>
              <a:t>酶催化作用的条件温和</a:t>
            </a:r>
            <a:endParaRPr lang="zh-CN" altLang="en-US" sz="2000" dirty="0"/>
          </a:p>
        </p:txBody>
      </p:sp>
      <p:sp>
        <p:nvSpPr>
          <p:cNvPr id="14" name="文本框 13">
            <a:extLst>
              <a:ext uri="{FF2B5EF4-FFF2-40B4-BE49-F238E27FC236}">
                <a16:creationId xmlns:a16="http://schemas.microsoft.com/office/drawing/2014/main" id="{4BB6DD53-D161-9AAD-D0C5-ECD0660B69C1}"/>
              </a:ext>
            </a:extLst>
          </p:cNvPr>
          <p:cNvSpPr txBox="1"/>
          <p:nvPr/>
        </p:nvSpPr>
        <p:spPr>
          <a:xfrm>
            <a:off x="6581456" y="2258243"/>
            <a:ext cx="3883343" cy="646331"/>
          </a:xfrm>
          <a:prstGeom prst="rect">
            <a:avLst/>
          </a:prstGeom>
          <a:noFill/>
        </p:spPr>
        <p:txBody>
          <a:bodyPr wrap="square">
            <a:spAutoFit/>
          </a:bodyPr>
          <a:lstStyle/>
          <a:p>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酶的催化作用一般都在常温、常压、</a:t>
            </a:r>
            <a:r>
              <a:rPr lang="en-US" altLang="zh-CN" sz="1800" b="1" dirty="0">
                <a:effectLst/>
                <a:latin typeface="Times New Roman" panose="02020603050405020304" pitchFamily="18" charset="0"/>
                <a:ea typeface="宋体" panose="02010600030101010101" pitchFamily="2" charset="-122"/>
              </a:rPr>
              <a:t>pH</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近乎中性的条件下进行</a:t>
            </a:r>
            <a:endParaRPr lang="zh-CN" altLang="en-US" b="1" dirty="0"/>
          </a:p>
        </p:txBody>
      </p:sp>
      <p:pic>
        <p:nvPicPr>
          <p:cNvPr id="15" name="图片 14">
            <a:extLst>
              <a:ext uri="{FF2B5EF4-FFF2-40B4-BE49-F238E27FC236}">
                <a16:creationId xmlns:a16="http://schemas.microsoft.com/office/drawing/2014/main" id="{2528C6FC-431F-4F28-1D95-81391843BEE0}"/>
              </a:ext>
            </a:extLst>
          </p:cNvPr>
          <p:cNvPicPr>
            <a:picLocks noChangeAspect="1"/>
          </p:cNvPicPr>
          <p:nvPr/>
        </p:nvPicPr>
        <p:blipFill>
          <a:blip r:embed="rId9"/>
          <a:stretch>
            <a:fillRect/>
          </a:stretch>
        </p:blipFill>
        <p:spPr>
          <a:xfrm>
            <a:off x="6469144" y="3049237"/>
            <a:ext cx="4385482" cy="3289112"/>
          </a:xfrm>
          <a:prstGeom prst="rect">
            <a:avLst/>
          </a:prstGeom>
        </p:spPr>
      </p:pic>
    </p:spTree>
    <p:extLst>
      <p:ext uri="{BB962C8B-B14F-4D97-AF65-F5344CB8AC3E}">
        <p14:creationId xmlns:p14="http://schemas.microsoft.com/office/powerpoint/2010/main" val="3407808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4">
            <a:alphaModFix amt="58000"/>
          </a:blip>
          <a:srcRect b="29236"/>
          <a:stretch>
            <a:fillRect/>
          </a:stretch>
        </p:blipFill>
        <p:spPr>
          <a:xfrm flipH="1">
            <a:off x="635" y="4309110"/>
            <a:ext cx="12191365" cy="2548890"/>
          </a:xfrm>
          <a:prstGeom prst="rect">
            <a:avLst/>
          </a:prstGeom>
          <a:noFill/>
          <a:ln w="9525">
            <a:noFill/>
          </a:ln>
        </p:spPr>
      </p:pic>
      <p:grpSp>
        <p:nvGrpSpPr>
          <p:cNvPr id="22" name="组合 21"/>
          <p:cNvGrpSpPr/>
          <p:nvPr/>
        </p:nvGrpSpPr>
        <p:grpSpPr>
          <a:xfrm>
            <a:off x="4485640" y="902970"/>
            <a:ext cx="2757805" cy="2565400"/>
            <a:chOff x="3890050" y="1242332"/>
            <a:chExt cx="4318184" cy="4195175"/>
          </a:xfrm>
        </p:grpSpPr>
        <p:sp>
          <p:nvSpPr>
            <p:cNvPr id="28" name="椭圆 27"/>
            <p:cNvSpPr/>
            <p:nvPr/>
          </p:nvSpPr>
          <p:spPr>
            <a:xfrm>
              <a:off x="3890050" y="1242332"/>
              <a:ext cx="4318184" cy="4195175"/>
            </a:xfrm>
            <a:prstGeom prst="ellipse">
              <a:avLst/>
            </a:prstGeom>
            <a:solidFill>
              <a:schemeClr val="bg1">
                <a:alpha val="33000"/>
              </a:schemeClr>
            </a:solidFill>
            <a:ln>
              <a:gradFill>
                <a:gsLst>
                  <a:gs pos="0">
                    <a:srgbClr val="20A3E8"/>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zh-CN" altLang="en-US" sz="900">
                <a:latin typeface="Lato Light"/>
              </a:endParaRPr>
            </a:p>
          </p:txBody>
        </p:sp>
        <p:sp>
          <p:nvSpPr>
            <p:cNvPr id="29" name="椭圆 28"/>
            <p:cNvSpPr/>
            <p:nvPr/>
          </p:nvSpPr>
          <p:spPr>
            <a:xfrm>
              <a:off x="4258022" y="1591020"/>
              <a:ext cx="3675957" cy="3675957"/>
            </a:xfrm>
            <a:prstGeom prst="ellipse">
              <a:avLst/>
            </a:prstGeom>
            <a:solidFill>
              <a:schemeClr val="bg1"/>
            </a:solidFill>
            <a:ln w="57150">
              <a:gradFill>
                <a:gsLst>
                  <a:gs pos="0">
                    <a:schemeClr val="bg1"/>
                  </a:gs>
                  <a:gs pos="100000">
                    <a:srgbClr val="20A3E8"/>
                  </a:gs>
                </a:gsLst>
                <a:lin ang="16200000" scaled="0"/>
              </a:gradFill>
            </a:ln>
            <a:effectLst>
              <a:outerShdw blurRad="444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6" name="TextBox 20"/>
          <p:cNvSpPr txBox="1"/>
          <p:nvPr/>
        </p:nvSpPr>
        <p:spPr>
          <a:xfrm>
            <a:off x="4976341" y="1866677"/>
            <a:ext cx="1835970" cy="748711"/>
          </a:xfrm>
          <a:prstGeom prst="rect">
            <a:avLst/>
          </a:prstGeom>
          <a:noFill/>
        </p:spPr>
        <p:txBody>
          <a:bodyPr wrap="none" lIns="70907" tIns="35455" rIns="70907" bIns="35455" rtlCol="0">
            <a:spAutoFit/>
          </a:bodyPr>
          <a:lstStyle/>
          <a:p>
            <a:pPr algn="ctr"/>
            <a:r>
              <a:rPr lang="zh-CN" altLang="en-US" sz="4400" b="1" dirty="0">
                <a:solidFill>
                  <a:srgbClr val="1F4E79"/>
                </a:solidFill>
                <a:latin typeface="+mj-ea"/>
                <a:ea typeface="+mj-ea"/>
                <a:cs typeface="+mn-ea"/>
                <a:sym typeface="+mn-lt"/>
              </a:rPr>
              <a:t>第三节</a:t>
            </a:r>
          </a:p>
        </p:txBody>
      </p:sp>
      <p:sp>
        <p:nvSpPr>
          <p:cNvPr id="2" name="文本框 1"/>
          <p:cNvSpPr txBox="1"/>
          <p:nvPr/>
        </p:nvSpPr>
        <p:spPr>
          <a:xfrm>
            <a:off x="2545320" y="3276775"/>
            <a:ext cx="7101359" cy="923330"/>
          </a:xfrm>
          <a:prstGeom prst="rect">
            <a:avLst/>
          </a:prstGeom>
          <a:noFill/>
          <a:ln w="9525">
            <a:noFill/>
          </a:ln>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lvl="0" algn="ctr" defTabSz="342900">
              <a:spcBef>
                <a:spcPct val="0"/>
              </a:spcBef>
              <a:defRPr/>
            </a:pPr>
            <a:r>
              <a:rPr lang="zh-CN" altLang="en-US" sz="5400" b="1" dirty="0">
                <a:solidFill>
                  <a:srgbClr val="1F4E79"/>
                </a:solidFill>
                <a:effectLst/>
                <a:ea typeface="宋体" panose="02010600030101010101" pitchFamily="2" charset="-122"/>
                <a:sym typeface="+mn-lt"/>
              </a:rPr>
              <a:t>酶的作用机制</a:t>
            </a:r>
            <a:endParaRPr lang="zh-CN" sz="5400" b="1" dirty="0">
              <a:solidFill>
                <a:srgbClr val="1F4E79"/>
              </a:solidFill>
              <a:effectLst/>
              <a:ea typeface="宋体" panose="02010600030101010101" pitchFamily="2" charset="-122"/>
            </a:endParaRPr>
          </a:p>
        </p:txBody>
      </p:sp>
    </p:spTree>
    <p:extLst>
      <p:ext uri="{BB962C8B-B14F-4D97-AF65-F5344CB8AC3E}">
        <p14:creationId xmlns:p14="http://schemas.microsoft.com/office/powerpoint/2010/main" val="3844630040"/>
      </p:ext>
    </p:extLst>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361188" y="943127"/>
            <a:ext cx="2750058" cy="523220"/>
          </a:xfrm>
          <a:prstGeom prst="rect">
            <a:avLst/>
          </a:prstGeom>
          <a:noFill/>
        </p:spPr>
        <p:txBody>
          <a:bodyPr wrap="square">
            <a:spAutoFit/>
          </a:bodyPr>
          <a:lstStyle/>
          <a:p>
            <a:r>
              <a:rPr lang="zh-CN" altLang="en-US" sz="2800" b="1" dirty="0">
                <a:solidFill>
                  <a:srgbClr val="1D50A2"/>
                </a:solidFill>
                <a:cs typeface="+mn-ea"/>
              </a:rPr>
              <a:t>酶的活性部位</a:t>
            </a:r>
          </a:p>
        </p:txBody>
      </p:sp>
      <p:sp>
        <p:nvSpPr>
          <p:cNvPr id="5" name="文本框 4">
            <a:extLst>
              <a:ext uri="{FF2B5EF4-FFF2-40B4-BE49-F238E27FC236}">
                <a16:creationId xmlns:a16="http://schemas.microsoft.com/office/drawing/2014/main" id="{DE5340CD-7A10-2991-3CFC-BD4368EA2A57}"/>
              </a:ext>
            </a:extLst>
          </p:cNvPr>
          <p:cNvSpPr txBox="1"/>
          <p:nvPr/>
        </p:nvSpPr>
        <p:spPr>
          <a:xfrm>
            <a:off x="605790" y="5684040"/>
            <a:ext cx="5833110" cy="830997"/>
          </a:xfrm>
          <a:prstGeom prst="rect">
            <a:avLst/>
          </a:prstGeom>
          <a:noFill/>
        </p:spPr>
        <p:txBody>
          <a:bodyPr wrap="square">
            <a:spAutoFit/>
          </a:bodyPr>
          <a:lstStyle/>
          <a:p>
            <a:r>
              <a:rPr lang="zh-CN" altLang="en-US" sz="2400" dirty="0">
                <a:latin typeface="Times New Roman" panose="02020603050405020304" pitchFamily="18" charset="0"/>
                <a:cs typeface="Times New Roman" panose="02020603050405020304" pitchFamily="18" charset="0"/>
              </a:rPr>
              <a:t>酶活力直接相关的区域称为酶的</a:t>
            </a:r>
            <a:r>
              <a:rPr lang="zh-CN" altLang="en-US" sz="2400" b="1" dirty="0">
                <a:solidFill>
                  <a:srgbClr val="FF0000"/>
                </a:solidFill>
                <a:latin typeface="Times New Roman" panose="02020603050405020304" pitchFamily="18" charset="0"/>
                <a:cs typeface="Times New Roman" panose="02020603050405020304" pitchFamily="18" charset="0"/>
              </a:rPr>
              <a:t>活性部位</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active site</a:t>
            </a:r>
            <a:r>
              <a:rPr lang="zh-CN" altLang="en-US" sz="2400" dirty="0">
                <a:latin typeface="Times New Roman" panose="02020603050405020304" pitchFamily="18" charset="0"/>
                <a:cs typeface="Times New Roman" panose="02020603050405020304" pitchFamily="18" charset="0"/>
              </a:rPr>
              <a:t>）或 </a:t>
            </a:r>
            <a:r>
              <a:rPr lang="zh-CN" altLang="en-US" sz="2400" b="1" dirty="0">
                <a:solidFill>
                  <a:srgbClr val="FF0000"/>
                </a:solidFill>
                <a:latin typeface="Times New Roman" panose="02020603050405020304" pitchFamily="18" charset="0"/>
                <a:cs typeface="Times New Roman" panose="02020603050405020304" pitchFamily="18" charset="0"/>
              </a:rPr>
              <a:t>活性中心</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active center</a:t>
            </a:r>
            <a:r>
              <a:rPr lang="zh-CN" altLang="en-US" sz="2400" dirty="0">
                <a:latin typeface="Times New Roman" panose="02020603050405020304" pitchFamily="18" charset="0"/>
                <a:cs typeface="Times New Roman" panose="02020603050405020304" pitchFamily="18" charset="0"/>
              </a:rPr>
              <a:t>）</a:t>
            </a:r>
          </a:p>
        </p:txBody>
      </p:sp>
      <p:pic>
        <p:nvPicPr>
          <p:cNvPr id="2050" name="Picture 2" descr="æ¥çæºå¾å">
            <a:extLst>
              <a:ext uri="{FF2B5EF4-FFF2-40B4-BE49-F238E27FC236}">
                <a16:creationId xmlns:a16="http://schemas.microsoft.com/office/drawing/2014/main" id="{364F002F-8F5E-A570-4BBD-A2EDBC1A28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790" y="1722856"/>
            <a:ext cx="5557012" cy="370467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EAD56518-FDF9-DD31-8F30-3CF4109DCED0}"/>
              </a:ext>
            </a:extLst>
          </p:cNvPr>
          <p:cNvSpPr txBox="1"/>
          <p:nvPr/>
        </p:nvSpPr>
        <p:spPr>
          <a:xfrm>
            <a:off x="6680200" y="2351121"/>
            <a:ext cx="4533900" cy="2677656"/>
          </a:xfrm>
          <a:prstGeom prst="rect">
            <a:avLst/>
          </a:prstGeom>
          <a:noFill/>
        </p:spPr>
        <p:txBody>
          <a:bodyPr wrap="square">
            <a:spAutoFit/>
          </a:bodyPr>
          <a:lstStyle/>
          <a:p>
            <a:r>
              <a:rPr lang="zh-CN" altLang="en-US" sz="2800" dirty="0"/>
              <a:t>通常将活性部位分为结合部位和催化部位。结合部位负责与底物的结合，决定酶的专一性。催化部位负责催化底物键的断裂形成新键，决定酶的催化能力。</a:t>
            </a:r>
          </a:p>
        </p:txBody>
      </p:sp>
    </p:spTree>
    <p:extLst>
      <p:ext uri="{BB962C8B-B14F-4D97-AF65-F5344CB8AC3E}">
        <p14:creationId xmlns:p14="http://schemas.microsoft.com/office/powerpoint/2010/main" val="3730502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361188" y="943127"/>
            <a:ext cx="2750058" cy="523220"/>
          </a:xfrm>
          <a:prstGeom prst="rect">
            <a:avLst/>
          </a:prstGeom>
          <a:noFill/>
        </p:spPr>
        <p:txBody>
          <a:bodyPr wrap="square">
            <a:spAutoFit/>
          </a:bodyPr>
          <a:lstStyle/>
          <a:p>
            <a:r>
              <a:rPr lang="zh-CN" altLang="en-US" sz="2800" b="1" dirty="0">
                <a:solidFill>
                  <a:srgbClr val="1D50A2"/>
                </a:solidFill>
                <a:cs typeface="+mn-ea"/>
              </a:rPr>
              <a:t>酶的作用机制</a:t>
            </a:r>
          </a:p>
        </p:txBody>
      </p:sp>
      <p:pic>
        <p:nvPicPr>
          <p:cNvPr id="2" name="图片 1">
            <a:extLst>
              <a:ext uri="{FF2B5EF4-FFF2-40B4-BE49-F238E27FC236}">
                <a16:creationId xmlns:a16="http://schemas.microsoft.com/office/drawing/2014/main" id="{D0FC15A2-6BDC-A8A7-9098-E4718A4EE186}"/>
              </a:ext>
            </a:extLst>
          </p:cNvPr>
          <p:cNvPicPr>
            <a:picLocks noChangeAspect="1"/>
          </p:cNvPicPr>
          <p:nvPr/>
        </p:nvPicPr>
        <p:blipFill>
          <a:blip r:embed="rId4"/>
          <a:stretch>
            <a:fillRect/>
          </a:stretch>
        </p:blipFill>
        <p:spPr>
          <a:xfrm>
            <a:off x="3260090" y="2380164"/>
            <a:ext cx="5198110" cy="1001701"/>
          </a:xfrm>
          <a:prstGeom prst="rect">
            <a:avLst/>
          </a:prstGeom>
        </p:spPr>
      </p:pic>
      <p:sp>
        <p:nvSpPr>
          <p:cNvPr id="4" name="文本框 3">
            <a:extLst>
              <a:ext uri="{FF2B5EF4-FFF2-40B4-BE49-F238E27FC236}">
                <a16:creationId xmlns:a16="http://schemas.microsoft.com/office/drawing/2014/main" id="{D70BA05D-70C9-19EE-FB3C-395A777EFB35}"/>
              </a:ext>
            </a:extLst>
          </p:cNvPr>
          <p:cNvSpPr txBox="1"/>
          <p:nvPr/>
        </p:nvSpPr>
        <p:spPr>
          <a:xfrm>
            <a:off x="1456690" y="3976985"/>
            <a:ext cx="9334500" cy="1569660"/>
          </a:xfrm>
          <a:prstGeom prst="rect">
            <a:avLst/>
          </a:prstGeom>
          <a:noFill/>
        </p:spPr>
        <p:txBody>
          <a:bodyPr wrap="square">
            <a:spAutoFit/>
          </a:bodyPr>
          <a:lstStyle/>
          <a:p>
            <a:pPr algn="ctr"/>
            <a:r>
              <a:rPr lang="zh-CN" altLang="en-US" sz="3200" dirty="0"/>
              <a:t>酶促反应是分两步进行的，酶（</a:t>
            </a:r>
            <a:r>
              <a:rPr lang="en-US" altLang="zh-CN" sz="3200" dirty="0"/>
              <a:t>E</a:t>
            </a:r>
            <a:r>
              <a:rPr lang="zh-CN" altLang="en-US" sz="3200" dirty="0"/>
              <a:t>）与底物（</a:t>
            </a:r>
            <a:r>
              <a:rPr lang="en-US" altLang="zh-CN" sz="3200" dirty="0"/>
              <a:t>S</a:t>
            </a:r>
            <a:r>
              <a:rPr lang="zh-CN" altLang="en-US" sz="3200" dirty="0"/>
              <a:t>）反应前，首先是形成一个不稳定的过渡态中间复合物（</a:t>
            </a:r>
            <a:r>
              <a:rPr lang="en-US" altLang="zh-CN" sz="3200" dirty="0"/>
              <a:t>ES</a:t>
            </a:r>
            <a:r>
              <a:rPr lang="zh-CN" altLang="en-US" sz="3200" dirty="0"/>
              <a:t>），然后再分解为产物（</a:t>
            </a:r>
            <a:r>
              <a:rPr lang="en-US" altLang="zh-CN" sz="3200" dirty="0"/>
              <a:t>P</a:t>
            </a:r>
            <a:r>
              <a:rPr lang="zh-CN" altLang="en-US" sz="3200" dirty="0"/>
              <a:t>）并释放出酶。</a:t>
            </a:r>
          </a:p>
        </p:txBody>
      </p:sp>
    </p:spTree>
    <p:extLst>
      <p:ext uri="{BB962C8B-B14F-4D97-AF65-F5344CB8AC3E}">
        <p14:creationId xmlns:p14="http://schemas.microsoft.com/office/powerpoint/2010/main" val="642026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246888" y="860244"/>
            <a:ext cx="3169412" cy="461665"/>
          </a:xfrm>
          <a:prstGeom prst="rect">
            <a:avLst/>
          </a:prstGeom>
          <a:noFill/>
        </p:spPr>
        <p:txBody>
          <a:bodyPr wrap="square">
            <a:spAutoFit/>
          </a:bodyPr>
          <a:lstStyle/>
          <a:p>
            <a:r>
              <a:rPr lang="zh-CN" altLang="en-US" sz="2400" b="1" dirty="0">
                <a:cs typeface="+mn-ea"/>
              </a:rPr>
              <a:t>酶作用专一性机理 </a:t>
            </a:r>
          </a:p>
        </p:txBody>
      </p:sp>
      <p:pic>
        <p:nvPicPr>
          <p:cNvPr id="3" name="图片 2">
            <a:extLst>
              <a:ext uri="{FF2B5EF4-FFF2-40B4-BE49-F238E27FC236}">
                <a16:creationId xmlns:a16="http://schemas.microsoft.com/office/drawing/2014/main" id="{F944EA84-22DF-2D56-1B92-9089259F771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4984750" y="2106871"/>
            <a:ext cx="6965096" cy="3410109"/>
          </a:xfrm>
          <a:prstGeom prst="rect">
            <a:avLst/>
          </a:prstGeom>
          <a:noFill/>
        </p:spPr>
      </p:pic>
      <p:sp>
        <p:nvSpPr>
          <p:cNvPr id="6" name="文本框 5">
            <a:extLst>
              <a:ext uri="{FF2B5EF4-FFF2-40B4-BE49-F238E27FC236}">
                <a16:creationId xmlns:a16="http://schemas.microsoft.com/office/drawing/2014/main" id="{A8A72E92-01F5-7CD3-D9DA-AB32148EE3DB}"/>
              </a:ext>
            </a:extLst>
          </p:cNvPr>
          <p:cNvSpPr txBox="1"/>
          <p:nvPr/>
        </p:nvSpPr>
        <p:spPr>
          <a:xfrm>
            <a:off x="6972300" y="5879584"/>
            <a:ext cx="2768600" cy="461665"/>
          </a:xfrm>
          <a:prstGeom prst="rect">
            <a:avLst/>
          </a:prstGeom>
          <a:noFill/>
        </p:spPr>
        <p:txBody>
          <a:bodyPr wrap="square">
            <a:spAutoFit/>
          </a:bodyPr>
          <a:lstStyle/>
          <a:p>
            <a:r>
              <a:rPr lang="zh-CN" altLang="zh-CN" sz="2400" dirty="0">
                <a:effectLst/>
                <a:ea typeface="宋体" panose="02010600030101010101" pitchFamily="2" charset="-122"/>
                <a:cs typeface="宋体" panose="02010600030101010101" pitchFamily="2" charset="-122"/>
              </a:rPr>
              <a:t>酶催化机制模式图</a:t>
            </a:r>
            <a:endParaRPr lang="zh-CN" altLang="en-US" sz="2400" dirty="0"/>
          </a:p>
        </p:txBody>
      </p:sp>
      <p:sp>
        <p:nvSpPr>
          <p:cNvPr id="8" name="文本框 7">
            <a:extLst>
              <a:ext uri="{FF2B5EF4-FFF2-40B4-BE49-F238E27FC236}">
                <a16:creationId xmlns:a16="http://schemas.microsoft.com/office/drawing/2014/main" id="{4B7D8EB4-93C6-385F-5CE8-C9B1516B8F4A}"/>
              </a:ext>
            </a:extLst>
          </p:cNvPr>
          <p:cNvSpPr txBox="1"/>
          <p:nvPr/>
        </p:nvSpPr>
        <p:spPr>
          <a:xfrm>
            <a:off x="242154" y="1468992"/>
            <a:ext cx="4635500" cy="2246769"/>
          </a:xfrm>
          <a:prstGeom prst="rect">
            <a:avLst/>
          </a:prstGeom>
          <a:noFill/>
          <a:ln>
            <a:solidFill>
              <a:schemeClr val="accent1">
                <a:lumMod val="75000"/>
                <a:lumOff val="25000"/>
              </a:schemeClr>
            </a:solidFill>
          </a:ln>
        </p:spPr>
        <p:txBody>
          <a:bodyPr wrap="square">
            <a:spAutoFit/>
          </a:bodyPr>
          <a:lstStyle/>
          <a:p>
            <a:r>
              <a:rPr lang="zh-CN" altLang="zh-CN" sz="1800" b="1" dirty="0">
                <a:solidFill>
                  <a:srgbClr val="C00000"/>
                </a:solidFill>
                <a:effectLst/>
                <a:latin typeface="+mn-ea"/>
                <a:cs typeface="宋体" panose="02010600030101010101" pitchFamily="2" charset="-122"/>
              </a:rPr>
              <a:t>“锁钥”学说</a:t>
            </a:r>
            <a:r>
              <a:rPr lang="zh-CN" altLang="en-US" sz="1800" dirty="0">
                <a:effectLst/>
                <a:latin typeface="+mn-ea"/>
                <a:cs typeface="宋体" panose="02010600030101010101" pitchFamily="2" charset="-122"/>
              </a:rPr>
              <a:t>：</a:t>
            </a:r>
            <a:r>
              <a:rPr lang="en-US" altLang="zh-CN" dirty="0">
                <a:latin typeface="+mn-ea"/>
                <a:cs typeface="Times New Roman" panose="02020603050405020304" pitchFamily="18" charset="0"/>
              </a:rPr>
              <a:t> </a:t>
            </a:r>
            <a:r>
              <a:rPr lang="en-US" altLang="zh-CN" sz="2000" dirty="0">
                <a:effectLst/>
                <a:latin typeface="+mn-ea"/>
                <a:cs typeface="宋体" panose="02010600030101010101" pitchFamily="2" charset="-122"/>
              </a:rPr>
              <a:t>1894</a:t>
            </a:r>
            <a:r>
              <a:rPr lang="zh-CN" altLang="zh-CN" sz="2000" dirty="0">
                <a:effectLst/>
                <a:latin typeface="+mn-ea"/>
                <a:cs typeface="宋体" panose="02010600030101010101" pitchFamily="2" charset="-122"/>
              </a:rPr>
              <a:t>年</a:t>
            </a:r>
            <a:r>
              <a:rPr lang="en-US" altLang="zh-CN" sz="2000" dirty="0">
                <a:effectLst/>
                <a:latin typeface="+mn-ea"/>
                <a:cs typeface="宋体" panose="02010600030101010101" pitchFamily="2" charset="-122"/>
              </a:rPr>
              <a:t>Fisher</a:t>
            </a:r>
            <a:r>
              <a:rPr lang="zh-CN" altLang="zh-CN" sz="2000" dirty="0">
                <a:effectLst/>
                <a:latin typeface="+mn-ea"/>
                <a:cs typeface="宋体" panose="02010600030101010101" pitchFamily="2" charset="-122"/>
              </a:rPr>
              <a:t>就提出了锁与钥匙学说，来解释酶的专一性。即酶与底物为锁与钥匙的关系，底物的形状和酶的活性部位被认为彼此相适应，两种形状是刚性和固定的，当它们正确地组合在一起时，正好互相互补。但该学说的局限性不能解释酶的逆反应。</a:t>
            </a:r>
            <a:endParaRPr lang="zh-CN" altLang="en-US" sz="2000" dirty="0">
              <a:latin typeface="+mn-ea"/>
            </a:endParaRPr>
          </a:p>
        </p:txBody>
      </p:sp>
      <p:sp>
        <p:nvSpPr>
          <p:cNvPr id="10" name="文本框 9">
            <a:extLst>
              <a:ext uri="{FF2B5EF4-FFF2-40B4-BE49-F238E27FC236}">
                <a16:creationId xmlns:a16="http://schemas.microsoft.com/office/drawing/2014/main" id="{5DBD0AF8-770C-03AE-2C25-BF4FD5FB002D}"/>
              </a:ext>
            </a:extLst>
          </p:cNvPr>
          <p:cNvSpPr txBox="1"/>
          <p:nvPr/>
        </p:nvSpPr>
        <p:spPr>
          <a:xfrm>
            <a:off x="58004" y="4068537"/>
            <a:ext cx="4819650" cy="1938992"/>
          </a:xfrm>
          <a:prstGeom prst="rect">
            <a:avLst/>
          </a:prstGeom>
          <a:noFill/>
          <a:ln>
            <a:solidFill>
              <a:srgbClr val="0070C0"/>
            </a:solidFill>
          </a:ln>
        </p:spPr>
        <p:txBody>
          <a:bodyPr wrap="square">
            <a:spAutoFit/>
          </a:bodyPr>
          <a:lstStyle/>
          <a:p>
            <a:r>
              <a:rPr lang="zh-CN" altLang="zh-CN" sz="2000" b="1" dirty="0">
                <a:solidFill>
                  <a:srgbClr val="C00000"/>
                </a:solidFill>
                <a:effectLst/>
                <a:latin typeface="+mn-ea"/>
                <a:cs typeface="宋体" panose="02010600030101010101" pitchFamily="2" charset="-122"/>
              </a:rPr>
              <a:t>诱导契合学说</a:t>
            </a:r>
            <a:r>
              <a:rPr lang="zh-CN" altLang="en-US" sz="2000" dirty="0">
                <a:effectLst/>
                <a:latin typeface="+mn-ea"/>
                <a:cs typeface="宋体" panose="02010600030101010101" pitchFamily="2" charset="-122"/>
              </a:rPr>
              <a:t>：</a:t>
            </a:r>
            <a:r>
              <a:rPr lang="zh-CN" altLang="zh-CN" sz="2000" dirty="0">
                <a:effectLst/>
                <a:latin typeface="+mn-ea"/>
                <a:cs typeface="宋体" panose="02010600030101010101" pitchFamily="2" charset="-122"/>
              </a:rPr>
              <a:t>当底物与酶相遇时，可诱导酶的构象发生相应的变化，使活性中心的基因达到正确的排列和定向，从而使酶和底物契合而形成中间络合物并引起底物发生反应，此外酶也可以使底物发生形变，迫使其构象近似于它的过渡态。</a:t>
            </a:r>
            <a:endParaRPr lang="zh-CN" altLang="en-US" sz="2000" dirty="0">
              <a:latin typeface="+mn-ea"/>
            </a:endParaRPr>
          </a:p>
        </p:txBody>
      </p:sp>
    </p:spTree>
    <p:extLst>
      <p:ext uri="{BB962C8B-B14F-4D97-AF65-F5344CB8AC3E}">
        <p14:creationId xmlns:p14="http://schemas.microsoft.com/office/powerpoint/2010/main" val="3485869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246888" y="860244"/>
            <a:ext cx="3017012" cy="461665"/>
          </a:xfrm>
          <a:prstGeom prst="rect">
            <a:avLst/>
          </a:prstGeom>
          <a:noFill/>
        </p:spPr>
        <p:txBody>
          <a:bodyPr wrap="square">
            <a:spAutoFit/>
          </a:bodyPr>
          <a:lstStyle/>
          <a:p>
            <a:r>
              <a:rPr lang="zh-CN" altLang="en-US" sz="2400" b="1" dirty="0">
                <a:cs typeface="+mn-ea"/>
              </a:rPr>
              <a:t>酶作用高效率的机理</a:t>
            </a:r>
          </a:p>
        </p:txBody>
      </p:sp>
      <p:sp>
        <p:nvSpPr>
          <p:cNvPr id="4" name="文本框 3">
            <a:extLst>
              <a:ext uri="{FF2B5EF4-FFF2-40B4-BE49-F238E27FC236}">
                <a16:creationId xmlns:a16="http://schemas.microsoft.com/office/drawing/2014/main" id="{6CE50D43-1B01-72D0-E28B-9AFA07544074}"/>
              </a:ext>
            </a:extLst>
          </p:cNvPr>
          <p:cNvSpPr txBox="1"/>
          <p:nvPr/>
        </p:nvSpPr>
        <p:spPr>
          <a:xfrm>
            <a:off x="525145" y="1414459"/>
            <a:ext cx="11141710" cy="5029390"/>
          </a:xfrm>
          <a:prstGeom prst="rect">
            <a:avLst/>
          </a:prstGeom>
          <a:noFill/>
        </p:spPr>
        <p:txBody>
          <a:bodyPr wrap="square">
            <a:spAutoFit/>
          </a:bodyPr>
          <a:lstStyle/>
          <a:p>
            <a:pPr>
              <a:lnSpc>
                <a:spcPct val="150000"/>
              </a:lnSpc>
            </a:pPr>
            <a:r>
              <a:rPr lang="en-US" altLang="zh-CN" sz="1800" b="1" dirty="0">
                <a:effectLst/>
                <a:latin typeface="+mn-ea"/>
                <a:cs typeface="宋体" panose="02010600030101010101" pitchFamily="2" charset="-122"/>
              </a:rPr>
              <a:t>1.  </a:t>
            </a:r>
            <a:r>
              <a:rPr lang="zh-CN" altLang="zh-CN" sz="1800" b="1" dirty="0">
                <a:effectLst/>
                <a:latin typeface="+mn-ea"/>
                <a:cs typeface="宋体" panose="02010600030101010101" pitchFamily="2" charset="-122"/>
              </a:rPr>
              <a:t>邻近与定向效应</a:t>
            </a:r>
            <a:endParaRPr lang="en-US" altLang="zh-CN" sz="1800" b="1" dirty="0">
              <a:effectLst/>
              <a:latin typeface="+mn-ea"/>
              <a:cs typeface="宋体" panose="02010600030101010101" pitchFamily="2" charset="-122"/>
            </a:endParaRPr>
          </a:p>
          <a:p>
            <a:pPr>
              <a:lnSpc>
                <a:spcPct val="150000"/>
              </a:lnSpc>
            </a:pPr>
            <a:r>
              <a:rPr lang="zh-CN" altLang="zh-CN" sz="1800" dirty="0">
                <a:effectLst/>
                <a:latin typeface="+mn-ea"/>
                <a:cs typeface="宋体" panose="02010600030101010101" pitchFamily="2" charset="-122"/>
              </a:rPr>
              <a:t>酶受底物诱导发生构象变化，使底物与酶的活性中心契合</a:t>
            </a:r>
            <a:r>
              <a:rPr lang="zh-CN" altLang="en-US" sz="1800" dirty="0">
                <a:effectLst/>
                <a:latin typeface="+mn-ea"/>
                <a:cs typeface="宋体" panose="02010600030101010101" pitchFamily="2" charset="-122"/>
              </a:rPr>
              <a:t>。</a:t>
            </a:r>
            <a:endParaRPr lang="en-US" altLang="zh-CN" sz="1800" dirty="0">
              <a:effectLst/>
              <a:latin typeface="+mn-ea"/>
              <a:cs typeface="宋体" panose="02010600030101010101" pitchFamily="2" charset="-122"/>
            </a:endParaRPr>
          </a:p>
          <a:p>
            <a:pPr>
              <a:lnSpc>
                <a:spcPct val="150000"/>
              </a:lnSpc>
            </a:pPr>
            <a:r>
              <a:rPr lang="en-US" altLang="zh-CN" sz="1800" b="1" dirty="0">
                <a:effectLst/>
                <a:latin typeface="+mn-ea"/>
                <a:cs typeface="宋体" panose="02010600030101010101" pitchFamily="2" charset="-122"/>
              </a:rPr>
              <a:t>2.  </a:t>
            </a:r>
            <a:r>
              <a:rPr lang="zh-CN" altLang="zh-CN" sz="1800" b="1" dirty="0">
                <a:effectLst/>
                <a:latin typeface="+mn-ea"/>
                <a:cs typeface="宋体" panose="02010600030101010101" pitchFamily="2" charset="-122"/>
              </a:rPr>
              <a:t>底物分子敏感键扭曲变形</a:t>
            </a:r>
            <a:endParaRPr lang="en-US" altLang="zh-CN" sz="1800" b="1" dirty="0">
              <a:effectLst/>
              <a:latin typeface="+mn-ea"/>
              <a:cs typeface="宋体" panose="02010600030101010101" pitchFamily="2" charset="-122"/>
            </a:endParaRPr>
          </a:p>
          <a:p>
            <a:pPr>
              <a:lnSpc>
                <a:spcPct val="150000"/>
              </a:lnSpc>
            </a:pPr>
            <a:r>
              <a:rPr lang="zh-CN" altLang="zh-CN" sz="1800" dirty="0">
                <a:effectLst/>
                <a:latin typeface="+mn-ea"/>
                <a:cs typeface="宋体" panose="02010600030101010101" pitchFamily="2" charset="-122"/>
              </a:rPr>
              <a:t>酶活性中心的结构有一种可适应性，当专一性底物与活性中心结合时，可以诱导酶分子构象的变化，使反应所需的酶的结合基团与催化基团正确的排列和定位，并使催化基团能够邻近待断裂的化学键。</a:t>
            </a:r>
            <a:endParaRPr lang="en-US" altLang="zh-CN" sz="1800" dirty="0">
              <a:effectLst/>
              <a:latin typeface="+mn-ea"/>
              <a:cs typeface="宋体" panose="02010600030101010101" pitchFamily="2" charset="-122"/>
            </a:endParaRPr>
          </a:p>
          <a:p>
            <a:pPr>
              <a:lnSpc>
                <a:spcPct val="150000"/>
              </a:lnSpc>
              <a:buAutoNum type="arabicPeriod" startAt="3"/>
            </a:pPr>
            <a:r>
              <a:rPr lang="en-US" altLang="zh-CN" sz="1800" b="1" dirty="0">
                <a:effectLst/>
                <a:latin typeface="+mn-ea"/>
                <a:cs typeface="宋体" panose="02010600030101010101" pitchFamily="2" charset="-122"/>
              </a:rPr>
              <a:t>  </a:t>
            </a:r>
            <a:r>
              <a:rPr lang="zh-CN" altLang="zh-CN" sz="1800" b="1" dirty="0">
                <a:effectLst/>
                <a:latin typeface="+mn-ea"/>
                <a:cs typeface="宋体" panose="02010600030101010101" pitchFamily="2" charset="-122"/>
              </a:rPr>
              <a:t>酸碱催化</a:t>
            </a:r>
            <a:endParaRPr lang="en-US" altLang="zh-CN" b="1" dirty="0">
              <a:latin typeface="+mn-ea"/>
              <a:cs typeface="宋体" panose="02010600030101010101" pitchFamily="2" charset="-122"/>
            </a:endParaRPr>
          </a:p>
          <a:p>
            <a:pPr>
              <a:lnSpc>
                <a:spcPct val="150000"/>
              </a:lnSpc>
            </a:pPr>
            <a:r>
              <a:rPr lang="zh-CN" altLang="zh-CN" dirty="0">
                <a:latin typeface="+mn-ea"/>
              </a:rPr>
              <a:t>酸碱催化作用一般是指构成酶活性中心的极性基团，在底物的变化中起质子供体或受体的作用，从而加速反应的一类催化机制</a:t>
            </a:r>
            <a:r>
              <a:rPr lang="zh-CN" altLang="en-US" dirty="0">
                <a:latin typeface="+mn-ea"/>
              </a:rPr>
              <a:t>。</a:t>
            </a:r>
            <a:endParaRPr lang="en-US" altLang="zh-CN" b="1" dirty="0">
              <a:latin typeface="+mn-ea"/>
              <a:cs typeface="Times New Roman" panose="02020603050405020304" pitchFamily="18" charset="0"/>
            </a:endParaRPr>
          </a:p>
          <a:p>
            <a:pPr>
              <a:lnSpc>
                <a:spcPct val="150000"/>
              </a:lnSpc>
            </a:pPr>
            <a:r>
              <a:rPr lang="en-US" altLang="zh-CN" sz="1800" b="1" dirty="0">
                <a:effectLst/>
                <a:latin typeface="+mn-ea"/>
                <a:cs typeface="宋体" panose="02010600030101010101" pitchFamily="2" charset="-122"/>
              </a:rPr>
              <a:t>4. </a:t>
            </a:r>
            <a:r>
              <a:rPr lang="zh-CN" altLang="zh-CN" sz="1800" b="1" dirty="0">
                <a:effectLst/>
                <a:latin typeface="+mn-ea"/>
                <a:cs typeface="宋体" panose="02010600030101010101" pitchFamily="2" charset="-122"/>
              </a:rPr>
              <a:t>共价催化</a:t>
            </a:r>
            <a:endParaRPr lang="en-US" altLang="zh-CN" sz="1800" b="1" dirty="0">
              <a:effectLst/>
              <a:latin typeface="+mn-ea"/>
              <a:cs typeface="宋体" panose="02010600030101010101" pitchFamily="2" charset="-122"/>
            </a:endParaRPr>
          </a:p>
          <a:p>
            <a:pPr>
              <a:lnSpc>
                <a:spcPct val="150000"/>
              </a:lnSpc>
            </a:pPr>
            <a:r>
              <a:rPr lang="zh-CN" altLang="zh-CN" dirty="0">
                <a:latin typeface="+mn-ea"/>
              </a:rPr>
              <a:t>一些酶还存在另一种提高催化反应速率的机制，即共价催化</a:t>
            </a:r>
            <a:r>
              <a:rPr lang="zh-CN" altLang="en-US" dirty="0">
                <a:latin typeface="+mn-ea"/>
              </a:rPr>
              <a:t>。</a:t>
            </a:r>
            <a:endParaRPr lang="zh-CN" altLang="zh-CN" dirty="0">
              <a:latin typeface="+mn-ea"/>
            </a:endParaRPr>
          </a:p>
          <a:p>
            <a:pPr>
              <a:lnSpc>
                <a:spcPct val="150000"/>
              </a:lnSpc>
            </a:pPr>
            <a:r>
              <a:rPr lang="en-US" altLang="zh-CN" sz="1800" b="1" dirty="0">
                <a:effectLst/>
                <a:latin typeface="+mn-ea"/>
                <a:cs typeface="宋体" panose="02010600030101010101" pitchFamily="2" charset="-122"/>
              </a:rPr>
              <a:t>5. </a:t>
            </a:r>
            <a:r>
              <a:rPr lang="zh-CN" altLang="zh-CN" sz="1800" b="1" dirty="0">
                <a:effectLst/>
                <a:latin typeface="+mn-ea"/>
                <a:cs typeface="宋体" panose="02010600030101010101" pitchFamily="2" charset="-122"/>
              </a:rPr>
              <a:t>活性部位微环境的影响</a:t>
            </a:r>
            <a:endParaRPr lang="en-US" altLang="zh-CN" sz="1800" b="1" dirty="0">
              <a:effectLst/>
              <a:latin typeface="+mn-ea"/>
              <a:cs typeface="宋体" panose="02010600030101010101" pitchFamily="2" charset="-122"/>
            </a:endParaRPr>
          </a:p>
          <a:p>
            <a:pPr>
              <a:lnSpc>
                <a:spcPct val="150000"/>
              </a:lnSpc>
            </a:pPr>
            <a:r>
              <a:rPr lang="zh-CN" altLang="zh-CN" dirty="0">
                <a:latin typeface="+mn-ea"/>
              </a:rPr>
              <a:t>酶分子中的非极性侧链一般在分子内部组成疏水区，而表面则为极性基团组成的亲水区</a:t>
            </a:r>
            <a:r>
              <a:rPr lang="zh-CN" altLang="en-US" dirty="0">
                <a:latin typeface="+mn-ea"/>
              </a:rPr>
              <a:t>。</a:t>
            </a:r>
            <a:endParaRPr lang="zh-CN" altLang="zh-CN" dirty="0">
              <a:latin typeface="+mn-ea"/>
            </a:endParaRPr>
          </a:p>
        </p:txBody>
      </p:sp>
    </p:spTree>
    <p:extLst>
      <p:ext uri="{BB962C8B-B14F-4D97-AF65-F5344CB8AC3E}">
        <p14:creationId xmlns:p14="http://schemas.microsoft.com/office/powerpoint/2010/main" val="1755088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4">
            <a:alphaModFix amt="58000"/>
          </a:blip>
          <a:srcRect b="29236"/>
          <a:stretch>
            <a:fillRect/>
          </a:stretch>
        </p:blipFill>
        <p:spPr>
          <a:xfrm flipH="1">
            <a:off x="635" y="4309110"/>
            <a:ext cx="12191365" cy="2548890"/>
          </a:xfrm>
          <a:prstGeom prst="rect">
            <a:avLst/>
          </a:prstGeom>
          <a:noFill/>
          <a:ln w="9525">
            <a:noFill/>
          </a:ln>
        </p:spPr>
      </p:pic>
      <p:grpSp>
        <p:nvGrpSpPr>
          <p:cNvPr id="22" name="组合 21"/>
          <p:cNvGrpSpPr/>
          <p:nvPr/>
        </p:nvGrpSpPr>
        <p:grpSpPr>
          <a:xfrm>
            <a:off x="4485640" y="902970"/>
            <a:ext cx="2757805" cy="2565400"/>
            <a:chOff x="3890050" y="1242332"/>
            <a:chExt cx="4318184" cy="4195175"/>
          </a:xfrm>
        </p:grpSpPr>
        <p:sp>
          <p:nvSpPr>
            <p:cNvPr id="28" name="椭圆 27"/>
            <p:cNvSpPr/>
            <p:nvPr/>
          </p:nvSpPr>
          <p:spPr>
            <a:xfrm>
              <a:off x="3890050" y="1242332"/>
              <a:ext cx="4318184" cy="4195175"/>
            </a:xfrm>
            <a:prstGeom prst="ellipse">
              <a:avLst/>
            </a:prstGeom>
            <a:solidFill>
              <a:schemeClr val="bg1">
                <a:alpha val="33000"/>
              </a:schemeClr>
            </a:solidFill>
            <a:ln>
              <a:gradFill>
                <a:gsLst>
                  <a:gs pos="0">
                    <a:srgbClr val="20A3E8"/>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zh-CN" altLang="en-US" sz="900">
                <a:latin typeface="Lato Light"/>
              </a:endParaRPr>
            </a:p>
          </p:txBody>
        </p:sp>
        <p:sp>
          <p:nvSpPr>
            <p:cNvPr id="29" name="椭圆 28"/>
            <p:cNvSpPr/>
            <p:nvPr/>
          </p:nvSpPr>
          <p:spPr>
            <a:xfrm>
              <a:off x="4258022" y="1591020"/>
              <a:ext cx="3675957" cy="3675957"/>
            </a:xfrm>
            <a:prstGeom prst="ellipse">
              <a:avLst/>
            </a:prstGeom>
            <a:solidFill>
              <a:schemeClr val="bg1"/>
            </a:solidFill>
            <a:ln w="57150">
              <a:gradFill>
                <a:gsLst>
                  <a:gs pos="0">
                    <a:schemeClr val="bg1"/>
                  </a:gs>
                  <a:gs pos="100000">
                    <a:srgbClr val="20A3E8"/>
                  </a:gs>
                </a:gsLst>
                <a:lin ang="16200000" scaled="0"/>
              </a:gradFill>
            </a:ln>
            <a:effectLst>
              <a:outerShdw blurRad="444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6" name="TextBox 20"/>
          <p:cNvSpPr txBox="1"/>
          <p:nvPr/>
        </p:nvSpPr>
        <p:spPr>
          <a:xfrm>
            <a:off x="4976341" y="1866677"/>
            <a:ext cx="1835970" cy="748711"/>
          </a:xfrm>
          <a:prstGeom prst="rect">
            <a:avLst/>
          </a:prstGeom>
          <a:noFill/>
        </p:spPr>
        <p:txBody>
          <a:bodyPr wrap="none" lIns="70907" tIns="35455" rIns="70907" bIns="35455" rtlCol="0">
            <a:spAutoFit/>
          </a:bodyPr>
          <a:lstStyle/>
          <a:p>
            <a:pPr algn="ctr"/>
            <a:r>
              <a:rPr lang="zh-CN" altLang="en-US" sz="4400" b="1" dirty="0">
                <a:solidFill>
                  <a:srgbClr val="1F4E79"/>
                </a:solidFill>
                <a:latin typeface="+mj-ea"/>
                <a:ea typeface="+mj-ea"/>
                <a:cs typeface="+mn-ea"/>
                <a:sym typeface="+mn-lt"/>
              </a:rPr>
              <a:t>第四节</a:t>
            </a:r>
          </a:p>
        </p:txBody>
      </p:sp>
      <p:sp>
        <p:nvSpPr>
          <p:cNvPr id="2" name="文本框 1"/>
          <p:cNvSpPr txBox="1"/>
          <p:nvPr/>
        </p:nvSpPr>
        <p:spPr>
          <a:xfrm>
            <a:off x="2545320" y="3276775"/>
            <a:ext cx="7101359" cy="923330"/>
          </a:xfrm>
          <a:prstGeom prst="rect">
            <a:avLst/>
          </a:prstGeom>
          <a:noFill/>
          <a:ln w="9525">
            <a:noFill/>
          </a:ln>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lvl="0" algn="ctr" defTabSz="342900">
              <a:spcBef>
                <a:spcPct val="0"/>
              </a:spcBef>
              <a:defRPr/>
            </a:pPr>
            <a:r>
              <a:rPr lang="zh-CN" altLang="en-US" sz="5400" b="1" dirty="0">
                <a:solidFill>
                  <a:srgbClr val="1F4E79"/>
                </a:solidFill>
                <a:effectLst/>
                <a:ea typeface="宋体" panose="02010600030101010101" pitchFamily="2" charset="-122"/>
                <a:sym typeface="+mn-lt"/>
              </a:rPr>
              <a:t>影响酶催化作用的因素</a:t>
            </a:r>
            <a:endParaRPr lang="zh-CN" sz="5400" b="1" dirty="0">
              <a:solidFill>
                <a:srgbClr val="1F4E79"/>
              </a:solidFill>
              <a:effectLst/>
              <a:ea typeface="宋体" panose="02010600030101010101" pitchFamily="2" charset="-122"/>
            </a:endParaRPr>
          </a:p>
        </p:txBody>
      </p:sp>
    </p:spTree>
    <p:extLst>
      <p:ext uri="{BB962C8B-B14F-4D97-AF65-F5344CB8AC3E}">
        <p14:creationId xmlns:p14="http://schemas.microsoft.com/office/powerpoint/2010/main" val="3862988859"/>
      </p:ext>
    </p:extLst>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361188" y="943127"/>
            <a:ext cx="2750058" cy="523220"/>
          </a:xfrm>
          <a:prstGeom prst="rect">
            <a:avLst/>
          </a:prstGeom>
          <a:noFill/>
        </p:spPr>
        <p:txBody>
          <a:bodyPr wrap="square">
            <a:spAutoFit/>
          </a:bodyPr>
          <a:lstStyle/>
          <a:p>
            <a:r>
              <a:rPr lang="zh-CN" altLang="en-US" sz="2800" b="1" dirty="0">
                <a:solidFill>
                  <a:srgbClr val="1D50A2"/>
                </a:solidFill>
                <a:cs typeface="+mn-ea"/>
              </a:rPr>
              <a:t>底物浓度的影响</a:t>
            </a:r>
          </a:p>
        </p:txBody>
      </p:sp>
      <p:grpSp>
        <p:nvGrpSpPr>
          <p:cNvPr id="2" name="Group 62">
            <a:extLst>
              <a:ext uri="{FF2B5EF4-FFF2-40B4-BE49-F238E27FC236}">
                <a16:creationId xmlns:a16="http://schemas.microsoft.com/office/drawing/2014/main" id="{5B181153-C6F1-AFCE-8983-FCDAED6A2D3E}"/>
              </a:ext>
            </a:extLst>
          </p:cNvPr>
          <p:cNvGrpSpPr/>
          <p:nvPr/>
        </p:nvGrpSpPr>
        <p:grpSpPr>
          <a:xfrm>
            <a:off x="1420989" y="1975179"/>
            <a:ext cx="3300706" cy="2758483"/>
            <a:chOff x="1706" y="-1626"/>
            <a:chExt cx="1908" cy="1561"/>
          </a:xfrm>
        </p:grpSpPr>
        <p:pic>
          <p:nvPicPr>
            <p:cNvPr id="4" name="Picture 63">
              <a:extLst>
                <a:ext uri="{FF2B5EF4-FFF2-40B4-BE49-F238E27FC236}">
                  <a16:creationId xmlns:a16="http://schemas.microsoft.com/office/drawing/2014/main" id="{95A365F4-9395-3BE4-7188-3564F75390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706" y="-1626"/>
              <a:ext cx="1908" cy="1561"/>
            </a:xfrm>
            <a:prstGeom prst="rect">
              <a:avLst/>
            </a:prstGeom>
            <a:noFill/>
          </p:spPr>
        </p:pic>
        <p:grpSp>
          <p:nvGrpSpPr>
            <p:cNvPr id="6" name="Group 64">
              <a:extLst>
                <a:ext uri="{FF2B5EF4-FFF2-40B4-BE49-F238E27FC236}">
                  <a16:creationId xmlns:a16="http://schemas.microsoft.com/office/drawing/2014/main" id="{4B49443D-DFA7-26C6-6E59-C0779F1B1431}"/>
                </a:ext>
              </a:extLst>
            </p:cNvPr>
            <p:cNvGrpSpPr/>
            <p:nvPr/>
          </p:nvGrpSpPr>
          <p:grpSpPr>
            <a:xfrm>
              <a:off x="1743" y="-1616"/>
              <a:ext cx="90" cy="102"/>
              <a:chOff x="1743" y="-1616"/>
              <a:chExt cx="90" cy="102"/>
            </a:xfrm>
          </p:grpSpPr>
          <p:sp>
            <p:nvSpPr>
              <p:cNvPr id="10" name="Freeform 65">
                <a:extLst>
                  <a:ext uri="{FF2B5EF4-FFF2-40B4-BE49-F238E27FC236}">
                    <a16:creationId xmlns:a16="http://schemas.microsoft.com/office/drawing/2014/main" id="{A615CC62-9644-0D05-0C17-C3599B391DDB}"/>
                  </a:ext>
                </a:extLst>
              </p:cNvPr>
              <p:cNvSpPr/>
              <p:nvPr/>
            </p:nvSpPr>
            <p:spPr bwMode="auto">
              <a:xfrm>
                <a:off x="1743" y="-1616"/>
                <a:ext cx="90" cy="102"/>
              </a:xfrm>
              <a:custGeom>
                <a:avLst/>
                <a:gdLst>
                  <a:gd name="T0" fmla="+- 0 1783 1743"/>
                  <a:gd name="T1" fmla="*/ T0 w 90"/>
                  <a:gd name="T2" fmla="+- 0 -1616 -1616"/>
                  <a:gd name="T3" fmla="*/ -1616 h 102"/>
                  <a:gd name="T4" fmla="+- 0 1744 1743"/>
                  <a:gd name="T5" fmla="*/ T4 w 90"/>
                  <a:gd name="T6" fmla="+- 0 -1616 -1616"/>
                  <a:gd name="T7" fmla="*/ -1616 h 102"/>
                  <a:gd name="T8" fmla="+- 0 1743 1743"/>
                  <a:gd name="T9" fmla="*/ T8 w 90"/>
                  <a:gd name="T10" fmla="+- 0 -1614 -1616"/>
                  <a:gd name="T11" fmla="*/ -1614 h 102"/>
                  <a:gd name="T12" fmla="+- 0 1750 1743"/>
                  <a:gd name="T13" fmla="*/ T12 w 90"/>
                  <a:gd name="T14" fmla="+- 0 -1614 -1616"/>
                  <a:gd name="T15" fmla="*/ -1614 h 102"/>
                  <a:gd name="T16" fmla="+- 0 1752 1743"/>
                  <a:gd name="T17" fmla="*/ T16 w 90"/>
                  <a:gd name="T18" fmla="+- 0 -1613 -1616"/>
                  <a:gd name="T19" fmla="*/ -1613 h 102"/>
                  <a:gd name="T20" fmla="+- 0 1755 1743"/>
                  <a:gd name="T21" fmla="*/ T20 w 90"/>
                  <a:gd name="T22" fmla="+- 0 -1610 -1616"/>
                  <a:gd name="T23" fmla="*/ -1610 h 102"/>
                  <a:gd name="T24" fmla="+- 0 1756 1743"/>
                  <a:gd name="T25" fmla="*/ T24 w 90"/>
                  <a:gd name="T26" fmla="+- 0 -1610 -1616"/>
                  <a:gd name="T27" fmla="*/ -1610 h 102"/>
                  <a:gd name="T28" fmla="+- 0 1756 1743"/>
                  <a:gd name="T29" fmla="*/ T28 w 90"/>
                  <a:gd name="T30" fmla="+- 0 -1608 -1616"/>
                  <a:gd name="T31" fmla="*/ -1608 h 102"/>
                  <a:gd name="T32" fmla="+- 0 1756 1743"/>
                  <a:gd name="T33" fmla="*/ T32 w 90"/>
                  <a:gd name="T34" fmla="+- 0 -1602 -1616"/>
                  <a:gd name="T35" fmla="*/ -1602 h 102"/>
                  <a:gd name="T36" fmla="+- 0 1748 1743"/>
                  <a:gd name="T37" fmla="*/ T36 w 90"/>
                  <a:gd name="T38" fmla="+- 0 -1515 -1616"/>
                  <a:gd name="T39" fmla="*/ -1515 h 102"/>
                  <a:gd name="T40" fmla="+- 0 1750 1743"/>
                  <a:gd name="T41" fmla="*/ T40 w 90"/>
                  <a:gd name="T42" fmla="+- 0 -1515 -1616"/>
                  <a:gd name="T43" fmla="*/ -1515 h 102"/>
                  <a:gd name="T44" fmla="+- 0 1768 1743"/>
                  <a:gd name="T45" fmla="*/ T44 w 90"/>
                  <a:gd name="T46" fmla="+- 0 -1539 -1616"/>
                  <a:gd name="T47" fmla="*/ -1539 h 102"/>
                  <a:gd name="T48" fmla="+- 0 1763 1743"/>
                  <a:gd name="T49" fmla="*/ T48 w 90"/>
                  <a:gd name="T50" fmla="+- 0 -1539 -1616"/>
                  <a:gd name="T51" fmla="*/ -1539 h 102"/>
                  <a:gd name="T52" fmla="+- 0 1768 1743"/>
                  <a:gd name="T53" fmla="*/ T52 w 90"/>
                  <a:gd name="T54" fmla="+- 0 -1599 -1616"/>
                  <a:gd name="T55" fmla="*/ -1599 h 102"/>
                  <a:gd name="T56" fmla="+- 0 1783 1743"/>
                  <a:gd name="T57" fmla="*/ T56 w 90"/>
                  <a:gd name="T58" fmla="+- 0 -1614 -1616"/>
                  <a:gd name="T59" fmla="*/ -1614 h 102"/>
                  <a:gd name="T60" fmla="+- 0 1783 1743"/>
                  <a:gd name="T61" fmla="*/ T60 w 90"/>
                  <a:gd name="T62" fmla="+- 0 -1616 -1616"/>
                  <a:gd name="T63" fmla="*/ -1616 h 1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Lst>
                <a:rect l="0" t="0" r="r" b="b"/>
                <a:pathLst>
                  <a:path w="90" h="102">
                    <a:moveTo>
                      <a:pt x="40" y="0"/>
                    </a:moveTo>
                    <a:lnTo>
                      <a:pt x="1" y="0"/>
                    </a:lnTo>
                    <a:lnTo>
                      <a:pt x="0" y="2"/>
                    </a:lnTo>
                    <a:lnTo>
                      <a:pt x="7" y="2"/>
                    </a:lnTo>
                    <a:lnTo>
                      <a:pt x="9" y="3"/>
                    </a:lnTo>
                    <a:lnTo>
                      <a:pt x="12" y="6"/>
                    </a:lnTo>
                    <a:lnTo>
                      <a:pt x="13" y="6"/>
                    </a:lnTo>
                    <a:lnTo>
                      <a:pt x="13" y="8"/>
                    </a:lnTo>
                    <a:lnTo>
                      <a:pt x="13" y="14"/>
                    </a:lnTo>
                    <a:lnTo>
                      <a:pt x="5" y="101"/>
                    </a:lnTo>
                    <a:lnTo>
                      <a:pt x="7" y="101"/>
                    </a:lnTo>
                    <a:lnTo>
                      <a:pt x="25" y="77"/>
                    </a:lnTo>
                    <a:lnTo>
                      <a:pt x="20" y="77"/>
                    </a:lnTo>
                    <a:lnTo>
                      <a:pt x="25" y="17"/>
                    </a:lnTo>
                    <a:lnTo>
                      <a:pt x="40" y="2"/>
                    </a:lnTo>
                    <a:lnTo>
                      <a:pt x="40" y="0"/>
                    </a:lnTo>
                  </a:path>
                </a:pathLst>
              </a:custGeom>
              <a:solidFill>
                <a:srgbClr val="231F20"/>
              </a:solidFill>
              <a:ln>
                <a:noFill/>
              </a:ln>
            </p:spPr>
            <p:txBody>
              <a:bodyPr rot="0" vert="horz" wrap="square" lIns="91440" tIns="45720" rIns="91440" bIns="45720" anchor="t" anchorCtr="0" upright="1">
                <a:noAutofit/>
              </a:bodyPr>
              <a:lstStyle/>
              <a:p>
                <a:endParaRPr lang="zh-CN" altLang="en-US"/>
              </a:p>
            </p:txBody>
          </p:sp>
          <p:sp>
            <p:nvSpPr>
              <p:cNvPr id="11" name="Freeform 66">
                <a:extLst>
                  <a:ext uri="{FF2B5EF4-FFF2-40B4-BE49-F238E27FC236}">
                    <a16:creationId xmlns:a16="http://schemas.microsoft.com/office/drawing/2014/main" id="{DE17B194-2F55-302B-36D5-72C0402F9A6A}"/>
                  </a:ext>
                </a:extLst>
              </p:cNvPr>
              <p:cNvSpPr/>
              <p:nvPr/>
            </p:nvSpPr>
            <p:spPr bwMode="auto">
              <a:xfrm>
                <a:off x="1743" y="-1616"/>
                <a:ext cx="90" cy="102"/>
              </a:xfrm>
              <a:custGeom>
                <a:avLst/>
                <a:gdLst>
                  <a:gd name="T0" fmla="+- 0 1833 1743"/>
                  <a:gd name="T1" fmla="*/ T0 w 90"/>
                  <a:gd name="T2" fmla="+- 0 -1616 -1616"/>
                  <a:gd name="T3" fmla="*/ -1616 h 102"/>
                  <a:gd name="T4" fmla="+- 0 1803 1743"/>
                  <a:gd name="T5" fmla="*/ T4 w 90"/>
                  <a:gd name="T6" fmla="+- 0 -1616 -1616"/>
                  <a:gd name="T7" fmla="*/ -1616 h 102"/>
                  <a:gd name="T8" fmla="+- 0 1803 1743"/>
                  <a:gd name="T9" fmla="*/ T8 w 90"/>
                  <a:gd name="T10" fmla="+- 0 -1614 -1616"/>
                  <a:gd name="T11" fmla="*/ -1614 h 102"/>
                  <a:gd name="T12" fmla="+- 0 1806 1743"/>
                  <a:gd name="T13" fmla="*/ T12 w 90"/>
                  <a:gd name="T14" fmla="+- 0 -1613 -1616"/>
                  <a:gd name="T15" fmla="*/ -1613 h 102"/>
                  <a:gd name="T16" fmla="+- 0 1808 1743"/>
                  <a:gd name="T17" fmla="*/ T16 w 90"/>
                  <a:gd name="T18" fmla="+- 0 -1613 -1616"/>
                  <a:gd name="T19" fmla="*/ -1613 h 102"/>
                  <a:gd name="T20" fmla="+- 0 1810 1743"/>
                  <a:gd name="T21" fmla="*/ T20 w 90"/>
                  <a:gd name="T22" fmla="+- 0 -1611 -1616"/>
                  <a:gd name="T23" fmla="*/ -1611 h 102"/>
                  <a:gd name="T24" fmla="+- 0 1810 1743"/>
                  <a:gd name="T25" fmla="*/ T24 w 90"/>
                  <a:gd name="T26" fmla="+- 0 -1610 -1616"/>
                  <a:gd name="T27" fmla="*/ -1610 h 102"/>
                  <a:gd name="T28" fmla="+- 0 1810 1743"/>
                  <a:gd name="T29" fmla="*/ T28 w 90"/>
                  <a:gd name="T30" fmla="+- 0 -1607 -1616"/>
                  <a:gd name="T31" fmla="*/ -1607 h 102"/>
                  <a:gd name="T32" fmla="+- 0 1810 1743"/>
                  <a:gd name="T33" fmla="*/ T32 w 90"/>
                  <a:gd name="T34" fmla="+- 0 -1606 -1616"/>
                  <a:gd name="T35" fmla="*/ -1606 h 102"/>
                  <a:gd name="T36" fmla="+- 0 1808 1743"/>
                  <a:gd name="T37" fmla="*/ T36 w 90"/>
                  <a:gd name="T38" fmla="+- 0 -1602 -1616"/>
                  <a:gd name="T39" fmla="*/ -1602 h 102"/>
                  <a:gd name="T40" fmla="+- 0 1806 1743"/>
                  <a:gd name="T41" fmla="*/ T40 w 90"/>
                  <a:gd name="T42" fmla="+- 0 -1598 -1616"/>
                  <a:gd name="T43" fmla="*/ -1598 h 102"/>
                  <a:gd name="T44" fmla="+- 0 1802 1743"/>
                  <a:gd name="T45" fmla="*/ T44 w 90"/>
                  <a:gd name="T46" fmla="+- 0 -1592 -1616"/>
                  <a:gd name="T47" fmla="*/ -1592 h 102"/>
                  <a:gd name="T48" fmla="+- 0 1763 1743"/>
                  <a:gd name="T49" fmla="*/ T48 w 90"/>
                  <a:gd name="T50" fmla="+- 0 -1539 -1616"/>
                  <a:gd name="T51" fmla="*/ -1539 h 102"/>
                  <a:gd name="T52" fmla="+- 0 1768 1743"/>
                  <a:gd name="T53" fmla="*/ T52 w 90"/>
                  <a:gd name="T54" fmla="+- 0 -1539 -1616"/>
                  <a:gd name="T55" fmla="*/ -1539 h 102"/>
                  <a:gd name="T56" fmla="+- 0 1812 1743"/>
                  <a:gd name="T57" fmla="*/ T56 w 90"/>
                  <a:gd name="T58" fmla="+- 0 -1599 -1616"/>
                  <a:gd name="T59" fmla="*/ -1599 h 102"/>
                  <a:gd name="T60" fmla="+- 0 1827 1743"/>
                  <a:gd name="T61" fmla="*/ T60 w 90"/>
                  <a:gd name="T62" fmla="+- 0 -1612 -1616"/>
                  <a:gd name="T63" fmla="*/ -1612 h 102"/>
                  <a:gd name="T64" fmla="+- 0 1828 1743"/>
                  <a:gd name="T65" fmla="*/ T64 w 90"/>
                  <a:gd name="T66" fmla="+- 0 -1613 -1616"/>
                  <a:gd name="T67" fmla="*/ -1613 h 102"/>
                  <a:gd name="T68" fmla="+- 0 1830 1743"/>
                  <a:gd name="T69" fmla="*/ T68 w 90"/>
                  <a:gd name="T70" fmla="+- 0 -1613 -1616"/>
                  <a:gd name="T71" fmla="*/ -1613 h 102"/>
                  <a:gd name="T72" fmla="+- 0 1832 1743"/>
                  <a:gd name="T73" fmla="*/ T72 w 90"/>
                  <a:gd name="T74" fmla="+- 0 -1614 -1616"/>
                  <a:gd name="T75" fmla="*/ -1614 h 102"/>
                  <a:gd name="T76" fmla="+- 0 1833 1743"/>
                  <a:gd name="T77" fmla="*/ T76 w 90"/>
                  <a:gd name="T78" fmla="+- 0 -1616 -1616"/>
                  <a:gd name="T79" fmla="*/ -1616 h 102"/>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90" h="102">
                    <a:moveTo>
                      <a:pt x="90" y="0"/>
                    </a:moveTo>
                    <a:lnTo>
                      <a:pt x="60" y="0"/>
                    </a:lnTo>
                    <a:lnTo>
                      <a:pt x="60" y="2"/>
                    </a:lnTo>
                    <a:lnTo>
                      <a:pt x="63" y="3"/>
                    </a:lnTo>
                    <a:lnTo>
                      <a:pt x="65" y="3"/>
                    </a:lnTo>
                    <a:lnTo>
                      <a:pt x="67" y="5"/>
                    </a:lnTo>
                    <a:lnTo>
                      <a:pt x="67" y="6"/>
                    </a:lnTo>
                    <a:lnTo>
                      <a:pt x="67" y="9"/>
                    </a:lnTo>
                    <a:lnTo>
                      <a:pt x="67" y="10"/>
                    </a:lnTo>
                    <a:lnTo>
                      <a:pt x="65" y="14"/>
                    </a:lnTo>
                    <a:lnTo>
                      <a:pt x="63" y="18"/>
                    </a:lnTo>
                    <a:lnTo>
                      <a:pt x="59" y="24"/>
                    </a:lnTo>
                    <a:lnTo>
                      <a:pt x="20" y="77"/>
                    </a:lnTo>
                    <a:lnTo>
                      <a:pt x="25" y="77"/>
                    </a:lnTo>
                    <a:lnTo>
                      <a:pt x="69" y="17"/>
                    </a:lnTo>
                    <a:lnTo>
                      <a:pt x="84" y="4"/>
                    </a:lnTo>
                    <a:lnTo>
                      <a:pt x="85" y="3"/>
                    </a:lnTo>
                    <a:lnTo>
                      <a:pt x="87" y="3"/>
                    </a:lnTo>
                    <a:lnTo>
                      <a:pt x="89" y="2"/>
                    </a:lnTo>
                    <a:lnTo>
                      <a:pt x="90" y="0"/>
                    </a:lnTo>
                  </a:path>
                </a:pathLst>
              </a:custGeom>
              <a:solidFill>
                <a:srgbClr val="231F20"/>
              </a:solidFill>
              <a:ln>
                <a:noFill/>
              </a:ln>
            </p:spPr>
            <p:txBody>
              <a:bodyPr rot="0" vert="horz" wrap="square" lIns="91440" tIns="45720" rIns="91440" bIns="45720" anchor="t" anchorCtr="0" upright="1">
                <a:noAutofit/>
              </a:bodyPr>
              <a:lstStyle/>
              <a:p>
                <a:endParaRPr lang="zh-CN" altLang="en-US"/>
              </a:p>
            </p:txBody>
          </p:sp>
        </p:grpSp>
      </p:grpSp>
      <p:sp>
        <p:nvSpPr>
          <p:cNvPr id="13" name="文本框 12">
            <a:extLst>
              <a:ext uri="{FF2B5EF4-FFF2-40B4-BE49-F238E27FC236}">
                <a16:creationId xmlns:a16="http://schemas.microsoft.com/office/drawing/2014/main" id="{7409CFCA-D313-13EE-92F9-8997E9B6E937}"/>
              </a:ext>
            </a:extLst>
          </p:cNvPr>
          <p:cNvSpPr txBox="1"/>
          <p:nvPr/>
        </p:nvSpPr>
        <p:spPr>
          <a:xfrm>
            <a:off x="505206" y="4882821"/>
            <a:ext cx="5212080" cy="1200329"/>
          </a:xfrm>
          <a:prstGeom prst="rect">
            <a:avLst/>
          </a:prstGeom>
          <a:noFill/>
          <a:ln>
            <a:solidFill>
              <a:srgbClr val="92D050"/>
            </a:solidFill>
          </a:ln>
        </p:spPr>
        <p:txBody>
          <a:bodyPr wrap="square">
            <a:spAutoFit/>
          </a:bodyPr>
          <a:lstStyle>
            <a:defPPr>
              <a:defRPr lang="zh-CN"/>
            </a:defPPr>
            <a:lvl1pPr algn="ctr">
              <a:defRPr>
                <a:effectLst/>
                <a:latin typeface="+mn-ea"/>
                <a:cs typeface="Times New Roman" panose="02020603050405020304" pitchFamily="18" charset="0"/>
              </a:defRPr>
            </a:lvl1pPr>
          </a:lstStyle>
          <a:p>
            <a:r>
              <a:rPr lang="zh-CN" altLang="zh-CN" dirty="0"/>
              <a:t>在底物浓度较低的情况下，酶催化反应速度与底物浓度成正比，反应速度随着底物浓度的增加而加快。当底物浓度达到一定的数值时，反应速度的上升不再与底物浓度成正比，而是逐步趋向平衡。</a:t>
            </a:r>
            <a:endParaRPr lang="zh-CN" altLang="en-US" dirty="0"/>
          </a:p>
        </p:txBody>
      </p:sp>
      <p:pic>
        <p:nvPicPr>
          <p:cNvPr id="15" name="图片 14">
            <a:extLst>
              <a:ext uri="{FF2B5EF4-FFF2-40B4-BE49-F238E27FC236}">
                <a16:creationId xmlns:a16="http://schemas.microsoft.com/office/drawing/2014/main" id="{3E63BE5A-BA77-3938-C513-F8742B1EF8E7}"/>
              </a:ext>
            </a:extLst>
          </p:cNvPr>
          <p:cNvPicPr>
            <a:picLocks noChangeAspect="1"/>
          </p:cNvPicPr>
          <p:nvPr/>
        </p:nvPicPr>
        <p:blipFill>
          <a:blip r:embed="rId5"/>
          <a:stretch>
            <a:fillRect/>
          </a:stretch>
        </p:blipFill>
        <p:spPr>
          <a:xfrm>
            <a:off x="7558952" y="3398135"/>
            <a:ext cx="2367710" cy="1239204"/>
          </a:xfrm>
          <a:prstGeom prst="rect">
            <a:avLst/>
          </a:prstGeom>
        </p:spPr>
      </p:pic>
      <p:sp>
        <p:nvSpPr>
          <p:cNvPr id="22" name="文本框 21">
            <a:extLst>
              <a:ext uri="{FF2B5EF4-FFF2-40B4-BE49-F238E27FC236}">
                <a16:creationId xmlns:a16="http://schemas.microsoft.com/office/drawing/2014/main" id="{36C44D07-73EB-D0F6-EAA8-2909D8F03FE6}"/>
              </a:ext>
            </a:extLst>
          </p:cNvPr>
          <p:cNvSpPr txBox="1"/>
          <p:nvPr/>
        </p:nvSpPr>
        <p:spPr>
          <a:xfrm>
            <a:off x="6003520" y="2229323"/>
            <a:ext cx="5136642" cy="646331"/>
          </a:xfrm>
          <a:prstGeom prst="rect">
            <a:avLst/>
          </a:prstGeom>
          <a:noFill/>
        </p:spPr>
        <p:txBody>
          <a:bodyPr wrap="square">
            <a:spAutoFit/>
          </a:bodyPr>
          <a:lstStyle/>
          <a:p>
            <a:r>
              <a:rPr lang="en-US" altLang="zh-CN" sz="1800" dirty="0">
                <a:effectLst/>
                <a:latin typeface="Times New Roman" panose="02020603050405020304" pitchFamily="18" charset="0"/>
                <a:cs typeface="Times New Roman" panose="02020603050405020304" pitchFamily="18" charset="0"/>
              </a:rPr>
              <a:t>1913</a:t>
            </a:r>
            <a:r>
              <a:rPr lang="zh-CN" altLang="zh-CN" sz="1800" dirty="0">
                <a:effectLst/>
                <a:latin typeface="Times New Roman" panose="02020603050405020304" pitchFamily="18" charset="0"/>
                <a:cs typeface="Times New Roman" panose="02020603050405020304" pitchFamily="18" charset="0"/>
              </a:rPr>
              <a:t>年，米彻利斯（</a:t>
            </a:r>
            <a:r>
              <a:rPr lang="en-US" altLang="zh-CN" sz="1800" dirty="0">
                <a:effectLst/>
                <a:latin typeface="Times New Roman" panose="02020603050405020304" pitchFamily="18" charset="0"/>
                <a:cs typeface="Times New Roman" panose="02020603050405020304" pitchFamily="18" charset="0"/>
              </a:rPr>
              <a:t>Michaelis</a:t>
            </a:r>
            <a:r>
              <a:rPr lang="zh-CN" altLang="zh-CN" sz="1800" dirty="0">
                <a:effectLst/>
                <a:latin typeface="Times New Roman" panose="02020603050405020304" pitchFamily="18" charset="0"/>
                <a:cs typeface="Times New Roman" panose="02020603050405020304" pitchFamily="18" charset="0"/>
              </a:rPr>
              <a:t>）和曼吞（</a:t>
            </a:r>
            <a:r>
              <a:rPr lang="en-US" altLang="zh-CN" sz="1800" dirty="0" err="1">
                <a:effectLst/>
                <a:latin typeface="Times New Roman" panose="02020603050405020304" pitchFamily="18" charset="0"/>
                <a:cs typeface="Times New Roman" panose="02020603050405020304" pitchFamily="18" charset="0"/>
              </a:rPr>
              <a:t>Menton</a:t>
            </a:r>
            <a:r>
              <a:rPr lang="zh-CN" altLang="zh-CN" sz="1800" dirty="0">
                <a:effectLst/>
                <a:latin typeface="Times New Roman" panose="02020603050405020304" pitchFamily="18" charset="0"/>
                <a:cs typeface="Times New Roman" panose="02020603050405020304" pitchFamily="18" charset="0"/>
              </a:rPr>
              <a:t>）在前人研究的基础上，推导出著名的米氏方程</a:t>
            </a:r>
            <a:r>
              <a:rPr lang="zh-CN" altLang="en-US" sz="1800" dirty="0">
                <a:effectLst/>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725F69E4-79EF-7560-2236-D6FBD3B61D54}"/>
              </a:ext>
            </a:extLst>
          </p:cNvPr>
          <p:cNvSpPr txBox="1"/>
          <p:nvPr/>
        </p:nvSpPr>
        <p:spPr>
          <a:xfrm>
            <a:off x="6364224" y="5159820"/>
            <a:ext cx="5212080" cy="923330"/>
          </a:xfrm>
          <a:prstGeom prst="rect">
            <a:avLst/>
          </a:prstGeom>
          <a:noFill/>
        </p:spPr>
        <p:txBody>
          <a:bodyPr wrap="square">
            <a:spAutoFit/>
          </a:bodyPr>
          <a:lstStyle>
            <a:defPPr>
              <a:defRPr lang="zh-CN"/>
            </a:defPPr>
            <a:lvl1pPr>
              <a:defRPr>
                <a:effectLst/>
                <a:latin typeface="Times New Roman" panose="02020603050405020304" pitchFamily="18" charset="0"/>
                <a:cs typeface="Times New Roman" panose="02020603050405020304" pitchFamily="18" charset="0"/>
              </a:defRPr>
            </a:lvl1pPr>
          </a:lstStyle>
          <a:p>
            <a:r>
              <a:rPr lang="en-US" altLang="zh-CN" dirty="0"/>
              <a:t>V</a:t>
            </a:r>
            <a:r>
              <a:rPr lang="zh-CN" altLang="zh-CN" dirty="0"/>
              <a:t>为反应速度；</a:t>
            </a:r>
            <a:r>
              <a:rPr lang="en-US" altLang="zh-CN" dirty="0"/>
              <a:t>S</a:t>
            </a:r>
            <a:r>
              <a:rPr lang="zh-CN" altLang="zh-CN" dirty="0"/>
              <a:t>为底物浓度；</a:t>
            </a:r>
            <a:r>
              <a:rPr lang="en-US" altLang="zh-CN" dirty="0" err="1"/>
              <a:t>Vm</a:t>
            </a:r>
            <a:r>
              <a:rPr lang="zh-CN" altLang="zh-CN" dirty="0"/>
              <a:t>为最大反应速度；</a:t>
            </a:r>
            <a:r>
              <a:rPr lang="en-US" altLang="zh-CN" dirty="0"/>
              <a:t>Km</a:t>
            </a:r>
            <a:r>
              <a:rPr lang="zh-CN" altLang="zh-CN" dirty="0"/>
              <a:t>为米氏常数，为酶催化反应速度等于最大反应速度一半时的底物浓度。</a:t>
            </a:r>
            <a:endParaRPr lang="zh-CN" altLang="en-US" dirty="0"/>
          </a:p>
        </p:txBody>
      </p:sp>
    </p:spTree>
    <p:extLst>
      <p:ext uri="{BB962C8B-B14F-4D97-AF65-F5344CB8AC3E}">
        <p14:creationId xmlns:p14="http://schemas.microsoft.com/office/powerpoint/2010/main" val="123491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526796" y="921064"/>
            <a:ext cx="2455164" cy="523220"/>
          </a:xfrm>
          <a:prstGeom prst="rect">
            <a:avLst/>
          </a:prstGeom>
          <a:noFill/>
        </p:spPr>
        <p:txBody>
          <a:bodyPr wrap="square">
            <a:spAutoFit/>
          </a:bodyPr>
          <a:lstStyle/>
          <a:p>
            <a:r>
              <a:rPr lang="zh-CN" altLang="en-US" sz="2800" b="1" dirty="0">
                <a:solidFill>
                  <a:srgbClr val="1D50A2"/>
                </a:solidFill>
                <a:cs typeface="+mn-ea"/>
              </a:rPr>
              <a:t>酶浓度的影响</a:t>
            </a:r>
          </a:p>
        </p:txBody>
      </p:sp>
      <p:sp>
        <p:nvSpPr>
          <p:cNvPr id="13" name="文本框 12">
            <a:extLst>
              <a:ext uri="{FF2B5EF4-FFF2-40B4-BE49-F238E27FC236}">
                <a16:creationId xmlns:a16="http://schemas.microsoft.com/office/drawing/2014/main" id="{7409CFCA-D313-13EE-92F9-8997E9B6E937}"/>
              </a:ext>
            </a:extLst>
          </p:cNvPr>
          <p:cNvSpPr txBox="1"/>
          <p:nvPr/>
        </p:nvSpPr>
        <p:spPr>
          <a:xfrm>
            <a:off x="375920" y="5162300"/>
            <a:ext cx="5212080" cy="923330"/>
          </a:xfrm>
          <a:prstGeom prst="rect">
            <a:avLst/>
          </a:prstGeom>
          <a:noFill/>
          <a:ln>
            <a:solidFill>
              <a:srgbClr val="92D050"/>
            </a:solidFill>
          </a:ln>
        </p:spPr>
        <p:txBody>
          <a:bodyPr wrap="square">
            <a:spAutoFit/>
          </a:bodyPr>
          <a:lstStyle/>
          <a:p>
            <a:pPr algn="ctr"/>
            <a:r>
              <a:rPr lang="zh-CN" altLang="en-US" sz="1800" dirty="0">
                <a:effectLst/>
                <a:latin typeface="+mn-ea"/>
                <a:cs typeface="Times New Roman" panose="02020603050405020304" pitchFamily="18" charset="0"/>
              </a:rPr>
              <a:t>在底物浓度足够高的条件下，酶催化反应速度与酶浓度成正比。它们之间的关系可以用下式表示</a:t>
            </a:r>
            <a:r>
              <a:rPr lang="en-US" altLang="zh-CN" sz="1800" dirty="0">
                <a:effectLst/>
                <a:latin typeface="+mn-ea"/>
                <a:cs typeface="Times New Roman" panose="02020603050405020304" pitchFamily="18" charset="0"/>
              </a:rPr>
              <a:t>: V=k[E]</a:t>
            </a:r>
          </a:p>
        </p:txBody>
      </p:sp>
      <p:grpSp>
        <p:nvGrpSpPr>
          <p:cNvPr id="3" name="Group 67">
            <a:extLst>
              <a:ext uri="{FF2B5EF4-FFF2-40B4-BE49-F238E27FC236}">
                <a16:creationId xmlns:a16="http://schemas.microsoft.com/office/drawing/2014/main" id="{273E2D66-FC49-718B-604A-8076590DD04F}"/>
              </a:ext>
            </a:extLst>
          </p:cNvPr>
          <p:cNvGrpSpPr/>
          <p:nvPr/>
        </p:nvGrpSpPr>
        <p:grpSpPr>
          <a:xfrm>
            <a:off x="1078992" y="2147027"/>
            <a:ext cx="3223222" cy="2692462"/>
            <a:chOff x="6553" y="78"/>
            <a:chExt cx="2413" cy="1715"/>
          </a:xfrm>
        </p:grpSpPr>
        <p:pic>
          <p:nvPicPr>
            <p:cNvPr id="5" name="Picture 68">
              <a:extLst>
                <a:ext uri="{FF2B5EF4-FFF2-40B4-BE49-F238E27FC236}">
                  <a16:creationId xmlns:a16="http://schemas.microsoft.com/office/drawing/2014/main" id="{080695B0-851B-4A2F-B916-099530165D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553" y="78"/>
              <a:ext cx="2413" cy="1715"/>
            </a:xfrm>
            <a:prstGeom prst="rect">
              <a:avLst/>
            </a:prstGeom>
            <a:noFill/>
          </p:spPr>
        </p:pic>
        <p:grpSp>
          <p:nvGrpSpPr>
            <p:cNvPr id="7" name="Group 69">
              <a:extLst>
                <a:ext uri="{FF2B5EF4-FFF2-40B4-BE49-F238E27FC236}">
                  <a16:creationId xmlns:a16="http://schemas.microsoft.com/office/drawing/2014/main" id="{CEDBDFEA-38CE-DA6F-6BD4-868D76038828}"/>
                </a:ext>
              </a:extLst>
            </p:cNvPr>
            <p:cNvGrpSpPr/>
            <p:nvPr/>
          </p:nvGrpSpPr>
          <p:grpSpPr>
            <a:xfrm>
              <a:off x="6664" y="1603"/>
              <a:ext cx="99" cy="104"/>
              <a:chOff x="6664" y="1603"/>
              <a:chExt cx="99" cy="104"/>
            </a:xfrm>
          </p:grpSpPr>
          <p:sp>
            <p:nvSpPr>
              <p:cNvPr id="8" name="Freeform 70">
                <a:extLst>
                  <a:ext uri="{FF2B5EF4-FFF2-40B4-BE49-F238E27FC236}">
                    <a16:creationId xmlns:a16="http://schemas.microsoft.com/office/drawing/2014/main" id="{1851E717-B327-AECD-6F97-FA3DB5B60026}"/>
                  </a:ext>
                </a:extLst>
              </p:cNvPr>
              <p:cNvSpPr/>
              <p:nvPr/>
            </p:nvSpPr>
            <p:spPr bwMode="auto">
              <a:xfrm>
                <a:off x="6664" y="1603"/>
                <a:ext cx="99" cy="104"/>
              </a:xfrm>
              <a:custGeom>
                <a:avLst/>
                <a:gdLst>
                  <a:gd name="T0" fmla="+- 0 6736 6664"/>
                  <a:gd name="T1" fmla="*/ T0 w 99"/>
                  <a:gd name="T2" fmla="+- 0 1603 1603"/>
                  <a:gd name="T3" fmla="*/ 1603 h 104"/>
                  <a:gd name="T4" fmla="+- 0 6721 6664"/>
                  <a:gd name="T5" fmla="*/ T4 w 99"/>
                  <a:gd name="T6" fmla="+- 0 1603 1603"/>
                  <a:gd name="T7" fmla="*/ 1603 h 104"/>
                  <a:gd name="T8" fmla="+- 0 6714 6664"/>
                  <a:gd name="T9" fmla="*/ T8 w 99"/>
                  <a:gd name="T10" fmla="+- 0 1605 1603"/>
                  <a:gd name="T11" fmla="*/ 1605 h 104"/>
                  <a:gd name="T12" fmla="+- 0 6666 6664"/>
                  <a:gd name="T13" fmla="*/ T12 w 99"/>
                  <a:gd name="T14" fmla="+- 0 1654 1603"/>
                  <a:gd name="T15" fmla="*/ 1654 h 104"/>
                  <a:gd name="T16" fmla="+- 0 6664 6664"/>
                  <a:gd name="T17" fmla="*/ T16 w 99"/>
                  <a:gd name="T18" fmla="+- 0 1663 1603"/>
                  <a:gd name="T19" fmla="*/ 1663 h 104"/>
                  <a:gd name="T20" fmla="+- 0 6664 6664"/>
                  <a:gd name="T21" fmla="*/ T20 w 99"/>
                  <a:gd name="T22" fmla="+- 0 1677 1603"/>
                  <a:gd name="T23" fmla="*/ 1677 h 104"/>
                  <a:gd name="T24" fmla="+- 0 6691 6664"/>
                  <a:gd name="T25" fmla="*/ T24 w 99"/>
                  <a:gd name="T26" fmla="+- 0 1707 1603"/>
                  <a:gd name="T27" fmla="*/ 1707 h 104"/>
                  <a:gd name="T28" fmla="+- 0 6709 6664"/>
                  <a:gd name="T29" fmla="*/ T28 w 99"/>
                  <a:gd name="T30" fmla="+- 0 1707 1603"/>
                  <a:gd name="T31" fmla="*/ 1707 h 104"/>
                  <a:gd name="T32" fmla="+- 0 6719 6664"/>
                  <a:gd name="T33" fmla="*/ T32 w 99"/>
                  <a:gd name="T34" fmla="+- 0 1704 1603"/>
                  <a:gd name="T35" fmla="*/ 1704 h 104"/>
                  <a:gd name="T36" fmla="+- 0 6722 6664"/>
                  <a:gd name="T37" fmla="*/ T36 w 99"/>
                  <a:gd name="T38" fmla="+- 0 1702 1603"/>
                  <a:gd name="T39" fmla="*/ 1702 h 104"/>
                  <a:gd name="T40" fmla="+- 0 6693 6664"/>
                  <a:gd name="T41" fmla="*/ T40 w 99"/>
                  <a:gd name="T42" fmla="+- 0 1702 1603"/>
                  <a:gd name="T43" fmla="*/ 1702 h 104"/>
                  <a:gd name="T44" fmla="+- 0 6688 6664"/>
                  <a:gd name="T45" fmla="*/ T44 w 99"/>
                  <a:gd name="T46" fmla="+- 0 1699 1603"/>
                  <a:gd name="T47" fmla="*/ 1699 h 104"/>
                  <a:gd name="T48" fmla="+- 0 6681 6664"/>
                  <a:gd name="T49" fmla="*/ T48 w 99"/>
                  <a:gd name="T50" fmla="+- 0 1689 1603"/>
                  <a:gd name="T51" fmla="*/ 1689 h 104"/>
                  <a:gd name="T52" fmla="+- 0 6679 6664"/>
                  <a:gd name="T53" fmla="*/ T52 w 99"/>
                  <a:gd name="T54" fmla="+- 0 1683 1603"/>
                  <a:gd name="T55" fmla="*/ 1683 h 104"/>
                  <a:gd name="T56" fmla="+- 0 6679 6664"/>
                  <a:gd name="T57" fmla="*/ T56 w 99"/>
                  <a:gd name="T58" fmla="+- 0 1666 1603"/>
                  <a:gd name="T59" fmla="*/ 1666 h 104"/>
                  <a:gd name="T60" fmla="+- 0 6681 6664"/>
                  <a:gd name="T61" fmla="*/ T60 w 99"/>
                  <a:gd name="T62" fmla="+- 0 1656 1603"/>
                  <a:gd name="T63" fmla="*/ 1656 h 104"/>
                  <a:gd name="T64" fmla="+- 0 6721 6664"/>
                  <a:gd name="T65" fmla="*/ T64 w 99"/>
                  <a:gd name="T66" fmla="+- 0 1608 1603"/>
                  <a:gd name="T67" fmla="*/ 1608 h 104"/>
                  <a:gd name="T68" fmla="+- 0 6747 6664"/>
                  <a:gd name="T69" fmla="*/ T68 w 99"/>
                  <a:gd name="T70" fmla="+- 0 1608 1603"/>
                  <a:gd name="T71" fmla="*/ 1608 h 104"/>
                  <a:gd name="T72" fmla="+- 0 6741 6664"/>
                  <a:gd name="T73" fmla="*/ T72 w 99"/>
                  <a:gd name="T74" fmla="+- 0 1604 1603"/>
                  <a:gd name="T75" fmla="*/ 1604 h 104"/>
                  <a:gd name="T76" fmla="+- 0 6736 6664"/>
                  <a:gd name="T77" fmla="*/ T76 w 99"/>
                  <a:gd name="T78" fmla="+- 0 1603 1603"/>
                  <a:gd name="T79" fmla="*/ 1603 h 10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99" h="104">
                    <a:moveTo>
                      <a:pt x="72" y="0"/>
                    </a:moveTo>
                    <a:lnTo>
                      <a:pt x="57" y="0"/>
                    </a:lnTo>
                    <a:lnTo>
                      <a:pt x="50" y="2"/>
                    </a:lnTo>
                    <a:lnTo>
                      <a:pt x="2" y="51"/>
                    </a:lnTo>
                    <a:lnTo>
                      <a:pt x="0" y="60"/>
                    </a:lnTo>
                    <a:lnTo>
                      <a:pt x="0" y="74"/>
                    </a:lnTo>
                    <a:lnTo>
                      <a:pt x="27" y="104"/>
                    </a:lnTo>
                    <a:lnTo>
                      <a:pt x="45" y="104"/>
                    </a:lnTo>
                    <a:lnTo>
                      <a:pt x="55" y="101"/>
                    </a:lnTo>
                    <a:lnTo>
                      <a:pt x="58" y="99"/>
                    </a:lnTo>
                    <a:lnTo>
                      <a:pt x="29" y="99"/>
                    </a:lnTo>
                    <a:lnTo>
                      <a:pt x="24" y="96"/>
                    </a:lnTo>
                    <a:lnTo>
                      <a:pt x="17" y="86"/>
                    </a:lnTo>
                    <a:lnTo>
                      <a:pt x="15" y="80"/>
                    </a:lnTo>
                    <a:lnTo>
                      <a:pt x="15" y="63"/>
                    </a:lnTo>
                    <a:lnTo>
                      <a:pt x="17" y="53"/>
                    </a:lnTo>
                    <a:lnTo>
                      <a:pt x="57" y="5"/>
                    </a:lnTo>
                    <a:lnTo>
                      <a:pt x="83" y="5"/>
                    </a:lnTo>
                    <a:lnTo>
                      <a:pt x="77" y="1"/>
                    </a:lnTo>
                    <a:lnTo>
                      <a:pt x="72" y="0"/>
                    </a:lnTo>
                  </a:path>
                </a:pathLst>
              </a:custGeom>
              <a:solidFill>
                <a:srgbClr val="231F20"/>
              </a:solidFill>
              <a:ln>
                <a:noFill/>
              </a:ln>
            </p:spPr>
            <p:txBody>
              <a:bodyPr rot="0" vert="horz" wrap="square" lIns="91440" tIns="45720" rIns="91440" bIns="45720" anchor="t" anchorCtr="0" upright="1">
                <a:noAutofit/>
              </a:bodyPr>
              <a:lstStyle/>
              <a:p>
                <a:endParaRPr lang="zh-CN" altLang="en-US"/>
              </a:p>
            </p:txBody>
          </p:sp>
          <p:sp>
            <p:nvSpPr>
              <p:cNvPr id="9" name="Freeform 71">
                <a:extLst>
                  <a:ext uri="{FF2B5EF4-FFF2-40B4-BE49-F238E27FC236}">
                    <a16:creationId xmlns:a16="http://schemas.microsoft.com/office/drawing/2014/main" id="{CB18C597-0893-D3B1-4AB2-146C1B28D127}"/>
                  </a:ext>
                </a:extLst>
              </p:cNvPr>
              <p:cNvSpPr/>
              <p:nvPr/>
            </p:nvSpPr>
            <p:spPr bwMode="auto">
              <a:xfrm>
                <a:off x="6664" y="1603"/>
                <a:ext cx="99" cy="104"/>
              </a:xfrm>
              <a:custGeom>
                <a:avLst/>
                <a:gdLst>
                  <a:gd name="T0" fmla="+- 0 6747 6664"/>
                  <a:gd name="T1" fmla="*/ T0 w 99"/>
                  <a:gd name="T2" fmla="+- 0 1608 1603"/>
                  <a:gd name="T3" fmla="*/ 1608 h 104"/>
                  <a:gd name="T4" fmla="+- 0 6734 6664"/>
                  <a:gd name="T5" fmla="*/ T4 w 99"/>
                  <a:gd name="T6" fmla="+- 0 1608 1603"/>
                  <a:gd name="T7" fmla="*/ 1608 h 104"/>
                  <a:gd name="T8" fmla="+- 0 6739 6664"/>
                  <a:gd name="T9" fmla="*/ T8 w 99"/>
                  <a:gd name="T10" fmla="+- 0 1610 1603"/>
                  <a:gd name="T11" fmla="*/ 1610 h 104"/>
                  <a:gd name="T12" fmla="+- 0 6746 6664"/>
                  <a:gd name="T13" fmla="*/ T12 w 99"/>
                  <a:gd name="T14" fmla="+- 0 1620 1603"/>
                  <a:gd name="T15" fmla="*/ 1620 h 104"/>
                  <a:gd name="T16" fmla="+- 0 6748 6664"/>
                  <a:gd name="T17" fmla="*/ T16 w 99"/>
                  <a:gd name="T18" fmla="+- 0 1626 1603"/>
                  <a:gd name="T19" fmla="*/ 1626 h 104"/>
                  <a:gd name="T20" fmla="+- 0 6748 6664"/>
                  <a:gd name="T21" fmla="*/ T20 w 99"/>
                  <a:gd name="T22" fmla="+- 0 1642 1603"/>
                  <a:gd name="T23" fmla="*/ 1642 h 104"/>
                  <a:gd name="T24" fmla="+- 0 6718 6664"/>
                  <a:gd name="T25" fmla="*/ T24 w 99"/>
                  <a:gd name="T26" fmla="+- 0 1696 1603"/>
                  <a:gd name="T27" fmla="*/ 1696 h 104"/>
                  <a:gd name="T28" fmla="+- 0 6705 6664"/>
                  <a:gd name="T29" fmla="*/ T28 w 99"/>
                  <a:gd name="T30" fmla="+- 0 1702 1603"/>
                  <a:gd name="T31" fmla="*/ 1702 h 104"/>
                  <a:gd name="T32" fmla="+- 0 6722 6664"/>
                  <a:gd name="T33" fmla="*/ T32 w 99"/>
                  <a:gd name="T34" fmla="+- 0 1702 1603"/>
                  <a:gd name="T35" fmla="*/ 1702 h 104"/>
                  <a:gd name="T36" fmla="+- 0 6739 6664"/>
                  <a:gd name="T37" fmla="*/ T36 w 99"/>
                  <a:gd name="T38" fmla="+- 0 1691 1603"/>
                  <a:gd name="T39" fmla="*/ 1691 h 104"/>
                  <a:gd name="T40" fmla="+- 0 6747 6664"/>
                  <a:gd name="T41" fmla="*/ T40 w 99"/>
                  <a:gd name="T42" fmla="+- 0 1682 1603"/>
                  <a:gd name="T43" fmla="*/ 1682 h 104"/>
                  <a:gd name="T44" fmla="+- 0 6760 6664"/>
                  <a:gd name="T45" fmla="*/ T44 w 99"/>
                  <a:gd name="T46" fmla="+- 0 1659 1603"/>
                  <a:gd name="T47" fmla="*/ 1659 h 104"/>
                  <a:gd name="T48" fmla="+- 0 6763 6664"/>
                  <a:gd name="T49" fmla="*/ T48 w 99"/>
                  <a:gd name="T50" fmla="+- 0 1648 1603"/>
                  <a:gd name="T51" fmla="*/ 1648 h 104"/>
                  <a:gd name="T52" fmla="+- 0 6763 6664"/>
                  <a:gd name="T53" fmla="*/ T52 w 99"/>
                  <a:gd name="T54" fmla="+- 0 1631 1603"/>
                  <a:gd name="T55" fmla="*/ 1631 h 104"/>
                  <a:gd name="T56" fmla="+- 0 6761 6664"/>
                  <a:gd name="T57" fmla="*/ T56 w 99"/>
                  <a:gd name="T58" fmla="+- 0 1625 1603"/>
                  <a:gd name="T59" fmla="*/ 1625 h 104"/>
                  <a:gd name="T60" fmla="+- 0 6756 6664"/>
                  <a:gd name="T61" fmla="*/ T60 w 99"/>
                  <a:gd name="T62" fmla="+- 0 1614 1603"/>
                  <a:gd name="T63" fmla="*/ 1614 h 104"/>
                  <a:gd name="T64" fmla="+- 0 6752 6664"/>
                  <a:gd name="T65" fmla="*/ T64 w 99"/>
                  <a:gd name="T66" fmla="+- 0 1610 1603"/>
                  <a:gd name="T67" fmla="*/ 1610 h 104"/>
                  <a:gd name="T68" fmla="+- 0 6747 6664"/>
                  <a:gd name="T69" fmla="*/ T68 w 99"/>
                  <a:gd name="T70" fmla="+- 0 1608 1603"/>
                  <a:gd name="T71" fmla="*/ 1608 h 10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99" h="104">
                    <a:moveTo>
                      <a:pt x="83" y="5"/>
                    </a:moveTo>
                    <a:lnTo>
                      <a:pt x="70" y="5"/>
                    </a:lnTo>
                    <a:lnTo>
                      <a:pt x="75" y="7"/>
                    </a:lnTo>
                    <a:lnTo>
                      <a:pt x="82" y="17"/>
                    </a:lnTo>
                    <a:lnTo>
                      <a:pt x="84" y="23"/>
                    </a:lnTo>
                    <a:lnTo>
                      <a:pt x="84" y="39"/>
                    </a:lnTo>
                    <a:lnTo>
                      <a:pt x="54" y="93"/>
                    </a:lnTo>
                    <a:lnTo>
                      <a:pt x="41" y="99"/>
                    </a:lnTo>
                    <a:lnTo>
                      <a:pt x="58" y="99"/>
                    </a:lnTo>
                    <a:lnTo>
                      <a:pt x="75" y="88"/>
                    </a:lnTo>
                    <a:lnTo>
                      <a:pt x="83" y="79"/>
                    </a:lnTo>
                    <a:lnTo>
                      <a:pt x="96" y="56"/>
                    </a:lnTo>
                    <a:lnTo>
                      <a:pt x="99" y="45"/>
                    </a:lnTo>
                    <a:lnTo>
                      <a:pt x="99" y="28"/>
                    </a:lnTo>
                    <a:lnTo>
                      <a:pt x="97" y="22"/>
                    </a:lnTo>
                    <a:lnTo>
                      <a:pt x="92" y="11"/>
                    </a:lnTo>
                    <a:lnTo>
                      <a:pt x="88" y="7"/>
                    </a:lnTo>
                    <a:lnTo>
                      <a:pt x="83" y="5"/>
                    </a:lnTo>
                  </a:path>
                </a:pathLst>
              </a:custGeom>
              <a:solidFill>
                <a:srgbClr val="231F20"/>
              </a:solidFill>
              <a:ln>
                <a:noFill/>
              </a:ln>
            </p:spPr>
            <p:txBody>
              <a:bodyPr rot="0" vert="horz" wrap="square" lIns="91440" tIns="45720" rIns="91440" bIns="45720" anchor="t" anchorCtr="0" upright="1">
                <a:noAutofit/>
              </a:bodyPr>
              <a:lstStyle/>
              <a:p>
                <a:endParaRPr lang="zh-CN" altLang="en-US"/>
              </a:p>
            </p:txBody>
          </p:sp>
        </p:grpSp>
      </p:grpSp>
      <p:sp>
        <p:nvSpPr>
          <p:cNvPr id="12" name="文本框 11">
            <a:extLst>
              <a:ext uri="{FF2B5EF4-FFF2-40B4-BE49-F238E27FC236}">
                <a16:creationId xmlns:a16="http://schemas.microsoft.com/office/drawing/2014/main" id="{D36C1870-2C6C-AAED-A9BD-F279FE03EFDC}"/>
              </a:ext>
            </a:extLst>
          </p:cNvPr>
          <p:cNvSpPr txBox="1"/>
          <p:nvPr/>
        </p:nvSpPr>
        <p:spPr>
          <a:xfrm>
            <a:off x="6186678" y="803790"/>
            <a:ext cx="2069592" cy="523220"/>
          </a:xfrm>
          <a:prstGeom prst="rect">
            <a:avLst/>
          </a:prstGeom>
          <a:noFill/>
        </p:spPr>
        <p:txBody>
          <a:bodyPr wrap="square">
            <a:spAutoFit/>
          </a:bodyPr>
          <a:lstStyle/>
          <a:p>
            <a:r>
              <a:rPr lang="zh-CN" altLang="en-US" sz="2800" b="1" dirty="0">
                <a:solidFill>
                  <a:srgbClr val="1D50A2"/>
                </a:solidFill>
                <a:cs typeface="+mn-ea"/>
              </a:rPr>
              <a:t>温度的影响</a:t>
            </a:r>
          </a:p>
        </p:txBody>
      </p:sp>
      <p:pic>
        <p:nvPicPr>
          <p:cNvPr id="14" name="图片 13">
            <a:extLst>
              <a:ext uri="{FF2B5EF4-FFF2-40B4-BE49-F238E27FC236}">
                <a16:creationId xmlns:a16="http://schemas.microsoft.com/office/drawing/2014/main" id="{42338E25-CB89-18E7-5BE1-29AB7E5BD23A}"/>
              </a:ext>
            </a:extLst>
          </p:cNvPr>
          <p:cNvPicPr>
            <a:picLocks noChangeAspect="1"/>
          </p:cNvPicPr>
          <p:nvPr/>
        </p:nvPicPr>
        <p:blipFill rotWithShape="1">
          <a:blip r:embed="rId5">
            <a:extLst>
              <a:ext uri="{28A0092B-C50C-407E-A947-70E740481C1C}">
                <a14:useLocalDpi xmlns:a14="http://schemas.microsoft.com/office/drawing/2010/main" val="0"/>
              </a:ext>
            </a:extLst>
          </a:blip>
          <a:srcRect b="15858"/>
          <a:stretch/>
        </p:blipFill>
        <p:spPr bwMode="auto">
          <a:xfrm>
            <a:off x="6663690" y="2019779"/>
            <a:ext cx="3916680" cy="2818442"/>
          </a:xfrm>
          <a:prstGeom prst="rect">
            <a:avLst/>
          </a:prstGeom>
          <a:ln>
            <a:noFill/>
          </a:ln>
          <a:extLst>
            <a:ext uri="{53640926-AAD7-44D8-BBD7-CCE9431645EC}">
              <a14:shadowObscured xmlns:a14="http://schemas.microsoft.com/office/drawing/2010/main"/>
            </a:ext>
          </a:extLst>
        </p:spPr>
      </p:pic>
      <p:sp>
        <p:nvSpPr>
          <p:cNvPr id="17" name="文本框 16">
            <a:extLst>
              <a:ext uri="{FF2B5EF4-FFF2-40B4-BE49-F238E27FC236}">
                <a16:creationId xmlns:a16="http://schemas.microsoft.com/office/drawing/2014/main" id="{5A43E191-A143-034D-790A-4EC5B47AA7A2}"/>
              </a:ext>
            </a:extLst>
          </p:cNvPr>
          <p:cNvSpPr txBox="1"/>
          <p:nvPr/>
        </p:nvSpPr>
        <p:spPr>
          <a:xfrm>
            <a:off x="6307074" y="5130880"/>
            <a:ext cx="5369814" cy="923330"/>
          </a:xfrm>
          <a:prstGeom prst="rect">
            <a:avLst/>
          </a:prstGeom>
          <a:noFill/>
          <a:ln>
            <a:solidFill>
              <a:srgbClr val="0070C0"/>
            </a:solidFill>
          </a:ln>
        </p:spPr>
        <p:txBody>
          <a:bodyPr wrap="square">
            <a:spAutoFit/>
          </a:bodyPr>
          <a:lstStyle/>
          <a:p>
            <a:r>
              <a:rPr lang="zh-CN" altLang="en-US" dirty="0"/>
              <a:t>每一种酶的催化反应都有其适宜温度范围和最适温度。在适宜温度范围内，酶才能够进行催化反应</a:t>
            </a:r>
            <a:r>
              <a:rPr lang="en-US" altLang="zh-CN" dirty="0"/>
              <a:t>;</a:t>
            </a:r>
            <a:r>
              <a:rPr lang="zh-CN" altLang="en-US" dirty="0"/>
              <a:t>在最适温度条件下，酶的催化反应速度达到最大，</a:t>
            </a:r>
          </a:p>
        </p:txBody>
      </p:sp>
    </p:spTree>
    <p:extLst>
      <p:ext uri="{BB962C8B-B14F-4D97-AF65-F5344CB8AC3E}">
        <p14:creationId xmlns:p14="http://schemas.microsoft.com/office/powerpoint/2010/main" val="1849322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CC55D1EF-5FE3-FF4D-258D-4B82349F0C80}"/>
              </a:ext>
            </a:extLst>
          </p:cNvPr>
          <p:cNvSpPr/>
          <p:nvPr/>
        </p:nvSpPr>
        <p:spPr>
          <a:xfrm>
            <a:off x="4565174" y="5040099"/>
            <a:ext cx="7501763" cy="176271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mj-ea"/>
              <a:ea typeface="+mj-ea"/>
            </a:endParaRPr>
          </a:p>
        </p:txBody>
      </p:sp>
      <p:sp>
        <p:nvSpPr>
          <p:cNvPr id="34" name="矩形 33">
            <a:extLst>
              <a:ext uri="{FF2B5EF4-FFF2-40B4-BE49-F238E27FC236}">
                <a16:creationId xmlns:a16="http://schemas.microsoft.com/office/drawing/2014/main" id="{E5AF433E-3478-1F35-B5FC-FC12A6B785EC}"/>
              </a:ext>
            </a:extLst>
          </p:cNvPr>
          <p:cNvSpPr/>
          <p:nvPr/>
        </p:nvSpPr>
        <p:spPr>
          <a:xfrm>
            <a:off x="4565175" y="3095794"/>
            <a:ext cx="7501763" cy="18384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mj-ea"/>
              <a:ea typeface="+mj-ea"/>
            </a:endParaRPr>
          </a:p>
        </p:txBody>
      </p:sp>
      <p:sp>
        <p:nvSpPr>
          <p:cNvPr id="28" name="矩形 27">
            <a:extLst>
              <a:ext uri="{FF2B5EF4-FFF2-40B4-BE49-F238E27FC236}">
                <a16:creationId xmlns:a16="http://schemas.microsoft.com/office/drawing/2014/main" id="{28CA598B-F3C1-9752-356D-595400229F2E}"/>
              </a:ext>
            </a:extLst>
          </p:cNvPr>
          <p:cNvSpPr/>
          <p:nvPr/>
        </p:nvSpPr>
        <p:spPr>
          <a:xfrm>
            <a:off x="4570414" y="1202927"/>
            <a:ext cx="7501763" cy="1838402"/>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mj-ea"/>
              <a:ea typeface="+mj-ea"/>
            </a:endParaRPr>
          </a:p>
        </p:txBody>
      </p:sp>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690372" y="814312"/>
            <a:ext cx="1780794" cy="523220"/>
          </a:xfrm>
          <a:prstGeom prst="rect">
            <a:avLst/>
          </a:prstGeom>
          <a:noFill/>
        </p:spPr>
        <p:txBody>
          <a:bodyPr wrap="square">
            <a:spAutoFit/>
          </a:bodyPr>
          <a:lstStyle/>
          <a:p>
            <a:r>
              <a:rPr lang="en-US" altLang="zh-CN" sz="2800" b="1" dirty="0">
                <a:solidFill>
                  <a:srgbClr val="1D50A2"/>
                </a:solidFill>
                <a:cs typeface="+mn-ea"/>
              </a:rPr>
              <a:t>pH</a:t>
            </a:r>
            <a:r>
              <a:rPr lang="zh-CN" altLang="en-US" sz="2800" b="1" dirty="0">
                <a:solidFill>
                  <a:srgbClr val="1D50A2"/>
                </a:solidFill>
                <a:cs typeface="+mn-ea"/>
              </a:rPr>
              <a:t>的影响</a:t>
            </a:r>
          </a:p>
        </p:txBody>
      </p:sp>
      <p:sp>
        <p:nvSpPr>
          <p:cNvPr id="12" name="文本框 11">
            <a:extLst>
              <a:ext uri="{FF2B5EF4-FFF2-40B4-BE49-F238E27FC236}">
                <a16:creationId xmlns:a16="http://schemas.microsoft.com/office/drawing/2014/main" id="{D36C1870-2C6C-AAED-A9BD-F279FE03EFDC}"/>
              </a:ext>
            </a:extLst>
          </p:cNvPr>
          <p:cNvSpPr txBox="1"/>
          <p:nvPr/>
        </p:nvSpPr>
        <p:spPr>
          <a:xfrm>
            <a:off x="4565175" y="679707"/>
            <a:ext cx="2417826" cy="523220"/>
          </a:xfrm>
          <a:prstGeom prst="rect">
            <a:avLst/>
          </a:prstGeom>
          <a:noFill/>
        </p:spPr>
        <p:txBody>
          <a:bodyPr wrap="square">
            <a:spAutoFit/>
          </a:bodyPr>
          <a:lstStyle/>
          <a:p>
            <a:r>
              <a:rPr lang="zh-CN" altLang="en-US" sz="2800" b="1" dirty="0">
                <a:solidFill>
                  <a:srgbClr val="1D50A2"/>
                </a:solidFill>
                <a:cs typeface="+mn-ea"/>
              </a:rPr>
              <a:t>抑制剂的影响</a:t>
            </a:r>
          </a:p>
        </p:txBody>
      </p:sp>
      <p:grpSp>
        <p:nvGrpSpPr>
          <p:cNvPr id="2" name="Group 79">
            <a:extLst>
              <a:ext uri="{FF2B5EF4-FFF2-40B4-BE49-F238E27FC236}">
                <a16:creationId xmlns:a16="http://schemas.microsoft.com/office/drawing/2014/main" id="{0D0D321F-45B3-013C-5881-16616D209DC3}"/>
              </a:ext>
            </a:extLst>
          </p:cNvPr>
          <p:cNvGrpSpPr/>
          <p:nvPr/>
        </p:nvGrpSpPr>
        <p:grpSpPr>
          <a:xfrm>
            <a:off x="863040" y="2220039"/>
            <a:ext cx="3180334" cy="2140600"/>
            <a:chOff x="6873" y="-1771"/>
            <a:chExt cx="2384" cy="1716"/>
          </a:xfrm>
        </p:grpSpPr>
        <p:pic>
          <p:nvPicPr>
            <p:cNvPr id="4" name="Picture 80">
              <a:extLst>
                <a:ext uri="{FF2B5EF4-FFF2-40B4-BE49-F238E27FC236}">
                  <a16:creationId xmlns:a16="http://schemas.microsoft.com/office/drawing/2014/main" id="{C2B02CCF-F27B-5919-E317-7F110093A1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873" y="-1771"/>
              <a:ext cx="2384" cy="1716"/>
            </a:xfrm>
            <a:prstGeom prst="rect">
              <a:avLst/>
            </a:prstGeom>
            <a:noFill/>
          </p:spPr>
        </p:pic>
        <p:grpSp>
          <p:nvGrpSpPr>
            <p:cNvPr id="6" name="Group 81">
              <a:extLst>
                <a:ext uri="{FF2B5EF4-FFF2-40B4-BE49-F238E27FC236}">
                  <a16:creationId xmlns:a16="http://schemas.microsoft.com/office/drawing/2014/main" id="{5972EE07-303E-5663-46C4-F7338E294924}"/>
                </a:ext>
              </a:extLst>
            </p:cNvPr>
            <p:cNvGrpSpPr/>
            <p:nvPr/>
          </p:nvGrpSpPr>
          <p:grpSpPr>
            <a:xfrm>
              <a:off x="7000" y="-238"/>
              <a:ext cx="99" cy="104"/>
              <a:chOff x="7000" y="-238"/>
              <a:chExt cx="99" cy="104"/>
            </a:xfrm>
          </p:grpSpPr>
          <p:sp>
            <p:nvSpPr>
              <p:cNvPr id="10" name="Freeform 82">
                <a:extLst>
                  <a:ext uri="{FF2B5EF4-FFF2-40B4-BE49-F238E27FC236}">
                    <a16:creationId xmlns:a16="http://schemas.microsoft.com/office/drawing/2014/main" id="{52946CAB-F7D3-59A9-CF23-E6C9B38220D4}"/>
                  </a:ext>
                </a:extLst>
              </p:cNvPr>
              <p:cNvSpPr/>
              <p:nvPr/>
            </p:nvSpPr>
            <p:spPr bwMode="auto">
              <a:xfrm>
                <a:off x="7000" y="-238"/>
                <a:ext cx="99" cy="104"/>
              </a:xfrm>
              <a:custGeom>
                <a:avLst/>
                <a:gdLst>
                  <a:gd name="T0" fmla="+- 0 7072 7000"/>
                  <a:gd name="T1" fmla="*/ T0 w 99"/>
                  <a:gd name="T2" fmla="+- 0 -238 -238"/>
                  <a:gd name="T3" fmla="*/ -238 h 104"/>
                  <a:gd name="T4" fmla="+- 0 7057 7000"/>
                  <a:gd name="T5" fmla="*/ T4 w 99"/>
                  <a:gd name="T6" fmla="+- 0 -238 -238"/>
                  <a:gd name="T7" fmla="*/ -238 h 104"/>
                  <a:gd name="T8" fmla="+- 0 7050 7000"/>
                  <a:gd name="T9" fmla="*/ T8 w 99"/>
                  <a:gd name="T10" fmla="+- 0 -237 -238"/>
                  <a:gd name="T11" fmla="*/ -237 h 104"/>
                  <a:gd name="T12" fmla="+- 0 7002 7000"/>
                  <a:gd name="T13" fmla="*/ T12 w 99"/>
                  <a:gd name="T14" fmla="+- 0 -188 -238"/>
                  <a:gd name="T15" fmla="*/ -188 h 104"/>
                  <a:gd name="T16" fmla="+- 0 7000 7000"/>
                  <a:gd name="T17" fmla="*/ T16 w 99"/>
                  <a:gd name="T18" fmla="+- 0 -178 -238"/>
                  <a:gd name="T19" fmla="*/ -178 h 104"/>
                  <a:gd name="T20" fmla="+- 0 7000 7000"/>
                  <a:gd name="T21" fmla="*/ T20 w 99"/>
                  <a:gd name="T22" fmla="+- 0 -164 -238"/>
                  <a:gd name="T23" fmla="*/ -164 h 104"/>
                  <a:gd name="T24" fmla="+- 0 7027 7000"/>
                  <a:gd name="T25" fmla="*/ T24 w 99"/>
                  <a:gd name="T26" fmla="+- 0 -135 -238"/>
                  <a:gd name="T27" fmla="*/ -135 h 104"/>
                  <a:gd name="T28" fmla="+- 0 7045 7000"/>
                  <a:gd name="T29" fmla="*/ T28 w 99"/>
                  <a:gd name="T30" fmla="+- 0 -135 -238"/>
                  <a:gd name="T31" fmla="*/ -135 h 104"/>
                  <a:gd name="T32" fmla="+- 0 7056 7000"/>
                  <a:gd name="T33" fmla="*/ T32 w 99"/>
                  <a:gd name="T34" fmla="+- 0 -138 -238"/>
                  <a:gd name="T35" fmla="*/ -138 h 104"/>
                  <a:gd name="T36" fmla="+- 0 7058 7000"/>
                  <a:gd name="T37" fmla="*/ T36 w 99"/>
                  <a:gd name="T38" fmla="+- 0 -139 -238"/>
                  <a:gd name="T39" fmla="*/ -139 h 104"/>
                  <a:gd name="T40" fmla="+- 0 7030 7000"/>
                  <a:gd name="T41" fmla="*/ T40 w 99"/>
                  <a:gd name="T42" fmla="+- 0 -139 -238"/>
                  <a:gd name="T43" fmla="*/ -139 h 104"/>
                  <a:gd name="T44" fmla="+- 0 7024 7000"/>
                  <a:gd name="T45" fmla="*/ T44 w 99"/>
                  <a:gd name="T46" fmla="+- 0 -142 -238"/>
                  <a:gd name="T47" fmla="*/ -142 h 104"/>
                  <a:gd name="T48" fmla="+- 0 7017 7000"/>
                  <a:gd name="T49" fmla="*/ T48 w 99"/>
                  <a:gd name="T50" fmla="+- 0 -153 -238"/>
                  <a:gd name="T51" fmla="*/ -153 h 104"/>
                  <a:gd name="T52" fmla="+- 0 7015 7000"/>
                  <a:gd name="T53" fmla="*/ T52 w 99"/>
                  <a:gd name="T54" fmla="+- 0 -159 -238"/>
                  <a:gd name="T55" fmla="*/ -159 h 104"/>
                  <a:gd name="T56" fmla="+- 0 7015 7000"/>
                  <a:gd name="T57" fmla="*/ T56 w 99"/>
                  <a:gd name="T58" fmla="+- 0 -175 -238"/>
                  <a:gd name="T59" fmla="*/ -175 h 104"/>
                  <a:gd name="T60" fmla="+- 0 7017 7000"/>
                  <a:gd name="T61" fmla="*/ T60 w 99"/>
                  <a:gd name="T62" fmla="+- 0 -186 -238"/>
                  <a:gd name="T63" fmla="*/ -186 h 104"/>
                  <a:gd name="T64" fmla="+- 0 7058 7000"/>
                  <a:gd name="T65" fmla="*/ T64 w 99"/>
                  <a:gd name="T66" fmla="+- 0 -234 -238"/>
                  <a:gd name="T67" fmla="*/ -234 h 104"/>
                  <a:gd name="T68" fmla="+- 0 7084 7000"/>
                  <a:gd name="T69" fmla="*/ T68 w 99"/>
                  <a:gd name="T70" fmla="+- 0 -234 -238"/>
                  <a:gd name="T71" fmla="*/ -234 h 104"/>
                  <a:gd name="T72" fmla="+- 0 7078 7000"/>
                  <a:gd name="T73" fmla="*/ T72 w 99"/>
                  <a:gd name="T74" fmla="+- 0 -237 -238"/>
                  <a:gd name="T75" fmla="*/ -237 h 104"/>
                  <a:gd name="T76" fmla="+- 0 7072 7000"/>
                  <a:gd name="T77" fmla="*/ T76 w 99"/>
                  <a:gd name="T78" fmla="+- 0 -238 -238"/>
                  <a:gd name="T79" fmla="*/ -238 h 10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99" h="104">
                    <a:moveTo>
                      <a:pt x="72" y="0"/>
                    </a:moveTo>
                    <a:lnTo>
                      <a:pt x="57" y="0"/>
                    </a:lnTo>
                    <a:lnTo>
                      <a:pt x="50" y="1"/>
                    </a:lnTo>
                    <a:lnTo>
                      <a:pt x="2" y="50"/>
                    </a:lnTo>
                    <a:lnTo>
                      <a:pt x="0" y="60"/>
                    </a:lnTo>
                    <a:lnTo>
                      <a:pt x="0" y="74"/>
                    </a:lnTo>
                    <a:lnTo>
                      <a:pt x="27" y="103"/>
                    </a:lnTo>
                    <a:lnTo>
                      <a:pt x="45" y="103"/>
                    </a:lnTo>
                    <a:lnTo>
                      <a:pt x="56" y="100"/>
                    </a:lnTo>
                    <a:lnTo>
                      <a:pt x="58" y="99"/>
                    </a:lnTo>
                    <a:lnTo>
                      <a:pt x="30" y="99"/>
                    </a:lnTo>
                    <a:lnTo>
                      <a:pt x="24" y="96"/>
                    </a:lnTo>
                    <a:lnTo>
                      <a:pt x="17" y="85"/>
                    </a:lnTo>
                    <a:lnTo>
                      <a:pt x="15" y="79"/>
                    </a:lnTo>
                    <a:lnTo>
                      <a:pt x="15" y="63"/>
                    </a:lnTo>
                    <a:lnTo>
                      <a:pt x="17" y="52"/>
                    </a:lnTo>
                    <a:lnTo>
                      <a:pt x="58" y="4"/>
                    </a:lnTo>
                    <a:lnTo>
                      <a:pt x="84" y="4"/>
                    </a:lnTo>
                    <a:lnTo>
                      <a:pt x="78" y="1"/>
                    </a:lnTo>
                    <a:lnTo>
                      <a:pt x="72" y="0"/>
                    </a:lnTo>
                  </a:path>
                </a:pathLst>
              </a:custGeom>
              <a:solidFill>
                <a:srgbClr val="231F20"/>
              </a:solidFill>
              <a:ln>
                <a:noFill/>
              </a:ln>
            </p:spPr>
            <p:txBody>
              <a:bodyPr rot="0" vert="horz" wrap="square" lIns="91440" tIns="45720" rIns="91440" bIns="45720" anchor="t" anchorCtr="0" upright="1">
                <a:noAutofit/>
              </a:bodyPr>
              <a:lstStyle/>
              <a:p>
                <a:endParaRPr lang="zh-CN" altLang="en-US"/>
              </a:p>
            </p:txBody>
          </p:sp>
          <p:sp>
            <p:nvSpPr>
              <p:cNvPr id="11" name="Freeform 83">
                <a:extLst>
                  <a:ext uri="{FF2B5EF4-FFF2-40B4-BE49-F238E27FC236}">
                    <a16:creationId xmlns:a16="http://schemas.microsoft.com/office/drawing/2014/main" id="{F16B2FCE-D19E-772D-E797-BD86658A573D}"/>
                  </a:ext>
                </a:extLst>
              </p:cNvPr>
              <p:cNvSpPr/>
              <p:nvPr/>
            </p:nvSpPr>
            <p:spPr bwMode="auto">
              <a:xfrm>
                <a:off x="7000" y="-238"/>
                <a:ext cx="99" cy="104"/>
              </a:xfrm>
              <a:custGeom>
                <a:avLst/>
                <a:gdLst>
                  <a:gd name="T0" fmla="+- 0 7084 7000"/>
                  <a:gd name="T1" fmla="*/ T0 w 99"/>
                  <a:gd name="T2" fmla="+- 0 -234 -238"/>
                  <a:gd name="T3" fmla="*/ -234 h 104"/>
                  <a:gd name="T4" fmla="+- 0 7070 7000"/>
                  <a:gd name="T5" fmla="*/ T4 w 99"/>
                  <a:gd name="T6" fmla="+- 0 -234 -238"/>
                  <a:gd name="T7" fmla="*/ -234 h 104"/>
                  <a:gd name="T8" fmla="+- 0 7075 7000"/>
                  <a:gd name="T9" fmla="*/ T8 w 99"/>
                  <a:gd name="T10" fmla="+- 0 -231 -238"/>
                  <a:gd name="T11" fmla="*/ -231 h 104"/>
                  <a:gd name="T12" fmla="+- 0 7083 7000"/>
                  <a:gd name="T13" fmla="*/ T12 w 99"/>
                  <a:gd name="T14" fmla="+- 0 -221 -238"/>
                  <a:gd name="T15" fmla="*/ -221 h 104"/>
                  <a:gd name="T16" fmla="+- 0 7084 7000"/>
                  <a:gd name="T17" fmla="*/ T16 w 99"/>
                  <a:gd name="T18" fmla="+- 0 -215 -238"/>
                  <a:gd name="T19" fmla="*/ -215 h 104"/>
                  <a:gd name="T20" fmla="+- 0 7084 7000"/>
                  <a:gd name="T21" fmla="*/ T20 w 99"/>
                  <a:gd name="T22" fmla="+- 0 -199 -238"/>
                  <a:gd name="T23" fmla="*/ -199 h 104"/>
                  <a:gd name="T24" fmla="+- 0 7054 7000"/>
                  <a:gd name="T25" fmla="*/ T24 w 99"/>
                  <a:gd name="T26" fmla="+- 0 -145 -238"/>
                  <a:gd name="T27" fmla="*/ -145 h 104"/>
                  <a:gd name="T28" fmla="+- 0 7041 7000"/>
                  <a:gd name="T29" fmla="*/ T28 w 99"/>
                  <a:gd name="T30" fmla="+- 0 -139 -238"/>
                  <a:gd name="T31" fmla="*/ -139 h 104"/>
                  <a:gd name="T32" fmla="+- 0 7058 7000"/>
                  <a:gd name="T33" fmla="*/ T32 w 99"/>
                  <a:gd name="T34" fmla="+- 0 -139 -238"/>
                  <a:gd name="T35" fmla="*/ -139 h 104"/>
                  <a:gd name="T36" fmla="+- 0 7076 7000"/>
                  <a:gd name="T37" fmla="*/ T36 w 99"/>
                  <a:gd name="T38" fmla="+- 0 -150 -238"/>
                  <a:gd name="T39" fmla="*/ -150 h 104"/>
                  <a:gd name="T40" fmla="+- 0 7084 7000"/>
                  <a:gd name="T41" fmla="*/ T40 w 99"/>
                  <a:gd name="T42" fmla="+- 0 -159 -238"/>
                  <a:gd name="T43" fmla="*/ -159 h 104"/>
                  <a:gd name="T44" fmla="+- 0 7096 7000"/>
                  <a:gd name="T45" fmla="*/ T44 w 99"/>
                  <a:gd name="T46" fmla="+- 0 -182 -238"/>
                  <a:gd name="T47" fmla="*/ -182 h 104"/>
                  <a:gd name="T48" fmla="+- 0 7099 7000"/>
                  <a:gd name="T49" fmla="*/ T48 w 99"/>
                  <a:gd name="T50" fmla="+- 0 -193 -238"/>
                  <a:gd name="T51" fmla="*/ -193 h 104"/>
                  <a:gd name="T52" fmla="+- 0 7099 7000"/>
                  <a:gd name="T53" fmla="*/ T52 w 99"/>
                  <a:gd name="T54" fmla="+- 0 -210 -238"/>
                  <a:gd name="T55" fmla="*/ -210 h 104"/>
                  <a:gd name="T56" fmla="+- 0 7098 7000"/>
                  <a:gd name="T57" fmla="*/ T56 w 99"/>
                  <a:gd name="T58" fmla="+- 0 -216 -238"/>
                  <a:gd name="T59" fmla="*/ -216 h 104"/>
                  <a:gd name="T60" fmla="+- 0 7092 7000"/>
                  <a:gd name="T61" fmla="*/ T60 w 99"/>
                  <a:gd name="T62" fmla="+- 0 -227 -238"/>
                  <a:gd name="T63" fmla="*/ -227 h 104"/>
                  <a:gd name="T64" fmla="+- 0 7088 7000"/>
                  <a:gd name="T65" fmla="*/ T64 w 99"/>
                  <a:gd name="T66" fmla="+- 0 -231 -238"/>
                  <a:gd name="T67" fmla="*/ -231 h 104"/>
                  <a:gd name="T68" fmla="+- 0 7084 7000"/>
                  <a:gd name="T69" fmla="*/ T68 w 99"/>
                  <a:gd name="T70" fmla="+- 0 -234 -238"/>
                  <a:gd name="T71" fmla="*/ -234 h 10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99" h="104">
                    <a:moveTo>
                      <a:pt x="84" y="4"/>
                    </a:moveTo>
                    <a:lnTo>
                      <a:pt x="70" y="4"/>
                    </a:lnTo>
                    <a:lnTo>
                      <a:pt x="75" y="7"/>
                    </a:lnTo>
                    <a:lnTo>
                      <a:pt x="83" y="17"/>
                    </a:lnTo>
                    <a:lnTo>
                      <a:pt x="84" y="23"/>
                    </a:lnTo>
                    <a:lnTo>
                      <a:pt x="84" y="39"/>
                    </a:lnTo>
                    <a:lnTo>
                      <a:pt x="54" y="93"/>
                    </a:lnTo>
                    <a:lnTo>
                      <a:pt x="41" y="99"/>
                    </a:lnTo>
                    <a:lnTo>
                      <a:pt x="58" y="99"/>
                    </a:lnTo>
                    <a:lnTo>
                      <a:pt x="76" y="88"/>
                    </a:lnTo>
                    <a:lnTo>
                      <a:pt x="84" y="79"/>
                    </a:lnTo>
                    <a:lnTo>
                      <a:pt x="96" y="56"/>
                    </a:lnTo>
                    <a:lnTo>
                      <a:pt x="99" y="45"/>
                    </a:lnTo>
                    <a:lnTo>
                      <a:pt x="99" y="28"/>
                    </a:lnTo>
                    <a:lnTo>
                      <a:pt x="98" y="22"/>
                    </a:lnTo>
                    <a:lnTo>
                      <a:pt x="92" y="11"/>
                    </a:lnTo>
                    <a:lnTo>
                      <a:pt x="88" y="7"/>
                    </a:lnTo>
                    <a:lnTo>
                      <a:pt x="84" y="4"/>
                    </a:lnTo>
                  </a:path>
                </a:pathLst>
              </a:custGeom>
              <a:solidFill>
                <a:srgbClr val="231F20"/>
              </a:solidFill>
              <a:ln>
                <a:noFill/>
              </a:ln>
            </p:spPr>
            <p:txBody>
              <a:bodyPr rot="0" vert="horz" wrap="square" lIns="91440" tIns="45720" rIns="91440" bIns="45720" anchor="t" anchorCtr="0" upright="1">
                <a:noAutofit/>
              </a:bodyPr>
              <a:lstStyle/>
              <a:p>
                <a:endParaRPr lang="zh-CN" altLang="en-US"/>
              </a:p>
            </p:txBody>
          </p:sp>
        </p:grpSp>
      </p:grpSp>
      <p:sp>
        <p:nvSpPr>
          <p:cNvPr id="16" name="文本框 15">
            <a:extLst>
              <a:ext uri="{FF2B5EF4-FFF2-40B4-BE49-F238E27FC236}">
                <a16:creationId xmlns:a16="http://schemas.microsoft.com/office/drawing/2014/main" id="{DBE2C71B-01BD-B889-942A-CB4AE447B6B8}"/>
              </a:ext>
            </a:extLst>
          </p:cNvPr>
          <p:cNvSpPr txBox="1"/>
          <p:nvPr/>
        </p:nvSpPr>
        <p:spPr>
          <a:xfrm>
            <a:off x="605790" y="4879737"/>
            <a:ext cx="3422142" cy="923330"/>
          </a:xfrm>
          <a:prstGeom prst="rect">
            <a:avLst/>
          </a:prstGeom>
          <a:noFill/>
          <a:ln>
            <a:solidFill>
              <a:srgbClr val="92D050"/>
            </a:solidFill>
          </a:ln>
        </p:spPr>
        <p:txBody>
          <a:bodyPr wrap="square">
            <a:spAutoFit/>
          </a:bodyPr>
          <a:lstStyle>
            <a:defPPr>
              <a:defRPr lang="zh-CN"/>
            </a:defPPr>
            <a:lvl1pPr algn="ctr">
              <a:defRPr>
                <a:effectLst/>
                <a:latin typeface="+mn-ea"/>
                <a:cs typeface="Times New Roman" panose="02020603050405020304" pitchFamily="18" charset="0"/>
              </a:defRPr>
            </a:lvl1pPr>
          </a:lstStyle>
          <a:p>
            <a:r>
              <a:rPr lang="zh-CN" altLang="zh-CN" dirty="0"/>
              <a:t>酶的催化作用与反应液的</a:t>
            </a:r>
            <a:r>
              <a:rPr lang="en-US" altLang="zh-CN" dirty="0"/>
              <a:t>pH</a:t>
            </a:r>
            <a:r>
              <a:rPr lang="zh-CN" altLang="zh-CN" dirty="0"/>
              <a:t>有很大关系。每一种酶都有其各自的适宜</a:t>
            </a:r>
            <a:r>
              <a:rPr lang="en-US" altLang="zh-CN" dirty="0"/>
              <a:t>pH</a:t>
            </a:r>
            <a:r>
              <a:rPr lang="zh-CN" altLang="zh-CN" dirty="0"/>
              <a:t>范围和最适</a:t>
            </a:r>
            <a:r>
              <a:rPr lang="en-US" altLang="zh-CN" dirty="0"/>
              <a:t>pH</a:t>
            </a:r>
            <a:r>
              <a:rPr lang="zh-CN" altLang="zh-CN" dirty="0"/>
              <a:t>。</a:t>
            </a:r>
          </a:p>
        </p:txBody>
      </p:sp>
      <p:grpSp>
        <p:nvGrpSpPr>
          <p:cNvPr id="21" name="Group 98">
            <a:extLst>
              <a:ext uri="{FF2B5EF4-FFF2-40B4-BE49-F238E27FC236}">
                <a16:creationId xmlns:a16="http://schemas.microsoft.com/office/drawing/2014/main" id="{53ADEAF8-75BC-90BB-86E2-1C7AC61DE438}"/>
              </a:ext>
            </a:extLst>
          </p:cNvPr>
          <p:cNvGrpSpPr/>
          <p:nvPr/>
        </p:nvGrpSpPr>
        <p:grpSpPr>
          <a:xfrm>
            <a:off x="4817055" y="1308829"/>
            <a:ext cx="2978402" cy="1328333"/>
            <a:chOff x="3321" y="-1988"/>
            <a:chExt cx="4315" cy="1879"/>
          </a:xfrm>
        </p:grpSpPr>
        <p:pic>
          <p:nvPicPr>
            <p:cNvPr id="22" name="Picture 99">
              <a:extLst>
                <a:ext uri="{FF2B5EF4-FFF2-40B4-BE49-F238E27FC236}">
                  <a16:creationId xmlns:a16="http://schemas.microsoft.com/office/drawing/2014/main" id="{3D28B996-6163-5128-71E8-D2FFF34DDFA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3321" y="-1988"/>
              <a:ext cx="4315" cy="1879"/>
            </a:xfrm>
            <a:prstGeom prst="rect">
              <a:avLst/>
            </a:prstGeom>
            <a:noFill/>
          </p:spPr>
        </p:pic>
        <p:grpSp>
          <p:nvGrpSpPr>
            <p:cNvPr id="23" name="Group 100">
              <a:extLst>
                <a:ext uri="{FF2B5EF4-FFF2-40B4-BE49-F238E27FC236}">
                  <a16:creationId xmlns:a16="http://schemas.microsoft.com/office/drawing/2014/main" id="{40287C92-FA3F-49F6-F5FE-76AB66418262}"/>
                </a:ext>
              </a:extLst>
            </p:cNvPr>
            <p:cNvGrpSpPr/>
            <p:nvPr/>
          </p:nvGrpSpPr>
          <p:grpSpPr>
            <a:xfrm>
              <a:off x="4690" y="-317"/>
              <a:ext cx="99" cy="104"/>
              <a:chOff x="4690" y="-317"/>
              <a:chExt cx="99" cy="104"/>
            </a:xfrm>
          </p:grpSpPr>
          <p:sp>
            <p:nvSpPr>
              <p:cNvPr id="24" name="Freeform 101">
                <a:extLst>
                  <a:ext uri="{FF2B5EF4-FFF2-40B4-BE49-F238E27FC236}">
                    <a16:creationId xmlns:a16="http://schemas.microsoft.com/office/drawing/2014/main" id="{18AC908D-028E-CD4D-10CE-308F5252BBD1}"/>
                  </a:ext>
                </a:extLst>
              </p:cNvPr>
              <p:cNvSpPr/>
              <p:nvPr/>
            </p:nvSpPr>
            <p:spPr bwMode="auto">
              <a:xfrm>
                <a:off x="4690" y="-317"/>
                <a:ext cx="99" cy="104"/>
              </a:xfrm>
              <a:custGeom>
                <a:avLst/>
                <a:gdLst>
                  <a:gd name="T0" fmla="+- 0 4762 4690"/>
                  <a:gd name="T1" fmla="*/ T0 w 99"/>
                  <a:gd name="T2" fmla="+- 0 -317 -317"/>
                  <a:gd name="T3" fmla="*/ -317 h 104"/>
                  <a:gd name="T4" fmla="+- 0 4747 4690"/>
                  <a:gd name="T5" fmla="*/ T4 w 99"/>
                  <a:gd name="T6" fmla="+- 0 -317 -317"/>
                  <a:gd name="T7" fmla="*/ -317 h 104"/>
                  <a:gd name="T8" fmla="+- 0 4740 4690"/>
                  <a:gd name="T9" fmla="*/ T8 w 99"/>
                  <a:gd name="T10" fmla="+- 0 -315 -317"/>
                  <a:gd name="T11" fmla="*/ -315 h 104"/>
                  <a:gd name="T12" fmla="+- 0 4692 4690"/>
                  <a:gd name="T13" fmla="*/ T12 w 99"/>
                  <a:gd name="T14" fmla="+- 0 -266 -317"/>
                  <a:gd name="T15" fmla="*/ -266 h 104"/>
                  <a:gd name="T16" fmla="+- 0 4690 4690"/>
                  <a:gd name="T17" fmla="*/ T16 w 99"/>
                  <a:gd name="T18" fmla="+- 0 -257 -317"/>
                  <a:gd name="T19" fmla="*/ -257 h 104"/>
                  <a:gd name="T20" fmla="+- 0 4690 4690"/>
                  <a:gd name="T21" fmla="*/ T20 w 99"/>
                  <a:gd name="T22" fmla="+- 0 -242 -317"/>
                  <a:gd name="T23" fmla="*/ -242 h 104"/>
                  <a:gd name="T24" fmla="+- 0 4717 4690"/>
                  <a:gd name="T25" fmla="*/ T24 w 99"/>
                  <a:gd name="T26" fmla="+- 0 -213 -317"/>
                  <a:gd name="T27" fmla="*/ -213 h 104"/>
                  <a:gd name="T28" fmla="+- 0 4735 4690"/>
                  <a:gd name="T29" fmla="*/ T28 w 99"/>
                  <a:gd name="T30" fmla="+- 0 -213 -317"/>
                  <a:gd name="T31" fmla="*/ -213 h 104"/>
                  <a:gd name="T32" fmla="+- 0 4745 4690"/>
                  <a:gd name="T33" fmla="*/ T32 w 99"/>
                  <a:gd name="T34" fmla="+- 0 -216 -317"/>
                  <a:gd name="T35" fmla="*/ -216 h 104"/>
                  <a:gd name="T36" fmla="+- 0 4748 4690"/>
                  <a:gd name="T37" fmla="*/ T36 w 99"/>
                  <a:gd name="T38" fmla="+- 0 -218 -317"/>
                  <a:gd name="T39" fmla="*/ -218 h 104"/>
                  <a:gd name="T40" fmla="+- 0 4719 4690"/>
                  <a:gd name="T41" fmla="*/ T40 w 99"/>
                  <a:gd name="T42" fmla="+- 0 -218 -317"/>
                  <a:gd name="T43" fmla="*/ -218 h 104"/>
                  <a:gd name="T44" fmla="+- 0 4714 4690"/>
                  <a:gd name="T45" fmla="*/ T44 w 99"/>
                  <a:gd name="T46" fmla="+- 0 -220 -317"/>
                  <a:gd name="T47" fmla="*/ -220 h 104"/>
                  <a:gd name="T48" fmla="+- 0 4707 4690"/>
                  <a:gd name="T49" fmla="*/ T48 w 99"/>
                  <a:gd name="T50" fmla="+- 0 -231 -317"/>
                  <a:gd name="T51" fmla="*/ -231 h 104"/>
                  <a:gd name="T52" fmla="+- 0 4705 4690"/>
                  <a:gd name="T53" fmla="*/ T52 w 99"/>
                  <a:gd name="T54" fmla="+- 0 -237 -317"/>
                  <a:gd name="T55" fmla="*/ -237 h 104"/>
                  <a:gd name="T56" fmla="+- 0 4705 4690"/>
                  <a:gd name="T57" fmla="*/ T56 w 99"/>
                  <a:gd name="T58" fmla="+- 0 -254 -317"/>
                  <a:gd name="T59" fmla="*/ -254 h 104"/>
                  <a:gd name="T60" fmla="+- 0 4707 4690"/>
                  <a:gd name="T61" fmla="*/ T60 w 99"/>
                  <a:gd name="T62" fmla="+- 0 -264 -317"/>
                  <a:gd name="T63" fmla="*/ -264 h 104"/>
                  <a:gd name="T64" fmla="+- 0 4748 4690"/>
                  <a:gd name="T65" fmla="*/ T64 w 99"/>
                  <a:gd name="T66" fmla="+- 0 -312 -317"/>
                  <a:gd name="T67" fmla="*/ -312 h 104"/>
                  <a:gd name="T68" fmla="+- 0 4773 4690"/>
                  <a:gd name="T69" fmla="*/ T68 w 99"/>
                  <a:gd name="T70" fmla="+- 0 -312 -317"/>
                  <a:gd name="T71" fmla="*/ -312 h 104"/>
                  <a:gd name="T72" fmla="+- 0 4768 4690"/>
                  <a:gd name="T73" fmla="*/ T72 w 99"/>
                  <a:gd name="T74" fmla="+- 0 -315 -317"/>
                  <a:gd name="T75" fmla="*/ -315 h 104"/>
                  <a:gd name="T76" fmla="+- 0 4762 4690"/>
                  <a:gd name="T77" fmla="*/ T76 w 99"/>
                  <a:gd name="T78" fmla="+- 0 -317 -317"/>
                  <a:gd name="T79" fmla="*/ -317 h 10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Lst>
                <a:rect l="0" t="0" r="r" b="b"/>
                <a:pathLst>
                  <a:path w="99" h="104">
                    <a:moveTo>
                      <a:pt x="72" y="0"/>
                    </a:moveTo>
                    <a:lnTo>
                      <a:pt x="57" y="0"/>
                    </a:lnTo>
                    <a:lnTo>
                      <a:pt x="50" y="2"/>
                    </a:lnTo>
                    <a:lnTo>
                      <a:pt x="2" y="51"/>
                    </a:lnTo>
                    <a:lnTo>
                      <a:pt x="0" y="60"/>
                    </a:lnTo>
                    <a:lnTo>
                      <a:pt x="0" y="75"/>
                    </a:lnTo>
                    <a:lnTo>
                      <a:pt x="27" y="104"/>
                    </a:lnTo>
                    <a:lnTo>
                      <a:pt x="45" y="104"/>
                    </a:lnTo>
                    <a:lnTo>
                      <a:pt x="55" y="101"/>
                    </a:lnTo>
                    <a:lnTo>
                      <a:pt x="58" y="99"/>
                    </a:lnTo>
                    <a:lnTo>
                      <a:pt x="29" y="99"/>
                    </a:lnTo>
                    <a:lnTo>
                      <a:pt x="24" y="97"/>
                    </a:lnTo>
                    <a:lnTo>
                      <a:pt x="17" y="86"/>
                    </a:lnTo>
                    <a:lnTo>
                      <a:pt x="15" y="80"/>
                    </a:lnTo>
                    <a:lnTo>
                      <a:pt x="15" y="63"/>
                    </a:lnTo>
                    <a:lnTo>
                      <a:pt x="17" y="53"/>
                    </a:lnTo>
                    <a:lnTo>
                      <a:pt x="58" y="5"/>
                    </a:lnTo>
                    <a:lnTo>
                      <a:pt x="83" y="5"/>
                    </a:lnTo>
                    <a:lnTo>
                      <a:pt x="78" y="2"/>
                    </a:lnTo>
                    <a:lnTo>
                      <a:pt x="72" y="0"/>
                    </a:lnTo>
                  </a:path>
                </a:pathLst>
              </a:custGeom>
              <a:solidFill>
                <a:srgbClr val="231F20"/>
              </a:solidFill>
              <a:ln>
                <a:noFill/>
              </a:ln>
            </p:spPr>
            <p:txBody>
              <a:bodyPr rot="0" vert="horz" wrap="square" lIns="91440" tIns="45720" rIns="91440" bIns="45720" anchor="t" anchorCtr="0" upright="1">
                <a:noAutofit/>
              </a:bodyPr>
              <a:lstStyle/>
              <a:p>
                <a:endParaRPr lang="zh-CN" altLang="en-US"/>
              </a:p>
            </p:txBody>
          </p:sp>
          <p:sp>
            <p:nvSpPr>
              <p:cNvPr id="25" name="Freeform 102">
                <a:extLst>
                  <a:ext uri="{FF2B5EF4-FFF2-40B4-BE49-F238E27FC236}">
                    <a16:creationId xmlns:a16="http://schemas.microsoft.com/office/drawing/2014/main" id="{59AF9DB0-5CBE-4F86-7901-4002BE2411FE}"/>
                  </a:ext>
                </a:extLst>
              </p:cNvPr>
              <p:cNvSpPr/>
              <p:nvPr/>
            </p:nvSpPr>
            <p:spPr bwMode="auto">
              <a:xfrm>
                <a:off x="4690" y="-317"/>
                <a:ext cx="99" cy="104"/>
              </a:xfrm>
              <a:custGeom>
                <a:avLst/>
                <a:gdLst>
                  <a:gd name="T0" fmla="+- 0 4773 4690"/>
                  <a:gd name="T1" fmla="*/ T0 w 99"/>
                  <a:gd name="T2" fmla="+- 0 -312 -317"/>
                  <a:gd name="T3" fmla="*/ -312 h 104"/>
                  <a:gd name="T4" fmla="+- 0 4760 4690"/>
                  <a:gd name="T5" fmla="*/ T4 w 99"/>
                  <a:gd name="T6" fmla="+- 0 -312 -317"/>
                  <a:gd name="T7" fmla="*/ -312 h 104"/>
                  <a:gd name="T8" fmla="+- 0 4765 4690"/>
                  <a:gd name="T9" fmla="*/ T8 w 99"/>
                  <a:gd name="T10" fmla="+- 0 -309 -317"/>
                  <a:gd name="T11" fmla="*/ -309 h 104"/>
                  <a:gd name="T12" fmla="+- 0 4772 4690"/>
                  <a:gd name="T13" fmla="*/ T12 w 99"/>
                  <a:gd name="T14" fmla="+- 0 -299 -317"/>
                  <a:gd name="T15" fmla="*/ -299 h 104"/>
                  <a:gd name="T16" fmla="+- 0 4774 4690"/>
                  <a:gd name="T17" fmla="*/ T16 w 99"/>
                  <a:gd name="T18" fmla="+- 0 -293 -317"/>
                  <a:gd name="T19" fmla="*/ -293 h 104"/>
                  <a:gd name="T20" fmla="+- 0 4774 4690"/>
                  <a:gd name="T21" fmla="*/ T20 w 99"/>
                  <a:gd name="T22" fmla="+- 0 -278 -317"/>
                  <a:gd name="T23" fmla="*/ -278 h 104"/>
                  <a:gd name="T24" fmla="+- 0 4744 4690"/>
                  <a:gd name="T25" fmla="*/ T24 w 99"/>
                  <a:gd name="T26" fmla="+- 0 -223 -317"/>
                  <a:gd name="T27" fmla="*/ -223 h 104"/>
                  <a:gd name="T28" fmla="+- 0 4731 4690"/>
                  <a:gd name="T29" fmla="*/ T28 w 99"/>
                  <a:gd name="T30" fmla="+- 0 -218 -317"/>
                  <a:gd name="T31" fmla="*/ -218 h 104"/>
                  <a:gd name="T32" fmla="+- 0 4748 4690"/>
                  <a:gd name="T33" fmla="*/ T32 w 99"/>
                  <a:gd name="T34" fmla="+- 0 -218 -317"/>
                  <a:gd name="T35" fmla="*/ -218 h 104"/>
                  <a:gd name="T36" fmla="+- 0 4765 4690"/>
                  <a:gd name="T37" fmla="*/ T36 w 99"/>
                  <a:gd name="T38" fmla="+- 0 -228 -317"/>
                  <a:gd name="T39" fmla="*/ -228 h 104"/>
                  <a:gd name="T40" fmla="+- 0 4774 4690"/>
                  <a:gd name="T41" fmla="*/ T40 w 99"/>
                  <a:gd name="T42" fmla="+- 0 -237 -317"/>
                  <a:gd name="T43" fmla="*/ -237 h 104"/>
                  <a:gd name="T44" fmla="+- 0 4786 4690"/>
                  <a:gd name="T45" fmla="*/ T44 w 99"/>
                  <a:gd name="T46" fmla="+- 0 -261 -317"/>
                  <a:gd name="T47" fmla="*/ -261 h 104"/>
                  <a:gd name="T48" fmla="+- 0 4789 4690"/>
                  <a:gd name="T49" fmla="*/ T48 w 99"/>
                  <a:gd name="T50" fmla="+- 0 -272 -317"/>
                  <a:gd name="T51" fmla="*/ -272 h 104"/>
                  <a:gd name="T52" fmla="+- 0 4789 4690"/>
                  <a:gd name="T53" fmla="*/ T52 w 99"/>
                  <a:gd name="T54" fmla="+- 0 -288 -317"/>
                  <a:gd name="T55" fmla="*/ -288 h 104"/>
                  <a:gd name="T56" fmla="+- 0 4788 4690"/>
                  <a:gd name="T57" fmla="*/ T56 w 99"/>
                  <a:gd name="T58" fmla="+- 0 -294 -317"/>
                  <a:gd name="T59" fmla="*/ -294 h 104"/>
                  <a:gd name="T60" fmla="+- 0 4782 4690"/>
                  <a:gd name="T61" fmla="*/ T60 w 99"/>
                  <a:gd name="T62" fmla="+- 0 -305 -317"/>
                  <a:gd name="T63" fmla="*/ -305 h 104"/>
                  <a:gd name="T64" fmla="+- 0 4778 4690"/>
                  <a:gd name="T65" fmla="*/ T64 w 99"/>
                  <a:gd name="T66" fmla="+- 0 -310 -317"/>
                  <a:gd name="T67" fmla="*/ -310 h 104"/>
                  <a:gd name="T68" fmla="+- 0 4773 4690"/>
                  <a:gd name="T69" fmla="*/ T68 w 99"/>
                  <a:gd name="T70" fmla="+- 0 -312 -317"/>
                  <a:gd name="T71" fmla="*/ -312 h 10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Lst>
                <a:rect l="0" t="0" r="r" b="b"/>
                <a:pathLst>
                  <a:path w="99" h="104">
                    <a:moveTo>
                      <a:pt x="83" y="5"/>
                    </a:moveTo>
                    <a:lnTo>
                      <a:pt x="70" y="5"/>
                    </a:lnTo>
                    <a:lnTo>
                      <a:pt x="75" y="8"/>
                    </a:lnTo>
                    <a:lnTo>
                      <a:pt x="82" y="18"/>
                    </a:lnTo>
                    <a:lnTo>
                      <a:pt x="84" y="24"/>
                    </a:lnTo>
                    <a:lnTo>
                      <a:pt x="84" y="39"/>
                    </a:lnTo>
                    <a:lnTo>
                      <a:pt x="54" y="94"/>
                    </a:lnTo>
                    <a:lnTo>
                      <a:pt x="41" y="99"/>
                    </a:lnTo>
                    <a:lnTo>
                      <a:pt x="58" y="99"/>
                    </a:lnTo>
                    <a:lnTo>
                      <a:pt x="75" y="89"/>
                    </a:lnTo>
                    <a:lnTo>
                      <a:pt x="84" y="80"/>
                    </a:lnTo>
                    <a:lnTo>
                      <a:pt x="96" y="56"/>
                    </a:lnTo>
                    <a:lnTo>
                      <a:pt x="99" y="45"/>
                    </a:lnTo>
                    <a:lnTo>
                      <a:pt x="99" y="29"/>
                    </a:lnTo>
                    <a:lnTo>
                      <a:pt x="98" y="23"/>
                    </a:lnTo>
                    <a:lnTo>
                      <a:pt x="92" y="12"/>
                    </a:lnTo>
                    <a:lnTo>
                      <a:pt x="88" y="7"/>
                    </a:lnTo>
                    <a:lnTo>
                      <a:pt x="83" y="5"/>
                    </a:lnTo>
                  </a:path>
                </a:pathLst>
              </a:custGeom>
              <a:solidFill>
                <a:srgbClr val="231F20"/>
              </a:solidFill>
              <a:ln>
                <a:noFill/>
              </a:ln>
            </p:spPr>
            <p:txBody>
              <a:bodyPr rot="0" vert="horz" wrap="square" lIns="91440" tIns="45720" rIns="91440" bIns="45720" anchor="t" anchorCtr="0" upright="1">
                <a:noAutofit/>
              </a:bodyPr>
              <a:lstStyle/>
              <a:p>
                <a:endParaRPr lang="zh-CN" altLang="en-US"/>
              </a:p>
            </p:txBody>
          </p:sp>
        </p:grpSp>
      </p:grpSp>
      <p:pic>
        <p:nvPicPr>
          <p:cNvPr id="26" name="图片 25">
            <a:extLst>
              <a:ext uri="{FF2B5EF4-FFF2-40B4-BE49-F238E27FC236}">
                <a16:creationId xmlns:a16="http://schemas.microsoft.com/office/drawing/2014/main" id="{31BD4FB4-F4AB-9CAF-D8AA-FF27F774D83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50111" y="3107719"/>
            <a:ext cx="3112289" cy="1328332"/>
          </a:xfrm>
          <a:prstGeom prst="rect">
            <a:avLst/>
          </a:prstGeom>
          <a:noFill/>
        </p:spPr>
      </p:pic>
      <p:pic>
        <p:nvPicPr>
          <p:cNvPr id="27" name="图片 26">
            <a:extLst>
              <a:ext uri="{FF2B5EF4-FFF2-40B4-BE49-F238E27FC236}">
                <a16:creationId xmlns:a16="http://schemas.microsoft.com/office/drawing/2014/main" id="{62140A9A-8127-C641-CA5B-5180E8CD8173}"/>
              </a:ext>
            </a:extLst>
          </p:cNvPr>
          <p:cNvPicPr>
            <a:picLocks noChangeAspect="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b="15190"/>
          <a:stretch/>
        </p:blipFill>
        <p:spPr bwMode="auto">
          <a:xfrm>
            <a:off x="4750111" y="5040099"/>
            <a:ext cx="2800481" cy="1477911"/>
          </a:xfrm>
          <a:prstGeom prst="rect">
            <a:avLst/>
          </a:prstGeom>
          <a:ln>
            <a:noFill/>
          </a:ln>
          <a:extLst>
            <a:ext uri="{53640926-AAD7-44D8-BBD7-CCE9431645EC}">
              <a14:shadowObscured xmlns:a14="http://schemas.microsoft.com/office/drawing/2010/main"/>
            </a:ext>
          </a:extLst>
        </p:spPr>
      </p:pic>
      <p:sp>
        <p:nvSpPr>
          <p:cNvPr id="30" name="文本框 29">
            <a:extLst>
              <a:ext uri="{FF2B5EF4-FFF2-40B4-BE49-F238E27FC236}">
                <a16:creationId xmlns:a16="http://schemas.microsoft.com/office/drawing/2014/main" id="{391E3952-1B3A-9275-291C-653FCB7BACC0}"/>
              </a:ext>
            </a:extLst>
          </p:cNvPr>
          <p:cNvSpPr txBox="1"/>
          <p:nvPr/>
        </p:nvSpPr>
        <p:spPr>
          <a:xfrm>
            <a:off x="7987095" y="1535054"/>
            <a:ext cx="4085082" cy="875881"/>
          </a:xfrm>
          <a:prstGeom prst="rect">
            <a:avLst/>
          </a:prstGeom>
          <a:noFill/>
        </p:spPr>
        <p:txBody>
          <a:bodyPr wrap="square">
            <a:spAutoFit/>
          </a:bodyPr>
          <a:lstStyle/>
          <a:p>
            <a:pPr marR="88265" algn="just">
              <a:lnSpc>
                <a:spcPct val="150000"/>
              </a:lnSpc>
            </a:pPr>
            <a:r>
              <a:rPr lang="zh-CN" altLang="zh-CN" b="1" dirty="0">
                <a:latin typeface="Times New Roman" panose="02020603050405020304" pitchFamily="18" charset="0"/>
                <a:cs typeface="Times New Roman" panose="02020603050405020304" pitchFamily="18" charset="0"/>
              </a:rPr>
              <a:t>竞争性抑制</a:t>
            </a:r>
            <a:r>
              <a:rPr lang="zh-CN" altLang="zh-CN" dirty="0">
                <a:latin typeface="Times New Roman" panose="02020603050405020304" pitchFamily="18" charset="0"/>
                <a:cs typeface="Times New Roman" panose="02020603050405020304" pitchFamily="18" charset="0"/>
              </a:rPr>
              <a:t>是指</a:t>
            </a:r>
            <a:r>
              <a:rPr lang="zh-CN" altLang="zh-CN" dirty="0">
                <a:solidFill>
                  <a:srgbClr val="FF0000"/>
                </a:solidFill>
                <a:latin typeface="Times New Roman" panose="02020603050405020304" pitchFamily="18" charset="0"/>
                <a:cs typeface="Times New Roman" panose="02020603050405020304" pitchFamily="18" charset="0"/>
              </a:rPr>
              <a:t>抑制剂和底物竞争与酶分子结合</a:t>
            </a:r>
            <a:r>
              <a:rPr lang="zh-CN" altLang="zh-CN" dirty="0">
                <a:latin typeface="Times New Roman" panose="02020603050405020304" pitchFamily="18" charset="0"/>
                <a:cs typeface="Times New Roman" panose="02020603050405020304" pitchFamily="18" charset="0"/>
              </a:rPr>
              <a:t>而引起的抑制作用。</a:t>
            </a:r>
          </a:p>
        </p:txBody>
      </p:sp>
      <p:sp>
        <p:nvSpPr>
          <p:cNvPr id="32" name="文本框 31">
            <a:extLst>
              <a:ext uri="{FF2B5EF4-FFF2-40B4-BE49-F238E27FC236}">
                <a16:creationId xmlns:a16="http://schemas.microsoft.com/office/drawing/2014/main" id="{5E2E6BAE-28C1-436A-5657-B5D7C06B10D9}"/>
              </a:ext>
            </a:extLst>
          </p:cNvPr>
          <p:cNvSpPr txBox="1"/>
          <p:nvPr/>
        </p:nvSpPr>
        <p:spPr>
          <a:xfrm>
            <a:off x="4720787" y="2691627"/>
            <a:ext cx="3620638" cy="307777"/>
          </a:xfrm>
          <a:prstGeom prst="rect">
            <a:avLst/>
          </a:prstGeom>
          <a:noFill/>
        </p:spPr>
        <p:txBody>
          <a:bodyPr wrap="square">
            <a:spAutoFit/>
          </a:bodyPr>
          <a:lstStyle/>
          <a:p>
            <a:r>
              <a:rPr lang="zh-CN" altLang="en-US" sz="1400" dirty="0"/>
              <a:t>最大反应速度</a:t>
            </a:r>
            <a:r>
              <a:rPr lang="en-US" altLang="zh-CN" sz="1400" dirty="0" err="1"/>
              <a:t>Vm</a:t>
            </a:r>
            <a:r>
              <a:rPr lang="zh-CN" altLang="en-US" sz="1400" dirty="0"/>
              <a:t>不变，而米氏常数</a:t>
            </a:r>
            <a:r>
              <a:rPr lang="en-US" altLang="zh-CN" sz="1400" dirty="0"/>
              <a:t>Km</a:t>
            </a:r>
            <a:r>
              <a:rPr lang="zh-CN" altLang="en-US" sz="1400" dirty="0"/>
              <a:t>增大</a:t>
            </a:r>
          </a:p>
        </p:txBody>
      </p:sp>
      <p:sp>
        <p:nvSpPr>
          <p:cNvPr id="36" name="文本框 35">
            <a:extLst>
              <a:ext uri="{FF2B5EF4-FFF2-40B4-BE49-F238E27FC236}">
                <a16:creationId xmlns:a16="http://schemas.microsoft.com/office/drawing/2014/main" id="{FF0F2358-17BA-25D8-AD8E-1CD2F871119C}"/>
              </a:ext>
            </a:extLst>
          </p:cNvPr>
          <p:cNvSpPr txBox="1"/>
          <p:nvPr/>
        </p:nvSpPr>
        <p:spPr>
          <a:xfrm>
            <a:off x="4689816" y="4584615"/>
            <a:ext cx="3563874" cy="307777"/>
          </a:xfrm>
          <a:prstGeom prst="rect">
            <a:avLst/>
          </a:prstGeom>
          <a:noFill/>
        </p:spPr>
        <p:txBody>
          <a:bodyPr wrap="square">
            <a:spAutoFit/>
          </a:bodyPr>
          <a:lstStyle>
            <a:defPPr>
              <a:defRPr lang="zh-CN"/>
            </a:defPPr>
            <a:lvl1pPr>
              <a:defRPr sz="1400"/>
            </a:lvl1pPr>
          </a:lstStyle>
          <a:p>
            <a:r>
              <a:rPr lang="zh-CN" altLang="en-US" dirty="0"/>
              <a:t>最大反应速度</a:t>
            </a:r>
            <a:r>
              <a:rPr lang="en-US" altLang="zh-CN" dirty="0" err="1"/>
              <a:t>Vm</a:t>
            </a:r>
            <a:r>
              <a:rPr lang="zh-CN" altLang="en-US" dirty="0"/>
              <a:t>减小，而米氏常数</a:t>
            </a:r>
            <a:r>
              <a:rPr lang="en-US" altLang="zh-CN" dirty="0"/>
              <a:t>Km</a:t>
            </a:r>
            <a:r>
              <a:rPr lang="zh-CN" altLang="en-US" dirty="0"/>
              <a:t>不变</a:t>
            </a:r>
          </a:p>
        </p:txBody>
      </p:sp>
      <p:sp>
        <p:nvSpPr>
          <p:cNvPr id="38" name="文本框 37">
            <a:extLst>
              <a:ext uri="{FF2B5EF4-FFF2-40B4-BE49-F238E27FC236}">
                <a16:creationId xmlns:a16="http://schemas.microsoft.com/office/drawing/2014/main" id="{91CF4BEE-C36C-03F9-61E3-33A23619666B}"/>
              </a:ext>
            </a:extLst>
          </p:cNvPr>
          <p:cNvSpPr txBox="1"/>
          <p:nvPr/>
        </p:nvSpPr>
        <p:spPr>
          <a:xfrm>
            <a:off x="8047336" y="3264688"/>
            <a:ext cx="4085082" cy="1289712"/>
          </a:xfrm>
          <a:prstGeom prst="rect">
            <a:avLst/>
          </a:prstGeom>
          <a:noFill/>
        </p:spPr>
        <p:txBody>
          <a:bodyPr wrap="square">
            <a:spAutoFit/>
          </a:bodyPr>
          <a:lstStyle>
            <a:defPPr>
              <a:defRPr lang="zh-CN"/>
            </a:defPPr>
            <a:lvl1pPr marR="88265" algn="just">
              <a:lnSpc>
                <a:spcPct val="150000"/>
              </a:lnSpc>
              <a:defRPr b="1">
                <a:latin typeface="Times New Roman" panose="02020603050405020304" pitchFamily="18" charset="0"/>
                <a:cs typeface="Times New Roman" panose="02020603050405020304" pitchFamily="18" charset="0"/>
              </a:defRPr>
            </a:lvl1pPr>
          </a:lstStyle>
          <a:p>
            <a:r>
              <a:rPr lang="zh-CN" altLang="en-US" dirty="0"/>
              <a:t>非竞争性抑制</a:t>
            </a:r>
            <a:r>
              <a:rPr lang="zh-CN" altLang="en-US" b="0" dirty="0"/>
              <a:t>是指</a:t>
            </a:r>
            <a:r>
              <a:rPr lang="zh-CN" altLang="en-US" b="0" dirty="0">
                <a:solidFill>
                  <a:srgbClr val="FF0000"/>
                </a:solidFill>
              </a:rPr>
              <a:t>抑制剂与底物分别与酶分子上的不同位点结合</a:t>
            </a:r>
            <a:r>
              <a:rPr lang="zh-CN" altLang="en-US" b="0" dirty="0"/>
              <a:t>，而引起酶活性降低的抑制作用。</a:t>
            </a:r>
          </a:p>
        </p:txBody>
      </p:sp>
      <p:sp>
        <p:nvSpPr>
          <p:cNvPr id="41" name="文本框 40">
            <a:extLst>
              <a:ext uri="{FF2B5EF4-FFF2-40B4-BE49-F238E27FC236}">
                <a16:creationId xmlns:a16="http://schemas.microsoft.com/office/drawing/2014/main" id="{176E3F34-0952-8FB6-57A0-6542A021D661}"/>
              </a:ext>
            </a:extLst>
          </p:cNvPr>
          <p:cNvSpPr txBox="1"/>
          <p:nvPr/>
        </p:nvSpPr>
        <p:spPr>
          <a:xfrm>
            <a:off x="4689816" y="6470024"/>
            <a:ext cx="3591314" cy="307777"/>
          </a:xfrm>
          <a:prstGeom prst="rect">
            <a:avLst/>
          </a:prstGeom>
          <a:noFill/>
        </p:spPr>
        <p:txBody>
          <a:bodyPr wrap="square">
            <a:spAutoFit/>
          </a:bodyPr>
          <a:lstStyle>
            <a:defPPr>
              <a:defRPr lang="zh-CN"/>
            </a:defPPr>
            <a:lvl1pPr>
              <a:defRPr sz="1400"/>
            </a:lvl1pPr>
          </a:lstStyle>
          <a:p>
            <a:r>
              <a:rPr lang="zh-CN" altLang="zh-CN" dirty="0"/>
              <a:t>最大反应速度</a:t>
            </a:r>
            <a:r>
              <a:rPr lang="en-US" altLang="zh-CN" dirty="0" err="1"/>
              <a:t>Vm</a:t>
            </a:r>
            <a:r>
              <a:rPr lang="zh-CN" altLang="zh-CN" dirty="0"/>
              <a:t>和米氏常数</a:t>
            </a:r>
            <a:r>
              <a:rPr lang="en-US" altLang="zh-CN" dirty="0"/>
              <a:t> Km </a:t>
            </a:r>
            <a:r>
              <a:rPr lang="zh-CN" altLang="zh-CN" dirty="0"/>
              <a:t>同时减小</a:t>
            </a:r>
            <a:endParaRPr lang="zh-CN" altLang="en-US" dirty="0"/>
          </a:p>
        </p:txBody>
      </p:sp>
      <p:sp>
        <p:nvSpPr>
          <p:cNvPr id="43" name="文本框 42">
            <a:extLst>
              <a:ext uri="{FF2B5EF4-FFF2-40B4-BE49-F238E27FC236}">
                <a16:creationId xmlns:a16="http://schemas.microsoft.com/office/drawing/2014/main" id="{4364990A-474F-9663-F626-C0C04795C2A1}"/>
              </a:ext>
            </a:extLst>
          </p:cNvPr>
          <p:cNvSpPr txBox="1"/>
          <p:nvPr/>
        </p:nvSpPr>
        <p:spPr>
          <a:xfrm>
            <a:off x="7677460" y="5190183"/>
            <a:ext cx="4449772" cy="1289456"/>
          </a:xfrm>
          <a:prstGeom prst="rect">
            <a:avLst/>
          </a:prstGeom>
          <a:noFill/>
        </p:spPr>
        <p:txBody>
          <a:bodyPr wrap="square">
            <a:spAutoFit/>
          </a:bodyPr>
          <a:lstStyle/>
          <a:p>
            <a:pPr>
              <a:lnSpc>
                <a:spcPct val="150000"/>
              </a:lnSpc>
            </a:pPr>
            <a:r>
              <a:rPr lang="zh-CN" altLang="zh-CN" b="1" dirty="0">
                <a:latin typeface="Times New Roman" panose="02020603050405020304" pitchFamily="18" charset="0"/>
                <a:cs typeface="Times New Roman" panose="02020603050405020304" pitchFamily="18" charset="0"/>
              </a:rPr>
              <a:t>反竞争性抑制</a:t>
            </a:r>
            <a:r>
              <a:rPr lang="zh-CN" altLang="en-US" sz="1800" dirty="0">
                <a:effectLst/>
                <a:ea typeface="黑体" panose="02010609060101010101" pitchFamily="49" charset="-122"/>
                <a:cs typeface="黑体" panose="02010609060101010101" pitchFamily="49" charset="-122"/>
              </a:rPr>
              <a:t>是指</a:t>
            </a:r>
            <a:r>
              <a:rPr lang="zh-CN" altLang="en-US" dirty="0"/>
              <a:t>在</a:t>
            </a:r>
            <a:r>
              <a:rPr lang="zh-CN" altLang="en-US" dirty="0">
                <a:solidFill>
                  <a:srgbClr val="FF0000"/>
                </a:solidFill>
              </a:rPr>
              <a:t>底物与酶分子结合生成中间复合物后</a:t>
            </a:r>
            <a:r>
              <a:rPr lang="zh-CN" altLang="en-US" dirty="0"/>
              <a:t>，</a:t>
            </a:r>
            <a:r>
              <a:rPr lang="zh-CN" altLang="en-US" dirty="0">
                <a:solidFill>
                  <a:srgbClr val="FF0000"/>
                </a:solidFill>
              </a:rPr>
              <a:t>抑制剂再与中间复合物结合</a:t>
            </a:r>
            <a:r>
              <a:rPr lang="zh-CN" altLang="en-US" dirty="0"/>
              <a:t>而引起的抑制作用称为反竞争性抑制。</a:t>
            </a:r>
          </a:p>
        </p:txBody>
      </p:sp>
    </p:spTree>
    <p:extLst>
      <p:ext uri="{BB962C8B-B14F-4D97-AF65-F5344CB8AC3E}">
        <p14:creationId xmlns:p14="http://schemas.microsoft.com/office/powerpoint/2010/main" val="2572952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690372" y="814312"/>
            <a:ext cx="2586228" cy="523220"/>
          </a:xfrm>
          <a:prstGeom prst="rect">
            <a:avLst/>
          </a:prstGeom>
          <a:noFill/>
        </p:spPr>
        <p:txBody>
          <a:bodyPr wrap="square">
            <a:spAutoFit/>
          </a:bodyPr>
          <a:lstStyle/>
          <a:p>
            <a:r>
              <a:rPr lang="zh-CN" altLang="en-US" sz="2800" b="1" dirty="0">
                <a:solidFill>
                  <a:srgbClr val="1D50A2"/>
                </a:solidFill>
                <a:cs typeface="+mn-ea"/>
              </a:rPr>
              <a:t>激活剂的影响</a:t>
            </a:r>
          </a:p>
        </p:txBody>
      </p:sp>
      <p:sp>
        <p:nvSpPr>
          <p:cNvPr id="5" name="文本框 4">
            <a:extLst>
              <a:ext uri="{FF2B5EF4-FFF2-40B4-BE49-F238E27FC236}">
                <a16:creationId xmlns:a16="http://schemas.microsoft.com/office/drawing/2014/main" id="{AA8D3379-B6AF-0F3D-4B25-4B0A4501FB4D}"/>
              </a:ext>
            </a:extLst>
          </p:cNvPr>
          <p:cNvSpPr txBox="1"/>
          <p:nvPr/>
        </p:nvSpPr>
        <p:spPr>
          <a:xfrm>
            <a:off x="1085850" y="1647489"/>
            <a:ext cx="10382250" cy="961289"/>
          </a:xfrm>
          <a:prstGeom prst="rect">
            <a:avLst/>
          </a:prstGeom>
          <a:noFill/>
        </p:spPr>
        <p:txBody>
          <a:bodyPr wrap="square">
            <a:spAutoFit/>
          </a:bodyPr>
          <a:lstStyle/>
          <a:p>
            <a:pPr marR="88265" algn="just">
              <a:lnSpc>
                <a:spcPct val="150000"/>
              </a:lnSpc>
            </a:pPr>
            <a:r>
              <a:rPr lang="zh-CN" altLang="zh-CN" sz="2000" dirty="0">
                <a:effectLst/>
                <a:latin typeface="+mn-ea"/>
                <a:cs typeface="Times New Roman" panose="02020603050405020304" pitchFamily="18" charset="0"/>
              </a:rPr>
              <a:t>能够增加酶的催化活性或使酶的催化活性显示出来的物质称为酶的激活剂或活化剂。在激活剂的作用下，酶的催化活性提高或者由无活性的酶原生成有催化活性的酶。</a:t>
            </a:r>
            <a:endParaRPr lang="zh-CN" altLang="zh-CN" sz="2400" dirty="0">
              <a:effectLst/>
              <a:latin typeface="+mn-ea"/>
              <a:cs typeface="Times New Roman" panose="02020603050405020304" pitchFamily="18" charset="0"/>
            </a:endParaRPr>
          </a:p>
        </p:txBody>
      </p:sp>
      <p:sp>
        <p:nvSpPr>
          <p:cNvPr id="9" name="文本框 8">
            <a:extLst>
              <a:ext uri="{FF2B5EF4-FFF2-40B4-BE49-F238E27FC236}">
                <a16:creationId xmlns:a16="http://schemas.microsoft.com/office/drawing/2014/main" id="{76F8DED0-02CA-C8C0-0675-F6E1CFB8285E}"/>
              </a:ext>
            </a:extLst>
          </p:cNvPr>
          <p:cNvSpPr txBox="1"/>
          <p:nvPr/>
        </p:nvSpPr>
        <p:spPr>
          <a:xfrm>
            <a:off x="2155825" y="3294411"/>
            <a:ext cx="8242300" cy="2371290"/>
          </a:xfrm>
          <a:prstGeom prst="rect">
            <a:avLst/>
          </a:prstGeom>
          <a:noFill/>
        </p:spPr>
        <p:txBody>
          <a:bodyPr wrap="square">
            <a:spAutoFit/>
          </a:bodyPr>
          <a:lstStyle/>
          <a:p>
            <a:pPr marL="66675" marR="88265" indent="266065" algn="just">
              <a:lnSpc>
                <a:spcPct val="150000"/>
              </a:lnSpc>
              <a:spcAft>
                <a:spcPts val="1000"/>
              </a:spcAft>
            </a:pPr>
            <a:r>
              <a:rPr lang="zh-CN" altLang="zh-CN" sz="2400" dirty="0">
                <a:effectLst/>
                <a:latin typeface="Times New Roman" panose="02020603050405020304" pitchFamily="18" charset="0"/>
                <a:cs typeface="Times New Roman" panose="02020603050405020304" pitchFamily="18" charset="0"/>
              </a:rPr>
              <a:t>常见的激活剂有</a:t>
            </a:r>
            <a:r>
              <a:rPr lang="en-US" altLang="zh-CN" sz="2400" dirty="0">
                <a:effectLst/>
                <a:latin typeface="Times New Roman" panose="02020603050405020304" pitchFamily="18" charset="0"/>
                <a:cs typeface="Times New Roman" panose="02020603050405020304" pitchFamily="18" charset="0"/>
              </a:rPr>
              <a:t> Ca</a:t>
            </a:r>
            <a:r>
              <a:rPr lang="en-US" altLang="zh-CN" sz="2400" baseline="30000" dirty="0">
                <a:effectLst/>
                <a:latin typeface="Times New Roman" panose="02020603050405020304" pitchFamily="18" charset="0"/>
                <a:cs typeface="Times New Roman" panose="02020603050405020304" pitchFamily="18" charset="0"/>
              </a:rPr>
              <a:t>2+</a:t>
            </a:r>
            <a:r>
              <a:rPr lang="en-US" altLang="zh-CN" sz="2400" dirty="0">
                <a:effectLst/>
                <a:latin typeface="Times New Roman" panose="02020603050405020304" pitchFamily="18" charset="0"/>
                <a:cs typeface="Times New Roman" panose="02020603050405020304" pitchFamily="18" charset="0"/>
              </a:rPr>
              <a:t> </a:t>
            </a:r>
            <a:r>
              <a:rPr lang="zh-CN" altLang="zh-CN" sz="2400" dirty="0">
                <a:effectLst/>
                <a:latin typeface="Times New Roman" panose="02020603050405020304" pitchFamily="18" charset="0"/>
                <a:cs typeface="Times New Roman" panose="02020603050405020304" pitchFamily="18" charset="0"/>
              </a:rPr>
              <a:t>、</a:t>
            </a:r>
            <a:r>
              <a:rPr lang="en-US" altLang="zh-CN" sz="2400" dirty="0">
                <a:effectLst/>
                <a:latin typeface="Times New Roman" panose="02020603050405020304" pitchFamily="18" charset="0"/>
                <a:cs typeface="Times New Roman" panose="02020603050405020304" pitchFamily="18" charset="0"/>
              </a:rPr>
              <a:t>Mg</a:t>
            </a:r>
            <a:r>
              <a:rPr lang="en-US" altLang="zh-CN" sz="2400" baseline="30000" dirty="0">
                <a:effectLst/>
                <a:latin typeface="Times New Roman" panose="02020603050405020304" pitchFamily="18" charset="0"/>
                <a:cs typeface="Times New Roman" panose="02020603050405020304" pitchFamily="18" charset="0"/>
              </a:rPr>
              <a:t>2+</a:t>
            </a:r>
            <a:r>
              <a:rPr lang="en-US" altLang="zh-CN" sz="2400" dirty="0">
                <a:effectLst/>
                <a:latin typeface="Times New Roman" panose="02020603050405020304" pitchFamily="18" charset="0"/>
                <a:cs typeface="Times New Roman" panose="02020603050405020304" pitchFamily="18" charset="0"/>
              </a:rPr>
              <a:t> </a:t>
            </a:r>
            <a:r>
              <a:rPr lang="zh-CN" altLang="zh-CN" sz="2400" dirty="0">
                <a:effectLst/>
                <a:latin typeface="Times New Roman" panose="02020603050405020304" pitchFamily="18" charset="0"/>
                <a:cs typeface="Times New Roman" panose="02020603050405020304" pitchFamily="18" charset="0"/>
              </a:rPr>
              <a:t>、</a:t>
            </a:r>
            <a:r>
              <a:rPr lang="en-US" altLang="zh-CN" sz="2400" dirty="0">
                <a:effectLst/>
                <a:latin typeface="Times New Roman" panose="02020603050405020304" pitchFamily="18" charset="0"/>
                <a:cs typeface="Times New Roman" panose="02020603050405020304" pitchFamily="18" charset="0"/>
              </a:rPr>
              <a:t>Co</a:t>
            </a:r>
            <a:r>
              <a:rPr lang="en-US" altLang="zh-CN" sz="2400" baseline="30000" dirty="0">
                <a:effectLst/>
                <a:latin typeface="Times New Roman" panose="02020603050405020304" pitchFamily="18" charset="0"/>
                <a:cs typeface="Times New Roman" panose="02020603050405020304" pitchFamily="18" charset="0"/>
              </a:rPr>
              <a:t>2+</a:t>
            </a:r>
            <a:r>
              <a:rPr lang="en-US" altLang="zh-CN" sz="2400" dirty="0">
                <a:effectLst/>
                <a:latin typeface="Times New Roman" panose="02020603050405020304" pitchFamily="18" charset="0"/>
                <a:cs typeface="Times New Roman" panose="02020603050405020304" pitchFamily="18" charset="0"/>
              </a:rPr>
              <a:t> </a:t>
            </a:r>
            <a:r>
              <a:rPr lang="zh-CN" altLang="zh-CN" sz="2400" dirty="0">
                <a:effectLst/>
                <a:latin typeface="Times New Roman" panose="02020603050405020304" pitchFamily="18" charset="0"/>
                <a:cs typeface="Times New Roman" panose="02020603050405020304" pitchFamily="18" charset="0"/>
              </a:rPr>
              <a:t>、</a:t>
            </a:r>
            <a:r>
              <a:rPr lang="en-US" altLang="zh-CN" sz="2400" dirty="0">
                <a:effectLst/>
                <a:latin typeface="Times New Roman" panose="02020603050405020304" pitchFamily="18" charset="0"/>
                <a:cs typeface="Times New Roman" panose="02020603050405020304" pitchFamily="18" charset="0"/>
              </a:rPr>
              <a:t>Zn</a:t>
            </a:r>
            <a:r>
              <a:rPr lang="en-US" altLang="zh-CN" sz="2400" baseline="30000" dirty="0">
                <a:effectLst/>
                <a:latin typeface="Times New Roman" panose="02020603050405020304" pitchFamily="18" charset="0"/>
                <a:cs typeface="Times New Roman" panose="02020603050405020304" pitchFamily="18" charset="0"/>
              </a:rPr>
              <a:t>2+</a:t>
            </a:r>
            <a:r>
              <a:rPr lang="en-US" altLang="zh-CN" sz="2400" dirty="0">
                <a:effectLst/>
                <a:latin typeface="Times New Roman" panose="02020603050405020304" pitchFamily="18" charset="0"/>
                <a:cs typeface="Times New Roman" panose="02020603050405020304" pitchFamily="18" charset="0"/>
              </a:rPr>
              <a:t> </a:t>
            </a:r>
            <a:r>
              <a:rPr lang="zh-CN" altLang="zh-CN" sz="2400" dirty="0">
                <a:effectLst/>
                <a:latin typeface="Times New Roman" panose="02020603050405020304" pitchFamily="18" charset="0"/>
                <a:cs typeface="Times New Roman" panose="02020603050405020304" pitchFamily="18" charset="0"/>
              </a:rPr>
              <a:t>、</a:t>
            </a:r>
            <a:r>
              <a:rPr lang="en-US" altLang="zh-CN" sz="2400" dirty="0">
                <a:effectLst/>
                <a:latin typeface="Times New Roman" panose="02020603050405020304" pitchFamily="18" charset="0"/>
                <a:cs typeface="Times New Roman" panose="02020603050405020304" pitchFamily="18" charset="0"/>
              </a:rPr>
              <a:t>Mn</a:t>
            </a:r>
            <a:r>
              <a:rPr lang="en-US" altLang="zh-CN" sz="2400" baseline="30000" dirty="0">
                <a:effectLst/>
                <a:latin typeface="Times New Roman" panose="02020603050405020304" pitchFamily="18" charset="0"/>
                <a:cs typeface="Times New Roman" panose="02020603050405020304" pitchFamily="18" charset="0"/>
              </a:rPr>
              <a:t>2+</a:t>
            </a:r>
            <a:r>
              <a:rPr lang="en-US" altLang="zh-CN" sz="2400" dirty="0">
                <a:effectLst/>
                <a:latin typeface="Times New Roman" panose="02020603050405020304" pitchFamily="18" charset="0"/>
                <a:cs typeface="Times New Roman" panose="02020603050405020304" pitchFamily="18" charset="0"/>
              </a:rPr>
              <a:t> </a:t>
            </a:r>
            <a:r>
              <a:rPr lang="zh-CN" altLang="zh-CN" sz="2400" dirty="0">
                <a:effectLst/>
                <a:latin typeface="Times New Roman" panose="02020603050405020304" pitchFamily="18" charset="0"/>
                <a:cs typeface="Times New Roman" panose="02020603050405020304" pitchFamily="18" charset="0"/>
              </a:rPr>
              <a:t>等金属离子和</a:t>
            </a:r>
            <a:r>
              <a:rPr lang="en-US" altLang="zh-CN" sz="2400" dirty="0">
                <a:effectLst/>
                <a:latin typeface="Times New Roman" panose="02020603050405020304" pitchFamily="18" charset="0"/>
                <a:cs typeface="Times New Roman" panose="02020603050405020304" pitchFamily="18" charset="0"/>
              </a:rPr>
              <a:t> Cl</a:t>
            </a:r>
            <a:r>
              <a:rPr lang="zh-CN" altLang="zh-CN" sz="2400" baseline="30000" dirty="0">
                <a:effectLst/>
                <a:latin typeface="Times New Roman" panose="02020603050405020304" pitchFamily="18" charset="0"/>
                <a:cs typeface="Times New Roman" panose="02020603050405020304" pitchFamily="18" charset="0"/>
              </a:rPr>
              <a:t>—</a:t>
            </a:r>
            <a:r>
              <a:rPr lang="zh-CN" altLang="zh-CN" sz="2400" dirty="0">
                <a:effectLst/>
                <a:latin typeface="Times New Roman" panose="02020603050405020304" pitchFamily="18" charset="0"/>
                <a:cs typeface="Times New Roman" panose="02020603050405020304" pitchFamily="18" charset="0"/>
              </a:rPr>
              <a:t>等无机负离子。</a:t>
            </a:r>
            <a:endParaRPr lang="en-US" altLang="zh-CN" sz="2400" dirty="0">
              <a:effectLst/>
              <a:latin typeface="Times New Roman" panose="02020603050405020304" pitchFamily="18" charset="0"/>
              <a:cs typeface="Times New Roman" panose="02020603050405020304" pitchFamily="18" charset="0"/>
            </a:endParaRPr>
          </a:p>
          <a:p>
            <a:pPr marL="66675" marR="88265" indent="266065" algn="just">
              <a:lnSpc>
                <a:spcPct val="150000"/>
              </a:lnSpc>
              <a:spcAft>
                <a:spcPts val="1000"/>
              </a:spcAft>
            </a:pPr>
            <a:r>
              <a:rPr lang="zh-CN" altLang="zh-CN" sz="2400" dirty="0">
                <a:effectLst/>
                <a:latin typeface="Times New Roman" panose="02020603050405020304" pitchFamily="18" charset="0"/>
                <a:cs typeface="Times New Roman" panose="02020603050405020304" pitchFamily="18" charset="0"/>
              </a:rPr>
              <a:t>例如，氯离子（</a:t>
            </a:r>
            <a:r>
              <a:rPr lang="en-US" altLang="zh-CN" sz="2400" dirty="0">
                <a:effectLst/>
                <a:latin typeface="Times New Roman" panose="02020603050405020304" pitchFamily="18" charset="0"/>
                <a:cs typeface="Times New Roman" panose="02020603050405020304" pitchFamily="18" charset="0"/>
              </a:rPr>
              <a:t>Cl</a:t>
            </a:r>
            <a:r>
              <a:rPr lang="en-US" altLang="zh-CN" sz="2400" baseline="30000" dirty="0">
                <a:effectLst/>
                <a:latin typeface="Times New Roman" panose="02020603050405020304" pitchFamily="18" charset="0"/>
                <a:cs typeface="Times New Roman" panose="02020603050405020304" pitchFamily="18" charset="0"/>
              </a:rPr>
              <a:t>—</a:t>
            </a:r>
            <a:r>
              <a:rPr lang="zh-CN" altLang="zh-CN" sz="2400" dirty="0">
                <a:effectLst/>
                <a:latin typeface="Times New Roman" panose="02020603050405020304" pitchFamily="18" charset="0"/>
                <a:cs typeface="Times New Roman" panose="02020603050405020304" pitchFamily="18" charset="0"/>
              </a:rPr>
              <a:t>）是</a:t>
            </a:r>
            <a:r>
              <a:rPr lang="en-US" altLang="zh-CN" sz="2400" dirty="0">
                <a:effectLst/>
                <a:latin typeface="Times New Roman" panose="02020603050405020304" pitchFamily="18" charset="0"/>
                <a:cs typeface="Times New Roman" panose="02020603050405020304" pitchFamily="18" charset="0"/>
              </a:rPr>
              <a:t>α-</a:t>
            </a:r>
            <a:r>
              <a:rPr lang="zh-CN" altLang="zh-CN" sz="2400" dirty="0">
                <a:effectLst/>
                <a:latin typeface="Times New Roman" panose="02020603050405020304" pitchFamily="18" charset="0"/>
                <a:cs typeface="Times New Roman" panose="02020603050405020304" pitchFamily="18" charset="0"/>
              </a:rPr>
              <a:t>淀粉酶的激活剂，钴离子（</a:t>
            </a:r>
            <a:r>
              <a:rPr lang="en-US" altLang="zh-CN" sz="2400" dirty="0">
                <a:effectLst/>
                <a:latin typeface="Times New Roman" panose="02020603050405020304" pitchFamily="18" charset="0"/>
                <a:cs typeface="Times New Roman" panose="02020603050405020304" pitchFamily="18" charset="0"/>
              </a:rPr>
              <a:t>Co</a:t>
            </a:r>
            <a:r>
              <a:rPr lang="en-US" altLang="zh-CN" sz="2400" baseline="30000" dirty="0">
                <a:effectLst/>
                <a:latin typeface="Times New Roman" panose="02020603050405020304" pitchFamily="18" charset="0"/>
                <a:cs typeface="Times New Roman" panose="02020603050405020304" pitchFamily="18" charset="0"/>
              </a:rPr>
              <a:t>2+</a:t>
            </a:r>
            <a:r>
              <a:rPr lang="zh-CN" altLang="zh-CN" sz="2400" dirty="0">
                <a:effectLst/>
                <a:latin typeface="Times New Roman" panose="02020603050405020304" pitchFamily="18" charset="0"/>
                <a:cs typeface="Times New Roman" panose="02020603050405020304" pitchFamily="18" charset="0"/>
              </a:rPr>
              <a:t>）和镁离子（</a:t>
            </a:r>
            <a:r>
              <a:rPr lang="en-US" altLang="zh-CN" sz="2400" dirty="0">
                <a:effectLst/>
                <a:latin typeface="Times New Roman" panose="02020603050405020304" pitchFamily="18" charset="0"/>
                <a:cs typeface="Times New Roman" panose="02020603050405020304" pitchFamily="18" charset="0"/>
              </a:rPr>
              <a:t>Mg</a:t>
            </a:r>
            <a:r>
              <a:rPr lang="en-US" altLang="zh-CN" sz="2400" baseline="30000" dirty="0">
                <a:effectLst/>
                <a:latin typeface="Times New Roman" panose="02020603050405020304" pitchFamily="18" charset="0"/>
                <a:cs typeface="Times New Roman" panose="02020603050405020304" pitchFamily="18" charset="0"/>
              </a:rPr>
              <a:t>2+</a:t>
            </a:r>
            <a:r>
              <a:rPr lang="zh-CN" altLang="zh-CN" sz="2400" dirty="0">
                <a:effectLst/>
                <a:latin typeface="Times New Roman" panose="02020603050405020304" pitchFamily="18" charset="0"/>
                <a:cs typeface="Times New Roman" panose="02020603050405020304" pitchFamily="18" charset="0"/>
              </a:rPr>
              <a:t>）是葡萄糖异构酶的激活剂等。</a:t>
            </a:r>
            <a:endParaRPr lang="zh-CN" altLang="zh-CN" sz="2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795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4">
            <a:alphaModFix amt="58000"/>
          </a:blip>
          <a:srcRect b="29236"/>
          <a:stretch>
            <a:fillRect/>
          </a:stretch>
        </p:blipFill>
        <p:spPr>
          <a:xfrm flipH="1">
            <a:off x="635" y="4309110"/>
            <a:ext cx="12191365" cy="2548890"/>
          </a:xfrm>
          <a:prstGeom prst="rect">
            <a:avLst/>
          </a:prstGeom>
          <a:noFill/>
          <a:ln w="9525">
            <a:noFill/>
          </a:ln>
        </p:spPr>
      </p:pic>
      <p:grpSp>
        <p:nvGrpSpPr>
          <p:cNvPr id="22" name="组合 21"/>
          <p:cNvGrpSpPr/>
          <p:nvPr/>
        </p:nvGrpSpPr>
        <p:grpSpPr>
          <a:xfrm>
            <a:off x="4485640" y="902970"/>
            <a:ext cx="2757805" cy="2565400"/>
            <a:chOff x="3890050" y="1242332"/>
            <a:chExt cx="4318184" cy="4195175"/>
          </a:xfrm>
        </p:grpSpPr>
        <p:sp>
          <p:nvSpPr>
            <p:cNvPr id="28" name="椭圆 27"/>
            <p:cNvSpPr/>
            <p:nvPr/>
          </p:nvSpPr>
          <p:spPr>
            <a:xfrm>
              <a:off x="3890050" y="1242332"/>
              <a:ext cx="4318184" cy="4195175"/>
            </a:xfrm>
            <a:prstGeom prst="ellipse">
              <a:avLst/>
            </a:prstGeom>
            <a:solidFill>
              <a:schemeClr val="bg1">
                <a:alpha val="33000"/>
              </a:schemeClr>
            </a:solidFill>
            <a:ln>
              <a:gradFill>
                <a:gsLst>
                  <a:gs pos="0">
                    <a:srgbClr val="20A3E8"/>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zh-CN" altLang="en-US" sz="900">
                <a:latin typeface="Lato Light"/>
              </a:endParaRPr>
            </a:p>
          </p:txBody>
        </p:sp>
        <p:sp>
          <p:nvSpPr>
            <p:cNvPr id="29" name="椭圆 28"/>
            <p:cNvSpPr/>
            <p:nvPr/>
          </p:nvSpPr>
          <p:spPr>
            <a:xfrm>
              <a:off x="4258022" y="1591020"/>
              <a:ext cx="3675957" cy="3675957"/>
            </a:xfrm>
            <a:prstGeom prst="ellipse">
              <a:avLst/>
            </a:prstGeom>
            <a:solidFill>
              <a:schemeClr val="bg1"/>
            </a:solidFill>
            <a:ln w="57150">
              <a:gradFill>
                <a:gsLst>
                  <a:gs pos="0">
                    <a:schemeClr val="bg1"/>
                  </a:gs>
                  <a:gs pos="100000">
                    <a:srgbClr val="20A3E8"/>
                  </a:gs>
                </a:gsLst>
                <a:lin ang="16200000" scaled="0"/>
              </a:gradFill>
            </a:ln>
            <a:effectLst>
              <a:outerShdw blurRad="444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6" name="TextBox 20"/>
          <p:cNvSpPr txBox="1"/>
          <p:nvPr/>
        </p:nvSpPr>
        <p:spPr>
          <a:xfrm>
            <a:off x="4976341" y="1866677"/>
            <a:ext cx="1835970" cy="748711"/>
          </a:xfrm>
          <a:prstGeom prst="rect">
            <a:avLst/>
          </a:prstGeom>
          <a:noFill/>
        </p:spPr>
        <p:txBody>
          <a:bodyPr wrap="none" lIns="70907" tIns="35455" rIns="70907" bIns="35455" rtlCol="0">
            <a:spAutoFit/>
          </a:bodyPr>
          <a:lstStyle/>
          <a:p>
            <a:pPr algn="ctr"/>
            <a:r>
              <a:rPr lang="zh-CN" altLang="en-US" sz="4400" b="1" dirty="0">
                <a:solidFill>
                  <a:srgbClr val="1F4E79"/>
                </a:solidFill>
                <a:latin typeface="+mj-ea"/>
                <a:ea typeface="+mj-ea"/>
                <a:cs typeface="+mn-ea"/>
                <a:sym typeface="+mn-lt"/>
              </a:rPr>
              <a:t>第五节</a:t>
            </a:r>
          </a:p>
        </p:txBody>
      </p:sp>
      <p:sp>
        <p:nvSpPr>
          <p:cNvPr id="2" name="文本框 1"/>
          <p:cNvSpPr txBox="1"/>
          <p:nvPr/>
        </p:nvSpPr>
        <p:spPr>
          <a:xfrm>
            <a:off x="3185641" y="3191437"/>
            <a:ext cx="6197436" cy="923330"/>
          </a:xfrm>
          <a:prstGeom prst="rect">
            <a:avLst/>
          </a:prstGeom>
          <a:noFill/>
          <a:ln w="9525">
            <a:noFill/>
          </a:ln>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lvl="0" algn="ctr" defTabSz="342900">
              <a:spcBef>
                <a:spcPct val="0"/>
              </a:spcBef>
              <a:defRPr/>
            </a:pPr>
            <a:r>
              <a:rPr lang="zh-CN" altLang="en-US" sz="5400" b="1" dirty="0">
                <a:solidFill>
                  <a:srgbClr val="1F4E79"/>
                </a:solidFill>
                <a:effectLst/>
                <a:ea typeface="宋体" panose="02010600030101010101" pitchFamily="2" charset="-122"/>
                <a:sym typeface="+mn-lt"/>
              </a:rPr>
              <a:t>酶的分类与命名</a:t>
            </a:r>
            <a:endParaRPr lang="zh-CN" sz="5400" b="1" dirty="0">
              <a:solidFill>
                <a:srgbClr val="1F4E79"/>
              </a:solidFill>
              <a:effectLst/>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F9C0DE6-CCDF-943E-39C6-5F25D1BFC098}"/>
              </a:ext>
            </a:extLst>
          </p:cNvPr>
          <p:cNvSpPr txBox="1"/>
          <p:nvPr/>
        </p:nvSpPr>
        <p:spPr>
          <a:xfrm>
            <a:off x="605790" y="1588533"/>
            <a:ext cx="4833118" cy="461665"/>
          </a:xfrm>
          <a:prstGeom prst="rect">
            <a:avLst/>
          </a:prstGeom>
          <a:noFill/>
        </p:spPr>
        <p:txBody>
          <a:bodyPr wrap="square">
            <a:spAutoFit/>
          </a:bodyPr>
          <a:lstStyle/>
          <a:p>
            <a:r>
              <a:rPr lang="zh-CN" altLang="zh-CN" sz="2400" b="1" dirty="0">
                <a:cs typeface="+mn-ea"/>
              </a:rPr>
              <a:t>按照分子中起催化作用的主要组分</a:t>
            </a:r>
            <a:endParaRPr lang="zh-CN" altLang="en-US" sz="2400" b="1" dirty="0">
              <a:cs typeface="+mn-ea"/>
            </a:endParaRPr>
          </a:p>
        </p:txBody>
      </p:sp>
      <p:grpSp>
        <p:nvGrpSpPr>
          <p:cNvPr id="2" name="组合 1">
            <a:extLst>
              <a:ext uri="{FF2B5EF4-FFF2-40B4-BE49-F238E27FC236}">
                <a16:creationId xmlns:a16="http://schemas.microsoft.com/office/drawing/2014/main" id="{86AF25F4-5A17-90C7-98A3-99534555E81A}"/>
              </a:ext>
            </a:extLst>
          </p:cNvPr>
          <p:cNvGrpSpPr/>
          <p:nvPr/>
        </p:nvGrpSpPr>
        <p:grpSpPr>
          <a:xfrm>
            <a:off x="919345" y="1973524"/>
            <a:ext cx="10606891" cy="4668982"/>
            <a:chOff x="919345" y="1850784"/>
            <a:chExt cx="10606891" cy="4668982"/>
          </a:xfrm>
        </p:grpSpPr>
        <p:pic>
          <p:nvPicPr>
            <p:cNvPr id="9" name="图片 8">
              <a:extLst>
                <a:ext uri="{FF2B5EF4-FFF2-40B4-BE49-F238E27FC236}">
                  <a16:creationId xmlns:a16="http://schemas.microsoft.com/office/drawing/2014/main" id="{4918F81B-010F-47CD-04DA-F17D5D69D00A}"/>
                </a:ext>
              </a:extLst>
            </p:cNvPr>
            <p:cNvPicPr>
              <a:picLocks noChangeAspect="1"/>
            </p:cNvPicPr>
            <p:nvPr/>
          </p:nvPicPr>
          <p:blipFill>
            <a:blip r:embed="rId3"/>
            <a:stretch>
              <a:fillRect/>
            </a:stretch>
          </p:blipFill>
          <p:spPr>
            <a:xfrm>
              <a:off x="5124410" y="1850784"/>
              <a:ext cx="3257368" cy="4358133"/>
            </a:xfrm>
            <a:prstGeom prst="rect">
              <a:avLst/>
            </a:prstGeom>
          </p:spPr>
        </p:pic>
        <p:sp>
          <p:nvSpPr>
            <p:cNvPr id="5" name="文本框 4">
              <a:extLst>
                <a:ext uri="{FF2B5EF4-FFF2-40B4-BE49-F238E27FC236}">
                  <a16:creationId xmlns:a16="http://schemas.microsoft.com/office/drawing/2014/main" id="{2E095784-B6E2-1C1F-DC7B-420B286489AE}"/>
                </a:ext>
              </a:extLst>
            </p:cNvPr>
            <p:cNvSpPr txBox="1"/>
            <p:nvPr/>
          </p:nvSpPr>
          <p:spPr>
            <a:xfrm>
              <a:off x="5470286" y="6058101"/>
              <a:ext cx="5600781" cy="461665"/>
            </a:xfrm>
            <a:prstGeom prst="rect">
              <a:avLst/>
            </a:prstGeom>
            <a:noFill/>
          </p:spPr>
          <p:txBody>
            <a:bodyPr wrap="square">
              <a:spAutoFit/>
            </a:bodyPr>
            <a:lstStyle/>
            <a:p>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核酸类酶（</a:t>
              </a:r>
              <a:r>
                <a:rPr lang="en-US" altLang="zh-CN" sz="2400" dirty="0" err="1">
                  <a:latin typeface="Times New Roman" panose="02020603050405020304" pitchFamily="18" charset="0"/>
                  <a:ea typeface="宋体" panose="02010600030101010101" pitchFamily="2" charset="-122"/>
                  <a:cs typeface="Times New Roman" panose="02020603050405020304" pitchFamily="18" charset="0"/>
                </a:rPr>
                <a:t>ribozyme,RNA</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enzyme</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酶）</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AB0798EA-BD8B-B4CD-A5A5-9681C02B63D6}"/>
                </a:ext>
              </a:extLst>
            </p:cNvPr>
            <p:cNvSpPr txBox="1"/>
            <p:nvPr/>
          </p:nvSpPr>
          <p:spPr>
            <a:xfrm>
              <a:off x="919345" y="6058101"/>
              <a:ext cx="4120586" cy="461665"/>
            </a:xfrm>
            <a:prstGeom prst="rect">
              <a:avLst/>
            </a:prstGeom>
            <a:noFill/>
          </p:spPr>
          <p:txBody>
            <a:bodyPr wrap="square">
              <a:spAutoFit/>
            </a:bodyPr>
            <a:lstStyle>
              <a:defPPr>
                <a:defRPr lang="zh-CN"/>
              </a:defPPr>
              <a:lvl1pPr>
                <a:defRPr sz="240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zh-CN" dirty="0"/>
                <a:t>蛋白类酶 （</a:t>
              </a:r>
              <a:r>
                <a:rPr lang="en-US" altLang="zh-CN" dirty="0" err="1"/>
                <a:t>proteozyme</a:t>
              </a:r>
              <a:r>
                <a:rPr lang="en-US" altLang="zh-CN" dirty="0"/>
                <a:t>, P</a:t>
              </a:r>
              <a:r>
                <a:rPr lang="zh-CN" altLang="zh-CN" dirty="0"/>
                <a:t>酶）</a:t>
              </a:r>
              <a:endParaRPr lang="zh-CN" altLang="en-US" dirty="0"/>
            </a:p>
          </p:txBody>
        </p:sp>
        <p:pic>
          <p:nvPicPr>
            <p:cNvPr id="8" name="Picture 6">
              <a:extLst>
                <a:ext uri="{FF2B5EF4-FFF2-40B4-BE49-F238E27FC236}">
                  <a16:creationId xmlns:a16="http://schemas.microsoft.com/office/drawing/2014/main" id="{09FB4763-74E1-5688-E2C7-BEAF729C0E1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257"/>
            <a:stretch/>
          </p:blipFill>
          <p:spPr bwMode="auto">
            <a:xfrm>
              <a:off x="919345" y="2050198"/>
              <a:ext cx="3774710" cy="3768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3">
              <a:extLst>
                <a:ext uri="{FF2B5EF4-FFF2-40B4-BE49-F238E27FC236}">
                  <a16:creationId xmlns:a16="http://schemas.microsoft.com/office/drawing/2014/main" id="{B7C849F3-9439-C9A8-B309-4537B6D20577}"/>
                </a:ext>
              </a:extLst>
            </p:cNvPr>
            <p:cNvPicPr>
              <a:picLocks noChangeAspect="1"/>
            </p:cNvPicPr>
            <p:nvPr/>
          </p:nvPicPr>
          <p:blipFill rotWithShape="1">
            <a:blip r:embed="rId5"/>
            <a:srcRect l="29963" b="10774"/>
            <a:stretch/>
          </p:blipFill>
          <p:spPr>
            <a:xfrm>
              <a:off x="8381778" y="2025900"/>
              <a:ext cx="3144458" cy="4005980"/>
            </a:xfrm>
            <a:prstGeom prst="rect">
              <a:avLst/>
            </a:prstGeom>
          </p:spPr>
        </p:pic>
      </p:grpSp>
      <p:sp>
        <p:nvSpPr>
          <p:cNvPr id="18" name="矩形 17">
            <a:extLst>
              <a:ext uri="{FF2B5EF4-FFF2-40B4-BE49-F238E27FC236}">
                <a16:creationId xmlns:a16="http://schemas.microsoft.com/office/drawing/2014/main" id="{3413D60A-E069-6F35-ADAD-5FCA6E053B94}"/>
              </a:ext>
            </a:extLst>
          </p:cNvPr>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descr="C:/Users/君怡的~1/AppData/Local/Temp/kaimatting/20210905234122/output_aiMatting_20210905234128.pngoutput_aiMatting_20210905234128">
            <a:extLst>
              <a:ext uri="{FF2B5EF4-FFF2-40B4-BE49-F238E27FC236}">
                <a16:creationId xmlns:a16="http://schemas.microsoft.com/office/drawing/2014/main" id="{B37EE9B2-1BC2-C5A0-1DB2-F9DCE337507F}"/>
              </a:ext>
            </a:extLst>
          </p:cNvPr>
          <p:cNvPicPr>
            <a:picLocks noChangeAspect="1"/>
          </p:cNvPicPr>
          <p:nvPr/>
        </p:nvPicPr>
        <p:blipFill>
          <a:blip r:embed="rId6"/>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933859E1-B3AD-9A5C-9A91-B7FF3DDF9DDB}"/>
              </a:ext>
            </a:extLst>
          </p:cNvPr>
          <p:cNvSpPr txBox="1"/>
          <p:nvPr/>
        </p:nvSpPr>
        <p:spPr>
          <a:xfrm>
            <a:off x="605790" y="842000"/>
            <a:ext cx="1701800" cy="523220"/>
          </a:xfrm>
          <a:prstGeom prst="rect">
            <a:avLst/>
          </a:prstGeom>
          <a:noFill/>
        </p:spPr>
        <p:txBody>
          <a:bodyPr wrap="square">
            <a:spAutoFit/>
          </a:bodyPr>
          <a:lstStyle/>
          <a:p>
            <a:r>
              <a:rPr lang="zh-CN" altLang="en-US" sz="2800" b="1" dirty="0">
                <a:solidFill>
                  <a:srgbClr val="1D50A2"/>
                </a:solidFill>
                <a:cs typeface="+mn-ea"/>
              </a:rPr>
              <a:t>酶的分类</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FAE7222-6ABE-1E52-6711-BAAFA89F9A23}"/>
              </a:ext>
            </a:extLst>
          </p:cNvPr>
          <p:cNvPicPr>
            <a:picLocks noChangeAspect="1"/>
          </p:cNvPicPr>
          <p:nvPr/>
        </p:nvPicPr>
        <p:blipFill rotWithShape="1">
          <a:blip r:embed="rId3"/>
          <a:srcRect l="18965"/>
          <a:stretch/>
        </p:blipFill>
        <p:spPr>
          <a:xfrm>
            <a:off x="140248" y="1957369"/>
            <a:ext cx="5716034" cy="4840941"/>
          </a:xfrm>
          <a:prstGeom prst="rect">
            <a:avLst/>
          </a:prstGeom>
        </p:spPr>
      </p:pic>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4"/>
          <a:stretch>
            <a:fillRect/>
          </a:stretch>
        </p:blipFill>
        <p:spPr>
          <a:xfrm>
            <a:off x="605790" y="59690"/>
            <a:ext cx="1701800" cy="387985"/>
          </a:xfrm>
          <a:prstGeom prst="rect">
            <a:avLst/>
          </a:prstGeom>
        </p:spPr>
      </p:pic>
      <p:sp>
        <p:nvSpPr>
          <p:cNvPr id="12" name="文本框 11">
            <a:extLst>
              <a:ext uri="{FF2B5EF4-FFF2-40B4-BE49-F238E27FC236}">
                <a16:creationId xmlns:a16="http://schemas.microsoft.com/office/drawing/2014/main" id="{06BDFA1B-0B0C-3E97-9EFF-31F800214479}"/>
              </a:ext>
            </a:extLst>
          </p:cNvPr>
          <p:cNvSpPr txBox="1"/>
          <p:nvPr/>
        </p:nvSpPr>
        <p:spPr>
          <a:xfrm>
            <a:off x="605790" y="1001349"/>
            <a:ext cx="4004310" cy="461665"/>
          </a:xfrm>
          <a:prstGeom prst="rect">
            <a:avLst/>
          </a:prstGeom>
          <a:noFill/>
        </p:spPr>
        <p:txBody>
          <a:bodyPr wrap="square">
            <a:spAutoFit/>
          </a:bodyPr>
          <a:lstStyle/>
          <a:p>
            <a:r>
              <a:rPr lang="zh-CN" altLang="zh-CN" sz="2400" b="1" dirty="0"/>
              <a:t>蛋白类酶</a:t>
            </a:r>
            <a:r>
              <a:rPr lang="zh-CN" altLang="en-US" sz="2400" b="1" dirty="0"/>
              <a:t>和</a:t>
            </a:r>
            <a:r>
              <a:rPr lang="zh-CN" altLang="zh-CN" sz="2400" b="1" dirty="0"/>
              <a:t>核酸类酶</a:t>
            </a:r>
            <a:r>
              <a:rPr lang="zh-CN" altLang="en-US" sz="2400" b="1" dirty="0"/>
              <a:t>细分</a:t>
            </a:r>
          </a:p>
        </p:txBody>
      </p:sp>
      <p:pic>
        <p:nvPicPr>
          <p:cNvPr id="8" name="图片 7">
            <a:extLst>
              <a:ext uri="{FF2B5EF4-FFF2-40B4-BE49-F238E27FC236}">
                <a16:creationId xmlns:a16="http://schemas.microsoft.com/office/drawing/2014/main" id="{6D891380-464B-D7CA-B9EA-07E61A131D3A}"/>
              </a:ext>
            </a:extLst>
          </p:cNvPr>
          <p:cNvPicPr>
            <a:picLocks noChangeAspect="1"/>
          </p:cNvPicPr>
          <p:nvPr/>
        </p:nvPicPr>
        <p:blipFill>
          <a:blip r:embed="rId5"/>
          <a:stretch>
            <a:fillRect/>
          </a:stretch>
        </p:blipFill>
        <p:spPr>
          <a:xfrm>
            <a:off x="5802622" y="1762882"/>
            <a:ext cx="6243845" cy="439661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582931" y="760095"/>
            <a:ext cx="5360670" cy="521970"/>
          </a:xfrm>
          <a:prstGeom prst="rect">
            <a:avLst/>
          </a:prstGeom>
          <a:noFill/>
        </p:spPr>
        <p:txBody>
          <a:bodyPr wrap="square" rtlCol="0">
            <a:spAutoFit/>
          </a:bodyPr>
          <a:lstStyle/>
          <a:p>
            <a:r>
              <a:rPr lang="zh-CN" altLang="en-US" sz="2800" b="1" dirty="0">
                <a:solidFill>
                  <a:srgbClr val="1D50A2"/>
                </a:solidFill>
                <a:cs typeface="+mn-ea"/>
                <a:sym typeface="+mn-lt"/>
              </a:rPr>
              <a:t>一、蛋白类酶</a:t>
            </a:r>
            <a:r>
              <a:rPr lang="en-US" altLang="zh-CN" sz="2800" b="1" dirty="0">
                <a:solidFill>
                  <a:srgbClr val="1D50A2"/>
                </a:solidFill>
                <a:cs typeface="+mn-ea"/>
                <a:sym typeface="+mn-lt"/>
              </a:rPr>
              <a:t>(P</a:t>
            </a:r>
            <a:r>
              <a:rPr lang="zh-CN" altLang="en-US" sz="2800" b="1" dirty="0">
                <a:solidFill>
                  <a:srgbClr val="1D50A2"/>
                </a:solidFill>
                <a:cs typeface="+mn-ea"/>
                <a:sym typeface="+mn-lt"/>
              </a:rPr>
              <a:t>酶</a:t>
            </a:r>
            <a:r>
              <a:rPr lang="en-US" altLang="zh-CN" sz="2800" b="1" dirty="0">
                <a:solidFill>
                  <a:srgbClr val="1D50A2"/>
                </a:solidFill>
                <a:cs typeface="+mn-ea"/>
                <a:sym typeface="+mn-lt"/>
              </a:rPr>
              <a:t>)</a:t>
            </a:r>
            <a:r>
              <a:rPr lang="zh-CN" altLang="en-US" sz="2800" b="1" dirty="0">
                <a:solidFill>
                  <a:srgbClr val="1D50A2"/>
                </a:solidFill>
                <a:cs typeface="+mn-ea"/>
                <a:sym typeface="+mn-lt"/>
              </a:rPr>
              <a:t>的分类与命名</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3" name="Text Box 2">
            <a:extLst>
              <a:ext uri="{FF2B5EF4-FFF2-40B4-BE49-F238E27FC236}">
                <a16:creationId xmlns:a16="http://schemas.microsoft.com/office/drawing/2014/main" id="{C04C0B24-D068-569A-255F-9221A5508B94}"/>
              </a:ext>
            </a:extLst>
          </p:cNvPr>
          <p:cNvSpPr txBox="1">
            <a:spLocks noChangeArrowheads="1"/>
          </p:cNvSpPr>
          <p:nvPr/>
        </p:nvSpPr>
        <p:spPr bwMode="auto">
          <a:xfrm>
            <a:off x="582931" y="1350328"/>
            <a:ext cx="115204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en-US" altLang="zh-CN" sz="2400" b="1" dirty="0">
                <a:latin typeface="+mn-ea"/>
                <a:ea typeface="+mn-ea"/>
              </a:rPr>
              <a:t>1961</a:t>
            </a:r>
            <a:r>
              <a:rPr kumimoji="1" lang="zh-CN" altLang="en-US" sz="2400" b="1" dirty="0">
                <a:latin typeface="+mn-ea"/>
                <a:ea typeface="+mn-ea"/>
              </a:rPr>
              <a:t>年国际酶学委员会（</a:t>
            </a:r>
            <a:r>
              <a:rPr kumimoji="1" lang="en-US" altLang="zh-CN" sz="2400" b="1" dirty="0">
                <a:latin typeface="+mn-ea"/>
                <a:ea typeface="+mn-ea"/>
              </a:rPr>
              <a:t>Enzyme Committee, EC</a:t>
            </a:r>
            <a:r>
              <a:rPr kumimoji="1" lang="zh-CN" altLang="en-US" sz="2400" b="1" dirty="0">
                <a:latin typeface="+mn-ea"/>
                <a:ea typeface="+mn-ea"/>
              </a:rPr>
              <a:t>）根据酶所催化的反应类型和机理，把酶分成</a:t>
            </a:r>
            <a:r>
              <a:rPr kumimoji="1" lang="en-US" altLang="zh-CN" sz="2400" b="1" dirty="0">
                <a:latin typeface="+mn-ea"/>
                <a:ea typeface="+mn-ea"/>
              </a:rPr>
              <a:t>6</a:t>
            </a:r>
            <a:r>
              <a:rPr kumimoji="1" lang="zh-CN" altLang="en-US" sz="2400" b="1" dirty="0">
                <a:latin typeface="+mn-ea"/>
                <a:ea typeface="+mn-ea"/>
              </a:rPr>
              <a:t>大类：</a:t>
            </a:r>
          </a:p>
        </p:txBody>
      </p:sp>
      <p:pic>
        <p:nvPicPr>
          <p:cNvPr id="5" name="Picture 12">
            <a:extLst>
              <a:ext uri="{FF2B5EF4-FFF2-40B4-BE49-F238E27FC236}">
                <a16:creationId xmlns:a16="http://schemas.microsoft.com/office/drawing/2014/main" id="{29DDB6A1-A7D6-CED0-5A13-C073FEF2E36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179"/>
          <a:stretch/>
        </p:blipFill>
        <p:spPr bwMode="auto">
          <a:xfrm>
            <a:off x="525015" y="2249588"/>
            <a:ext cx="7841721" cy="448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32145CDE-18FA-5E22-B649-75624BFAAE63}"/>
              </a:ext>
            </a:extLst>
          </p:cNvPr>
          <p:cNvSpPr txBox="1"/>
          <p:nvPr/>
        </p:nvSpPr>
        <p:spPr>
          <a:xfrm>
            <a:off x="8366736" y="2830016"/>
            <a:ext cx="3573015" cy="2677656"/>
          </a:xfrm>
          <a:prstGeom prst="rect">
            <a:avLst/>
          </a:prstGeom>
          <a:noFill/>
        </p:spPr>
        <p:txBody>
          <a:bodyPr wrap="square">
            <a:spAutoFit/>
          </a:bodyPr>
          <a:lstStyle/>
          <a:p>
            <a:r>
              <a:rPr lang="zh-CN" altLang="en-US" sz="2400" dirty="0">
                <a:latin typeface="+mn-ea"/>
              </a:rPr>
              <a:t>第一大类</a:t>
            </a:r>
            <a:r>
              <a:rPr lang="en-US" altLang="zh-CN" sz="2400" dirty="0">
                <a:latin typeface="+mn-ea"/>
              </a:rPr>
              <a:t>,</a:t>
            </a:r>
            <a:r>
              <a:rPr lang="zh-CN" altLang="en-US" sz="2400" dirty="0">
                <a:latin typeface="+mn-ea"/>
              </a:rPr>
              <a:t>氧化还原酶</a:t>
            </a:r>
            <a:r>
              <a:rPr lang="en-US" altLang="zh-CN" sz="2400" dirty="0">
                <a:latin typeface="+mn-ea"/>
              </a:rPr>
              <a:t>;</a:t>
            </a:r>
          </a:p>
          <a:p>
            <a:r>
              <a:rPr lang="zh-CN" altLang="en-US" sz="2400" dirty="0">
                <a:latin typeface="+mn-ea"/>
              </a:rPr>
              <a:t>第二大类</a:t>
            </a:r>
            <a:r>
              <a:rPr lang="en-US" altLang="zh-CN" sz="2400" dirty="0">
                <a:latin typeface="+mn-ea"/>
              </a:rPr>
              <a:t>,</a:t>
            </a:r>
            <a:r>
              <a:rPr lang="zh-CN" altLang="en-US" sz="2400" dirty="0">
                <a:latin typeface="+mn-ea"/>
              </a:rPr>
              <a:t>转移酶</a:t>
            </a:r>
            <a:r>
              <a:rPr lang="en-US" altLang="zh-CN" sz="2400" dirty="0">
                <a:latin typeface="+mn-ea"/>
              </a:rPr>
              <a:t>;</a:t>
            </a:r>
          </a:p>
          <a:p>
            <a:r>
              <a:rPr lang="zh-CN" altLang="en-US" sz="2400" dirty="0">
                <a:latin typeface="+mn-ea"/>
              </a:rPr>
              <a:t>第三大类</a:t>
            </a:r>
            <a:r>
              <a:rPr lang="en-US" altLang="zh-CN" sz="2400" dirty="0">
                <a:latin typeface="+mn-ea"/>
              </a:rPr>
              <a:t>,</a:t>
            </a:r>
            <a:r>
              <a:rPr lang="zh-CN" altLang="en-US" sz="2400" dirty="0">
                <a:latin typeface="+mn-ea"/>
              </a:rPr>
              <a:t>水解酶</a:t>
            </a:r>
            <a:r>
              <a:rPr lang="en-US" altLang="zh-CN" sz="2400" dirty="0">
                <a:latin typeface="+mn-ea"/>
              </a:rPr>
              <a:t>;</a:t>
            </a:r>
          </a:p>
          <a:p>
            <a:r>
              <a:rPr lang="zh-CN" altLang="en-US" sz="2400" dirty="0">
                <a:latin typeface="+mn-ea"/>
              </a:rPr>
              <a:t>第四大类</a:t>
            </a:r>
            <a:r>
              <a:rPr lang="en-US" altLang="zh-CN" sz="2400" dirty="0">
                <a:latin typeface="+mn-ea"/>
              </a:rPr>
              <a:t>,</a:t>
            </a:r>
            <a:r>
              <a:rPr lang="zh-CN" altLang="en-US" sz="2400" dirty="0">
                <a:latin typeface="+mn-ea"/>
              </a:rPr>
              <a:t>裂合酶</a:t>
            </a:r>
            <a:r>
              <a:rPr lang="en-US" altLang="zh-CN" sz="2400" dirty="0">
                <a:latin typeface="+mn-ea"/>
              </a:rPr>
              <a:t>;</a:t>
            </a:r>
          </a:p>
          <a:p>
            <a:r>
              <a:rPr lang="zh-CN" altLang="en-US" sz="2400" dirty="0">
                <a:latin typeface="+mn-ea"/>
              </a:rPr>
              <a:t>第五大类</a:t>
            </a:r>
            <a:r>
              <a:rPr lang="en-US" altLang="zh-CN" sz="2400" dirty="0">
                <a:latin typeface="+mn-ea"/>
              </a:rPr>
              <a:t>,</a:t>
            </a:r>
            <a:r>
              <a:rPr lang="zh-CN" altLang="en-US" sz="2400" dirty="0">
                <a:latin typeface="+mn-ea"/>
              </a:rPr>
              <a:t>异构酶</a:t>
            </a:r>
            <a:r>
              <a:rPr lang="en-US" altLang="zh-CN" sz="2400" dirty="0">
                <a:latin typeface="+mn-ea"/>
              </a:rPr>
              <a:t>;</a:t>
            </a:r>
          </a:p>
          <a:p>
            <a:r>
              <a:rPr lang="zh-CN" altLang="en-US" sz="2400" dirty="0">
                <a:latin typeface="+mn-ea"/>
              </a:rPr>
              <a:t>第六大类</a:t>
            </a:r>
            <a:r>
              <a:rPr lang="en-US" altLang="zh-CN" sz="2400" dirty="0">
                <a:latin typeface="+mn-ea"/>
              </a:rPr>
              <a:t>,</a:t>
            </a:r>
            <a:r>
              <a:rPr lang="zh-CN" altLang="en-US" sz="2400" dirty="0">
                <a:latin typeface="+mn-ea"/>
              </a:rPr>
              <a:t>合成酶</a:t>
            </a:r>
            <a:r>
              <a:rPr lang="en-US" altLang="zh-CN" sz="2400" dirty="0">
                <a:latin typeface="+mn-ea"/>
              </a:rPr>
              <a:t>(</a:t>
            </a:r>
            <a:r>
              <a:rPr lang="zh-CN" altLang="en-US" sz="2400" dirty="0">
                <a:latin typeface="+mn-ea"/>
              </a:rPr>
              <a:t>或称连接酶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582930" y="760095"/>
            <a:ext cx="1939553" cy="461665"/>
          </a:xfrm>
          <a:prstGeom prst="rect">
            <a:avLst/>
          </a:prstGeom>
          <a:noFill/>
        </p:spPr>
        <p:txBody>
          <a:bodyPr wrap="square" rtlCol="0">
            <a:spAutoFit/>
          </a:bodyPr>
          <a:lstStyle/>
          <a:p>
            <a:r>
              <a:rPr kumimoji="1" lang="zh-CN" altLang="en-US" sz="2400" b="1" dirty="0">
                <a:latin typeface="+mn-ea"/>
                <a:sym typeface="+mn-lt"/>
              </a:rPr>
              <a:t>系统命名法</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3" name="Text Box 4">
            <a:extLst>
              <a:ext uri="{FF2B5EF4-FFF2-40B4-BE49-F238E27FC236}">
                <a16:creationId xmlns:a16="http://schemas.microsoft.com/office/drawing/2014/main" id="{849BC408-C4A9-7D58-F508-4559767256D6}"/>
              </a:ext>
            </a:extLst>
          </p:cNvPr>
          <p:cNvSpPr txBox="1">
            <a:spLocks noChangeArrowheads="1"/>
          </p:cNvSpPr>
          <p:nvPr/>
        </p:nvSpPr>
        <p:spPr bwMode="auto">
          <a:xfrm>
            <a:off x="993030" y="1360706"/>
            <a:ext cx="11025352" cy="2308324"/>
          </a:xfrm>
          <a:prstGeom prst="rect">
            <a:avLst/>
          </a:prstGeom>
          <a:noFill/>
          <a:ln>
            <a:noFill/>
          </a:ln>
          <a:effectLst/>
        </p:spPr>
        <p:txBody>
          <a:bodyPr wrap="square">
            <a:spAutoFit/>
          </a:bodyPr>
          <a:lstStyle/>
          <a:p>
            <a:pPr eaLnBrk="1" fontAlgn="auto" hangingPunct="1">
              <a:spcBef>
                <a:spcPts val="0"/>
              </a:spcBef>
              <a:spcAft>
                <a:spcPts val="0"/>
              </a:spcAft>
              <a:defRPr/>
            </a:pPr>
            <a:r>
              <a:rPr lang="en-US" altLang="zh-CN" sz="2400" dirty="0">
                <a:latin typeface="+mn-lt"/>
                <a:ea typeface="+mn-ea"/>
              </a:rPr>
              <a:t>Each enzyme is now classified and named according to the </a:t>
            </a:r>
            <a:r>
              <a:rPr lang="en-US" altLang="zh-CN" sz="2400" b="1" dirty="0">
                <a:solidFill>
                  <a:schemeClr val="accent1"/>
                </a:solidFill>
                <a:latin typeface="+mn-lt"/>
                <a:ea typeface="+mn-ea"/>
              </a:rPr>
              <a:t>type of chemical reaction it catalyzes</a:t>
            </a:r>
            <a:r>
              <a:rPr lang="en-US" altLang="zh-CN" sz="2400" dirty="0">
                <a:latin typeface="+mn-lt"/>
                <a:ea typeface="+mn-ea"/>
              </a:rPr>
              <a:t>. So an enzyme is assigned a </a:t>
            </a:r>
            <a:r>
              <a:rPr lang="en-US" altLang="zh-CN" sz="2400" b="1" dirty="0">
                <a:solidFill>
                  <a:schemeClr val="accent1"/>
                </a:solidFill>
                <a:latin typeface="+mn-lt"/>
                <a:ea typeface="+mn-ea"/>
              </a:rPr>
              <a:t>four-number classification</a:t>
            </a:r>
            <a:r>
              <a:rPr lang="en-US" altLang="zh-CN" sz="2400" dirty="0">
                <a:latin typeface="+mn-lt"/>
                <a:ea typeface="+mn-ea"/>
              </a:rPr>
              <a:t> and a </a:t>
            </a:r>
            <a:r>
              <a:rPr lang="en-US" altLang="zh-CN" sz="2400" b="1" dirty="0">
                <a:solidFill>
                  <a:schemeClr val="accent1"/>
                </a:solidFill>
                <a:latin typeface="+mn-lt"/>
                <a:ea typeface="+mn-ea"/>
              </a:rPr>
              <a:t>two-part name</a:t>
            </a:r>
            <a:r>
              <a:rPr lang="en-US" altLang="zh-CN" sz="2400" b="1" dirty="0">
                <a:latin typeface="+mn-lt"/>
                <a:ea typeface="+mn-ea"/>
              </a:rPr>
              <a:t> </a:t>
            </a:r>
            <a:r>
              <a:rPr lang="en-US" altLang="zh-CN" sz="2400" dirty="0">
                <a:latin typeface="+mn-lt"/>
                <a:ea typeface="+mn-ea"/>
              </a:rPr>
              <a:t>called a </a:t>
            </a:r>
            <a:r>
              <a:rPr lang="en-US" altLang="zh-CN" sz="2400" u="sng" dirty="0">
                <a:latin typeface="+mn-lt"/>
                <a:ea typeface="+mn-ea"/>
              </a:rPr>
              <a:t>systematic name</a:t>
            </a:r>
            <a:r>
              <a:rPr lang="en-US" altLang="zh-CN" sz="2400" dirty="0">
                <a:latin typeface="+mn-lt"/>
                <a:ea typeface="+mn-ea"/>
              </a:rPr>
              <a:t>. In addition recommended name is suggested by IUB for everyday use.</a:t>
            </a:r>
          </a:p>
          <a:p>
            <a:pPr eaLnBrk="1" fontAlgn="auto" hangingPunct="1">
              <a:spcBef>
                <a:spcPts val="0"/>
              </a:spcBef>
              <a:spcAft>
                <a:spcPts val="0"/>
              </a:spcAft>
              <a:defRPr/>
            </a:pPr>
            <a:endParaRPr lang="en-US" altLang="zh-CN" sz="2400" dirty="0">
              <a:latin typeface="+mn-lt"/>
              <a:ea typeface="+mn-ea"/>
            </a:endParaRPr>
          </a:p>
          <a:p>
            <a:pPr eaLnBrk="1" fontAlgn="auto" hangingPunct="1">
              <a:spcBef>
                <a:spcPts val="0"/>
              </a:spcBef>
              <a:spcAft>
                <a:spcPts val="0"/>
              </a:spcAft>
              <a:defRPr/>
            </a:pPr>
            <a:r>
              <a:rPr lang="en-US" altLang="zh-CN" sz="2400" b="1" dirty="0">
                <a:solidFill>
                  <a:schemeClr val="accent1"/>
                </a:solidFill>
                <a:latin typeface="+mn-lt"/>
                <a:ea typeface="+mn-ea"/>
              </a:rPr>
              <a:t>E.C. X.X.X.X</a:t>
            </a:r>
          </a:p>
        </p:txBody>
      </p:sp>
      <p:grpSp>
        <p:nvGrpSpPr>
          <p:cNvPr id="5" name="Group 5">
            <a:extLst>
              <a:ext uri="{FF2B5EF4-FFF2-40B4-BE49-F238E27FC236}">
                <a16:creationId xmlns:a16="http://schemas.microsoft.com/office/drawing/2014/main" id="{8F65161E-0F9D-5906-07C0-8D66121BA9A0}"/>
              </a:ext>
            </a:extLst>
          </p:cNvPr>
          <p:cNvGrpSpPr>
            <a:grpSpLocks/>
          </p:cNvGrpSpPr>
          <p:nvPr/>
        </p:nvGrpSpPr>
        <p:grpSpPr bwMode="auto">
          <a:xfrm>
            <a:off x="993030" y="3948430"/>
            <a:ext cx="8534400" cy="2149475"/>
            <a:chOff x="192" y="1488"/>
            <a:chExt cx="5376" cy="1354"/>
          </a:xfrm>
        </p:grpSpPr>
        <p:sp>
          <p:nvSpPr>
            <p:cNvPr id="8" name="Text Box 6">
              <a:extLst>
                <a:ext uri="{FF2B5EF4-FFF2-40B4-BE49-F238E27FC236}">
                  <a16:creationId xmlns:a16="http://schemas.microsoft.com/office/drawing/2014/main" id="{60572C76-CF2A-18B2-0E68-7E20543A3F3D}"/>
                </a:ext>
              </a:extLst>
            </p:cNvPr>
            <p:cNvSpPr txBox="1">
              <a:spLocks noChangeArrowheads="1"/>
            </p:cNvSpPr>
            <p:nvPr/>
          </p:nvSpPr>
          <p:spPr bwMode="auto">
            <a:xfrm>
              <a:off x="192" y="1488"/>
              <a:ext cx="30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b="1">
                  <a:solidFill>
                    <a:schemeClr val="hlink"/>
                  </a:solidFill>
                  <a:latin typeface="Times New Roman" panose="02020603050405020304" pitchFamily="18" charset="0"/>
                </a:rPr>
                <a:t>乳酸脱氢酶</a:t>
              </a:r>
              <a:r>
                <a:rPr kumimoji="1" lang="zh-CN" altLang="en-US" sz="2400">
                  <a:solidFill>
                    <a:schemeClr val="hlink"/>
                  </a:solidFill>
                  <a:latin typeface="Times New Roman" panose="02020603050405020304" pitchFamily="18" charset="0"/>
                </a:rPr>
                <a:t>  </a:t>
              </a:r>
              <a:r>
                <a:rPr kumimoji="1" lang="en-US" altLang="zh-CN" sz="2400">
                  <a:solidFill>
                    <a:schemeClr val="hlink"/>
                  </a:solidFill>
                  <a:latin typeface="Times New Roman" panose="02020603050405020304" pitchFamily="18" charset="0"/>
                </a:rPr>
                <a:t>EC    1.      1.     1.    27</a:t>
              </a:r>
            </a:p>
          </p:txBody>
        </p:sp>
        <p:sp>
          <p:nvSpPr>
            <p:cNvPr id="9" name="Text Box 7">
              <a:extLst>
                <a:ext uri="{FF2B5EF4-FFF2-40B4-BE49-F238E27FC236}">
                  <a16:creationId xmlns:a16="http://schemas.microsoft.com/office/drawing/2014/main" id="{ADB9188E-D99A-186D-F66C-3A5634EE0011}"/>
                </a:ext>
              </a:extLst>
            </p:cNvPr>
            <p:cNvSpPr txBox="1">
              <a:spLocks noChangeArrowheads="1"/>
            </p:cNvSpPr>
            <p:nvPr/>
          </p:nvSpPr>
          <p:spPr bwMode="auto">
            <a:xfrm>
              <a:off x="3312" y="1776"/>
              <a:ext cx="2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000">
                  <a:solidFill>
                    <a:schemeClr val="hlink"/>
                  </a:solidFill>
                  <a:latin typeface="Times New Roman" panose="02020603050405020304" pitchFamily="18" charset="0"/>
                </a:rPr>
                <a:t>第</a:t>
              </a:r>
              <a:r>
                <a:rPr kumimoji="1" lang="en-US" altLang="zh-CN" sz="2000">
                  <a:solidFill>
                    <a:schemeClr val="hlink"/>
                  </a:solidFill>
                  <a:latin typeface="Times New Roman" panose="02020603050405020304" pitchFamily="18" charset="0"/>
                </a:rPr>
                <a:t>1</a:t>
              </a:r>
              <a:r>
                <a:rPr kumimoji="1" lang="zh-CN" altLang="en-US" sz="2000">
                  <a:solidFill>
                    <a:schemeClr val="hlink"/>
                  </a:solidFill>
                  <a:latin typeface="Times New Roman" panose="02020603050405020304" pitchFamily="18" charset="0"/>
                </a:rPr>
                <a:t>大类，氧化还原酶</a:t>
              </a:r>
            </a:p>
          </p:txBody>
        </p:sp>
        <p:sp>
          <p:nvSpPr>
            <p:cNvPr id="12" name="Text Box 8">
              <a:extLst>
                <a:ext uri="{FF2B5EF4-FFF2-40B4-BE49-F238E27FC236}">
                  <a16:creationId xmlns:a16="http://schemas.microsoft.com/office/drawing/2014/main" id="{48B8B15F-C9B9-12BC-A931-7113535FB9AF}"/>
                </a:ext>
              </a:extLst>
            </p:cNvPr>
            <p:cNvSpPr txBox="1">
              <a:spLocks noChangeArrowheads="1"/>
            </p:cNvSpPr>
            <p:nvPr/>
          </p:nvSpPr>
          <p:spPr bwMode="auto">
            <a:xfrm>
              <a:off x="3312" y="2064"/>
              <a:ext cx="20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000" dirty="0">
                  <a:solidFill>
                    <a:schemeClr val="hlink"/>
                  </a:solidFill>
                  <a:latin typeface="Times New Roman" panose="02020603050405020304" pitchFamily="18" charset="0"/>
                </a:rPr>
                <a:t>第</a:t>
              </a:r>
              <a:r>
                <a:rPr kumimoji="1" lang="en-US" altLang="zh-CN" sz="2000" dirty="0">
                  <a:solidFill>
                    <a:schemeClr val="hlink"/>
                  </a:solidFill>
                  <a:latin typeface="Times New Roman" panose="02020603050405020304" pitchFamily="18" charset="0"/>
                </a:rPr>
                <a:t>1</a:t>
              </a:r>
              <a:r>
                <a:rPr kumimoji="1" lang="zh-CN" altLang="en-US" sz="2000" dirty="0">
                  <a:solidFill>
                    <a:schemeClr val="hlink"/>
                  </a:solidFill>
                  <a:latin typeface="Times New Roman" panose="02020603050405020304" pitchFamily="18" charset="0"/>
                </a:rPr>
                <a:t>亚类，氧化基团</a:t>
              </a:r>
              <a:r>
                <a:rPr kumimoji="1" lang="en-US" altLang="zh-CN" sz="2000" dirty="0">
                  <a:solidFill>
                    <a:schemeClr val="hlink"/>
                  </a:solidFill>
                  <a:latin typeface="Times New Roman" panose="02020603050405020304" pitchFamily="18" charset="0"/>
                </a:rPr>
                <a:t>CHOH</a:t>
              </a:r>
            </a:p>
          </p:txBody>
        </p:sp>
        <p:sp>
          <p:nvSpPr>
            <p:cNvPr id="14" name="Text Box 9">
              <a:extLst>
                <a:ext uri="{FF2B5EF4-FFF2-40B4-BE49-F238E27FC236}">
                  <a16:creationId xmlns:a16="http://schemas.microsoft.com/office/drawing/2014/main" id="{F3832C3F-3B64-F5BF-E1E5-D5F356B646A4}"/>
                </a:ext>
              </a:extLst>
            </p:cNvPr>
            <p:cNvSpPr txBox="1">
              <a:spLocks noChangeArrowheads="1"/>
            </p:cNvSpPr>
            <p:nvPr/>
          </p:nvSpPr>
          <p:spPr bwMode="auto">
            <a:xfrm>
              <a:off x="3312" y="2304"/>
              <a:ext cx="2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000">
                  <a:solidFill>
                    <a:schemeClr val="hlink"/>
                  </a:solidFill>
                  <a:latin typeface="Times New Roman" panose="02020603050405020304" pitchFamily="18" charset="0"/>
                </a:rPr>
                <a:t>第</a:t>
              </a:r>
              <a:r>
                <a:rPr kumimoji="1" lang="en-US" altLang="zh-CN" sz="2000">
                  <a:solidFill>
                    <a:schemeClr val="hlink"/>
                  </a:solidFill>
                  <a:latin typeface="Times New Roman" panose="02020603050405020304" pitchFamily="18" charset="0"/>
                </a:rPr>
                <a:t>1</a:t>
              </a:r>
              <a:r>
                <a:rPr kumimoji="1" lang="zh-CN" altLang="en-US" sz="2000">
                  <a:solidFill>
                    <a:schemeClr val="hlink"/>
                  </a:solidFill>
                  <a:latin typeface="Times New Roman" panose="02020603050405020304" pitchFamily="18" charset="0"/>
                </a:rPr>
                <a:t>亚亚类，</a:t>
              </a:r>
              <a:r>
                <a:rPr kumimoji="1" lang="en-US" altLang="zh-CN" sz="2000">
                  <a:solidFill>
                    <a:schemeClr val="hlink"/>
                  </a:solidFill>
                  <a:latin typeface="Times New Roman" panose="02020603050405020304" pitchFamily="18" charset="0"/>
                </a:rPr>
                <a:t>H</a:t>
              </a:r>
              <a:r>
                <a:rPr kumimoji="1" lang="zh-CN" altLang="en-US" sz="2000">
                  <a:solidFill>
                    <a:schemeClr val="hlink"/>
                  </a:solidFill>
                  <a:latin typeface="Times New Roman" panose="02020603050405020304" pitchFamily="18" charset="0"/>
                </a:rPr>
                <a:t>受体为</a:t>
              </a:r>
              <a:r>
                <a:rPr kumimoji="1" lang="en-US" altLang="zh-CN" sz="2000">
                  <a:solidFill>
                    <a:schemeClr val="hlink"/>
                  </a:solidFill>
                  <a:latin typeface="Times New Roman" panose="02020603050405020304" pitchFamily="18" charset="0"/>
                </a:rPr>
                <a:t>NAD</a:t>
              </a:r>
              <a:r>
                <a:rPr kumimoji="1" lang="en-US" altLang="zh-CN" sz="2000" baseline="30000">
                  <a:solidFill>
                    <a:schemeClr val="hlink"/>
                  </a:solidFill>
                  <a:latin typeface="Times New Roman" panose="02020603050405020304" pitchFamily="18" charset="0"/>
                </a:rPr>
                <a:t>+</a:t>
              </a:r>
              <a:endParaRPr kumimoji="1" lang="en-US" altLang="zh-CN" sz="2000">
                <a:solidFill>
                  <a:schemeClr val="hlink"/>
                </a:solidFill>
                <a:latin typeface="Times New Roman" panose="02020603050405020304" pitchFamily="18" charset="0"/>
              </a:endParaRPr>
            </a:p>
          </p:txBody>
        </p:sp>
        <p:sp>
          <p:nvSpPr>
            <p:cNvPr id="15" name="Text Box 10">
              <a:extLst>
                <a:ext uri="{FF2B5EF4-FFF2-40B4-BE49-F238E27FC236}">
                  <a16:creationId xmlns:a16="http://schemas.microsoft.com/office/drawing/2014/main" id="{C6260229-D8CB-3CF8-5C01-518F15324F0B}"/>
                </a:ext>
              </a:extLst>
            </p:cNvPr>
            <p:cNvSpPr txBox="1">
              <a:spLocks noChangeArrowheads="1"/>
            </p:cNvSpPr>
            <p:nvPr/>
          </p:nvSpPr>
          <p:spPr bwMode="auto">
            <a:xfrm>
              <a:off x="3312" y="2592"/>
              <a:ext cx="22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000" dirty="0">
                  <a:solidFill>
                    <a:schemeClr val="hlink"/>
                  </a:solidFill>
                  <a:latin typeface="Times New Roman" panose="02020603050405020304" pitchFamily="18" charset="0"/>
                </a:rPr>
                <a:t>该酶在亚亚类中的流水编号</a:t>
              </a:r>
            </a:p>
          </p:txBody>
        </p:sp>
        <p:sp>
          <p:nvSpPr>
            <p:cNvPr id="16" name="Line 11">
              <a:extLst>
                <a:ext uri="{FF2B5EF4-FFF2-40B4-BE49-F238E27FC236}">
                  <a16:creationId xmlns:a16="http://schemas.microsoft.com/office/drawing/2014/main" id="{FFFDBA46-6390-171E-5D7B-AE90D2D30AD4}"/>
                </a:ext>
              </a:extLst>
            </p:cNvPr>
            <p:cNvSpPr>
              <a:spLocks noChangeShapeType="1"/>
            </p:cNvSpPr>
            <p:nvPr/>
          </p:nvSpPr>
          <p:spPr bwMode="auto">
            <a:xfrm>
              <a:off x="1776" y="172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2">
              <a:extLst>
                <a:ext uri="{FF2B5EF4-FFF2-40B4-BE49-F238E27FC236}">
                  <a16:creationId xmlns:a16="http://schemas.microsoft.com/office/drawing/2014/main" id="{2C740C21-DDBA-7FED-738D-5CF4F8D67488}"/>
                </a:ext>
              </a:extLst>
            </p:cNvPr>
            <p:cNvSpPr>
              <a:spLocks noChangeShapeType="1"/>
            </p:cNvSpPr>
            <p:nvPr/>
          </p:nvSpPr>
          <p:spPr bwMode="auto">
            <a:xfrm>
              <a:off x="1776" y="1872"/>
              <a:ext cx="14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3">
              <a:extLst>
                <a:ext uri="{FF2B5EF4-FFF2-40B4-BE49-F238E27FC236}">
                  <a16:creationId xmlns:a16="http://schemas.microsoft.com/office/drawing/2014/main" id="{05619FEB-215D-2F05-1A03-1E99E93D6C56}"/>
                </a:ext>
              </a:extLst>
            </p:cNvPr>
            <p:cNvSpPr>
              <a:spLocks noChangeShapeType="1"/>
            </p:cNvSpPr>
            <p:nvPr/>
          </p:nvSpPr>
          <p:spPr bwMode="auto">
            <a:xfrm>
              <a:off x="2208" y="1728"/>
              <a:ext cx="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4">
              <a:extLst>
                <a:ext uri="{FF2B5EF4-FFF2-40B4-BE49-F238E27FC236}">
                  <a16:creationId xmlns:a16="http://schemas.microsoft.com/office/drawing/2014/main" id="{0CB3627F-739C-E9C5-8675-39DBBBFA3C3B}"/>
                </a:ext>
              </a:extLst>
            </p:cNvPr>
            <p:cNvSpPr>
              <a:spLocks noChangeShapeType="1"/>
            </p:cNvSpPr>
            <p:nvPr/>
          </p:nvSpPr>
          <p:spPr bwMode="auto">
            <a:xfrm>
              <a:off x="2208" y="2160"/>
              <a:ext cx="105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5">
              <a:extLst>
                <a:ext uri="{FF2B5EF4-FFF2-40B4-BE49-F238E27FC236}">
                  <a16:creationId xmlns:a16="http://schemas.microsoft.com/office/drawing/2014/main" id="{CBB21EF2-DF67-B627-5355-E78366263DA1}"/>
                </a:ext>
              </a:extLst>
            </p:cNvPr>
            <p:cNvSpPr>
              <a:spLocks noChangeShapeType="1"/>
            </p:cNvSpPr>
            <p:nvPr/>
          </p:nvSpPr>
          <p:spPr bwMode="auto">
            <a:xfrm>
              <a:off x="2592" y="1728"/>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6">
              <a:extLst>
                <a:ext uri="{FF2B5EF4-FFF2-40B4-BE49-F238E27FC236}">
                  <a16:creationId xmlns:a16="http://schemas.microsoft.com/office/drawing/2014/main" id="{F3321F0F-1D98-6183-A371-6F6AE249CCEA}"/>
                </a:ext>
              </a:extLst>
            </p:cNvPr>
            <p:cNvSpPr>
              <a:spLocks noChangeShapeType="1"/>
            </p:cNvSpPr>
            <p:nvPr/>
          </p:nvSpPr>
          <p:spPr bwMode="auto">
            <a:xfrm>
              <a:off x="2592" y="2448"/>
              <a:ext cx="6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7">
              <a:extLst>
                <a:ext uri="{FF2B5EF4-FFF2-40B4-BE49-F238E27FC236}">
                  <a16:creationId xmlns:a16="http://schemas.microsoft.com/office/drawing/2014/main" id="{92D010F0-63D9-FCE0-580E-068CDFC22A14}"/>
                </a:ext>
              </a:extLst>
            </p:cNvPr>
            <p:cNvSpPr>
              <a:spLocks noChangeShapeType="1"/>
            </p:cNvSpPr>
            <p:nvPr/>
          </p:nvSpPr>
          <p:spPr bwMode="auto">
            <a:xfrm>
              <a:off x="2976" y="1728"/>
              <a:ext cx="0" cy="10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8">
              <a:extLst>
                <a:ext uri="{FF2B5EF4-FFF2-40B4-BE49-F238E27FC236}">
                  <a16:creationId xmlns:a16="http://schemas.microsoft.com/office/drawing/2014/main" id="{AD492619-17AD-15E6-B063-655ACF2024E9}"/>
                </a:ext>
              </a:extLst>
            </p:cNvPr>
            <p:cNvSpPr>
              <a:spLocks noChangeShapeType="1"/>
            </p:cNvSpPr>
            <p:nvPr/>
          </p:nvSpPr>
          <p:spPr bwMode="auto">
            <a:xfrm>
              <a:off x="2976" y="273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3" name="Text Box 2">
            <a:extLst>
              <a:ext uri="{FF2B5EF4-FFF2-40B4-BE49-F238E27FC236}">
                <a16:creationId xmlns:a16="http://schemas.microsoft.com/office/drawing/2014/main" id="{D9D23C19-C9E9-F1A1-1B38-0F20E2F78D07}"/>
              </a:ext>
            </a:extLst>
          </p:cNvPr>
          <p:cNvSpPr txBox="1">
            <a:spLocks noChangeArrowheads="1"/>
          </p:cNvSpPr>
          <p:nvPr/>
        </p:nvSpPr>
        <p:spPr bwMode="auto">
          <a:xfrm>
            <a:off x="533400" y="609600"/>
            <a:ext cx="762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a:solidFill>
                  <a:schemeClr val="hlink"/>
                </a:solidFill>
                <a:latin typeface="Times New Roman" panose="02020603050405020304" pitchFamily="18" charset="0"/>
              </a:rPr>
              <a:t>酶的命名有两种方法：</a:t>
            </a:r>
            <a:r>
              <a:rPr kumimoji="1" lang="zh-CN" altLang="en-US" sz="2400" b="1">
                <a:solidFill>
                  <a:srgbClr val="FF0000"/>
                </a:solidFill>
                <a:latin typeface="Times New Roman" panose="02020603050405020304" pitchFamily="18" charset="0"/>
                <a:ea typeface="黑体" panose="02010609060101010101" pitchFamily="49" charset="-122"/>
              </a:rPr>
              <a:t>系统名</a:t>
            </a:r>
            <a:r>
              <a:rPr kumimoji="1" lang="zh-CN" altLang="en-US" sz="2400">
                <a:solidFill>
                  <a:schemeClr val="hlink"/>
                </a:solidFill>
                <a:latin typeface="Times New Roman" panose="02020603050405020304" pitchFamily="18" charset="0"/>
              </a:rPr>
              <a:t>、</a:t>
            </a:r>
            <a:r>
              <a:rPr kumimoji="1" lang="zh-CN" altLang="en-US" sz="2400" b="1">
                <a:solidFill>
                  <a:srgbClr val="FF0000"/>
                </a:solidFill>
                <a:latin typeface="Times New Roman" panose="02020603050405020304" pitchFamily="18" charset="0"/>
                <a:ea typeface="黑体" panose="02010609060101010101" pitchFamily="49" charset="-122"/>
              </a:rPr>
              <a:t>惯用名</a:t>
            </a:r>
            <a:r>
              <a:rPr kumimoji="1" lang="zh-CN" altLang="en-US" sz="2400">
                <a:solidFill>
                  <a:schemeClr val="hlink"/>
                </a:solidFill>
                <a:latin typeface="Times New Roman" panose="02020603050405020304" pitchFamily="18" charset="0"/>
              </a:rPr>
              <a:t>。</a:t>
            </a:r>
          </a:p>
        </p:txBody>
      </p:sp>
      <p:sp>
        <p:nvSpPr>
          <p:cNvPr id="4" name="Text Box 3">
            <a:extLst>
              <a:ext uri="{FF2B5EF4-FFF2-40B4-BE49-F238E27FC236}">
                <a16:creationId xmlns:a16="http://schemas.microsoft.com/office/drawing/2014/main" id="{6CCD9129-92CF-E5BC-7A50-2B4FD68DC5D4}"/>
              </a:ext>
            </a:extLst>
          </p:cNvPr>
          <p:cNvSpPr txBox="1">
            <a:spLocks noChangeArrowheads="1"/>
          </p:cNvSpPr>
          <p:nvPr/>
        </p:nvSpPr>
        <p:spPr bwMode="auto">
          <a:xfrm>
            <a:off x="533400" y="1219200"/>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b="1">
                <a:latin typeface="Times New Roman" panose="02020603050405020304" pitchFamily="18" charset="0"/>
                <a:ea typeface="黑体" panose="02010609060101010101" pitchFamily="49" charset="-122"/>
              </a:rPr>
              <a:t>系统名</a:t>
            </a:r>
            <a:r>
              <a:rPr kumimoji="1" lang="zh-CN" altLang="en-US" sz="2400">
                <a:latin typeface="Times New Roman" panose="02020603050405020304" pitchFamily="18" charset="0"/>
                <a:ea typeface="黑体" panose="02010609060101010101" pitchFamily="49" charset="-122"/>
              </a:rPr>
              <a:t>：包括所有底物的名称和反应类型。</a:t>
            </a:r>
          </a:p>
        </p:txBody>
      </p:sp>
      <p:sp>
        <p:nvSpPr>
          <p:cNvPr id="5" name="Text Box 4">
            <a:extLst>
              <a:ext uri="{FF2B5EF4-FFF2-40B4-BE49-F238E27FC236}">
                <a16:creationId xmlns:a16="http://schemas.microsoft.com/office/drawing/2014/main" id="{C463AE4C-DAE4-5AFA-D4B6-204D568EC485}"/>
              </a:ext>
            </a:extLst>
          </p:cNvPr>
          <p:cNvSpPr txBox="1">
            <a:spLocks noChangeArrowheads="1"/>
          </p:cNvSpPr>
          <p:nvPr/>
        </p:nvSpPr>
        <p:spPr bwMode="auto">
          <a:xfrm>
            <a:off x="3467100" y="2095826"/>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a:solidFill>
                  <a:schemeClr val="hlink"/>
                </a:solidFill>
                <a:latin typeface="Times New Roman" panose="02020603050405020304" pitchFamily="18" charset="0"/>
              </a:rPr>
              <a:t>乳酸 </a:t>
            </a:r>
            <a:r>
              <a:rPr kumimoji="1" lang="en-US" altLang="zh-CN" sz="2400">
                <a:solidFill>
                  <a:schemeClr val="hlink"/>
                </a:solidFill>
                <a:latin typeface="Times New Roman" panose="02020603050405020304" pitchFamily="18" charset="0"/>
              </a:rPr>
              <a:t>+ NAD</a:t>
            </a:r>
            <a:r>
              <a:rPr kumimoji="1" lang="en-US" altLang="zh-CN" sz="2400" baseline="30000">
                <a:solidFill>
                  <a:schemeClr val="hlink"/>
                </a:solidFill>
                <a:latin typeface="Times New Roman" panose="02020603050405020304" pitchFamily="18" charset="0"/>
              </a:rPr>
              <a:t>+</a:t>
            </a:r>
            <a:endParaRPr kumimoji="1" lang="en-US" altLang="zh-CN" sz="2400">
              <a:solidFill>
                <a:schemeClr val="hlink"/>
              </a:solidFill>
              <a:latin typeface="Times New Roman" panose="02020603050405020304" pitchFamily="18" charset="0"/>
            </a:endParaRPr>
          </a:p>
        </p:txBody>
      </p:sp>
      <p:pic>
        <p:nvPicPr>
          <p:cNvPr id="6" name="Picture 5">
            <a:extLst>
              <a:ext uri="{FF2B5EF4-FFF2-40B4-BE49-F238E27FC236}">
                <a16:creationId xmlns:a16="http://schemas.microsoft.com/office/drawing/2014/main" id="{68CB8DE3-DE2C-BFFF-A957-71585239CA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0" y="2095826"/>
            <a:ext cx="60960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6">
            <a:extLst>
              <a:ext uri="{FF2B5EF4-FFF2-40B4-BE49-F238E27FC236}">
                <a16:creationId xmlns:a16="http://schemas.microsoft.com/office/drawing/2014/main" id="{8E7B51FC-A698-7EAA-2252-F33EDE287724}"/>
              </a:ext>
            </a:extLst>
          </p:cNvPr>
          <p:cNvSpPr txBox="1">
            <a:spLocks noChangeArrowheads="1"/>
          </p:cNvSpPr>
          <p:nvPr/>
        </p:nvSpPr>
        <p:spPr bwMode="auto">
          <a:xfrm>
            <a:off x="6286500" y="2095826"/>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a:solidFill>
                  <a:schemeClr val="hlink"/>
                </a:solidFill>
                <a:latin typeface="Times New Roman" panose="02020603050405020304" pitchFamily="18" charset="0"/>
              </a:rPr>
              <a:t>丙酮酸 </a:t>
            </a:r>
            <a:r>
              <a:rPr kumimoji="1" lang="en-US" altLang="zh-CN" sz="2400">
                <a:solidFill>
                  <a:schemeClr val="hlink"/>
                </a:solidFill>
                <a:latin typeface="Times New Roman" panose="02020603050405020304" pitchFamily="18" charset="0"/>
              </a:rPr>
              <a:t>+ NADH + H</a:t>
            </a:r>
            <a:r>
              <a:rPr kumimoji="1" lang="en-US" altLang="zh-CN" sz="2400" baseline="30000">
                <a:solidFill>
                  <a:schemeClr val="hlink"/>
                </a:solidFill>
                <a:latin typeface="Times New Roman" panose="02020603050405020304" pitchFamily="18" charset="0"/>
              </a:rPr>
              <a:t>+</a:t>
            </a:r>
            <a:endParaRPr kumimoji="1" lang="en-US" altLang="zh-CN" sz="2400">
              <a:solidFill>
                <a:schemeClr val="hlink"/>
              </a:solidFill>
              <a:latin typeface="Times New Roman" panose="02020603050405020304" pitchFamily="18" charset="0"/>
            </a:endParaRPr>
          </a:p>
        </p:txBody>
      </p:sp>
      <p:sp>
        <p:nvSpPr>
          <p:cNvPr id="9" name="Text Box 7">
            <a:extLst>
              <a:ext uri="{FF2B5EF4-FFF2-40B4-BE49-F238E27FC236}">
                <a16:creationId xmlns:a16="http://schemas.microsoft.com/office/drawing/2014/main" id="{B77126E5-6392-1EBE-EC8B-7DCC0A9EB0AB}"/>
              </a:ext>
            </a:extLst>
          </p:cNvPr>
          <p:cNvSpPr txBox="1">
            <a:spLocks noChangeArrowheads="1"/>
          </p:cNvSpPr>
          <p:nvPr/>
        </p:nvSpPr>
        <p:spPr bwMode="auto">
          <a:xfrm>
            <a:off x="4305300" y="2934026"/>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000" b="1" dirty="0">
                <a:solidFill>
                  <a:schemeClr val="hlink"/>
                </a:solidFill>
                <a:latin typeface="Times New Roman" panose="02020603050405020304" pitchFamily="18" charset="0"/>
              </a:rPr>
              <a:t>乳酸：</a:t>
            </a:r>
            <a:r>
              <a:rPr kumimoji="1" lang="en-US" altLang="zh-CN" sz="2000" b="1" dirty="0">
                <a:solidFill>
                  <a:schemeClr val="hlink"/>
                </a:solidFill>
                <a:latin typeface="Times New Roman" panose="02020603050405020304" pitchFamily="18" charset="0"/>
              </a:rPr>
              <a:t>NAD</a:t>
            </a:r>
            <a:r>
              <a:rPr kumimoji="1" lang="en-US" altLang="zh-CN" sz="2000" b="1" baseline="30000" dirty="0">
                <a:solidFill>
                  <a:schemeClr val="hlink"/>
                </a:solidFill>
                <a:latin typeface="Times New Roman" panose="02020603050405020304" pitchFamily="18" charset="0"/>
              </a:rPr>
              <a:t>+</a:t>
            </a:r>
            <a:r>
              <a:rPr kumimoji="1" lang="zh-CN" altLang="en-US" sz="2000" b="1" dirty="0">
                <a:solidFill>
                  <a:schemeClr val="hlink"/>
                </a:solidFill>
                <a:latin typeface="Times New Roman" panose="02020603050405020304" pitchFamily="18" charset="0"/>
              </a:rPr>
              <a:t>氧化还原酶</a:t>
            </a:r>
          </a:p>
        </p:txBody>
      </p:sp>
      <p:sp>
        <p:nvSpPr>
          <p:cNvPr id="10" name="Line 8">
            <a:extLst>
              <a:ext uri="{FF2B5EF4-FFF2-40B4-BE49-F238E27FC236}">
                <a16:creationId xmlns:a16="http://schemas.microsoft.com/office/drawing/2014/main" id="{26997DB5-4535-651D-AEC7-E8BD35F94A1F}"/>
              </a:ext>
            </a:extLst>
          </p:cNvPr>
          <p:cNvSpPr>
            <a:spLocks noChangeShapeType="1"/>
          </p:cNvSpPr>
          <p:nvPr/>
        </p:nvSpPr>
        <p:spPr bwMode="auto">
          <a:xfrm flipV="1">
            <a:off x="5753100" y="2400626"/>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Text Box 9">
            <a:extLst>
              <a:ext uri="{FF2B5EF4-FFF2-40B4-BE49-F238E27FC236}">
                <a16:creationId xmlns:a16="http://schemas.microsoft.com/office/drawing/2014/main" id="{36AC4AF6-8D85-378B-EEAB-1BF482506F1F}"/>
              </a:ext>
            </a:extLst>
          </p:cNvPr>
          <p:cNvSpPr txBox="1">
            <a:spLocks noChangeArrowheads="1"/>
          </p:cNvSpPr>
          <p:nvPr/>
        </p:nvSpPr>
        <p:spPr bwMode="auto">
          <a:xfrm>
            <a:off x="605790" y="3836770"/>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b="1" dirty="0">
                <a:latin typeface="Times New Roman" panose="02020603050405020304" pitchFamily="18" charset="0"/>
                <a:ea typeface="黑体" panose="02010609060101010101" pitchFamily="49" charset="-122"/>
              </a:rPr>
              <a:t>惯用名</a:t>
            </a:r>
            <a:r>
              <a:rPr kumimoji="1" lang="zh-CN" altLang="en-US" sz="2400" dirty="0">
                <a:latin typeface="Times New Roman" panose="02020603050405020304" pitchFamily="18" charset="0"/>
                <a:ea typeface="黑体" panose="02010609060101010101" pitchFamily="49" charset="-122"/>
              </a:rPr>
              <a:t>：只取一个较重要的底物名称和反应类型。</a:t>
            </a:r>
          </a:p>
        </p:txBody>
      </p:sp>
      <p:sp>
        <p:nvSpPr>
          <p:cNvPr id="14" name="Text Box 10">
            <a:extLst>
              <a:ext uri="{FF2B5EF4-FFF2-40B4-BE49-F238E27FC236}">
                <a16:creationId xmlns:a16="http://schemas.microsoft.com/office/drawing/2014/main" id="{CD3EFC21-EF64-C5EB-FEEB-0C0CA93F450B}"/>
              </a:ext>
            </a:extLst>
          </p:cNvPr>
          <p:cNvSpPr txBox="1">
            <a:spLocks noChangeArrowheads="1"/>
          </p:cNvSpPr>
          <p:nvPr/>
        </p:nvSpPr>
        <p:spPr bwMode="auto">
          <a:xfrm>
            <a:off x="3209868" y="4762174"/>
            <a:ext cx="2895600" cy="39687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000" b="1">
                <a:solidFill>
                  <a:schemeClr val="hlink"/>
                </a:solidFill>
                <a:latin typeface="Times New Roman" panose="02020603050405020304" pitchFamily="18" charset="0"/>
              </a:rPr>
              <a:t>乳酸：</a:t>
            </a:r>
            <a:r>
              <a:rPr kumimoji="1" lang="en-US" altLang="zh-CN" sz="2000" b="1">
                <a:solidFill>
                  <a:schemeClr val="hlink"/>
                </a:solidFill>
                <a:latin typeface="Times New Roman" panose="02020603050405020304" pitchFamily="18" charset="0"/>
              </a:rPr>
              <a:t>NAD</a:t>
            </a:r>
            <a:r>
              <a:rPr kumimoji="1" lang="en-US" altLang="zh-CN" sz="2000" b="1" baseline="30000">
                <a:solidFill>
                  <a:schemeClr val="hlink"/>
                </a:solidFill>
                <a:latin typeface="Times New Roman" panose="02020603050405020304" pitchFamily="18" charset="0"/>
              </a:rPr>
              <a:t>+</a:t>
            </a:r>
            <a:r>
              <a:rPr kumimoji="1" lang="zh-CN" altLang="en-US" sz="2000" b="1">
                <a:solidFill>
                  <a:schemeClr val="hlink"/>
                </a:solidFill>
                <a:latin typeface="Times New Roman" panose="02020603050405020304" pitchFamily="18" charset="0"/>
              </a:rPr>
              <a:t>氧化还原酶</a:t>
            </a:r>
          </a:p>
        </p:txBody>
      </p:sp>
      <p:sp>
        <p:nvSpPr>
          <p:cNvPr id="15" name="Line 11">
            <a:extLst>
              <a:ext uri="{FF2B5EF4-FFF2-40B4-BE49-F238E27FC236}">
                <a16:creationId xmlns:a16="http://schemas.microsoft.com/office/drawing/2014/main" id="{C52D8C7C-64E3-D974-1E09-475B5A5A313E}"/>
              </a:ext>
            </a:extLst>
          </p:cNvPr>
          <p:cNvSpPr>
            <a:spLocks noChangeShapeType="1"/>
          </p:cNvSpPr>
          <p:nvPr/>
        </p:nvSpPr>
        <p:spPr bwMode="auto">
          <a:xfrm>
            <a:off x="6105468" y="4990774"/>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12">
            <a:extLst>
              <a:ext uri="{FF2B5EF4-FFF2-40B4-BE49-F238E27FC236}">
                <a16:creationId xmlns:a16="http://schemas.microsoft.com/office/drawing/2014/main" id="{745F6932-A834-6FF6-975F-785A85365A80}"/>
              </a:ext>
            </a:extLst>
          </p:cNvPr>
          <p:cNvSpPr txBox="1">
            <a:spLocks noChangeArrowheads="1"/>
          </p:cNvSpPr>
          <p:nvPr/>
        </p:nvSpPr>
        <p:spPr bwMode="auto">
          <a:xfrm>
            <a:off x="7172268" y="4762174"/>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000" b="1" dirty="0">
                <a:solidFill>
                  <a:schemeClr val="hlink"/>
                </a:solidFill>
                <a:latin typeface="Times New Roman" panose="02020603050405020304" pitchFamily="18" charset="0"/>
              </a:rPr>
              <a:t>乳酸脱氢酶</a:t>
            </a:r>
          </a:p>
        </p:txBody>
      </p:sp>
      <p:sp>
        <p:nvSpPr>
          <p:cNvPr id="17" name="Text Box 13">
            <a:extLst>
              <a:ext uri="{FF2B5EF4-FFF2-40B4-BE49-F238E27FC236}">
                <a16:creationId xmlns:a16="http://schemas.microsoft.com/office/drawing/2014/main" id="{A7232784-B7EE-33C8-9551-42C5BA5E87B3}"/>
              </a:ext>
            </a:extLst>
          </p:cNvPr>
          <p:cNvSpPr txBox="1">
            <a:spLocks noChangeArrowheads="1"/>
          </p:cNvSpPr>
          <p:nvPr/>
        </p:nvSpPr>
        <p:spPr bwMode="auto">
          <a:xfrm>
            <a:off x="2497795" y="5600374"/>
            <a:ext cx="7850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zh-CN" altLang="en-US" sz="2400">
                <a:solidFill>
                  <a:schemeClr val="hlink"/>
                </a:solidFill>
                <a:latin typeface="Times New Roman" panose="02020603050405020304" pitchFamily="18" charset="0"/>
              </a:rPr>
              <a:t>对于催化水解反应的酶一般在酶的名称上省去反应类型。</a:t>
            </a:r>
          </a:p>
        </p:txBody>
      </p:sp>
    </p:spTree>
    <p:extLst>
      <p:ext uri="{BB962C8B-B14F-4D97-AF65-F5344CB8AC3E}">
        <p14:creationId xmlns:p14="http://schemas.microsoft.com/office/powerpoint/2010/main" val="971833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8" name="文本框 7">
            <a:extLst>
              <a:ext uri="{FF2B5EF4-FFF2-40B4-BE49-F238E27FC236}">
                <a16:creationId xmlns:a16="http://schemas.microsoft.com/office/drawing/2014/main" id="{6B890055-35A9-769C-23FE-8FA02D117DE1}"/>
              </a:ext>
            </a:extLst>
          </p:cNvPr>
          <p:cNvSpPr txBox="1"/>
          <p:nvPr/>
        </p:nvSpPr>
        <p:spPr>
          <a:xfrm>
            <a:off x="467709" y="945930"/>
            <a:ext cx="5123793" cy="461665"/>
          </a:xfrm>
          <a:prstGeom prst="rect">
            <a:avLst/>
          </a:prstGeom>
          <a:noFill/>
        </p:spPr>
        <p:txBody>
          <a:bodyPr wrap="square">
            <a:spAutoFit/>
          </a:bodyPr>
          <a:lstStyle/>
          <a:p>
            <a:r>
              <a:rPr kumimoji="1" lang="zh-CN" altLang="en-US" sz="2400" b="1" dirty="0">
                <a:latin typeface="Times New Roman" panose="02020603050405020304" pitchFamily="18" charset="0"/>
                <a:cs typeface="Times New Roman" panose="02020603050405020304" pitchFamily="18" charset="0"/>
              </a:rPr>
              <a:t>１</a:t>
            </a:r>
            <a:r>
              <a:rPr kumimoji="1" lang="en-US" altLang="zh-CN" sz="2400" b="1" dirty="0">
                <a:latin typeface="Times New Roman" panose="02020603050405020304" pitchFamily="18" charset="0"/>
                <a:cs typeface="Times New Roman" panose="02020603050405020304" pitchFamily="18" charset="0"/>
              </a:rPr>
              <a:t>.</a:t>
            </a:r>
            <a:r>
              <a:rPr kumimoji="1" lang="zh-CN" altLang="en-US" sz="2400" b="1" dirty="0">
                <a:latin typeface="Times New Roman" panose="02020603050405020304" pitchFamily="18" charset="0"/>
                <a:cs typeface="Times New Roman" panose="02020603050405020304" pitchFamily="18" charset="0"/>
              </a:rPr>
              <a:t> 氧化还原酶 </a:t>
            </a:r>
            <a:r>
              <a:rPr kumimoji="1" lang="en-US" altLang="zh-CN" sz="2400" b="1" dirty="0">
                <a:latin typeface="Times New Roman" panose="02020603050405020304" pitchFamily="18" charset="0"/>
                <a:cs typeface="Times New Roman" panose="02020603050405020304" pitchFamily="18" charset="0"/>
              </a:rPr>
              <a:t>(oxidoreductases)</a:t>
            </a:r>
          </a:p>
        </p:txBody>
      </p:sp>
      <p:sp>
        <p:nvSpPr>
          <p:cNvPr id="17" name="文本框 16">
            <a:extLst>
              <a:ext uri="{FF2B5EF4-FFF2-40B4-BE49-F238E27FC236}">
                <a16:creationId xmlns:a16="http://schemas.microsoft.com/office/drawing/2014/main" id="{6B2901AB-BBC0-1784-1468-FB7BDFC47BBA}"/>
              </a:ext>
            </a:extLst>
          </p:cNvPr>
          <p:cNvSpPr txBox="1"/>
          <p:nvPr/>
        </p:nvSpPr>
        <p:spPr>
          <a:xfrm>
            <a:off x="509750" y="1624642"/>
            <a:ext cx="11517859" cy="830997"/>
          </a:xfrm>
          <a:prstGeom prst="rect">
            <a:avLst/>
          </a:prstGeom>
          <a:noFill/>
        </p:spPr>
        <p:txBody>
          <a:bodyPr wrap="square">
            <a:spAutoFit/>
          </a:bodyPr>
          <a:lstStyle/>
          <a:p>
            <a:r>
              <a:rPr lang="zh-CN" altLang="en-US" sz="2400" dirty="0">
                <a:latin typeface="+mj-ea"/>
                <a:ea typeface="+mj-ea"/>
              </a:rPr>
              <a:t>氧化</a:t>
            </a:r>
            <a:r>
              <a:rPr lang="en-US" altLang="zh-CN" sz="2400" dirty="0">
                <a:latin typeface="+mj-ea"/>
                <a:ea typeface="+mj-ea"/>
              </a:rPr>
              <a:t>-</a:t>
            </a:r>
            <a:r>
              <a:rPr lang="zh-CN" altLang="en-US" sz="2400" dirty="0">
                <a:latin typeface="+mj-ea"/>
                <a:ea typeface="+mj-ea"/>
              </a:rPr>
              <a:t>还原酶催化氧化</a:t>
            </a:r>
            <a:r>
              <a:rPr lang="en-US" altLang="zh-CN" sz="2400" dirty="0">
                <a:latin typeface="+mj-ea"/>
                <a:ea typeface="+mj-ea"/>
              </a:rPr>
              <a:t>-</a:t>
            </a:r>
            <a:r>
              <a:rPr lang="zh-CN" altLang="en-US" sz="2400" dirty="0">
                <a:latin typeface="+mj-ea"/>
                <a:ea typeface="+mj-ea"/>
              </a:rPr>
              <a:t>还原反应。主要包括</a:t>
            </a:r>
            <a:r>
              <a:rPr lang="zh-CN" altLang="en-US" sz="2400" dirty="0">
                <a:solidFill>
                  <a:srgbClr val="C00000"/>
                </a:solidFill>
                <a:latin typeface="+mj-ea"/>
                <a:ea typeface="+mj-ea"/>
              </a:rPr>
              <a:t>脱氢酶</a:t>
            </a:r>
            <a:r>
              <a:rPr lang="en-US" altLang="zh-CN" sz="2400" dirty="0">
                <a:solidFill>
                  <a:srgbClr val="C00000"/>
                </a:solidFill>
                <a:latin typeface="+mj-ea"/>
                <a:ea typeface="+mj-ea"/>
              </a:rPr>
              <a:t>(dehydrogenase)</a:t>
            </a:r>
            <a:r>
              <a:rPr lang="zh-CN" altLang="en-US" sz="2400" dirty="0">
                <a:latin typeface="+mj-ea"/>
                <a:ea typeface="+mj-ea"/>
              </a:rPr>
              <a:t>和</a:t>
            </a:r>
            <a:r>
              <a:rPr lang="zh-CN" altLang="en-US" sz="2400" dirty="0">
                <a:solidFill>
                  <a:srgbClr val="C00000"/>
                </a:solidFill>
                <a:latin typeface="+mj-ea"/>
                <a:ea typeface="+mj-ea"/>
              </a:rPr>
              <a:t>氧化酶</a:t>
            </a:r>
            <a:r>
              <a:rPr lang="en-US" altLang="zh-CN" sz="2400" dirty="0">
                <a:solidFill>
                  <a:srgbClr val="C00000"/>
                </a:solidFill>
                <a:latin typeface="+mj-ea"/>
                <a:ea typeface="+mj-ea"/>
              </a:rPr>
              <a:t>(Oxidase)</a:t>
            </a:r>
            <a:r>
              <a:rPr lang="zh-CN" altLang="en-US" sz="2400" dirty="0">
                <a:latin typeface="+mj-ea"/>
                <a:ea typeface="+mj-ea"/>
              </a:rPr>
              <a:t>。 如乳酸</a:t>
            </a:r>
            <a:r>
              <a:rPr lang="en-US" altLang="zh-CN" sz="2400" dirty="0">
                <a:latin typeface="+mj-ea"/>
                <a:ea typeface="+mj-ea"/>
              </a:rPr>
              <a:t>(Lactate)</a:t>
            </a:r>
            <a:r>
              <a:rPr lang="zh-CN" altLang="en-US" sz="2400" dirty="0">
                <a:latin typeface="+mj-ea"/>
                <a:ea typeface="+mj-ea"/>
              </a:rPr>
              <a:t>脱氢酶催化乳酸的脱氢反应</a:t>
            </a:r>
          </a:p>
        </p:txBody>
      </p:sp>
      <p:graphicFrame>
        <p:nvGraphicFramePr>
          <p:cNvPr id="18" name="Object 4">
            <a:extLst>
              <a:ext uri="{FF2B5EF4-FFF2-40B4-BE49-F238E27FC236}">
                <a16:creationId xmlns:a16="http://schemas.microsoft.com/office/drawing/2014/main" id="{6900C630-278D-F2BB-BCC7-347183C70187}"/>
              </a:ext>
            </a:extLst>
          </p:cNvPr>
          <p:cNvGraphicFramePr>
            <a:graphicFrameLocks noChangeAspect="1"/>
          </p:cNvGraphicFramePr>
          <p:nvPr>
            <p:extLst>
              <p:ext uri="{D42A27DB-BD31-4B8C-83A1-F6EECF244321}">
                <p14:modId xmlns:p14="http://schemas.microsoft.com/office/powerpoint/2010/main" val="3875018954"/>
              </p:ext>
            </p:extLst>
          </p:nvPr>
        </p:nvGraphicFramePr>
        <p:xfrm>
          <a:off x="704896" y="3086671"/>
          <a:ext cx="6005217" cy="818048"/>
        </p:xfrm>
        <a:graphic>
          <a:graphicData uri="http://schemas.openxmlformats.org/presentationml/2006/ole">
            <mc:AlternateContent xmlns:mc="http://schemas.openxmlformats.org/markup-compatibility/2006">
              <mc:Choice xmlns:v="urn:schemas-microsoft-com:vml" Requires="v">
                <p:oleObj name="Document" r:id="rId4" imgW="3638550" imgH="495300" progId="ChemWindow.Document">
                  <p:embed/>
                </p:oleObj>
              </mc:Choice>
              <mc:Fallback>
                <p:oleObj name="Document" r:id="rId4" imgW="3638550" imgH="495300" progId="ChemWindow.Document">
                  <p:embed/>
                  <p:pic>
                    <p:nvPicPr>
                      <p:cNvPr id="82948" name="Object 4">
                        <a:extLst>
                          <a:ext uri="{FF2B5EF4-FFF2-40B4-BE49-F238E27FC236}">
                            <a16:creationId xmlns:a16="http://schemas.microsoft.com/office/drawing/2014/main" id="{23701C43-6C8A-4082-DA6F-2D2EC11854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896" y="3086671"/>
                        <a:ext cx="6005217" cy="818048"/>
                      </a:xfrm>
                      <a:prstGeom prst="rect">
                        <a:avLst/>
                      </a:prstGeom>
                      <a:noFill/>
                      <a:ln>
                        <a:noFill/>
                      </a:ln>
                    </p:spPr>
                  </p:pic>
                </p:oleObj>
              </mc:Fallback>
            </mc:AlternateContent>
          </a:graphicData>
        </a:graphic>
      </p:graphicFrame>
      <p:pic>
        <p:nvPicPr>
          <p:cNvPr id="19" name="图片 18">
            <a:extLst>
              <a:ext uri="{FF2B5EF4-FFF2-40B4-BE49-F238E27FC236}">
                <a16:creationId xmlns:a16="http://schemas.microsoft.com/office/drawing/2014/main" id="{D5C3CBB1-5CE0-C142-3D10-64E4E419D5C0}"/>
              </a:ext>
            </a:extLst>
          </p:cNvPr>
          <p:cNvPicPr>
            <a:picLocks noChangeAspect="1"/>
          </p:cNvPicPr>
          <p:nvPr/>
        </p:nvPicPr>
        <p:blipFill rotWithShape="1">
          <a:blip r:embed="rId6"/>
          <a:srcRect t="29732" b="28429"/>
          <a:stretch/>
        </p:blipFill>
        <p:spPr>
          <a:xfrm>
            <a:off x="454045" y="4155064"/>
            <a:ext cx="6101257" cy="1914533"/>
          </a:xfrm>
          <a:prstGeom prst="rect">
            <a:avLst/>
          </a:prstGeom>
        </p:spPr>
      </p:pic>
      <p:pic>
        <p:nvPicPr>
          <p:cNvPr id="21" name="图片 20">
            <a:extLst>
              <a:ext uri="{FF2B5EF4-FFF2-40B4-BE49-F238E27FC236}">
                <a16:creationId xmlns:a16="http://schemas.microsoft.com/office/drawing/2014/main" id="{FD022EB0-DCD6-5FCB-C2C9-5DD7E8BF508A}"/>
              </a:ext>
            </a:extLst>
          </p:cNvPr>
          <p:cNvPicPr>
            <a:picLocks noChangeAspect="1"/>
          </p:cNvPicPr>
          <p:nvPr/>
        </p:nvPicPr>
        <p:blipFill>
          <a:blip r:embed="rId7"/>
          <a:stretch>
            <a:fillRect/>
          </a:stretch>
        </p:blipFill>
        <p:spPr>
          <a:xfrm>
            <a:off x="6710113" y="3086671"/>
            <a:ext cx="5165305" cy="2631382"/>
          </a:xfrm>
          <a:prstGeom prst="rect">
            <a:avLst/>
          </a:prstGeom>
        </p:spPr>
      </p:pic>
      <p:sp>
        <p:nvSpPr>
          <p:cNvPr id="25" name="文本框 24">
            <a:extLst>
              <a:ext uri="{FF2B5EF4-FFF2-40B4-BE49-F238E27FC236}">
                <a16:creationId xmlns:a16="http://schemas.microsoft.com/office/drawing/2014/main" id="{909AFB38-B19F-290C-7772-914814ADDA35}"/>
              </a:ext>
            </a:extLst>
          </p:cNvPr>
          <p:cNvSpPr txBox="1"/>
          <p:nvPr/>
        </p:nvSpPr>
        <p:spPr>
          <a:xfrm>
            <a:off x="1419092" y="2282759"/>
            <a:ext cx="3475744" cy="779854"/>
          </a:xfrm>
          <a:prstGeom prst="rect">
            <a:avLst/>
          </a:prstGeom>
          <a:noFill/>
        </p:spPr>
        <p:txBody>
          <a:bodyPr wrap="square">
            <a:spAutoFit/>
          </a:bodyPr>
          <a:lstStyle/>
          <a:p>
            <a:pPr marL="66675" marR="88265" indent="266065" algn="ctr">
              <a:lnSpc>
                <a:spcPct val="150000"/>
              </a:lnSpc>
              <a:spcAft>
                <a:spcPts val="1000"/>
              </a:spcAft>
            </a:pP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AH</a:t>
            </a:r>
            <a:r>
              <a:rPr lang="en-US" altLang="zh-CN" sz="2800" b="1" baseline="-250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2800" b="1"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b="1" dirty="0">
                <a:effectLst/>
                <a:latin typeface="Malgun Gothic" panose="020B0503020000020004" pitchFamily="34" charset="-127"/>
                <a:ea typeface="宋体" panose="02010600030101010101" pitchFamily="2" charset="-122"/>
                <a:cs typeface="Malgun Gothic" panose="020B0503020000020004" pitchFamily="34" charset="-127"/>
              </a:rPr>
              <a:t>=</a:t>
            </a: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A+BH</a:t>
            </a:r>
            <a:r>
              <a:rPr lang="en-US" altLang="zh-CN" sz="2800" b="1" baseline="-25000" dirty="0">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3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zh-CN" altLang="zh-CN" sz="32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AA3EC6EC-CF6B-19CF-C37D-B209DCFEF9F1}"/>
              </a:ext>
            </a:extLst>
          </p:cNvPr>
          <p:cNvSpPr txBox="1"/>
          <p:nvPr/>
        </p:nvSpPr>
        <p:spPr>
          <a:xfrm>
            <a:off x="508416" y="849576"/>
            <a:ext cx="3598348" cy="461665"/>
          </a:xfrm>
          <a:prstGeom prst="rect">
            <a:avLst/>
          </a:prstGeom>
          <a:noFill/>
        </p:spPr>
        <p:txBody>
          <a:bodyPr wrap="square">
            <a:spAutoFit/>
          </a:bodyPr>
          <a:lstStyle>
            <a:defPPr>
              <a:defRPr lang="zh-CN"/>
            </a:defPPr>
            <a:lvl1pPr>
              <a:defRPr kumimoji="1" sz="2400" b="1">
                <a:latin typeface="Times New Roman" panose="02020603050405020304" pitchFamily="18" charset="0"/>
                <a:cs typeface="Times New Roman" panose="02020603050405020304" pitchFamily="18" charset="0"/>
              </a:defRPr>
            </a:lvl1pPr>
          </a:lstStyle>
          <a:p>
            <a:r>
              <a:rPr lang="zh-CN" altLang="en-US" dirty="0"/>
              <a:t>２</a:t>
            </a:r>
            <a:r>
              <a:rPr lang="en-US" altLang="zh-CN" dirty="0"/>
              <a:t>. </a:t>
            </a:r>
            <a:r>
              <a:rPr lang="zh-CN" altLang="en-US" dirty="0"/>
              <a:t>转移酶 </a:t>
            </a:r>
            <a:r>
              <a:rPr lang="en-US" altLang="zh-CN" dirty="0"/>
              <a:t>(transferases) </a:t>
            </a:r>
            <a:endParaRPr lang="zh-CN" altLang="en-US" dirty="0"/>
          </a:p>
        </p:txBody>
      </p:sp>
      <p:sp>
        <p:nvSpPr>
          <p:cNvPr id="6" name="文本框 5">
            <a:extLst>
              <a:ext uri="{FF2B5EF4-FFF2-40B4-BE49-F238E27FC236}">
                <a16:creationId xmlns:a16="http://schemas.microsoft.com/office/drawing/2014/main" id="{873D12B1-1BD9-8102-F331-1338EFDDB145}"/>
              </a:ext>
            </a:extLst>
          </p:cNvPr>
          <p:cNvSpPr txBox="1"/>
          <p:nvPr/>
        </p:nvSpPr>
        <p:spPr>
          <a:xfrm>
            <a:off x="605790" y="1594209"/>
            <a:ext cx="10902830" cy="1200329"/>
          </a:xfrm>
          <a:prstGeom prst="rect">
            <a:avLst/>
          </a:prstGeom>
          <a:noFill/>
        </p:spPr>
        <p:txBody>
          <a:bodyPr wrap="square">
            <a:spAutoFit/>
          </a:bodyPr>
          <a:lstStyle/>
          <a:p>
            <a:r>
              <a:rPr lang="zh-CN" altLang="en-US" sz="2400" dirty="0">
                <a:latin typeface="+mj-ea"/>
                <a:ea typeface="+mj-ea"/>
              </a:rPr>
              <a:t>转移酶催化基团转移反应，即将一个底物分子的基团或原子转移到另一个底物的分子上。</a:t>
            </a:r>
            <a:br>
              <a:rPr lang="zh-CN" altLang="en-US" sz="2400" dirty="0">
                <a:latin typeface="+mj-ea"/>
                <a:ea typeface="+mj-ea"/>
              </a:rPr>
            </a:br>
            <a:r>
              <a:rPr lang="zh-CN" altLang="en-US" sz="2400" dirty="0">
                <a:latin typeface="+mj-ea"/>
                <a:ea typeface="+mj-ea"/>
              </a:rPr>
              <a:t>例如，谷丙转氨酶催化的氨基转移反应。</a:t>
            </a:r>
          </a:p>
        </p:txBody>
      </p:sp>
      <p:graphicFrame>
        <p:nvGraphicFramePr>
          <p:cNvPr id="7" name="Object 4">
            <a:extLst>
              <a:ext uri="{FF2B5EF4-FFF2-40B4-BE49-F238E27FC236}">
                <a16:creationId xmlns:a16="http://schemas.microsoft.com/office/drawing/2014/main" id="{05D17B73-E713-29E7-5A3F-C359744B69AC}"/>
              </a:ext>
            </a:extLst>
          </p:cNvPr>
          <p:cNvGraphicFramePr>
            <a:graphicFrameLocks noChangeAspect="1"/>
          </p:cNvGraphicFramePr>
          <p:nvPr>
            <p:extLst>
              <p:ext uri="{D42A27DB-BD31-4B8C-83A1-F6EECF244321}">
                <p14:modId xmlns:p14="http://schemas.microsoft.com/office/powerpoint/2010/main" val="2139509229"/>
              </p:ext>
            </p:extLst>
          </p:nvPr>
        </p:nvGraphicFramePr>
        <p:xfrm>
          <a:off x="624493" y="3077506"/>
          <a:ext cx="5943600" cy="1782762"/>
        </p:xfrm>
        <a:graphic>
          <a:graphicData uri="http://schemas.openxmlformats.org/presentationml/2006/ole">
            <mc:AlternateContent xmlns:mc="http://schemas.openxmlformats.org/markup-compatibility/2006">
              <mc:Choice xmlns:v="urn:schemas-microsoft-com:vml" Requires="v">
                <p:oleObj name="文档" r:id="rId4" imgW="3048000" imgH="914400" progId="ChemWindow.Document">
                  <p:embed/>
                </p:oleObj>
              </mc:Choice>
              <mc:Fallback>
                <p:oleObj name="文档" r:id="rId4" imgW="3048000" imgH="914400" progId="ChemWindow.Document">
                  <p:embed/>
                  <p:pic>
                    <p:nvPicPr>
                      <p:cNvPr id="83972" name="Object 4">
                        <a:extLst>
                          <a:ext uri="{FF2B5EF4-FFF2-40B4-BE49-F238E27FC236}">
                            <a16:creationId xmlns:a16="http://schemas.microsoft.com/office/drawing/2014/main" id="{441DCFD1-8173-017F-ED1F-71B82D9C40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493" y="3077506"/>
                        <a:ext cx="5943600" cy="1782762"/>
                      </a:xfrm>
                      <a:prstGeom prst="rect">
                        <a:avLst/>
                      </a:prstGeom>
                      <a:noFill/>
                      <a:ln>
                        <a:noFill/>
                      </a:ln>
                    </p:spPr>
                  </p:pic>
                </p:oleObj>
              </mc:Fallback>
            </mc:AlternateContent>
          </a:graphicData>
        </a:graphic>
      </p:graphicFrame>
      <p:pic>
        <p:nvPicPr>
          <p:cNvPr id="9" name="图片 8">
            <a:extLst>
              <a:ext uri="{FF2B5EF4-FFF2-40B4-BE49-F238E27FC236}">
                <a16:creationId xmlns:a16="http://schemas.microsoft.com/office/drawing/2014/main" id="{D60BD274-0CA9-F532-50B8-D11547AA65E5}"/>
              </a:ext>
            </a:extLst>
          </p:cNvPr>
          <p:cNvPicPr>
            <a:picLocks noChangeAspect="1"/>
          </p:cNvPicPr>
          <p:nvPr/>
        </p:nvPicPr>
        <p:blipFill>
          <a:blip r:embed="rId6"/>
          <a:stretch>
            <a:fillRect/>
          </a:stretch>
        </p:blipFill>
        <p:spPr>
          <a:xfrm>
            <a:off x="6705600" y="2091511"/>
            <a:ext cx="5059080" cy="4501884"/>
          </a:xfrm>
          <a:prstGeom prst="rect">
            <a:avLst/>
          </a:prstGeom>
        </p:spPr>
      </p:pic>
      <p:sp>
        <p:nvSpPr>
          <p:cNvPr id="12" name="文本框 11">
            <a:extLst>
              <a:ext uri="{FF2B5EF4-FFF2-40B4-BE49-F238E27FC236}">
                <a16:creationId xmlns:a16="http://schemas.microsoft.com/office/drawing/2014/main" id="{AFDD8BE5-4A39-3846-C311-75F33F9D1BF2}"/>
              </a:ext>
            </a:extLst>
          </p:cNvPr>
          <p:cNvSpPr txBox="1"/>
          <p:nvPr/>
        </p:nvSpPr>
        <p:spPr>
          <a:xfrm>
            <a:off x="783308" y="5115382"/>
            <a:ext cx="5471507" cy="1323439"/>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Xiao F ,  Dong S ,  Liu Y , et al. Structural Basis of Specificity for Carboxyl-terminated Acyl Donors in A Bacterial Acyltransferase[J]. Journal of the American Chemical Society, 2020</a:t>
            </a:r>
            <a:endParaRPr lang="zh-CN" altLang="en-US" sz="2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76C57A29-9275-2469-0B09-A52B18A68CC0}"/>
              </a:ext>
            </a:extLst>
          </p:cNvPr>
          <p:cNvSpPr txBox="1"/>
          <p:nvPr/>
        </p:nvSpPr>
        <p:spPr>
          <a:xfrm>
            <a:off x="1237073" y="4235760"/>
            <a:ext cx="3599849" cy="752065"/>
          </a:xfrm>
          <a:prstGeom prst="rect">
            <a:avLst/>
          </a:prstGeom>
          <a:noFill/>
        </p:spPr>
        <p:txBody>
          <a:bodyPr wrap="square">
            <a:spAutoFit/>
          </a:bodyPr>
          <a:lstStyle/>
          <a:p>
            <a:pPr marL="66675" marR="88265" indent="266065" algn="ctr">
              <a:lnSpc>
                <a:spcPct val="150000"/>
              </a:lnSpc>
              <a:spcAft>
                <a:spcPts val="1000"/>
              </a:spcAft>
            </a:pP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AB</a:t>
            </a:r>
            <a:r>
              <a:rPr lang="zh-CN" altLang="zh-CN" sz="2800" b="1"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2800" b="1" dirty="0">
                <a:effectLst/>
                <a:latin typeface="Malgun Gothic" panose="020B0503020000020004" pitchFamily="34" charset="-127"/>
                <a:ea typeface="宋体" panose="02010600030101010101" pitchFamily="2" charset="-122"/>
                <a:cs typeface="Malgun Gothic" panose="020B0503020000020004" pitchFamily="34" charset="-127"/>
              </a:rPr>
              <a:t>=</a:t>
            </a: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A+BC</a:t>
            </a:r>
            <a:r>
              <a:rPr lang="en-US" altLang="zh-CN" sz="3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zh-CN" altLang="zh-CN" sz="32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4301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AA3EC6EC-CF6B-19CF-C37D-B209DCFEF9F1}"/>
              </a:ext>
            </a:extLst>
          </p:cNvPr>
          <p:cNvSpPr txBox="1"/>
          <p:nvPr/>
        </p:nvSpPr>
        <p:spPr>
          <a:xfrm>
            <a:off x="508416" y="849576"/>
            <a:ext cx="3598348" cy="461665"/>
          </a:xfrm>
          <a:prstGeom prst="rect">
            <a:avLst/>
          </a:prstGeom>
          <a:noFill/>
        </p:spPr>
        <p:txBody>
          <a:bodyPr wrap="square">
            <a:spAutoFit/>
          </a:bodyPr>
          <a:lstStyle>
            <a:defPPr>
              <a:defRPr lang="zh-CN"/>
            </a:defPPr>
            <a:lvl1pPr>
              <a:defRPr kumimoji="1" sz="2400" b="1">
                <a:latin typeface="Times New Roman" panose="02020603050405020304" pitchFamily="18" charset="0"/>
                <a:cs typeface="Times New Roman" panose="02020603050405020304" pitchFamily="18" charset="0"/>
              </a:defRPr>
            </a:lvl1pPr>
          </a:lstStyle>
          <a:p>
            <a:r>
              <a:rPr lang="zh-CN" altLang="en-US" dirty="0"/>
              <a:t>３</a:t>
            </a:r>
            <a:r>
              <a:rPr lang="en-US" altLang="zh-CN" dirty="0"/>
              <a:t>.</a:t>
            </a:r>
            <a:r>
              <a:rPr lang="zh-CN" altLang="en-US" dirty="0"/>
              <a:t> 水解酶 </a:t>
            </a:r>
            <a:r>
              <a:rPr lang="en-US" altLang="zh-CN" dirty="0"/>
              <a:t>(hydrolases)</a:t>
            </a:r>
            <a:endParaRPr lang="zh-CN" altLang="en-US" dirty="0"/>
          </a:p>
        </p:txBody>
      </p:sp>
      <p:sp>
        <p:nvSpPr>
          <p:cNvPr id="5" name="文本框 4">
            <a:extLst>
              <a:ext uri="{FF2B5EF4-FFF2-40B4-BE49-F238E27FC236}">
                <a16:creationId xmlns:a16="http://schemas.microsoft.com/office/drawing/2014/main" id="{57F0403A-B550-F2C8-1496-547917ED1301}"/>
              </a:ext>
            </a:extLst>
          </p:cNvPr>
          <p:cNvSpPr txBox="1"/>
          <p:nvPr/>
        </p:nvSpPr>
        <p:spPr>
          <a:xfrm>
            <a:off x="773955" y="1606967"/>
            <a:ext cx="9778431" cy="830997"/>
          </a:xfrm>
          <a:prstGeom prst="rect">
            <a:avLst/>
          </a:prstGeom>
          <a:noFill/>
        </p:spPr>
        <p:txBody>
          <a:bodyPr wrap="square">
            <a:spAutoFit/>
          </a:bodyPr>
          <a:lstStyle/>
          <a:p>
            <a:r>
              <a:rPr lang="zh-CN" altLang="en-US" sz="2400" dirty="0">
                <a:latin typeface="+mj-ea"/>
                <a:ea typeface="+mj-ea"/>
              </a:rPr>
              <a:t>水解酶催化底物的加水分解反应。主要包括淀粉酶、蛋白酶及脂酶等。</a:t>
            </a:r>
          </a:p>
          <a:p>
            <a:r>
              <a:rPr lang="zh-CN" altLang="en-US" sz="2400" dirty="0">
                <a:latin typeface="+mj-ea"/>
                <a:ea typeface="+mj-ea"/>
              </a:rPr>
              <a:t>例如，脂肪酶</a:t>
            </a:r>
            <a:r>
              <a:rPr lang="en-US" altLang="zh-CN" sz="2400" dirty="0">
                <a:latin typeface="+mj-ea"/>
                <a:ea typeface="+mj-ea"/>
              </a:rPr>
              <a:t>(Lipase)</a:t>
            </a:r>
            <a:r>
              <a:rPr lang="zh-CN" altLang="en-US" sz="2400" dirty="0">
                <a:latin typeface="+mj-ea"/>
                <a:ea typeface="+mj-ea"/>
              </a:rPr>
              <a:t>催化的脂的水解反应</a:t>
            </a:r>
            <a:r>
              <a:rPr lang="zh-CN" altLang="en-US" sz="1800" b="1" dirty="0">
                <a:solidFill>
                  <a:schemeClr val="accent1"/>
                </a:solidFill>
                <a:latin typeface="楷体_GB2312" pitchFamily="49" charset="-122"/>
                <a:ea typeface="楷体_GB2312" pitchFamily="49" charset="-122"/>
              </a:rPr>
              <a:t>：</a:t>
            </a:r>
            <a:endParaRPr lang="zh-CN" altLang="en-US" sz="2400" b="1" dirty="0">
              <a:solidFill>
                <a:schemeClr val="accent1"/>
              </a:solidFill>
              <a:latin typeface="楷体_GB2312" pitchFamily="49" charset="-122"/>
              <a:ea typeface="楷体_GB2312" pitchFamily="49" charset="-122"/>
            </a:endParaRPr>
          </a:p>
        </p:txBody>
      </p:sp>
      <p:graphicFrame>
        <p:nvGraphicFramePr>
          <p:cNvPr id="8" name="Object 4">
            <a:extLst>
              <a:ext uri="{FF2B5EF4-FFF2-40B4-BE49-F238E27FC236}">
                <a16:creationId xmlns:a16="http://schemas.microsoft.com/office/drawing/2014/main" id="{59737732-EDA5-A860-2AB9-27F31B4B91CE}"/>
              </a:ext>
            </a:extLst>
          </p:cNvPr>
          <p:cNvGraphicFramePr>
            <a:graphicFrameLocks noChangeAspect="1"/>
          </p:cNvGraphicFramePr>
          <p:nvPr>
            <p:extLst>
              <p:ext uri="{D42A27DB-BD31-4B8C-83A1-F6EECF244321}">
                <p14:modId xmlns:p14="http://schemas.microsoft.com/office/powerpoint/2010/main" val="1826999072"/>
              </p:ext>
            </p:extLst>
          </p:nvPr>
        </p:nvGraphicFramePr>
        <p:xfrm>
          <a:off x="2610407" y="2538064"/>
          <a:ext cx="6105525" cy="601663"/>
        </p:xfrm>
        <a:graphic>
          <a:graphicData uri="http://schemas.openxmlformats.org/presentationml/2006/ole">
            <mc:AlternateContent xmlns:mc="http://schemas.openxmlformats.org/markup-compatibility/2006">
              <mc:Choice xmlns:v="urn:schemas-microsoft-com:vml" Requires="v">
                <p:oleObj name="Document" r:id="rId4" imgW="3286125" imgH="323850" progId="ChemWindow.Document">
                  <p:embed/>
                </p:oleObj>
              </mc:Choice>
              <mc:Fallback>
                <p:oleObj name="Document" r:id="rId4" imgW="3286125" imgH="323850" progId="ChemWindow.Document">
                  <p:embed/>
                  <p:pic>
                    <p:nvPicPr>
                      <p:cNvPr id="84996" name="Object 4">
                        <a:extLst>
                          <a:ext uri="{FF2B5EF4-FFF2-40B4-BE49-F238E27FC236}">
                            <a16:creationId xmlns:a16="http://schemas.microsoft.com/office/drawing/2014/main" id="{83C011A3-6F18-C959-CA23-2D26095C5A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0407" y="2538064"/>
                        <a:ext cx="6105525"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文本框 12">
            <a:extLst>
              <a:ext uri="{FF2B5EF4-FFF2-40B4-BE49-F238E27FC236}">
                <a16:creationId xmlns:a16="http://schemas.microsoft.com/office/drawing/2014/main" id="{53B54100-0A1B-9BAC-F6BC-F6AF198B2B07}"/>
              </a:ext>
            </a:extLst>
          </p:cNvPr>
          <p:cNvSpPr txBox="1"/>
          <p:nvPr/>
        </p:nvSpPr>
        <p:spPr>
          <a:xfrm>
            <a:off x="3468940" y="3079904"/>
            <a:ext cx="4174758" cy="664862"/>
          </a:xfrm>
          <a:prstGeom prst="rect">
            <a:avLst/>
          </a:prstGeom>
          <a:noFill/>
        </p:spPr>
        <p:txBody>
          <a:bodyPr wrap="square">
            <a:spAutoFit/>
          </a:bodyPr>
          <a:lstStyle/>
          <a:p>
            <a:pPr marL="66675" marR="88265" indent="266065" algn="ctr">
              <a:lnSpc>
                <a:spcPct val="150000"/>
              </a:lnSpc>
              <a:spcAft>
                <a:spcPts val="1000"/>
              </a:spcAft>
            </a:pP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AB</a:t>
            </a:r>
            <a:r>
              <a:rPr lang="zh-CN" altLang="zh-CN" sz="2800" b="1"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H</a:t>
            </a:r>
            <a:r>
              <a:rPr lang="en-US" altLang="zh-CN" sz="2800" b="1" baseline="-25000" dirty="0">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O=AOH+BH</a:t>
            </a:r>
            <a:endParaRPr lang="zh-CN" altLang="zh-CN" sz="32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文本框 14">
            <a:extLst>
              <a:ext uri="{FF2B5EF4-FFF2-40B4-BE49-F238E27FC236}">
                <a16:creationId xmlns:a16="http://schemas.microsoft.com/office/drawing/2014/main" id="{2394B2D7-1696-FFCB-B36F-DBF293BDD173}"/>
              </a:ext>
            </a:extLst>
          </p:cNvPr>
          <p:cNvSpPr txBox="1"/>
          <p:nvPr/>
        </p:nvSpPr>
        <p:spPr>
          <a:xfrm>
            <a:off x="1187795" y="6116624"/>
            <a:ext cx="2669627" cy="369332"/>
          </a:xfrm>
          <a:prstGeom prst="rect">
            <a:avLst/>
          </a:prstGeom>
          <a:noFill/>
        </p:spPr>
        <p:txBody>
          <a:bodyPr wrap="square">
            <a:spAutoFit/>
          </a:bodyPr>
          <a:lstStyle/>
          <a:p>
            <a:r>
              <a:rPr lang="zh-CN" altLang="en-US" sz="1800" dirty="0">
                <a:latin typeface="+mj-ea"/>
                <a:ea typeface="+mj-ea"/>
              </a:rPr>
              <a:t>淀粉酶   淀粉平板</a:t>
            </a:r>
            <a:r>
              <a:rPr lang="en-US" altLang="zh-CN" sz="1800" dirty="0">
                <a:latin typeface="+mj-ea"/>
                <a:ea typeface="+mj-ea"/>
              </a:rPr>
              <a:t>+</a:t>
            </a:r>
            <a:r>
              <a:rPr lang="zh-CN" altLang="en-US" sz="1800" dirty="0">
                <a:latin typeface="+mj-ea"/>
                <a:ea typeface="+mj-ea"/>
              </a:rPr>
              <a:t>碘液</a:t>
            </a:r>
            <a:endParaRPr lang="zh-CN" altLang="en-US" dirty="0"/>
          </a:p>
        </p:txBody>
      </p:sp>
      <p:pic>
        <p:nvPicPr>
          <p:cNvPr id="17" name="图片 16">
            <a:extLst>
              <a:ext uri="{FF2B5EF4-FFF2-40B4-BE49-F238E27FC236}">
                <a16:creationId xmlns:a16="http://schemas.microsoft.com/office/drawing/2014/main" id="{4F272AC8-9027-8F37-3434-2AAFB4BB4797}"/>
              </a:ext>
            </a:extLst>
          </p:cNvPr>
          <p:cNvPicPr>
            <a:picLocks noChangeAspect="1"/>
          </p:cNvPicPr>
          <p:nvPr/>
        </p:nvPicPr>
        <p:blipFill>
          <a:blip r:embed="rId6"/>
          <a:stretch>
            <a:fillRect/>
          </a:stretch>
        </p:blipFill>
        <p:spPr>
          <a:xfrm>
            <a:off x="4807477" y="4119034"/>
            <a:ext cx="2042362" cy="1897342"/>
          </a:xfrm>
          <a:prstGeom prst="rect">
            <a:avLst/>
          </a:prstGeom>
        </p:spPr>
      </p:pic>
      <p:sp>
        <p:nvSpPr>
          <p:cNvPr id="19" name="文本框 18">
            <a:extLst>
              <a:ext uri="{FF2B5EF4-FFF2-40B4-BE49-F238E27FC236}">
                <a16:creationId xmlns:a16="http://schemas.microsoft.com/office/drawing/2014/main" id="{AF36F0C3-5F14-A762-5B1E-02D28A30FA99}"/>
              </a:ext>
            </a:extLst>
          </p:cNvPr>
          <p:cNvSpPr txBox="1"/>
          <p:nvPr/>
        </p:nvSpPr>
        <p:spPr>
          <a:xfrm>
            <a:off x="4661240" y="6116623"/>
            <a:ext cx="2504138" cy="369332"/>
          </a:xfrm>
          <a:prstGeom prst="rect">
            <a:avLst/>
          </a:prstGeom>
          <a:noFill/>
        </p:spPr>
        <p:txBody>
          <a:bodyPr wrap="square">
            <a:spAutoFit/>
          </a:bodyPr>
          <a:lstStyle/>
          <a:p>
            <a:r>
              <a:rPr lang="zh-CN" altLang="en-US" sz="1800" dirty="0">
                <a:latin typeface="+mj-ea"/>
                <a:ea typeface="+mj-ea"/>
              </a:rPr>
              <a:t>蛋白酶     酪蛋白平板 </a:t>
            </a:r>
            <a:endParaRPr lang="zh-CN" altLang="en-US" dirty="0"/>
          </a:p>
        </p:txBody>
      </p:sp>
      <p:pic>
        <p:nvPicPr>
          <p:cNvPr id="21" name="图片 20">
            <a:extLst>
              <a:ext uri="{FF2B5EF4-FFF2-40B4-BE49-F238E27FC236}">
                <a16:creationId xmlns:a16="http://schemas.microsoft.com/office/drawing/2014/main" id="{1BB04D03-D5C2-79BD-5AB2-D9F27B55EE22}"/>
              </a:ext>
            </a:extLst>
          </p:cNvPr>
          <p:cNvPicPr>
            <a:picLocks noChangeAspect="1"/>
          </p:cNvPicPr>
          <p:nvPr/>
        </p:nvPicPr>
        <p:blipFill>
          <a:blip r:embed="rId7"/>
          <a:stretch>
            <a:fillRect/>
          </a:stretch>
        </p:blipFill>
        <p:spPr>
          <a:xfrm>
            <a:off x="8177675" y="3982024"/>
            <a:ext cx="1947842" cy="1897342"/>
          </a:xfrm>
          <a:prstGeom prst="rect">
            <a:avLst/>
          </a:prstGeom>
        </p:spPr>
      </p:pic>
      <p:sp>
        <p:nvSpPr>
          <p:cNvPr id="22" name="文本框 21">
            <a:extLst>
              <a:ext uri="{FF2B5EF4-FFF2-40B4-BE49-F238E27FC236}">
                <a16:creationId xmlns:a16="http://schemas.microsoft.com/office/drawing/2014/main" id="{A773C4E1-EFBB-0803-91E9-344FE426FBE1}"/>
              </a:ext>
            </a:extLst>
          </p:cNvPr>
          <p:cNvSpPr txBox="1"/>
          <p:nvPr/>
        </p:nvSpPr>
        <p:spPr>
          <a:xfrm>
            <a:off x="7801353" y="6116623"/>
            <a:ext cx="3528799" cy="369332"/>
          </a:xfrm>
          <a:prstGeom prst="rect">
            <a:avLst/>
          </a:prstGeom>
          <a:noFill/>
        </p:spPr>
        <p:txBody>
          <a:bodyPr wrap="square">
            <a:spAutoFit/>
          </a:bodyPr>
          <a:lstStyle>
            <a:defPPr>
              <a:defRPr lang="zh-CN"/>
            </a:defPPr>
            <a:lvl1pPr>
              <a:defRPr>
                <a:latin typeface="+mj-ea"/>
                <a:ea typeface="+mj-ea"/>
              </a:defRPr>
            </a:lvl1pPr>
          </a:lstStyle>
          <a:p>
            <a:r>
              <a:rPr lang="zh-CN" altLang="en-US" dirty="0"/>
              <a:t>脂肪酶     三丁酸甘油酯平板              </a:t>
            </a:r>
          </a:p>
        </p:txBody>
      </p:sp>
      <p:pic>
        <p:nvPicPr>
          <p:cNvPr id="24" name="图片 23">
            <a:extLst>
              <a:ext uri="{FF2B5EF4-FFF2-40B4-BE49-F238E27FC236}">
                <a16:creationId xmlns:a16="http://schemas.microsoft.com/office/drawing/2014/main" id="{9C97587E-1211-AA47-E1CB-78302024A73B}"/>
              </a:ext>
            </a:extLst>
          </p:cNvPr>
          <p:cNvPicPr>
            <a:picLocks noChangeAspect="1"/>
          </p:cNvPicPr>
          <p:nvPr/>
        </p:nvPicPr>
        <p:blipFill>
          <a:blip r:embed="rId8"/>
          <a:stretch>
            <a:fillRect/>
          </a:stretch>
        </p:blipFill>
        <p:spPr>
          <a:xfrm>
            <a:off x="1300335" y="4026471"/>
            <a:ext cx="2284410" cy="1989905"/>
          </a:xfrm>
          <a:prstGeom prst="rect">
            <a:avLst/>
          </a:prstGeom>
        </p:spPr>
      </p:pic>
    </p:spTree>
    <p:extLst>
      <p:ext uri="{BB962C8B-B14F-4D97-AF65-F5344CB8AC3E}">
        <p14:creationId xmlns:p14="http://schemas.microsoft.com/office/powerpoint/2010/main" val="939006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AA3EC6EC-CF6B-19CF-C37D-B209DCFEF9F1}"/>
              </a:ext>
            </a:extLst>
          </p:cNvPr>
          <p:cNvSpPr txBox="1"/>
          <p:nvPr/>
        </p:nvSpPr>
        <p:spPr>
          <a:xfrm>
            <a:off x="508416" y="801451"/>
            <a:ext cx="3598348" cy="461665"/>
          </a:xfrm>
          <a:prstGeom prst="rect">
            <a:avLst/>
          </a:prstGeom>
          <a:noFill/>
        </p:spPr>
        <p:txBody>
          <a:bodyPr wrap="square">
            <a:spAutoFit/>
          </a:bodyPr>
          <a:lstStyle>
            <a:defPPr>
              <a:defRPr lang="zh-CN"/>
            </a:defPPr>
            <a:lvl1pPr>
              <a:defRPr kumimoji="1" sz="2400" b="1">
                <a:latin typeface="Times New Roman" panose="02020603050405020304" pitchFamily="18" charset="0"/>
                <a:cs typeface="Times New Roman" panose="02020603050405020304" pitchFamily="18" charset="0"/>
              </a:defRPr>
            </a:lvl1pPr>
          </a:lstStyle>
          <a:p>
            <a:r>
              <a:rPr lang="zh-CN" altLang="en-US" dirty="0"/>
              <a:t>４</a:t>
            </a:r>
            <a:r>
              <a:rPr lang="en-US" altLang="zh-CN" dirty="0"/>
              <a:t>. </a:t>
            </a:r>
            <a:r>
              <a:rPr lang="zh-CN" altLang="en-US" dirty="0"/>
              <a:t>裂合酶 </a:t>
            </a:r>
            <a:r>
              <a:rPr lang="en-US" altLang="zh-CN" dirty="0"/>
              <a:t>(lyases)</a:t>
            </a:r>
            <a:endParaRPr lang="zh-CN" altLang="en-US" dirty="0"/>
          </a:p>
        </p:txBody>
      </p:sp>
      <p:sp>
        <p:nvSpPr>
          <p:cNvPr id="6" name="文本框 5">
            <a:extLst>
              <a:ext uri="{FF2B5EF4-FFF2-40B4-BE49-F238E27FC236}">
                <a16:creationId xmlns:a16="http://schemas.microsoft.com/office/drawing/2014/main" id="{4F0345DD-5214-7EE5-C26B-379FC9317A1A}"/>
              </a:ext>
            </a:extLst>
          </p:cNvPr>
          <p:cNvSpPr txBox="1"/>
          <p:nvPr/>
        </p:nvSpPr>
        <p:spPr>
          <a:xfrm>
            <a:off x="5918224" y="1931558"/>
            <a:ext cx="2394911" cy="656846"/>
          </a:xfrm>
          <a:prstGeom prst="rect">
            <a:avLst/>
          </a:prstGeom>
          <a:noFill/>
        </p:spPr>
        <p:txBody>
          <a:bodyPr wrap="square">
            <a:spAutoFit/>
          </a:bodyPr>
          <a:lstStyle>
            <a:defPPr>
              <a:defRPr lang="zh-CN"/>
            </a:defPPr>
            <a:lvl1pPr marL="66675" marR="88265" indent="266065" algn="ctr">
              <a:lnSpc>
                <a:spcPct val="150000"/>
              </a:lnSpc>
              <a:spcAft>
                <a:spcPts val="1000"/>
              </a:spcAft>
              <a:defRPr sz="2800" b="1">
                <a:effectLst/>
                <a:latin typeface="Times New Roman" panose="02020603050405020304" pitchFamily="18" charset="0"/>
                <a:ea typeface="宋体" panose="02010600030101010101" pitchFamily="2" charset="-122"/>
                <a:cs typeface="Times New Roman" panose="02020603050405020304" pitchFamily="18" charset="0"/>
              </a:defRPr>
            </a:lvl1pPr>
          </a:lstStyle>
          <a:p>
            <a:r>
              <a:rPr lang="en-US" altLang="zh-CN" dirty="0"/>
              <a:t>AB=A</a:t>
            </a:r>
            <a:r>
              <a:rPr lang="zh-CN" altLang="en-US" dirty="0"/>
              <a:t>＋</a:t>
            </a:r>
            <a:r>
              <a:rPr lang="en-US" altLang="zh-CN" dirty="0"/>
              <a:t>B </a:t>
            </a:r>
            <a:endParaRPr lang="zh-CN" altLang="en-US" dirty="0"/>
          </a:p>
        </p:txBody>
      </p:sp>
      <p:graphicFrame>
        <p:nvGraphicFramePr>
          <p:cNvPr id="7" name="Object 4">
            <a:extLst>
              <a:ext uri="{FF2B5EF4-FFF2-40B4-BE49-F238E27FC236}">
                <a16:creationId xmlns:a16="http://schemas.microsoft.com/office/drawing/2014/main" id="{4A434CB9-CDA3-24B1-ED99-CCDD89B91D3E}"/>
              </a:ext>
            </a:extLst>
          </p:cNvPr>
          <p:cNvGraphicFramePr>
            <a:graphicFrameLocks noChangeAspect="1"/>
          </p:cNvGraphicFramePr>
          <p:nvPr>
            <p:extLst>
              <p:ext uri="{D42A27DB-BD31-4B8C-83A1-F6EECF244321}">
                <p14:modId xmlns:p14="http://schemas.microsoft.com/office/powerpoint/2010/main" val="2633799411"/>
              </p:ext>
            </p:extLst>
          </p:nvPr>
        </p:nvGraphicFramePr>
        <p:xfrm>
          <a:off x="2307590" y="2508521"/>
          <a:ext cx="6924675" cy="849312"/>
        </p:xfrm>
        <a:graphic>
          <a:graphicData uri="http://schemas.openxmlformats.org/presentationml/2006/ole">
            <mc:AlternateContent xmlns:mc="http://schemas.openxmlformats.org/markup-compatibility/2006">
              <mc:Choice xmlns:v="urn:schemas-microsoft-com:vml" Requires="v">
                <p:oleObj name="Document" r:id="rId4" imgW="3571875" imgH="438150" progId="ChemWindow.Document">
                  <p:embed/>
                </p:oleObj>
              </mc:Choice>
              <mc:Fallback>
                <p:oleObj name="Document" r:id="rId4" imgW="3571875" imgH="438150" progId="ChemWindow.Document">
                  <p:embed/>
                  <p:pic>
                    <p:nvPicPr>
                      <p:cNvPr id="86020" name="Object 4">
                        <a:extLst>
                          <a:ext uri="{FF2B5EF4-FFF2-40B4-BE49-F238E27FC236}">
                            <a16:creationId xmlns:a16="http://schemas.microsoft.com/office/drawing/2014/main" id="{80867058-8D62-46A0-58F0-60C82688AB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7590" y="2508521"/>
                        <a:ext cx="6924675" cy="849312"/>
                      </a:xfrm>
                      <a:prstGeom prst="rect">
                        <a:avLst/>
                      </a:prstGeom>
                      <a:solidFill>
                        <a:srgbClr val="002060"/>
                      </a:solidFill>
                      <a:ln>
                        <a:noFill/>
                      </a:ln>
                    </p:spPr>
                  </p:pic>
                </p:oleObj>
              </mc:Fallback>
            </mc:AlternateContent>
          </a:graphicData>
        </a:graphic>
      </p:graphicFrame>
      <p:sp>
        <p:nvSpPr>
          <p:cNvPr id="10" name="文本框 9">
            <a:extLst>
              <a:ext uri="{FF2B5EF4-FFF2-40B4-BE49-F238E27FC236}">
                <a16:creationId xmlns:a16="http://schemas.microsoft.com/office/drawing/2014/main" id="{48FAE6B7-AD29-6C89-A352-F869D9DFA988}"/>
              </a:ext>
            </a:extLst>
          </p:cNvPr>
          <p:cNvSpPr txBox="1"/>
          <p:nvPr/>
        </p:nvSpPr>
        <p:spPr>
          <a:xfrm>
            <a:off x="593835" y="1341424"/>
            <a:ext cx="11004330" cy="1200329"/>
          </a:xfrm>
          <a:prstGeom prst="rect">
            <a:avLst/>
          </a:prstGeom>
          <a:noFill/>
        </p:spPr>
        <p:txBody>
          <a:bodyPr wrap="square">
            <a:spAutoFit/>
          </a:bodyPr>
          <a:lstStyle/>
          <a:p>
            <a:r>
              <a:rPr lang="zh-CN" altLang="en-US" sz="2400" dirty="0">
                <a:latin typeface="+mj-ea"/>
                <a:ea typeface="+mj-ea"/>
              </a:rPr>
              <a:t>裂合酶催化从底物分子中移去一个基团或原子形成双键的反应及其逆反应。主要包括醛缩酶、水化酶及脱氨酶等。</a:t>
            </a:r>
          </a:p>
          <a:p>
            <a:r>
              <a:rPr lang="zh-CN" altLang="en-US" sz="2400" dirty="0">
                <a:latin typeface="+mj-ea"/>
                <a:ea typeface="+mj-ea"/>
              </a:rPr>
              <a:t>例如， 延胡索酸水合酶催化的反应。</a:t>
            </a:r>
          </a:p>
        </p:txBody>
      </p:sp>
      <p:pic>
        <p:nvPicPr>
          <p:cNvPr id="14" name="图片 13">
            <a:extLst>
              <a:ext uri="{FF2B5EF4-FFF2-40B4-BE49-F238E27FC236}">
                <a16:creationId xmlns:a16="http://schemas.microsoft.com/office/drawing/2014/main" id="{AC638DE3-A3A6-A614-CE09-CD997C73CBFF}"/>
              </a:ext>
            </a:extLst>
          </p:cNvPr>
          <p:cNvPicPr>
            <a:picLocks noChangeAspect="1"/>
          </p:cNvPicPr>
          <p:nvPr/>
        </p:nvPicPr>
        <p:blipFill>
          <a:blip r:embed="rId6"/>
          <a:stretch>
            <a:fillRect/>
          </a:stretch>
        </p:blipFill>
        <p:spPr>
          <a:xfrm>
            <a:off x="935798" y="3431207"/>
            <a:ext cx="5160202" cy="2482631"/>
          </a:xfrm>
          <a:prstGeom prst="rect">
            <a:avLst/>
          </a:prstGeom>
        </p:spPr>
      </p:pic>
      <p:pic>
        <p:nvPicPr>
          <p:cNvPr id="16" name="图片 15">
            <a:extLst>
              <a:ext uri="{FF2B5EF4-FFF2-40B4-BE49-F238E27FC236}">
                <a16:creationId xmlns:a16="http://schemas.microsoft.com/office/drawing/2014/main" id="{F1988A35-70EC-2448-C9A8-AAB6BA335403}"/>
              </a:ext>
            </a:extLst>
          </p:cNvPr>
          <p:cNvPicPr>
            <a:picLocks noChangeAspect="1"/>
          </p:cNvPicPr>
          <p:nvPr/>
        </p:nvPicPr>
        <p:blipFill>
          <a:blip r:embed="rId7"/>
          <a:stretch>
            <a:fillRect/>
          </a:stretch>
        </p:blipFill>
        <p:spPr>
          <a:xfrm>
            <a:off x="6096000" y="3376183"/>
            <a:ext cx="5715000" cy="2667000"/>
          </a:xfrm>
          <a:prstGeom prst="rect">
            <a:avLst/>
          </a:prstGeom>
        </p:spPr>
      </p:pic>
      <p:sp>
        <p:nvSpPr>
          <p:cNvPr id="20" name="文本框 19">
            <a:extLst>
              <a:ext uri="{FF2B5EF4-FFF2-40B4-BE49-F238E27FC236}">
                <a16:creationId xmlns:a16="http://schemas.microsoft.com/office/drawing/2014/main" id="{872ED407-90E3-1704-86DA-34E2D1912B23}"/>
              </a:ext>
            </a:extLst>
          </p:cNvPr>
          <p:cNvSpPr txBox="1"/>
          <p:nvPr/>
        </p:nvSpPr>
        <p:spPr>
          <a:xfrm>
            <a:off x="777673" y="6043183"/>
            <a:ext cx="10636654" cy="707886"/>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AID</a:t>
            </a:r>
            <a:r>
              <a:rPr lang="zh-CN" altLang="en-US" sz="2000" dirty="0">
                <a:latin typeface="Times New Roman" panose="02020603050405020304" pitchFamily="18" charset="0"/>
                <a:cs typeface="Times New Roman" panose="02020603050405020304" pitchFamily="18" charset="0"/>
              </a:rPr>
              <a:t>的胞嘧啶脱氨酶</a:t>
            </a:r>
            <a:r>
              <a:rPr lang="en-US" altLang="zh-CN" sz="2000" dirty="0">
                <a:latin typeface="Times New Roman" panose="02020603050405020304" pitchFamily="18" charset="0"/>
                <a:cs typeface="Times New Roman" panose="02020603050405020304" pitchFamily="18" charset="0"/>
              </a:rPr>
              <a:t>(activation-induced cytidine deaminase)</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AID</a:t>
            </a:r>
            <a:r>
              <a:rPr lang="zh-CN" altLang="en-US" sz="2000" dirty="0">
                <a:latin typeface="Times New Roman" panose="02020603050405020304" pitchFamily="18" charset="0"/>
                <a:cs typeface="Times New Roman" panose="02020603050405020304" pitchFamily="18" charset="0"/>
              </a:rPr>
              <a:t>拥有一个以</a:t>
            </a:r>
            <a:r>
              <a:rPr lang="en-US" altLang="zh-CN" sz="2000" dirty="0">
                <a:latin typeface="Times New Roman" panose="02020603050405020304" pitchFamily="18" charset="0"/>
                <a:cs typeface="Times New Roman" panose="02020603050405020304" pitchFamily="18" charset="0"/>
              </a:rPr>
              <a:t>Zn</a:t>
            </a:r>
            <a:r>
              <a:rPr lang="zh-CN" altLang="en-US" sz="2000" dirty="0">
                <a:latin typeface="Times New Roman" panose="02020603050405020304" pitchFamily="18" charset="0"/>
                <a:cs typeface="Times New Roman" panose="02020603050405020304" pitchFamily="18" charset="0"/>
              </a:rPr>
              <a:t>离子为核的催化中心，可以将胞嘧啶的氨基水解为羰基（也就是变成尿嘧啶</a:t>
            </a:r>
            <a:r>
              <a:rPr lang="en-US" altLang="zh-CN" sz="2000" dirty="0">
                <a:latin typeface="Times New Roman" panose="02020603050405020304" pitchFamily="18" charset="0"/>
                <a:cs typeface="Times New Roman" panose="02020603050405020304" pitchFamily="18" charset="0"/>
              </a:rPr>
              <a:t>U</a:t>
            </a:r>
            <a:r>
              <a:rPr lang="zh-CN" alt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778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AA3EC6EC-CF6B-19CF-C37D-B209DCFEF9F1}"/>
              </a:ext>
            </a:extLst>
          </p:cNvPr>
          <p:cNvSpPr txBox="1"/>
          <p:nvPr/>
        </p:nvSpPr>
        <p:spPr>
          <a:xfrm>
            <a:off x="508416" y="801451"/>
            <a:ext cx="3598348" cy="461665"/>
          </a:xfrm>
          <a:prstGeom prst="rect">
            <a:avLst/>
          </a:prstGeom>
          <a:noFill/>
        </p:spPr>
        <p:txBody>
          <a:bodyPr wrap="square">
            <a:spAutoFit/>
          </a:bodyPr>
          <a:lstStyle>
            <a:defPPr>
              <a:defRPr lang="zh-CN"/>
            </a:defPPr>
            <a:lvl1pPr>
              <a:defRPr kumimoji="1" sz="2400" b="1">
                <a:latin typeface="Times New Roman" panose="02020603050405020304" pitchFamily="18" charset="0"/>
                <a:cs typeface="Times New Roman" panose="02020603050405020304" pitchFamily="18" charset="0"/>
              </a:defRPr>
            </a:lvl1pPr>
          </a:lstStyle>
          <a:p>
            <a:r>
              <a:rPr lang="en-US" altLang="zh-CN" dirty="0"/>
              <a:t>5. </a:t>
            </a:r>
            <a:r>
              <a:rPr lang="zh-CN" altLang="en-US" dirty="0"/>
              <a:t>异构酶 </a:t>
            </a:r>
            <a:r>
              <a:rPr lang="en-US" altLang="zh-CN" dirty="0"/>
              <a:t>Isomerase</a:t>
            </a:r>
            <a:endParaRPr lang="zh-CN" altLang="en-US" dirty="0"/>
          </a:p>
        </p:txBody>
      </p:sp>
      <p:sp>
        <p:nvSpPr>
          <p:cNvPr id="5" name="文本框 4">
            <a:extLst>
              <a:ext uri="{FF2B5EF4-FFF2-40B4-BE49-F238E27FC236}">
                <a16:creationId xmlns:a16="http://schemas.microsoft.com/office/drawing/2014/main" id="{F848AA82-06B5-932A-CF99-C2BA21B611C6}"/>
              </a:ext>
            </a:extLst>
          </p:cNvPr>
          <p:cNvSpPr txBox="1"/>
          <p:nvPr/>
        </p:nvSpPr>
        <p:spPr>
          <a:xfrm>
            <a:off x="287037" y="1541248"/>
            <a:ext cx="10859020" cy="830997"/>
          </a:xfrm>
          <a:prstGeom prst="rect">
            <a:avLst/>
          </a:prstGeom>
          <a:noFill/>
        </p:spPr>
        <p:txBody>
          <a:bodyPr wrap="square">
            <a:spAutoFit/>
          </a:bodyPr>
          <a:lstStyle/>
          <a:p>
            <a:r>
              <a:rPr lang="zh-CN" altLang="en-US" sz="2400" dirty="0">
                <a:latin typeface="+mj-ea"/>
                <a:ea typeface="+mj-ea"/>
              </a:rPr>
              <a:t>异构酶催化各种同分异构体的相互转化，即底物分子内基团或原子的重排过程。</a:t>
            </a:r>
            <a:br>
              <a:rPr lang="zh-CN" altLang="en-US" sz="2400" dirty="0">
                <a:latin typeface="+mj-ea"/>
                <a:ea typeface="+mj-ea"/>
              </a:rPr>
            </a:br>
            <a:r>
              <a:rPr lang="zh-CN" altLang="en-US" sz="2400" dirty="0">
                <a:latin typeface="+mj-ea"/>
                <a:ea typeface="+mj-ea"/>
              </a:rPr>
              <a:t>例如，</a:t>
            </a:r>
            <a:r>
              <a:rPr lang="en-US" altLang="zh-CN" sz="2400" dirty="0">
                <a:latin typeface="+mj-ea"/>
                <a:ea typeface="+mj-ea"/>
              </a:rPr>
              <a:t>6-</a:t>
            </a:r>
            <a:r>
              <a:rPr lang="zh-CN" altLang="en-US" sz="2400" dirty="0">
                <a:latin typeface="+mj-ea"/>
                <a:ea typeface="+mj-ea"/>
              </a:rPr>
              <a:t>磷酸葡萄糖异构酶催化的反应。</a:t>
            </a:r>
          </a:p>
        </p:txBody>
      </p:sp>
      <p:graphicFrame>
        <p:nvGraphicFramePr>
          <p:cNvPr id="8" name="Object 4">
            <a:extLst>
              <a:ext uri="{FF2B5EF4-FFF2-40B4-BE49-F238E27FC236}">
                <a16:creationId xmlns:a16="http://schemas.microsoft.com/office/drawing/2014/main" id="{1DE19EB3-D792-A652-F153-B30A7C1AD619}"/>
              </a:ext>
            </a:extLst>
          </p:cNvPr>
          <p:cNvGraphicFramePr>
            <a:graphicFrameLocks noChangeAspect="1"/>
          </p:cNvGraphicFramePr>
          <p:nvPr>
            <p:extLst>
              <p:ext uri="{D42A27DB-BD31-4B8C-83A1-F6EECF244321}">
                <p14:modId xmlns:p14="http://schemas.microsoft.com/office/powerpoint/2010/main" val="3009264699"/>
              </p:ext>
            </p:extLst>
          </p:nvPr>
        </p:nvGraphicFramePr>
        <p:xfrm>
          <a:off x="704114" y="2527513"/>
          <a:ext cx="4858386" cy="1557176"/>
        </p:xfrm>
        <a:graphic>
          <a:graphicData uri="http://schemas.openxmlformats.org/presentationml/2006/ole">
            <mc:AlternateContent xmlns:mc="http://schemas.openxmlformats.org/markup-compatibility/2006">
              <mc:Choice xmlns:v="urn:schemas-microsoft-com:vml" Requires="v">
                <p:oleObj name="Document" r:id="rId4" imgW="3686175" imgH="1181100" progId="ChemWindow.Document">
                  <p:embed/>
                </p:oleObj>
              </mc:Choice>
              <mc:Fallback>
                <p:oleObj name="Document" r:id="rId4" imgW="3686175" imgH="1181100" progId="ChemWindow.Document">
                  <p:embed/>
                  <p:pic>
                    <p:nvPicPr>
                      <p:cNvPr id="87044" name="Object 4">
                        <a:extLst>
                          <a:ext uri="{FF2B5EF4-FFF2-40B4-BE49-F238E27FC236}">
                            <a16:creationId xmlns:a16="http://schemas.microsoft.com/office/drawing/2014/main" id="{F05AB8DF-D571-33A0-A7AC-2ACE469F7A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114" y="2527513"/>
                        <a:ext cx="4858386" cy="1557176"/>
                      </a:xfrm>
                      <a:prstGeom prst="rect">
                        <a:avLst/>
                      </a:prstGeom>
                      <a:noFill/>
                      <a:ln>
                        <a:noFill/>
                      </a:ln>
                    </p:spPr>
                  </p:pic>
                </p:oleObj>
              </mc:Fallback>
            </mc:AlternateContent>
          </a:graphicData>
        </a:graphic>
      </p:graphicFrame>
      <p:pic>
        <p:nvPicPr>
          <p:cNvPr id="9" name="图片 8">
            <a:extLst>
              <a:ext uri="{FF2B5EF4-FFF2-40B4-BE49-F238E27FC236}">
                <a16:creationId xmlns:a16="http://schemas.microsoft.com/office/drawing/2014/main" id="{B3540247-DC96-6C76-86F8-C371E071B180}"/>
              </a:ext>
            </a:extLst>
          </p:cNvPr>
          <p:cNvPicPr>
            <a:picLocks noChangeAspect="1"/>
          </p:cNvPicPr>
          <p:nvPr/>
        </p:nvPicPr>
        <p:blipFill>
          <a:blip r:embed="rId6"/>
          <a:stretch>
            <a:fillRect/>
          </a:stretch>
        </p:blipFill>
        <p:spPr>
          <a:xfrm>
            <a:off x="6016414" y="2093130"/>
            <a:ext cx="5471472" cy="3405242"/>
          </a:xfrm>
          <a:prstGeom prst="rect">
            <a:avLst/>
          </a:prstGeom>
        </p:spPr>
      </p:pic>
      <p:sp>
        <p:nvSpPr>
          <p:cNvPr id="15" name="文本框 14">
            <a:extLst>
              <a:ext uri="{FF2B5EF4-FFF2-40B4-BE49-F238E27FC236}">
                <a16:creationId xmlns:a16="http://schemas.microsoft.com/office/drawing/2014/main" id="{FD173908-9043-6924-3D70-7AA74F5A833A}"/>
              </a:ext>
            </a:extLst>
          </p:cNvPr>
          <p:cNvSpPr txBox="1"/>
          <p:nvPr/>
        </p:nvSpPr>
        <p:spPr>
          <a:xfrm>
            <a:off x="5874621" y="5536872"/>
            <a:ext cx="6210702" cy="923330"/>
          </a:xfrm>
          <a:prstGeom prst="rect">
            <a:avLst/>
          </a:prstGeom>
          <a:noFill/>
        </p:spPr>
        <p:txBody>
          <a:bodyPr wrap="square">
            <a:spAutoFit/>
          </a:bodyPr>
          <a:lstStyle/>
          <a:p>
            <a:r>
              <a:rPr lang="en-US" altLang="zh-CN" dirty="0" err="1"/>
              <a:t>Qiu</a:t>
            </a:r>
            <a:r>
              <a:rPr lang="en-US" altLang="zh-CN" dirty="0"/>
              <a:t> B ,  Yang X . A bio-inspired design and computational prediction of scorpion-like SCS nickel pincer complexes for lactate racemization[J]. Chemical Communications, 2017.</a:t>
            </a:r>
            <a:endParaRPr lang="zh-CN" altLang="en-US" dirty="0"/>
          </a:p>
        </p:txBody>
      </p:sp>
      <p:pic>
        <p:nvPicPr>
          <p:cNvPr id="16" name="图片 15">
            <a:extLst>
              <a:ext uri="{FF2B5EF4-FFF2-40B4-BE49-F238E27FC236}">
                <a16:creationId xmlns:a16="http://schemas.microsoft.com/office/drawing/2014/main" id="{6E516EDA-29DC-1F86-5A57-AD92CC81D8EE}"/>
              </a:ext>
            </a:extLst>
          </p:cNvPr>
          <p:cNvPicPr>
            <a:picLocks noChangeAspect="1"/>
          </p:cNvPicPr>
          <p:nvPr/>
        </p:nvPicPr>
        <p:blipFill>
          <a:blip r:embed="rId7"/>
          <a:stretch>
            <a:fillRect/>
          </a:stretch>
        </p:blipFill>
        <p:spPr>
          <a:xfrm>
            <a:off x="213527" y="4235498"/>
            <a:ext cx="5587584" cy="2232642"/>
          </a:xfrm>
          <a:prstGeom prst="rect">
            <a:avLst/>
          </a:prstGeom>
        </p:spPr>
      </p:pic>
    </p:spTree>
    <p:extLst>
      <p:ext uri="{BB962C8B-B14F-4D97-AF65-F5344CB8AC3E}">
        <p14:creationId xmlns:p14="http://schemas.microsoft.com/office/powerpoint/2010/main" val="284568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AA3EC6EC-CF6B-19CF-C37D-B209DCFEF9F1}"/>
              </a:ext>
            </a:extLst>
          </p:cNvPr>
          <p:cNvSpPr txBox="1"/>
          <p:nvPr/>
        </p:nvSpPr>
        <p:spPr>
          <a:xfrm>
            <a:off x="508416" y="801451"/>
            <a:ext cx="6186674" cy="461665"/>
          </a:xfrm>
          <a:prstGeom prst="rect">
            <a:avLst/>
          </a:prstGeom>
          <a:noFill/>
        </p:spPr>
        <p:txBody>
          <a:bodyPr wrap="square">
            <a:spAutoFit/>
          </a:bodyPr>
          <a:lstStyle>
            <a:defPPr>
              <a:defRPr lang="zh-CN"/>
            </a:defPPr>
            <a:lvl1pPr>
              <a:defRPr kumimoji="1" sz="2400" b="1">
                <a:latin typeface="Times New Roman" panose="02020603050405020304" pitchFamily="18" charset="0"/>
                <a:cs typeface="Times New Roman" panose="02020603050405020304" pitchFamily="18" charset="0"/>
              </a:defRPr>
            </a:lvl1pPr>
          </a:lstStyle>
          <a:p>
            <a:r>
              <a:rPr lang="en-US" altLang="zh-CN" dirty="0"/>
              <a:t>6. </a:t>
            </a:r>
            <a:r>
              <a:rPr lang="zh-CN" altLang="en-US" dirty="0"/>
              <a:t>连接酶（</a:t>
            </a:r>
            <a:r>
              <a:rPr lang="en-US" altLang="zh-CN" dirty="0"/>
              <a:t>ligases</a:t>
            </a:r>
            <a:r>
              <a:rPr lang="zh-CN" altLang="en-US" dirty="0"/>
              <a:t>）或合成酶（</a:t>
            </a:r>
            <a:r>
              <a:rPr lang="en-US" altLang="zh-CN" dirty="0"/>
              <a:t>synthetases</a:t>
            </a:r>
            <a:r>
              <a:rPr lang="zh-CN" altLang="en-US" dirty="0"/>
              <a:t>）</a:t>
            </a:r>
          </a:p>
        </p:txBody>
      </p:sp>
      <p:sp>
        <p:nvSpPr>
          <p:cNvPr id="6" name="文本框 5">
            <a:extLst>
              <a:ext uri="{FF2B5EF4-FFF2-40B4-BE49-F238E27FC236}">
                <a16:creationId xmlns:a16="http://schemas.microsoft.com/office/drawing/2014/main" id="{EDCFDC0E-DE7C-BCD5-DC34-DD264043557D}"/>
              </a:ext>
            </a:extLst>
          </p:cNvPr>
          <p:cNvSpPr txBox="1"/>
          <p:nvPr/>
        </p:nvSpPr>
        <p:spPr>
          <a:xfrm>
            <a:off x="723554" y="1490008"/>
            <a:ext cx="11468446" cy="1938992"/>
          </a:xfrm>
          <a:prstGeom prst="rect">
            <a:avLst/>
          </a:prstGeom>
          <a:noFill/>
        </p:spPr>
        <p:txBody>
          <a:bodyPr wrap="square">
            <a:spAutoFit/>
          </a:bodyPr>
          <a:lstStyle/>
          <a:p>
            <a:r>
              <a:rPr lang="zh-CN" altLang="en-US" sz="2400" dirty="0">
                <a:latin typeface="+mj-ea"/>
                <a:ea typeface="+mj-ea"/>
              </a:rPr>
              <a:t>合成酶，又称为连接酶，能够催化</a:t>
            </a:r>
            <a:r>
              <a:rPr lang="en-US" altLang="zh-CN" sz="2400" dirty="0">
                <a:latin typeface="+mj-ea"/>
                <a:ea typeface="+mj-ea"/>
              </a:rPr>
              <a:t>C-C</a:t>
            </a:r>
            <a:r>
              <a:rPr lang="zh-CN" altLang="en-US" sz="2400" dirty="0">
                <a:latin typeface="+mj-ea"/>
                <a:ea typeface="+mj-ea"/>
              </a:rPr>
              <a:t>、</a:t>
            </a:r>
            <a:r>
              <a:rPr lang="en-US" altLang="zh-CN" sz="2400" dirty="0">
                <a:latin typeface="+mj-ea"/>
                <a:ea typeface="+mj-ea"/>
              </a:rPr>
              <a:t>C-O</a:t>
            </a:r>
            <a:r>
              <a:rPr lang="zh-CN" altLang="en-US" sz="2400" dirty="0">
                <a:latin typeface="+mj-ea"/>
                <a:ea typeface="+mj-ea"/>
              </a:rPr>
              <a:t>、</a:t>
            </a:r>
            <a:r>
              <a:rPr lang="en-US" altLang="zh-CN" sz="2400" dirty="0">
                <a:latin typeface="+mj-ea"/>
                <a:ea typeface="+mj-ea"/>
              </a:rPr>
              <a:t>C-N </a:t>
            </a:r>
            <a:r>
              <a:rPr lang="zh-CN" altLang="en-US" sz="2400" dirty="0">
                <a:latin typeface="+mj-ea"/>
                <a:ea typeface="+mj-ea"/>
              </a:rPr>
              <a:t>以及</a:t>
            </a:r>
            <a:r>
              <a:rPr lang="en-US" altLang="zh-CN" sz="2400" dirty="0">
                <a:latin typeface="+mj-ea"/>
                <a:ea typeface="+mj-ea"/>
              </a:rPr>
              <a:t>C-S </a:t>
            </a:r>
            <a:r>
              <a:rPr lang="zh-CN" altLang="en-US" sz="2400" dirty="0">
                <a:latin typeface="+mj-ea"/>
                <a:ea typeface="+mj-ea"/>
              </a:rPr>
              <a:t>键的形成反应。这类反应必须与</a:t>
            </a:r>
            <a:r>
              <a:rPr lang="en-US" altLang="zh-CN" sz="2400" dirty="0">
                <a:latin typeface="+mj-ea"/>
                <a:ea typeface="+mj-ea"/>
              </a:rPr>
              <a:t>ATP</a:t>
            </a:r>
            <a:r>
              <a:rPr lang="zh-CN" altLang="en-US" sz="2400" dirty="0">
                <a:latin typeface="+mj-ea"/>
                <a:ea typeface="+mj-ea"/>
              </a:rPr>
              <a:t>分解反应相互偶联。</a:t>
            </a:r>
          </a:p>
          <a:p>
            <a:r>
              <a:rPr lang="en-US" altLang="zh-CN" sz="2400" dirty="0">
                <a:latin typeface="+mj-ea"/>
                <a:ea typeface="+mj-ea"/>
              </a:rPr>
              <a:t>A + B + ATP + H-O-H ===A </a:t>
            </a:r>
            <a:r>
              <a:rPr lang="en-US" altLang="zh-CN" sz="2400" dirty="0">
                <a:latin typeface="+mj-ea"/>
                <a:ea typeface="+mj-ea"/>
                <a:sym typeface="Symbol" panose="05050102010706020507" pitchFamily="18" charset="2"/>
              </a:rPr>
              <a:t></a:t>
            </a:r>
            <a:r>
              <a:rPr lang="en-US" altLang="zh-CN" sz="2400" dirty="0">
                <a:latin typeface="+mj-ea"/>
                <a:ea typeface="+mj-ea"/>
              </a:rPr>
              <a:t> B + ADP +Pi    </a:t>
            </a:r>
          </a:p>
          <a:p>
            <a:r>
              <a:rPr lang="zh-CN" altLang="en-US" sz="2400" dirty="0">
                <a:latin typeface="+mj-ea"/>
                <a:ea typeface="+mj-ea"/>
              </a:rPr>
              <a:t>例如，丙酮酸羧化酶催化的反应。</a:t>
            </a:r>
          </a:p>
          <a:p>
            <a:pPr>
              <a:buFont typeface="Wingdings" panose="05000000000000000000" pitchFamily="2" charset="2"/>
              <a:buNone/>
            </a:pPr>
            <a:r>
              <a:rPr lang="zh-CN" altLang="en-US" sz="2400" dirty="0">
                <a:latin typeface="+mj-ea"/>
                <a:ea typeface="+mj-ea"/>
              </a:rPr>
              <a:t>     丙酮酸  </a:t>
            </a:r>
            <a:r>
              <a:rPr lang="en-US" altLang="zh-CN" sz="2400" dirty="0">
                <a:latin typeface="+mj-ea"/>
                <a:ea typeface="+mj-ea"/>
              </a:rPr>
              <a:t>+ </a:t>
            </a:r>
            <a:r>
              <a:rPr lang="en-GB" altLang="zh-CN" sz="2400" dirty="0">
                <a:latin typeface="+mj-ea"/>
                <a:ea typeface="+mj-ea"/>
              </a:rPr>
              <a:t>CO2  </a:t>
            </a:r>
            <a:r>
              <a:rPr lang="en-GB" altLang="zh-CN" sz="2400" dirty="0">
                <a:latin typeface="+mj-ea"/>
                <a:ea typeface="+mj-ea"/>
                <a:sym typeface="Symbol" panose="05050102010706020507" pitchFamily="18" charset="2"/>
              </a:rPr>
              <a:t> </a:t>
            </a:r>
            <a:r>
              <a:rPr lang="zh-CN" altLang="en-GB" sz="2400" dirty="0">
                <a:latin typeface="+mj-ea"/>
                <a:ea typeface="+mj-ea"/>
                <a:sym typeface="Symbol" panose="05050102010706020507" pitchFamily="18" charset="2"/>
              </a:rPr>
              <a:t>草酰乙酸</a:t>
            </a:r>
            <a:endParaRPr lang="zh-CN" altLang="en-US" sz="2400" dirty="0">
              <a:latin typeface="+mj-ea"/>
              <a:ea typeface="+mj-ea"/>
            </a:endParaRPr>
          </a:p>
        </p:txBody>
      </p:sp>
      <p:pic>
        <p:nvPicPr>
          <p:cNvPr id="7" name="图片 6">
            <a:extLst>
              <a:ext uri="{FF2B5EF4-FFF2-40B4-BE49-F238E27FC236}">
                <a16:creationId xmlns:a16="http://schemas.microsoft.com/office/drawing/2014/main" id="{1B7A29BB-3246-6D65-0563-8B3ABDF5A061}"/>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8800"/>
                    </a14:imgEffect>
                  </a14:imgLayer>
                </a14:imgProps>
              </a:ext>
            </a:extLst>
          </a:blip>
          <a:srcRect t="6652"/>
          <a:stretch/>
        </p:blipFill>
        <p:spPr>
          <a:xfrm>
            <a:off x="6289611" y="3896913"/>
            <a:ext cx="5174868" cy="2286897"/>
          </a:xfrm>
          <a:prstGeom prst="rect">
            <a:avLst/>
          </a:prstGeom>
        </p:spPr>
      </p:pic>
      <p:pic>
        <p:nvPicPr>
          <p:cNvPr id="10" name="图片 9">
            <a:extLst>
              <a:ext uri="{FF2B5EF4-FFF2-40B4-BE49-F238E27FC236}">
                <a16:creationId xmlns:a16="http://schemas.microsoft.com/office/drawing/2014/main" id="{3B7FCC5D-3858-3323-BAD0-5C81720C456B}"/>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8800"/>
                    </a14:imgEffect>
                  </a14:imgLayer>
                </a14:imgProps>
              </a:ext>
            </a:extLst>
          </a:blip>
          <a:stretch>
            <a:fillRect/>
          </a:stretch>
        </p:blipFill>
        <p:spPr>
          <a:xfrm>
            <a:off x="508416" y="3896913"/>
            <a:ext cx="5513534" cy="2345611"/>
          </a:xfrm>
          <a:prstGeom prst="rect">
            <a:avLst/>
          </a:prstGeom>
        </p:spPr>
      </p:pic>
    </p:spTree>
    <p:extLst>
      <p:ext uri="{BB962C8B-B14F-4D97-AF65-F5344CB8AC3E}">
        <p14:creationId xmlns:p14="http://schemas.microsoft.com/office/powerpoint/2010/main" val="3410806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AFD837F3-0E86-50BB-33B7-BF4B4234CD41}"/>
              </a:ext>
            </a:extLst>
          </p:cNvPr>
          <p:cNvSpPr/>
          <p:nvPr/>
        </p:nvSpPr>
        <p:spPr>
          <a:xfrm>
            <a:off x="209176" y="1156138"/>
            <a:ext cx="5734425" cy="559150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mj-ea"/>
              <a:ea typeface="+mj-ea"/>
            </a:endParaRPr>
          </a:p>
        </p:txBody>
      </p:sp>
      <p:sp>
        <p:nvSpPr>
          <p:cNvPr id="21" name="矩形 20">
            <a:extLst>
              <a:ext uri="{FF2B5EF4-FFF2-40B4-BE49-F238E27FC236}">
                <a16:creationId xmlns:a16="http://schemas.microsoft.com/office/drawing/2014/main" id="{24DB1FF4-556C-D9B9-31CC-B24CAC2B0F07}"/>
              </a:ext>
            </a:extLst>
          </p:cNvPr>
          <p:cNvSpPr/>
          <p:nvPr/>
        </p:nvSpPr>
        <p:spPr>
          <a:xfrm>
            <a:off x="6317356" y="1129146"/>
            <a:ext cx="5526887" cy="559150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mj-ea"/>
              <a:ea typeface="+mj-ea"/>
            </a:endParaRPr>
          </a:p>
        </p:txBody>
      </p:sp>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582931" y="622805"/>
            <a:ext cx="5360670" cy="521970"/>
          </a:xfrm>
          <a:prstGeom prst="rect">
            <a:avLst/>
          </a:prstGeom>
          <a:noFill/>
        </p:spPr>
        <p:txBody>
          <a:bodyPr wrap="square" rtlCol="0">
            <a:spAutoFit/>
          </a:bodyPr>
          <a:lstStyle/>
          <a:p>
            <a:r>
              <a:rPr lang="zh-CN" altLang="en-US" sz="2800" b="1" dirty="0">
                <a:solidFill>
                  <a:srgbClr val="1D50A2"/>
                </a:solidFill>
                <a:cs typeface="+mn-ea"/>
                <a:sym typeface="+mn-lt"/>
              </a:rPr>
              <a:t>二、核酸类酶（</a:t>
            </a:r>
            <a:r>
              <a:rPr lang="en-US" altLang="zh-CN" sz="2800" b="1" dirty="0">
                <a:solidFill>
                  <a:srgbClr val="1D50A2"/>
                </a:solidFill>
                <a:cs typeface="+mn-ea"/>
                <a:sym typeface="+mn-lt"/>
              </a:rPr>
              <a:t>R</a:t>
            </a:r>
            <a:r>
              <a:rPr lang="zh-CN" altLang="en-US" sz="2800" b="1" dirty="0">
                <a:solidFill>
                  <a:srgbClr val="1D50A2"/>
                </a:solidFill>
                <a:cs typeface="+mn-ea"/>
                <a:sym typeface="+mn-lt"/>
              </a:rPr>
              <a:t>酶）的分类</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6" name="文本框 5">
            <a:extLst>
              <a:ext uri="{FF2B5EF4-FFF2-40B4-BE49-F238E27FC236}">
                <a16:creationId xmlns:a16="http://schemas.microsoft.com/office/drawing/2014/main" id="{D541A06E-CA79-AC8A-9378-01CA417CD528}"/>
              </a:ext>
            </a:extLst>
          </p:cNvPr>
          <p:cNvSpPr txBox="1"/>
          <p:nvPr/>
        </p:nvSpPr>
        <p:spPr>
          <a:xfrm>
            <a:off x="1276585" y="1496067"/>
            <a:ext cx="4082815" cy="584775"/>
          </a:xfrm>
          <a:prstGeom prst="rect">
            <a:avLst/>
          </a:prstGeom>
          <a:noFill/>
        </p:spPr>
        <p:txBody>
          <a:bodyPr wrap="square">
            <a:spAutoFit/>
          </a:bodyPr>
          <a:lstStyle>
            <a:defPPr>
              <a:defRPr lang="zh-CN"/>
            </a:defPPr>
            <a:lvl1pPr>
              <a:defRPr sz="3200" b="1">
                <a:effectLst/>
                <a:latin typeface="+mn-ea"/>
                <a:cs typeface="Times New Roman" panose="02020603050405020304" pitchFamily="18" charset="0"/>
              </a:defRPr>
            </a:lvl1pPr>
          </a:lstStyle>
          <a:p>
            <a:r>
              <a:rPr lang="zh-CN" altLang="zh-CN" dirty="0"/>
              <a:t>分子内催化（</a:t>
            </a:r>
            <a:r>
              <a:rPr lang="en-US" altLang="zh-CN" dirty="0"/>
              <a:t>in cis</a:t>
            </a:r>
            <a:r>
              <a:rPr lang="zh-CN" altLang="zh-CN" dirty="0"/>
              <a:t>）</a:t>
            </a:r>
            <a:endParaRPr lang="zh-CN" altLang="en-US" dirty="0"/>
          </a:p>
        </p:txBody>
      </p:sp>
      <p:sp>
        <p:nvSpPr>
          <p:cNvPr id="9" name="文本框 8">
            <a:extLst>
              <a:ext uri="{FF2B5EF4-FFF2-40B4-BE49-F238E27FC236}">
                <a16:creationId xmlns:a16="http://schemas.microsoft.com/office/drawing/2014/main" id="{2245CC18-B348-D43A-8F3E-5E6329C1AEA1}"/>
              </a:ext>
            </a:extLst>
          </p:cNvPr>
          <p:cNvSpPr txBox="1"/>
          <p:nvPr/>
        </p:nvSpPr>
        <p:spPr>
          <a:xfrm>
            <a:off x="6979398" y="1314069"/>
            <a:ext cx="4375185" cy="584775"/>
          </a:xfrm>
          <a:prstGeom prst="rect">
            <a:avLst/>
          </a:prstGeom>
          <a:noFill/>
        </p:spPr>
        <p:txBody>
          <a:bodyPr wrap="square">
            <a:spAutoFit/>
          </a:bodyPr>
          <a:lstStyle>
            <a:defPPr>
              <a:defRPr lang="zh-CN"/>
            </a:defPPr>
            <a:lvl1pPr>
              <a:defRPr sz="2000">
                <a:effectLst/>
                <a:latin typeface="+mn-ea"/>
                <a:cs typeface="Times New Roman" panose="02020603050405020304" pitchFamily="18" charset="0"/>
              </a:defRPr>
            </a:lvl1pPr>
          </a:lstStyle>
          <a:p>
            <a:r>
              <a:rPr lang="zh-CN" altLang="zh-CN" sz="3200" b="1" dirty="0"/>
              <a:t>分子间催化（</a:t>
            </a:r>
            <a:r>
              <a:rPr lang="en-US" altLang="zh-CN" sz="3200" b="1" dirty="0"/>
              <a:t>in trans</a:t>
            </a:r>
            <a:r>
              <a:rPr lang="zh-CN" altLang="zh-CN" sz="3200" b="1" dirty="0"/>
              <a:t>）</a:t>
            </a:r>
            <a:endParaRPr lang="zh-CN" altLang="en-US" sz="3200" b="1" dirty="0"/>
          </a:p>
        </p:txBody>
      </p:sp>
      <p:pic>
        <p:nvPicPr>
          <p:cNvPr id="12" name="图片 11">
            <a:extLst>
              <a:ext uri="{FF2B5EF4-FFF2-40B4-BE49-F238E27FC236}">
                <a16:creationId xmlns:a16="http://schemas.microsoft.com/office/drawing/2014/main" id="{72A96BD3-7044-F081-2D86-D6ACC0AA1EE1}"/>
              </a:ext>
            </a:extLst>
          </p:cNvPr>
          <p:cNvPicPr>
            <a:picLocks noChangeAspect="1"/>
          </p:cNvPicPr>
          <p:nvPr/>
        </p:nvPicPr>
        <p:blipFill>
          <a:blip r:embed="rId4"/>
          <a:stretch>
            <a:fillRect/>
          </a:stretch>
        </p:blipFill>
        <p:spPr>
          <a:xfrm>
            <a:off x="582931" y="2144862"/>
            <a:ext cx="5109210" cy="3311437"/>
          </a:xfrm>
          <a:prstGeom prst="rect">
            <a:avLst/>
          </a:prstGeom>
        </p:spPr>
      </p:pic>
      <p:pic>
        <p:nvPicPr>
          <p:cNvPr id="18" name="图片 17">
            <a:extLst>
              <a:ext uri="{FF2B5EF4-FFF2-40B4-BE49-F238E27FC236}">
                <a16:creationId xmlns:a16="http://schemas.microsoft.com/office/drawing/2014/main" id="{99B0B9F9-A587-5FC9-ABFA-7D75A5D6ADBD}"/>
              </a:ext>
            </a:extLst>
          </p:cNvPr>
          <p:cNvPicPr>
            <a:picLocks noChangeAspect="1"/>
          </p:cNvPicPr>
          <p:nvPr/>
        </p:nvPicPr>
        <p:blipFill rotWithShape="1">
          <a:blip r:embed="rId5"/>
          <a:srcRect t="5544"/>
          <a:stretch/>
        </p:blipFill>
        <p:spPr>
          <a:xfrm>
            <a:off x="7702693" y="1953706"/>
            <a:ext cx="2898050" cy="3519502"/>
          </a:xfrm>
          <a:prstGeom prst="rect">
            <a:avLst/>
          </a:prstGeom>
        </p:spPr>
      </p:pic>
      <p:sp>
        <p:nvSpPr>
          <p:cNvPr id="20" name="文本框 19">
            <a:extLst>
              <a:ext uri="{FF2B5EF4-FFF2-40B4-BE49-F238E27FC236}">
                <a16:creationId xmlns:a16="http://schemas.microsoft.com/office/drawing/2014/main" id="{555E585A-2B87-F9F2-0AF3-E3064E84F725}"/>
              </a:ext>
            </a:extLst>
          </p:cNvPr>
          <p:cNvSpPr txBox="1"/>
          <p:nvPr/>
        </p:nvSpPr>
        <p:spPr>
          <a:xfrm>
            <a:off x="6350441" y="5528070"/>
            <a:ext cx="5376040" cy="1200329"/>
          </a:xfrm>
          <a:prstGeom prst="rect">
            <a:avLst/>
          </a:prstGeom>
          <a:noFill/>
        </p:spPr>
        <p:txBody>
          <a:bodyPr wrap="square">
            <a:spAutoFit/>
          </a:bodyPr>
          <a:lstStyle/>
          <a:p>
            <a:r>
              <a:rPr lang="zh-CN" altLang="en-US" sz="2400" dirty="0"/>
              <a:t>许多原核生物的核糖核酸酶</a:t>
            </a:r>
            <a:r>
              <a:rPr lang="en-US" altLang="zh-CN" sz="2400" dirty="0"/>
              <a:t>P</a:t>
            </a:r>
            <a:r>
              <a:rPr lang="zh-CN" altLang="en-US" sz="2400" dirty="0"/>
              <a:t>中的</a:t>
            </a:r>
            <a:r>
              <a:rPr lang="en-US" altLang="zh-CN" sz="2400" dirty="0"/>
              <a:t>RNA</a:t>
            </a:r>
            <a:r>
              <a:rPr lang="zh-CN" altLang="en-US" sz="2400" dirty="0"/>
              <a:t>（</a:t>
            </a:r>
            <a:r>
              <a:rPr lang="en-US" altLang="zh-CN" sz="2400" dirty="0" err="1"/>
              <a:t>RNaseP</a:t>
            </a:r>
            <a:r>
              <a:rPr lang="en-US" altLang="zh-CN" sz="2400" dirty="0"/>
              <a:t>-RNA</a:t>
            </a:r>
            <a:r>
              <a:rPr lang="zh-CN" altLang="en-US" sz="2400" dirty="0"/>
              <a:t>）也具有剪切</a:t>
            </a:r>
            <a:r>
              <a:rPr lang="en-US" altLang="zh-CN" sz="2400" dirty="0"/>
              <a:t>tRNA</a:t>
            </a:r>
            <a:r>
              <a:rPr lang="zh-CN" altLang="en-US" sz="2400" dirty="0"/>
              <a:t>前体生成成熟</a:t>
            </a:r>
            <a:r>
              <a:rPr lang="en-US" altLang="zh-CN" sz="2400" dirty="0"/>
              <a:t>tRNA</a:t>
            </a:r>
            <a:r>
              <a:rPr lang="zh-CN" altLang="en-US" sz="2400" dirty="0"/>
              <a:t>的功能</a:t>
            </a:r>
          </a:p>
        </p:txBody>
      </p:sp>
      <p:sp>
        <p:nvSpPr>
          <p:cNvPr id="23" name="文本框 22">
            <a:extLst>
              <a:ext uri="{FF2B5EF4-FFF2-40B4-BE49-F238E27FC236}">
                <a16:creationId xmlns:a16="http://schemas.microsoft.com/office/drawing/2014/main" id="{414835DA-677E-1F1F-3939-E19B9464AECA}"/>
              </a:ext>
            </a:extLst>
          </p:cNvPr>
          <p:cNvSpPr txBox="1"/>
          <p:nvPr/>
        </p:nvSpPr>
        <p:spPr>
          <a:xfrm>
            <a:off x="176091" y="5614026"/>
            <a:ext cx="5767510" cy="830997"/>
          </a:xfrm>
          <a:prstGeom prst="rect">
            <a:avLst/>
          </a:prstGeom>
          <a:noFill/>
        </p:spPr>
        <p:txBody>
          <a:bodyPr wrap="square">
            <a:spAutoFit/>
          </a:bodyPr>
          <a:lstStyle>
            <a:defPPr>
              <a:defRPr lang="zh-CN"/>
            </a:defPPr>
          </a:lstStyle>
          <a:p>
            <a:r>
              <a:rPr lang="zh-CN" altLang="en-US" sz="2400" dirty="0"/>
              <a:t>催化本身</a:t>
            </a:r>
            <a:r>
              <a:rPr lang="en-US" altLang="zh-CN" sz="2400" dirty="0"/>
              <a:t>RNA</a:t>
            </a:r>
            <a:r>
              <a:rPr lang="zh-CN" altLang="en-US" sz="2400" dirty="0"/>
              <a:t>进行剪切反应，使</a:t>
            </a:r>
            <a:r>
              <a:rPr lang="en-US" altLang="zh-CN" sz="2400" dirty="0"/>
              <a:t>RNA</a:t>
            </a:r>
            <a:r>
              <a:rPr lang="zh-CN" altLang="en-US" sz="2400" dirty="0"/>
              <a:t>前体生成成熟的</a:t>
            </a:r>
            <a:r>
              <a:rPr lang="en-US" altLang="zh-CN" sz="2400" dirty="0"/>
              <a:t>RNA</a:t>
            </a:r>
            <a:r>
              <a:rPr lang="zh-CN" altLang="en-US" sz="2400" dirty="0"/>
              <a:t>分子和另一个</a:t>
            </a:r>
            <a:r>
              <a:rPr lang="en-US" altLang="zh-CN" sz="2400" dirty="0"/>
              <a:t>RNA</a:t>
            </a:r>
            <a:r>
              <a:rPr lang="zh-CN" altLang="en-US" sz="2400" dirty="0"/>
              <a:t>片段。</a:t>
            </a:r>
          </a:p>
        </p:txBody>
      </p:sp>
    </p:spTree>
    <p:extLst>
      <p:ext uri="{BB962C8B-B14F-4D97-AF65-F5344CB8AC3E}">
        <p14:creationId xmlns:p14="http://schemas.microsoft.com/office/powerpoint/2010/main" val="3249203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4">
            <a:alphaModFix amt="58000"/>
          </a:blip>
          <a:srcRect b="29236"/>
          <a:stretch>
            <a:fillRect/>
          </a:stretch>
        </p:blipFill>
        <p:spPr>
          <a:xfrm flipH="1">
            <a:off x="635" y="4309110"/>
            <a:ext cx="12191365" cy="2548890"/>
          </a:xfrm>
          <a:prstGeom prst="rect">
            <a:avLst/>
          </a:prstGeom>
          <a:noFill/>
          <a:ln w="9525">
            <a:noFill/>
          </a:ln>
        </p:spPr>
      </p:pic>
      <p:grpSp>
        <p:nvGrpSpPr>
          <p:cNvPr id="22" name="组合 21"/>
          <p:cNvGrpSpPr/>
          <p:nvPr/>
        </p:nvGrpSpPr>
        <p:grpSpPr>
          <a:xfrm>
            <a:off x="4485640" y="902970"/>
            <a:ext cx="2757805" cy="2565400"/>
            <a:chOff x="3890050" y="1242332"/>
            <a:chExt cx="4318184" cy="4195175"/>
          </a:xfrm>
        </p:grpSpPr>
        <p:sp>
          <p:nvSpPr>
            <p:cNvPr id="28" name="椭圆 27"/>
            <p:cNvSpPr/>
            <p:nvPr/>
          </p:nvSpPr>
          <p:spPr>
            <a:xfrm>
              <a:off x="3890050" y="1242332"/>
              <a:ext cx="4318184" cy="4195175"/>
            </a:xfrm>
            <a:prstGeom prst="ellipse">
              <a:avLst/>
            </a:prstGeom>
            <a:solidFill>
              <a:schemeClr val="bg1">
                <a:alpha val="33000"/>
              </a:schemeClr>
            </a:solidFill>
            <a:ln>
              <a:gradFill>
                <a:gsLst>
                  <a:gs pos="0">
                    <a:srgbClr val="20A3E8"/>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zh-CN" altLang="en-US" sz="900">
                <a:latin typeface="Lato Light"/>
              </a:endParaRPr>
            </a:p>
          </p:txBody>
        </p:sp>
        <p:sp>
          <p:nvSpPr>
            <p:cNvPr id="29" name="椭圆 28"/>
            <p:cNvSpPr/>
            <p:nvPr/>
          </p:nvSpPr>
          <p:spPr>
            <a:xfrm>
              <a:off x="4258022" y="1591020"/>
              <a:ext cx="3675957" cy="3675957"/>
            </a:xfrm>
            <a:prstGeom prst="ellipse">
              <a:avLst/>
            </a:prstGeom>
            <a:solidFill>
              <a:schemeClr val="bg1"/>
            </a:solidFill>
            <a:ln w="57150">
              <a:gradFill>
                <a:gsLst>
                  <a:gs pos="0">
                    <a:schemeClr val="bg1"/>
                  </a:gs>
                  <a:gs pos="100000">
                    <a:srgbClr val="20A3E8"/>
                  </a:gs>
                </a:gsLst>
                <a:lin ang="16200000" scaled="0"/>
              </a:gradFill>
            </a:ln>
            <a:effectLst>
              <a:outerShdw blurRad="444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6" name="TextBox 20"/>
          <p:cNvSpPr txBox="1"/>
          <p:nvPr/>
        </p:nvSpPr>
        <p:spPr>
          <a:xfrm>
            <a:off x="4976341" y="1866677"/>
            <a:ext cx="1835970" cy="748711"/>
          </a:xfrm>
          <a:prstGeom prst="rect">
            <a:avLst/>
          </a:prstGeom>
          <a:noFill/>
        </p:spPr>
        <p:txBody>
          <a:bodyPr wrap="none" lIns="70907" tIns="35455" rIns="70907" bIns="35455" rtlCol="0">
            <a:spAutoFit/>
          </a:bodyPr>
          <a:lstStyle/>
          <a:p>
            <a:pPr algn="ctr"/>
            <a:r>
              <a:rPr lang="zh-CN" altLang="en-US" sz="4400" b="1" dirty="0">
                <a:solidFill>
                  <a:srgbClr val="1F4E79"/>
                </a:solidFill>
                <a:latin typeface="+mj-ea"/>
                <a:ea typeface="+mj-ea"/>
                <a:cs typeface="+mn-ea"/>
                <a:sym typeface="+mn-lt"/>
              </a:rPr>
              <a:t>第六节</a:t>
            </a:r>
          </a:p>
        </p:txBody>
      </p:sp>
      <p:sp>
        <p:nvSpPr>
          <p:cNvPr id="2" name="文本框 1"/>
          <p:cNvSpPr txBox="1"/>
          <p:nvPr/>
        </p:nvSpPr>
        <p:spPr>
          <a:xfrm>
            <a:off x="3124456" y="3007360"/>
            <a:ext cx="5539740" cy="922020"/>
          </a:xfrm>
          <a:prstGeom prst="rect">
            <a:avLst/>
          </a:prstGeom>
          <a:noFill/>
          <a:ln w="9525">
            <a:noFill/>
          </a:ln>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lvl="0" algn="ctr" defTabSz="342900">
              <a:spcBef>
                <a:spcPct val="0"/>
              </a:spcBef>
              <a:defRPr/>
            </a:pPr>
            <a:r>
              <a:rPr lang="zh-CN" altLang="en-US" sz="5400" b="1" dirty="0">
                <a:solidFill>
                  <a:srgbClr val="1F4E79"/>
                </a:solidFill>
                <a:effectLst/>
                <a:ea typeface="宋体" panose="02010600030101010101" pitchFamily="2" charset="-122"/>
                <a:sym typeface="+mn-lt"/>
              </a:rPr>
              <a:t>酶的活力测定</a:t>
            </a:r>
            <a:endParaRPr lang="zh-CN" sz="5400" b="1" dirty="0">
              <a:solidFill>
                <a:srgbClr val="1F4E79"/>
              </a:solidFill>
              <a:effectLst/>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718221"/>
            <a:ext cx="3862069" cy="584775"/>
          </a:xfrm>
          <a:prstGeom prst="rect">
            <a:avLst/>
          </a:prstGeom>
          <a:noFill/>
        </p:spPr>
        <p:txBody>
          <a:bodyPr wrap="square" rtlCol="0">
            <a:spAutoFit/>
          </a:bodyPr>
          <a:lstStyle/>
          <a:p>
            <a:r>
              <a:rPr lang="zh-CN" altLang="en-US" sz="3200" b="1" dirty="0">
                <a:solidFill>
                  <a:srgbClr val="1D50A2"/>
                </a:solidFill>
                <a:cs typeface="+mn-ea"/>
                <a:sym typeface="+mn-lt"/>
              </a:rPr>
              <a:t>一、酶活力测定方法</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C3B15CB4-0BB5-EC85-74DF-24718E64ACE4}"/>
              </a:ext>
            </a:extLst>
          </p:cNvPr>
          <p:cNvSpPr txBox="1"/>
          <p:nvPr/>
        </p:nvSpPr>
        <p:spPr>
          <a:xfrm>
            <a:off x="434657" y="1488157"/>
            <a:ext cx="11319510" cy="954107"/>
          </a:xfrm>
          <a:prstGeom prst="rect">
            <a:avLst/>
          </a:prstGeom>
          <a:noFill/>
        </p:spPr>
        <p:txBody>
          <a:bodyPr wrap="square">
            <a:spAutoFit/>
          </a:bodyPr>
          <a:lstStyle/>
          <a:p>
            <a:r>
              <a:rPr lang="zh-CN" altLang="zh-CN" sz="2800" dirty="0">
                <a:solidFill>
                  <a:srgbClr val="C00000"/>
                </a:solidFill>
                <a:effectLst/>
                <a:latin typeface="+mn-ea"/>
                <a:cs typeface="Times New Roman" panose="02020603050405020304" pitchFamily="18" charset="0"/>
              </a:rPr>
              <a:t>酶活力测定通常包括两个阶段。</a:t>
            </a:r>
            <a:r>
              <a:rPr lang="zh-CN" altLang="zh-CN" sz="2800" dirty="0">
                <a:effectLst/>
                <a:latin typeface="+mn-ea"/>
                <a:cs typeface="Times New Roman" panose="02020603050405020304" pitchFamily="18" charset="0"/>
              </a:rPr>
              <a:t>首先在一定条件下，酶与底物反应一段时间，然后再测定反应液中底物或产物的变化量。</a:t>
            </a:r>
            <a:endParaRPr lang="zh-CN" altLang="en-US" sz="2800" dirty="0">
              <a:latin typeface="+mn-ea"/>
            </a:endParaRPr>
          </a:p>
        </p:txBody>
      </p:sp>
      <p:sp>
        <p:nvSpPr>
          <p:cNvPr id="6" name="文本框 5">
            <a:extLst>
              <a:ext uri="{FF2B5EF4-FFF2-40B4-BE49-F238E27FC236}">
                <a16:creationId xmlns:a16="http://schemas.microsoft.com/office/drawing/2014/main" id="{EEBDBE87-DF13-5758-F234-838850E36BA1}"/>
              </a:ext>
            </a:extLst>
          </p:cNvPr>
          <p:cNvSpPr txBox="1"/>
          <p:nvPr/>
        </p:nvSpPr>
        <p:spPr>
          <a:xfrm>
            <a:off x="260032" y="3130336"/>
            <a:ext cx="11494135" cy="3539430"/>
          </a:xfrm>
          <a:prstGeom prst="rect">
            <a:avLst/>
          </a:prstGeom>
          <a:noFill/>
        </p:spPr>
        <p:txBody>
          <a:bodyPr wrap="square">
            <a:spAutoFit/>
          </a:bodyPr>
          <a:lstStyle/>
          <a:p>
            <a:pPr marL="285750" indent="-285750">
              <a:buFont typeface="Wingdings" panose="05000000000000000000" pitchFamily="2" charset="2"/>
              <a:buChar char="Ø"/>
            </a:pP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）根据酶催化的专一性，选择适宜的底物，并</a:t>
            </a:r>
            <a:r>
              <a:rPr lang="zh-CN"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配制成一定浓度的底物溶液</a:t>
            </a: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。所使用的底物必须均匀一致，达到酶催化反应所要求的纯度。</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Wingdings" panose="05000000000000000000" pitchFamily="2" charset="2"/>
              <a:buChar char="Ø"/>
            </a:pP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）根据酶的动力学性质，</a:t>
            </a:r>
            <a:r>
              <a:rPr lang="zh-CN"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确定酶催化反应的温度、</a:t>
            </a:r>
            <a:r>
              <a:rPr lang="en-US"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pH</a:t>
            </a:r>
            <a:r>
              <a:rPr lang="zh-CN"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、底物浓度、激活剂浓度</a:t>
            </a: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等反应条件。</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Wingdings" panose="05000000000000000000" pitchFamily="2" charset="2"/>
              <a:buChar char="Ø"/>
            </a:pP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3</a:t>
            </a: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）在一定的条件下，将一定量的酶液和底物溶液混合均匀，</a:t>
            </a:r>
            <a:r>
              <a:rPr lang="zh-CN"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适时记下反应开始的时间</a:t>
            </a: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a:t>
            </a:r>
          </a:p>
          <a:p>
            <a:pPr marL="285750" indent="-285750">
              <a:buFont typeface="Wingdings" panose="05000000000000000000" pitchFamily="2" charset="2"/>
              <a:buChar char="Ø"/>
            </a:pP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4</a:t>
            </a: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8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反应到一定的时间，取出适量的反应液</a:t>
            </a:r>
            <a:r>
              <a:rPr lang="zh-CN" altLang="zh-CN" sz="2800" b="1" dirty="0">
                <a:latin typeface="Times New Roman" panose="02020603050405020304" pitchFamily="18" charset="0"/>
                <a:ea typeface="宋体" panose="02010600030101010101" pitchFamily="2" charset="-122"/>
                <a:cs typeface="Times New Roman" panose="02020603050405020304" pitchFamily="18" charset="0"/>
              </a:rPr>
              <a:t>，运用各种生化检测技术，测定产物的生成量或底物的减少量。</a:t>
            </a:r>
            <a:endParaRPr lang="zh-CN" alt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5073A626-D8B8-1725-6A89-11CE76BD7856}"/>
              </a:ext>
            </a:extLst>
          </p:cNvPr>
          <p:cNvSpPr txBox="1"/>
          <p:nvPr/>
        </p:nvSpPr>
        <p:spPr>
          <a:xfrm>
            <a:off x="434657" y="2524690"/>
            <a:ext cx="1701800" cy="523220"/>
          </a:xfrm>
          <a:prstGeom prst="rect">
            <a:avLst/>
          </a:prstGeom>
          <a:noFill/>
        </p:spPr>
        <p:txBody>
          <a:bodyPr wrap="square">
            <a:spAutoFit/>
          </a:bodyPr>
          <a:lstStyle/>
          <a:p>
            <a:r>
              <a:rPr lang="zh-CN" altLang="zh-CN" sz="2800" b="1" dirty="0">
                <a:solidFill>
                  <a:srgbClr val="C00000"/>
                </a:solidFill>
                <a:effectLst/>
                <a:latin typeface="+mn-ea"/>
                <a:cs typeface="Times New Roman" panose="02020603050405020304" pitchFamily="18" charset="0"/>
              </a:rPr>
              <a:t>一般步骤</a:t>
            </a:r>
            <a:endParaRPr lang="zh-CN" altLang="en-US" sz="2800" b="1" dirty="0">
              <a:solidFill>
                <a:srgbClr val="C00000"/>
              </a:solidFill>
              <a:latin typeface="+mn-ea"/>
            </a:endParaRPr>
          </a:p>
        </p:txBody>
      </p:sp>
    </p:spTree>
    <p:extLst>
      <p:ext uri="{BB962C8B-B14F-4D97-AF65-F5344CB8AC3E}">
        <p14:creationId xmlns:p14="http://schemas.microsoft.com/office/powerpoint/2010/main" val="41559648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1034569"/>
            <a:ext cx="3851910" cy="584775"/>
          </a:xfrm>
          <a:prstGeom prst="rect">
            <a:avLst/>
          </a:prstGeom>
          <a:noFill/>
        </p:spPr>
        <p:txBody>
          <a:bodyPr wrap="square" rtlCol="0">
            <a:spAutoFit/>
          </a:bodyPr>
          <a:lstStyle/>
          <a:p>
            <a:r>
              <a:rPr lang="zh-CN" altLang="en-US" sz="3200" b="1" dirty="0">
                <a:cs typeface="+mn-ea"/>
                <a:sym typeface="+mn-lt"/>
              </a:rPr>
              <a:t>终止酶反应的方法</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6" name="文本框 5">
            <a:extLst>
              <a:ext uri="{FF2B5EF4-FFF2-40B4-BE49-F238E27FC236}">
                <a16:creationId xmlns:a16="http://schemas.microsoft.com/office/drawing/2014/main" id="{EEBDBE87-DF13-5758-F234-838850E36BA1}"/>
              </a:ext>
            </a:extLst>
          </p:cNvPr>
          <p:cNvSpPr txBox="1"/>
          <p:nvPr/>
        </p:nvSpPr>
        <p:spPr>
          <a:xfrm>
            <a:off x="390366" y="2146919"/>
            <a:ext cx="11636534" cy="3539430"/>
          </a:xfrm>
          <a:prstGeom prst="rect">
            <a:avLst/>
          </a:prstGeom>
          <a:solidFill>
            <a:schemeClr val="tx2">
              <a:lumMod val="20000"/>
              <a:lumOff val="80000"/>
            </a:schemeClr>
          </a:solidFill>
          <a:ln>
            <a:solidFill>
              <a:srgbClr val="1D50A2"/>
            </a:solidFill>
          </a:ln>
        </p:spPr>
        <p:txBody>
          <a:bodyPr wrap="square">
            <a:spAutoFit/>
          </a:bodyPr>
          <a:lstStyle/>
          <a:p>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反应时间一到，立即取出适量反应液，置于</a:t>
            </a:r>
            <a:r>
              <a:rPr lang="zh-CN" altLang="zh-CN" sz="32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沸水浴</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中，加热使酶失活；</a:t>
            </a:r>
            <a:endPar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加入适宜的</a:t>
            </a:r>
            <a:r>
              <a:rPr lang="zh-CN" altLang="zh-CN" sz="32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酶变性剂</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，如三氯醋酸等，使酶变性失活；</a:t>
            </a:r>
            <a:endParaRPr lang="en-US" altLang="zh-CN" sz="44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加入</a:t>
            </a:r>
            <a:r>
              <a:rPr lang="zh-CN" altLang="zh-CN" sz="32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酸或碱溶液</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，使反应液的</a:t>
            </a:r>
            <a:r>
              <a:rPr lang="en-US" altLang="zh-CN" sz="3200" dirty="0">
                <a:effectLst/>
                <a:latin typeface="Times New Roman" panose="02020603050405020304" pitchFamily="18" charset="0"/>
                <a:ea typeface="宋体" panose="02010600030101010101" pitchFamily="2" charset="-122"/>
              </a:rPr>
              <a:t>pH</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迅速远离催化反应的最适</a:t>
            </a:r>
            <a:r>
              <a:rPr lang="en-US" altLang="zh-CN" sz="3200" dirty="0">
                <a:effectLst/>
                <a:latin typeface="Times New Roman" panose="02020603050405020304" pitchFamily="18" charset="0"/>
                <a:ea typeface="宋体" panose="02010600030101010101" pitchFamily="2" charset="-122"/>
              </a:rPr>
              <a:t>pH</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而使反应终止；</a:t>
            </a:r>
            <a:endPar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en-US"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将取出的反应液立即置于低温冰箱、冰粒堆或冰盐溶液中，使反应液的</a:t>
            </a:r>
            <a:r>
              <a:rPr lang="zh-CN" altLang="zh-CN" sz="32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温度迅速降低</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至</a:t>
            </a:r>
            <a:r>
              <a:rPr lang="en-US" altLang="zh-CN" sz="3200" dirty="0">
                <a:effectLst/>
                <a:latin typeface="Times New Roman" panose="02020603050405020304" pitchFamily="18" charset="0"/>
                <a:ea typeface="宋体" panose="02010600030101010101" pitchFamily="2" charset="-122"/>
              </a:rPr>
              <a:t>10℃</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以下，而终止反应</a:t>
            </a:r>
            <a:endParaRPr lang="zh-CN" altLang="en-US" sz="44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11539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7" name="文本框 6">
            <a:extLst>
              <a:ext uri="{FF2B5EF4-FFF2-40B4-BE49-F238E27FC236}">
                <a16:creationId xmlns:a16="http://schemas.microsoft.com/office/drawing/2014/main" id="{7A759CDE-F249-A19F-A355-B6C20209004A}"/>
              </a:ext>
            </a:extLst>
          </p:cNvPr>
          <p:cNvSpPr txBox="1"/>
          <p:nvPr/>
        </p:nvSpPr>
        <p:spPr>
          <a:xfrm>
            <a:off x="905676" y="1108972"/>
            <a:ext cx="2376806" cy="584775"/>
          </a:xfrm>
          <a:prstGeom prst="rect">
            <a:avLst/>
          </a:prstGeom>
          <a:noFill/>
        </p:spPr>
        <p:txBody>
          <a:bodyPr wrap="square">
            <a:spAutoFit/>
          </a:bodyPr>
          <a:lstStyle/>
          <a:p>
            <a:r>
              <a:rPr lang="zh-CN" altLang="en-US" sz="3200" dirty="0"/>
              <a:t>化学测定法</a:t>
            </a:r>
          </a:p>
        </p:txBody>
      </p:sp>
      <p:sp>
        <p:nvSpPr>
          <p:cNvPr id="10" name="文本框 9">
            <a:extLst>
              <a:ext uri="{FF2B5EF4-FFF2-40B4-BE49-F238E27FC236}">
                <a16:creationId xmlns:a16="http://schemas.microsoft.com/office/drawing/2014/main" id="{5686025F-E215-E26B-0444-526E2146DF35}"/>
              </a:ext>
            </a:extLst>
          </p:cNvPr>
          <p:cNvSpPr txBox="1"/>
          <p:nvPr/>
        </p:nvSpPr>
        <p:spPr>
          <a:xfrm>
            <a:off x="8400405" y="998869"/>
            <a:ext cx="2226629" cy="584775"/>
          </a:xfrm>
          <a:prstGeom prst="rect">
            <a:avLst/>
          </a:prstGeom>
          <a:noFill/>
        </p:spPr>
        <p:txBody>
          <a:bodyPr wrap="square">
            <a:spAutoFit/>
          </a:bodyPr>
          <a:lstStyle/>
          <a:p>
            <a:r>
              <a:rPr lang="zh-CN" altLang="en-US" sz="3200" dirty="0"/>
              <a:t>气体测定法</a:t>
            </a:r>
          </a:p>
        </p:txBody>
      </p:sp>
      <p:sp>
        <p:nvSpPr>
          <p:cNvPr id="15" name="文本框 14">
            <a:extLst>
              <a:ext uri="{FF2B5EF4-FFF2-40B4-BE49-F238E27FC236}">
                <a16:creationId xmlns:a16="http://schemas.microsoft.com/office/drawing/2014/main" id="{A2199109-2715-F45F-CD37-9329432B6716}"/>
              </a:ext>
            </a:extLst>
          </p:cNvPr>
          <p:cNvSpPr txBox="1"/>
          <p:nvPr/>
        </p:nvSpPr>
        <p:spPr>
          <a:xfrm>
            <a:off x="4653040" y="1105363"/>
            <a:ext cx="2376807" cy="584775"/>
          </a:xfrm>
          <a:prstGeom prst="rect">
            <a:avLst/>
          </a:prstGeom>
          <a:noFill/>
        </p:spPr>
        <p:txBody>
          <a:bodyPr wrap="square">
            <a:spAutoFit/>
          </a:bodyPr>
          <a:lstStyle/>
          <a:p>
            <a:r>
              <a:rPr lang="zh-CN" altLang="en-US" sz="3200" dirty="0"/>
              <a:t>光学测定法</a:t>
            </a:r>
          </a:p>
        </p:txBody>
      </p:sp>
      <p:sp>
        <p:nvSpPr>
          <p:cNvPr id="17" name="文本框 16">
            <a:extLst>
              <a:ext uri="{FF2B5EF4-FFF2-40B4-BE49-F238E27FC236}">
                <a16:creationId xmlns:a16="http://schemas.microsoft.com/office/drawing/2014/main" id="{CEDD48A1-4F45-C02D-9CF7-3C711E26CA25}"/>
              </a:ext>
            </a:extLst>
          </p:cNvPr>
          <p:cNvSpPr txBox="1"/>
          <p:nvPr/>
        </p:nvSpPr>
        <p:spPr>
          <a:xfrm>
            <a:off x="605790" y="5509866"/>
            <a:ext cx="2976578" cy="830997"/>
          </a:xfrm>
          <a:prstGeom prst="rect">
            <a:avLst/>
          </a:prstGeom>
          <a:noFill/>
        </p:spPr>
        <p:txBody>
          <a:bodyPr wrap="square">
            <a:spAutoFit/>
          </a:bodyPr>
          <a:lstStyle/>
          <a:p>
            <a:r>
              <a:rPr lang="zh-CN" altLang="en-US" sz="2400" dirty="0"/>
              <a:t>测定糖化酶水解淀粉生成的葡萄糖的量</a:t>
            </a:r>
          </a:p>
        </p:txBody>
      </p:sp>
      <p:pic>
        <p:nvPicPr>
          <p:cNvPr id="19" name="图片 18">
            <a:extLst>
              <a:ext uri="{FF2B5EF4-FFF2-40B4-BE49-F238E27FC236}">
                <a16:creationId xmlns:a16="http://schemas.microsoft.com/office/drawing/2014/main" id="{8FE90EF2-3364-F082-9045-070B32ED2255}"/>
              </a:ext>
            </a:extLst>
          </p:cNvPr>
          <p:cNvPicPr>
            <a:picLocks noChangeAspect="1"/>
          </p:cNvPicPr>
          <p:nvPr/>
        </p:nvPicPr>
        <p:blipFill rotWithShape="1">
          <a:blip r:embed="rId4"/>
          <a:srcRect l="47669" t="18999" r="21528" b="10472"/>
          <a:stretch/>
        </p:blipFill>
        <p:spPr>
          <a:xfrm>
            <a:off x="1099365" y="1646435"/>
            <a:ext cx="1989427" cy="3416299"/>
          </a:xfrm>
          <a:prstGeom prst="rect">
            <a:avLst/>
          </a:prstGeom>
        </p:spPr>
      </p:pic>
      <p:sp>
        <p:nvSpPr>
          <p:cNvPr id="25" name="文本框 24">
            <a:extLst>
              <a:ext uri="{FF2B5EF4-FFF2-40B4-BE49-F238E27FC236}">
                <a16:creationId xmlns:a16="http://schemas.microsoft.com/office/drawing/2014/main" id="{4EFC2ACF-CDEA-7F44-AC18-70DB372C4028}"/>
              </a:ext>
            </a:extLst>
          </p:cNvPr>
          <p:cNvSpPr txBox="1"/>
          <p:nvPr/>
        </p:nvSpPr>
        <p:spPr>
          <a:xfrm>
            <a:off x="4027165" y="5412500"/>
            <a:ext cx="3987800" cy="830997"/>
          </a:xfrm>
          <a:prstGeom prst="rect">
            <a:avLst/>
          </a:prstGeom>
          <a:noFill/>
        </p:spPr>
        <p:txBody>
          <a:bodyPr wrap="square">
            <a:spAutoFit/>
          </a:bodyPr>
          <a:lstStyle>
            <a:defPPr>
              <a:defRPr lang="zh-CN"/>
            </a:defPPr>
            <a:lvl1pPr>
              <a:defRPr sz="2400"/>
            </a:lvl1pPr>
          </a:lstStyle>
          <a:p>
            <a:r>
              <a:rPr lang="zh-CN" altLang="en-US" dirty="0"/>
              <a:t>碱性磷酸酶水解硝基酚磷酸（</a:t>
            </a:r>
            <a:r>
              <a:rPr lang="en-US" altLang="zh-CN" dirty="0"/>
              <a:t>NPP</a:t>
            </a:r>
            <a:r>
              <a:rPr lang="zh-CN" altLang="en-US" dirty="0"/>
              <a:t>）生成的对硝基酚</a:t>
            </a:r>
          </a:p>
        </p:txBody>
      </p:sp>
      <p:pic>
        <p:nvPicPr>
          <p:cNvPr id="26" name="图片 25">
            <a:extLst>
              <a:ext uri="{FF2B5EF4-FFF2-40B4-BE49-F238E27FC236}">
                <a16:creationId xmlns:a16="http://schemas.microsoft.com/office/drawing/2014/main" id="{EC44E75B-A06C-0E5B-A035-D03F5DBFB63D}"/>
              </a:ext>
            </a:extLst>
          </p:cNvPr>
          <p:cNvPicPr>
            <a:picLocks noChangeAspect="1"/>
          </p:cNvPicPr>
          <p:nvPr/>
        </p:nvPicPr>
        <p:blipFill>
          <a:blip r:embed="rId5"/>
          <a:stretch>
            <a:fillRect/>
          </a:stretch>
        </p:blipFill>
        <p:spPr>
          <a:xfrm>
            <a:off x="4444934" y="1916340"/>
            <a:ext cx="2793017" cy="2921926"/>
          </a:xfrm>
          <a:prstGeom prst="rect">
            <a:avLst/>
          </a:prstGeom>
        </p:spPr>
      </p:pic>
      <p:sp>
        <p:nvSpPr>
          <p:cNvPr id="28" name="文本框 27">
            <a:extLst>
              <a:ext uri="{FF2B5EF4-FFF2-40B4-BE49-F238E27FC236}">
                <a16:creationId xmlns:a16="http://schemas.microsoft.com/office/drawing/2014/main" id="{E4C2E22E-D88F-2137-E81C-54E65B7D2B9C}"/>
              </a:ext>
            </a:extLst>
          </p:cNvPr>
          <p:cNvSpPr txBox="1"/>
          <p:nvPr/>
        </p:nvSpPr>
        <p:spPr>
          <a:xfrm>
            <a:off x="8245536" y="5351629"/>
            <a:ext cx="3250446" cy="830997"/>
          </a:xfrm>
          <a:prstGeom prst="rect">
            <a:avLst/>
          </a:prstGeom>
          <a:noFill/>
        </p:spPr>
        <p:txBody>
          <a:bodyPr wrap="square">
            <a:spAutoFit/>
          </a:bodyPr>
          <a:lstStyle>
            <a:defPPr>
              <a:defRPr lang="zh-CN"/>
            </a:defPPr>
            <a:lvl1pPr>
              <a:defRPr sz="2400"/>
            </a:lvl1pPr>
          </a:lstStyle>
          <a:p>
            <a:r>
              <a:rPr lang="zh-CN" altLang="en-US" dirty="0"/>
              <a:t>谷氨酸脱羧酶裂解谷氨酸生成的二氧化碳的量</a:t>
            </a:r>
          </a:p>
        </p:txBody>
      </p:sp>
      <p:pic>
        <p:nvPicPr>
          <p:cNvPr id="30" name="图片 29">
            <a:extLst>
              <a:ext uri="{FF2B5EF4-FFF2-40B4-BE49-F238E27FC236}">
                <a16:creationId xmlns:a16="http://schemas.microsoft.com/office/drawing/2014/main" id="{F211D114-A4ED-2924-132A-6CD56A316320}"/>
              </a:ext>
            </a:extLst>
          </p:cNvPr>
          <p:cNvPicPr>
            <a:picLocks noChangeAspect="1"/>
          </p:cNvPicPr>
          <p:nvPr/>
        </p:nvPicPr>
        <p:blipFill>
          <a:blip r:embed="rId6"/>
          <a:stretch>
            <a:fillRect/>
          </a:stretch>
        </p:blipFill>
        <p:spPr>
          <a:xfrm>
            <a:off x="8934734" y="1866437"/>
            <a:ext cx="1502341" cy="2921926"/>
          </a:xfrm>
          <a:prstGeom prst="rect">
            <a:avLst/>
          </a:prstGeom>
        </p:spPr>
      </p:pic>
      <p:sp>
        <p:nvSpPr>
          <p:cNvPr id="32" name="文本框 31">
            <a:extLst>
              <a:ext uri="{FF2B5EF4-FFF2-40B4-BE49-F238E27FC236}">
                <a16:creationId xmlns:a16="http://schemas.microsoft.com/office/drawing/2014/main" id="{EC1E8558-E4DD-0222-7012-A513F1228DAE}"/>
              </a:ext>
            </a:extLst>
          </p:cNvPr>
          <p:cNvSpPr txBox="1"/>
          <p:nvPr/>
        </p:nvSpPr>
        <p:spPr>
          <a:xfrm>
            <a:off x="1408107" y="5043168"/>
            <a:ext cx="1493772" cy="461665"/>
          </a:xfrm>
          <a:prstGeom prst="rect">
            <a:avLst/>
          </a:prstGeom>
          <a:noFill/>
        </p:spPr>
        <p:txBody>
          <a:bodyPr wrap="square">
            <a:spAutoFit/>
          </a:bodyPr>
          <a:lstStyle>
            <a:defPPr>
              <a:defRPr lang="zh-CN"/>
            </a:defPPr>
            <a:lvl1pPr>
              <a:defRPr sz="2400" b="1"/>
            </a:lvl1pPr>
          </a:lstStyle>
          <a:p>
            <a:r>
              <a:rPr lang="zh-CN" altLang="en-US" dirty="0"/>
              <a:t>化学滴定</a:t>
            </a:r>
          </a:p>
        </p:txBody>
      </p:sp>
      <p:sp>
        <p:nvSpPr>
          <p:cNvPr id="33" name="文本框 32">
            <a:extLst>
              <a:ext uri="{FF2B5EF4-FFF2-40B4-BE49-F238E27FC236}">
                <a16:creationId xmlns:a16="http://schemas.microsoft.com/office/drawing/2014/main" id="{7456DD42-C553-779B-D81B-CA557A6050AE}"/>
              </a:ext>
            </a:extLst>
          </p:cNvPr>
          <p:cNvSpPr txBox="1"/>
          <p:nvPr/>
        </p:nvSpPr>
        <p:spPr>
          <a:xfrm>
            <a:off x="5386433" y="4941660"/>
            <a:ext cx="1188084" cy="461665"/>
          </a:xfrm>
          <a:prstGeom prst="rect">
            <a:avLst/>
          </a:prstGeom>
          <a:noFill/>
        </p:spPr>
        <p:txBody>
          <a:bodyPr wrap="square">
            <a:spAutoFit/>
          </a:bodyPr>
          <a:lstStyle/>
          <a:p>
            <a:r>
              <a:rPr lang="zh-CN" altLang="en-US" sz="2400" b="1" dirty="0"/>
              <a:t>酶标仪</a:t>
            </a:r>
          </a:p>
        </p:txBody>
      </p:sp>
      <p:sp>
        <p:nvSpPr>
          <p:cNvPr id="35" name="文本框 34">
            <a:extLst>
              <a:ext uri="{FF2B5EF4-FFF2-40B4-BE49-F238E27FC236}">
                <a16:creationId xmlns:a16="http://schemas.microsoft.com/office/drawing/2014/main" id="{41813845-B22A-47B0-0A86-87B3032089BE}"/>
              </a:ext>
            </a:extLst>
          </p:cNvPr>
          <p:cNvSpPr txBox="1"/>
          <p:nvPr/>
        </p:nvSpPr>
        <p:spPr>
          <a:xfrm>
            <a:off x="8872158" y="4889963"/>
            <a:ext cx="2226629" cy="461665"/>
          </a:xfrm>
          <a:prstGeom prst="rect">
            <a:avLst/>
          </a:prstGeom>
          <a:noFill/>
        </p:spPr>
        <p:txBody>
          <a:bodyPr wrap="square">
            <a:spAutoFit/>
          </a:bodyPr>
          <a:lstStyle>
            <a:defPPr>
              <a:defRPr lang="zh-CN"/>
            </a:defPPr>
            <a:lvl1pPr>
              <a:defRPr sz="2400" b="1"/>
            </a:lvl1pPr>
          </a:lstStyle>
          <a:p>
            <a:r>
              <a:rPr lang="zh-CN" altLang="zh-CN" dirty="0"/>
              <a:t>华勃氏呼吸仪</a:t>
            </a:r>
            <a:endParaRPr lang="zh-CN" altLang="en-US" dirty="0"/>
          </a:p>
        </p:txBody>
      </p:sp>
    </p:spTree>
    <p:extLst>
      <p:ext uri="{BB962C8B-B14F-4D97-AF65-F5344CB8AC3E}">
        <p14:creationId xmlns:p14="http://schemas.microsoft.com/office/powerpoint/2010/main" val="42864186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1010402"/>
            <a:ext cx="3293110" cy="584775"/>
          </a:xfrm>
          <a:prstGeom prst="rect">
            <a:avLst/>
          </a:prstGeom>
          <a:noFill/>
        </p:spPr>
        <p:txBody>
          <a:bodyPr wrap="square" rtlCol="0">
            <a:spAutoFit/>
          </a:bodyPr>
          <a:lstStyle/>
          <a:p>
            <a:r>
              <a:rPr lang="zh-CN" altLang="en-US" sz="3200" b="1" dirty="0">
                <a:solidFill>
                  <a:srgbClr val="1D50A2"/>
                </a:solidFill>
                <a:cs typeface="+mn-ea"/>
                <a:sym typeface="+mn-lt"/>
              </a:rPr>
              <a:t>二、酶活力单位</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5" name="文本框 4">
            <a:extLst>
              <a:ext uri="{FF2B5EF4-FFF2-40B4-BE49-F238E27FC236}">
                <a16:creationId xmlns:a16="http://schemas.microsoft.com/office/drawing/2014/main" id="{AF419951-9EF1-5980-B4C9-24DCE80D0C28}"/>
              </a:ext>
            </a:extLst>
          </p:cNvPr>
          <p:cNvSpPr txBox="1"/>
          <p:nvPr/>
        </p:nvSpPr>
        <p:spPr>
          <a:xfrm>
            <a:off x="961390" y="2418427"/>
            <a:ext cx="10468610" cy="2554545"/>
          </a:xfrm>
          <a:prstGeom prst="rect">
            <a:avLst/>
          </a:prstGeom>
          <a:noFill/>
        </p:spPr>
        <p:txBody>
          <a:bodyPr wrap="square">
            <a:spAutoFit/>
          </a:bodyPr>
          <a:lstStyle/>
          <a:p>
            <a:r>
              <a:rPr lang="en-US" altLang="zh-CN" sz="3200" dirty="0">
                <a:effectLst/>
                <a:latin typeface="Times New Roman" panose="02020603050405020304" pitchFamily="18" charset="0"/>
                <a:ea typeface="宋体" panose="02010600030101010101" pitchFamily="2" charset="-122"/>
              </a:rPr>
              <a:t>1961</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年国际生物化学与分子生物学联合会规定：</a:t>
            </a:r>
            <a:endPar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在特定条件下（温度可采用</a:t>
            </a:r>
            <a:r>
              <a:rPr lang="en-US" altLang="zh-CN" sz="3200" dirty="0">
                <a:effectLst/>
                <a:latin typeface="Times New Roman" panose="02020603050405020304" pitchFamily="18" charset="0"/>
                <a:ea typeface="宋体" panose="02010600030101010101" pitchFamily="2" charset="-122"/>
              </a:rPr>
              <a:t>25℃</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effectLst/>
                <a:latin typeface="Times New Roman" panose="02020603050405020304" pitchFamily="18" charset="0"/>
                <a:ea typeface="宋体" panose="02010600030101010101" pitchFamily="2" charset="-122"/>
              </a:rPr>
              <a:t>pH</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等条件均采用最适条件），每</a:t>
            </a:r>
            <a:r>
              <a:rPr lang="en-US" altLang="zh-CN" sz="3200" dirty="0">
                <a:effectLst/>
                <a:latin typeface="Times New Roman" panose="02020603050405020304" pitchFamily="18" charset="0"/>
                <a:ea typeface="宋体" panose="02010600030101010101" pitchFamily="2" charset="-122"/>
              </a:rPr>
              <a:t>1 min</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催化</a:t>
            </a:r>
            <a:r>
              <a:rPr lang="en-US" altLang="zh-CN" sz="3200" dirty="0">
                <a:effectLst/>
                <a:latin typeface="Times New Roman" panose="02020603050405020304" pitchFamily="18" charset="0"/>
                <a:ea typeface="宋体" panose="02010600030101010101" pitchFamily="2" charset="-122"/>
              </a:rPr>
              <a:t>1 </a:t>
            </a:r>
            <a:r>
              <a:rPr lang="en-US" altLang="zh-CN" sz="3200" dirty="0" err="1">
                <a:effectLst/>
                <a:latin typeface="Times New Roman" panose="02020603050405020304" pitchFamily="18" charset="0"/>
                <a:ea typeface="宋体" panose="02010600030101010101" pitchFamily="2" charset="-122"/>
              </a:rPr>
              <a:t>μmol</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的底物转化为产物的酶量定义为</a:t>
            </a:r>
            <a:r>
              <a:rPr lang="en-US" altLang="zh-CN" sz="3200" dirty="0">
                <a:effectLst/>
                <a:latin typeface="Times New Roman" panose="02020603050405020304" pitchFamily="18" charset="0"/>
                <a:ea typeface="宋体" panose="02010600030101010101" pitchFamily="2" charset="-122"/>
              </a:rPr>
              <a:t>1</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个酶活力单位。这个单位称为国际单位（</a:t>
            </a:r>
            <a:r>
              <a:rPr lang="en-US" altLang="zh-CN" sz="3200" dirty="0">
                <a:effectLst/>
                <a:latin typeface="Times New Roman" panose="02020603050405020304" pitchFamily="18" charset="0"/>
                <a:ea typeface="宋体" panose="02010600030101010101" pitchFamily="2" charset="-122"/>
              </a:rPr>
              <a:t>IU</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3200" dirty="0"/>
          </a:p>
        </p:txBody>
      </p:sp>
    </p:spTree>
    <p:extLst>
      <p:ext uri="{BB962C8B-B14F-4D97-AF65-F5344CB8AC3E}">
        <p14:creationId xmlns:p14="http://schemas.microsoft.com/office/powerpoint/2010/main" val="871912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9E85C412-8851-B60C-6D2E-E89D5C5BACD0}"/>
              </a:ext>
            </a:extLst>
          </p:cNvPr>
          <p:cNvSpPr txBox="1"/>
          <p:nvPr/>
        </p:nvSpPr>
        <p:spPr>
          <a:xfrm>
            <a:off x="605790" y="1649631"/>
            <a:ext cx="11163300" cy="2732095"/>
          </a:xfrm>
          <a:prstGeom prst="rect">
            <a:avLst/>
          </a:prstGeom>
          <a:noFill/>
        </p:spPr>
        <p:txBody>
          <a:bodyPr wrap="square">
            <a:spAutoFit/>
          </a:bodyPr>
          <a:lstStyle/>
          <a:p>
            <a:pPr marR="88265">
              <a:lnSpc>
                <a:spcPct val="150000"/>
              </a:lnSpc>
              <a:spcAft>
                <a:spcPts val="1000"/>
              </a:spcAft>
            </a:pP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国际上另一个常用的酶活力单位是卡特（</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kat</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）。在特定条件下，每秒催化</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1 mol</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底物转化为产物的酶量定义为</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卡特（</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kat</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effectLst/>
              <a:latin typeface="Calibri" panose="020F0502020204030204" pitchFamily="34" charset="0"/>
              <a:ea typeface="Calibri" panose="020F0502020204030204" pitchFamily="34" charset="0"/>
              <a:cs typeface="Times New Roman" panose="02020603050405020304" pitchFamily="18" charset="0"/>
            </a:endParaRPr>
          </a:p>
          <a:p>
            <a:pPr marL="66675" marR="88265" indent="266065">
              <a:lnSpc>
                <a:spcPct val="150000"/>
              </a:lnSpc>
              <a:spcAft>
                <a:spcPts val="1000"/>
              </a:spcAft>
            </a:pP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上述两种酶活力单位之间可以互相换算，</a:t>
            </a:r>
            <a:br>
              <a:rPr lang="en-US" altLang="zh-CN" sz="2800" dirty="0">
                <a:effectLst/>
                <a:latin typeface="Times New Roman" panose="02020603050405020304" pitchFamily="18" charset="0"/>
                <a:ea typeface="宋体" panose="02010600030101010101" pitchFamily="2" charset="-122"/>
              </a:rPr>
            </a:b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1 kat</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1 mol/s</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60 mol/min</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60×10</a:t>
            </a:r>
            <a:r>
              <a:rPr lang="en-US" altLang="zh-CN" sz="2800" baseline="30000" dirty="0">
                <a:effectLst/>
                <a:latin typeface="Times New Roman" panose="02020603050405020304" pitchFamily="18" charset="0"/>
                <a:ea typeface="宋体" panose="02010600030101010101" pitchFamily="2" charset="-122"/>
                <a:cs typeface="Times New Roman" panose="02020603050405020304" pitchFamily="18" charset="0"/>
              </a:rPr>
              <a:t>6 </a:t>
            </a:r>
            <a:r>
              <a:rPr lang="en-US" altLang="zh-CN" sz="2800" dirty="0" err="1">
                <a:effectLst/>
                <a:latin typeface="Times New Roman" panose="02020603050405020304" pitchFamily="18" charset="0"/>
                <a:ea typeface="宋体" panose="02010600030101010101" pitchFamily="2" charset="-122"/>
                <a:cs typeface="Times New Roman" panose="02020603050405020304" pitchFamily="18" charset="0"/>
              </a:rPr>
              <a:t>μmol</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/min</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6×10</a:t>
            </a:r>
            <a:r>
              <a:rPr lang="en-US" altLang="zh-CN" sz="2800" baseline="30000" dirty="0">
                <a:effectLst/>
                <a:latin typeface="Times New Roman" panose="02020603050405020304" pitchFamily="18" charset="0"/>
                <a:ea typeface="宋体" panose="02010600030101010101" pitchFamily="2" charset="-122"/>
                <a:cs typeface="Times New Roman" panose="02020603050405020304" pitchFamily="18" charset="0"/>
              </a:rPr>
              <a:t>7 </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IU</a:t>
            </a:r>
            <a:endParaRPr lang="zh-CN" altLang="zh-CN"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文本框 6">
            <a:extLst>
              <a:ext uri="{FF2B5EF4-FFF2-40B4-BE49-F238E27FC236}">
                <a16:creationId xmlns:a16="http://schemas.microsoft.com/office/drawing/2014/main" id="{4AA1B678-0099-C0DE-D7E0-B8BC835BED7D}"/>
              </a:ext>
            </a:extLst>
          </p:cNvPr>
          <p:cNvSpPr txBox="1"/>
          <p:nvPr/>
        </p:nvSpPr>
        <p:spPr>
          <a:xfrm>
            <a:off x="819785" y="4845227"/>
            <a:ext cx="10735310" cy="1384995"/>
          </a:xfrm>
          <a:prstGeom prst="rect">
            <a:avLst/>
          </a:prstGeom>
          <a:solidFill>
            <a:schemeClr val="accent5">
              <a:lumMod val="20000"/>
              <a:lumOff val="80000"/>
            </a:schemeClr>
          </a:solidFill>
        </p:spPr>
        <p:txBody>
          <a:bodyPr wrap="square">
            <a:spAutoFit/>
          </a:bodyPr>
          <a:lstStyle/>
          <a:p>
            <a:pPr algn="ctr"/>
            <a:r>
              <a:rPr lang="zh-CN" altLang="en-US" sz="2800" dirty="0"/>
              <a:t>酶的比活力是酶纯度的量度指标，是指在特定条件下，单位重量（</a:t>
            </a:r>
            <a:r>
              <a:rPr lang="en-US" altLang="zh-CN" sz="2800" dirty="0"/>
              <a:t>mg</a:t>
            </a:r>
            <a:r>
              <a:rPr lang="zh-CN" altLang="en-US" sz="2800" dirty="0"/>
              <a:t>）蛋白质或</a:t>
            </a:r>
            <a:r>
              <a:rPr lang="en-US" altLang="zh-CN" sz="2800" dirty="0"/>
              <a:t>RNA</a:t>
            </a:r>
            <a:r>
              <a:rPr lang="zh-CN" altLang="en-US" sz="2800" dirty="0"/>
              <a:t>所具有的酶活力单位数。</a:t>
            </a:r>
          </a:p>
          <a:p>
            <a:pPr algn="ctr"/>
            <a:r>
              <a:rPr lang="zh-CN" altLang="en-US" sz="2800" dirty="0"/>
              <a:t>酶比活力＝酶活力（单位）</a:t>
            </a:r>
            <a:r>
              <a:rPr lang="en-US" altLang="zh-CN" sz="2800" dirty="0"/>
              <a:t>/mg</a:t>
            </a:r>
            <a:r>
              <a:rPr lang="zh-CN" altLang="en-US" sz="2800" dirty="0"/>
              <a:t>（蛋白质或</a:t>
            </a:r>
            <a:r>
              <a:rPr lang="en-US" altLang="zh-CN" sz="2800" dirty="0"/>
              <a:t>RNA</a:t>
            </a:r>
            <a:r>
              <a:rPr lang="zh-CN" altLang="en-US" sz="2800" dirty="0"/>
              <a:t>） </a:t>
            </a:r>
          </a:p>
        </p:txBody>
      </p:sp>
      <p:sp>
        <p:nvSpPr>
          <p:cNvPr id="8" name="文本框 7">
            <a:extLst>
              <a:ext uri="{FF2B5EF4-FFF2-40B4-BE49-F238E27FC236}">
                <a16:creationId xmlns:a16="http://schemas.microsoft.com/office/drawing/2014/main" id="{5A48F3EF-999B-1795-DEE7-66C20D76F02D}"/>
              </a:ext>
            </a:extLst>
          </p:cNvPr>
          <p:cNvSpPr txBox="1"/>
          <p:nvPr/>
        </p:nvSpPr>
        <p:spPr>
          <a:xfrm>
            <a:off x="605790" y="877168"/>
            <a:ext cx="4698722" cy="584775"/>
          </a:xfrm>
          <a:prstGeom prst="rect">
            <a:avLst/>
          </a:prstGeom>
          <a:noFill/>
        </p:spPr>
        <p:txBody>
          <a:bodyPr wrap="square" rtlCol="0">
            <a:spAutoFit/>
          </a:bodyPr>
          <a:lstStyle>
            <a:defPPr>
              <a:defRPr lang="zh-CN"/>
            </a:defPPr>
            <a:lvl1pPr>
              <a:defRPr sz="3200" b="1">
                <a:cs typeface="+mn-ea"/>
              </a:defRPr>
            </a:lvl1pPr>
          </a:lstStyle>
          <a:p>
            <a:r>
              <a:rPr lang="zh-CN" altLang="en-US" dirty="0"/>
              <a:t>酶活单位的换算和比酶活</a:t>
            </a:r>
          </a:p>
        </p:txBody>
      </p:sp>
    </p:spTree>
    <p:extLst>
      <p:ext uri="{BB962C8B-B14F-4D97-AF65-F5344CB8AC3E}">
        <p14:creationId xmlns:p14="http://schemas.microsoft.com/office/powerpoint/2010/main" val="1504058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1010402"/>
            <a:ext cx="5655310" cy="584775"/>
          </a:xfrm>
          <a:prstGeom prst="rect">
            <a:avLst/>
          </a:prstGeom>
          <a:noFill/>
        </p:spPr>
        <p:txBody>
          <a:bodyPr wrap="square" rtlCol="0">
            <a:spAutoFit/>
          </a:bodyPr>
          <a:lstStyle/>
          <a:p>
            <a:r>
              <a:rPr lang="zh-CN" altLang="en-US" sz="3200" b="1" dirty="0">
                <a:solidFill>
                  <a:srgbClr val="1D50A2"/>
                </a:solidFill>
                <a:cs typeface="+mn-ea"/>
                <a:sym typeface="+mn-lt"/>
              </a:rPr>
              <a:t>三、酶的转换数与催化周期</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AB9EAC1A-ADC0-2E40-7D56-D0076881E790}"/>
              </a:ext>
            </a:extLst>
          </p:cNvPr>
          <p:cNvSpPr txBox="1"/>
          <p:nvPr/>
        </p:nvSpPr>
        <p:spPr>
          <a:xfrm>
            <a:off x="605790" y="1692185"/>
            <a:ext cx="11169650" cy="2224070"/>
          </a:xfrm>
          <a:prstGeom prst="rect">
            <a:avLst/>
          </a:prstGeom>
          <a:noFill/>
        </p:spPr>
        <p:txBody>
          <a:bodyPr wrap="square">
            <a:spAutoFit/>
          </a:bodyPr>
          <a:lstStyle/>
          <a:p>
            <a:pPr marR="88265" algn="just">
              <a:lnSpc>
                <a:spcPct val="150000"/>
              </a:lnSpc>
              <a:spcAft>
                <a:spcPts val="1000"/>
              </a:spcAft>
            </a:pP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酶的转换数</a:t>
            </a:r>
            <a:r>
              <a:rPr lang="en-US" altLang="zh-CN" sz="3200" i="1" dirty="0" err="1">
                <a:effectLst/>
                <a:latin typeface="Times New Roman" panose="02020603050405020304" pitchFamily="18" charset="0"/>
                <a:ea typeface="宋体" panose="02010600030101010101" pitchFamily="2" charset="-122"/>
                <a:cs typeface="Times New Roman" panose="02020603050405020304" pitchFamily="18" charset="0"/>
              </a:rPr>
              <a:t>K</a:t>
            </a:r>
            <a:r>
              <a:rPr lang="en-US" altLang="zh-CN" sz="3200" baseline="-25000" dirty="0" err="1">
                <a:effectLst/>
                <a:latin typeface="Times New Roman" panose="02020603050405020304" pitchFamily="18" charset="0"/>
                <a:ea typeface="宋体" panose="02010600030101010101" pitchFamily="2" charset="-122"/>
                <a:cs typeface="Times New Roman" panose="02020603050405020304" pitchFamily="18" charset="0"/>
              </a:rPr>
              <a:t>cat</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，又称为摩尔催化活性（</a:t>
            </a:r>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molar catalytic activity</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），是指每个酶分子每分钟催化底物转化的分子数，即每摩尔酶每分钟催化底物转化为产物的摩尔数。</a:t>
            </a:r>
            <a:endParaRPr lang="zh-CN" altLang="zh-CN" sz="3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图片 5">
            <a:extLst>
              <a:ext uri="{FF2B5EF4-FFF2-40B4-BE49-F238E27FC236}">
                <a16:creationId xmlns:a16="http://schemas.microsoft.com/office/drawing/2014/main" id="{BC6CBF58-2868-0029-6D25-70B4EEF8FC81}"/>
              </a:ext>
            </a:extLst>
          </p:cNvPr>
          <p:cNvPicPr>
            <a:picLocks noChangeAspect="1"/>
          </p:cNvPicPr>
          <p:nvPr/>
        </p:nvPicPr>
        <p:blipFill>
          <a:blip r:embed="rId4"/>
          <a:stretch>
            <a:fillRect/>
          </a:stretch>
        </p:blipFill>
        <p:spPr>
          <a:xfrm>
            <a:off x="1028017" y="4128430"/>
            <a:ext cx="9944783" cy="1186232"/>
          </a:xfrm>
          <a:prstGeom prst="rect">
            <a:avLst/>
          </a:prstGeom>
        </p:spPr>
      </p:pic>
      <p:sp>
        <p:nvSpPr>
          <p:cNvPr id="8" name="文本框 7">
            <a:extLst>
              <a:ext uri="{FF2B5EF4-FFF2-40B4-BE49-F238E27FC236}">
                <a16:creationId xmlns:a16="http://schemas.microsoft.com/office/drawing/2014/main" id="{0188C036-FB3D-46FB-2213-950FD71E4891}"/>
              </a:ext>
            </a:extLst>
          </p:cNvPr>
          <p:cNvSpPr txBox="1"/>
          <p:nvPr/>
        </p:nvSpPr>
        <p:spPr>
          <a:xfrm>
            <a:off x="1028017" y="5847598"/>
            <a:ext cx="4429760" cy="584775"/>
          </a:xfrm>
          <a:prstGeom prst="rect">
            <a:avLst/>
          </a:prstGeom>
          <a:noFill/>
        </p:spPr>
        <p:txBody>
          <a:bodyPr wrap="square">
            <a:spAutoFit/>
          </a:bodyPr>
          <a:lstStyle/>
          <a:p>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催化周期</a:t>
            </a:r>
            <a:r>
              <a:rPr lang="en-US" altLang="zh-CN" sz="32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a:effectLst/>
                <a:latin typeface="Times New Roman" panose="02020603050405020304" pitchFamily="18" charset="0"/>
                <a:ea typeface="宋体" panose="02010600030101010101" pitchFamily="2" charset="-122"/>
              </a:rPr>
              <a:t>T</a:t>
            </a:r>
            <a:r>
              <a:rPr lang="zh-CN" altLang="zh-CN" sz="3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effectLst/>
                <a:latin typeface="Times New Roman" panose="02020603050405020304" pitchFamily="18" charset="0"/>
                <a:ea typeface="宋体" panose="02010600030101010101" pitchFamily="2" charset="-122"/>
              </a:rPr>
              <a:t>1 / </a:t>
            </a:r>
            <a:r>
              <a:rPr lang="en-US" altLang="zh-CN" sz="3200" i="1" dirty="0" err="1">
                <a:effectLst/>
                <a:latin typeface="Times New Roman" panose="02020603050405020304" pitchFamily="18" charset="0"/>
                <a:ea typeface="宋体" panose="02010600030101010101" pitchFamily="2" charset="-122"/>
              </a:rPr>
              <a:t>K</a:t>
            </a:r>
            <a:r>
              <a:rPr lang="en-US" altLang="zh-CN" sz="3200" baseline="-25000" dirty="0" err="1">
                <a:effectLst/>
                <a:latin typeface="Times New Roman" panose="02020603050405020304" pitchFamily="18" charset="0"/>
                <a:ea typeface="宋体" panose="02010600030101010101" pitchFamily="2" charset="-122"/>
              </a:rPr>
              <a:t>cat</a:t>
            </a:r>
            <a:endParaRPr lang="zh-CN" altLang="en-US" sz="3200" baseline="-25000" dirty="0"/>
          </a:p>
        </p:txBody>
      </p:sp>
    </p:spTree>
    <p:extLst>
      <p:ext uri="{BB962C8B-B14F-4D97-AF65-F5344CB8AC3E}">
        <p14:creationId xmlns:p14="http://schemas.microsoft.com/office/powerpoint/2010/main" val="20886160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1010402"/>
            <a:ext cx="4766310" cy="584775"/>
          </a:xfrm>
          <a:prstGeom prst="rect">
            <a:avLst/>
          </a:prstGeom>
          <a:noFill/>
        </p:spPr>
        <p:txBody>
          <a:bodyPr wrap="square" rtlCol="0">
            <a:spAutoFit/>
          </a:bodyPr>
          <a:lstStyle/>
          <a:p>
            <a:r>
              <a:rPr lang="zh-CN" altLang="en-US" sz="3200" b="1" dirty="0">
                <a:solidFill>
                  <a:srgbClr val="1D50A2"/>
                </a:solidFill>
                <a:cs typeface="+mn-ea"/>
                <a:sym typeface="+mn-lt"/>
              </a:rPr>
              <a:t>三、固定化酶的活力测定</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5" name="文本框 4">
            <a:extLst>
              <a:ext uri="{FF2B5EF4-FFF2-40B4-BE49-F238E27FC236}">
                <a16:creationId xmlns:a16="http://schemas.microsoft.com/office/drawing/2014/main" id="{18FD9A12-49B4-2A63-A4D7-3BA0657519A4}"/>
              </a:ext>
            </a:extLst>
          </p:cNvPr>
          <p:cNvSpPr txBox="1"/>
          <p:nvPr/>
        </p:nvSpPr>
        <p:spPr>
          <a:xfrm>
            <a:off x="776605" y="1814032"/>
            <a:ext cx="3225800" cy="2480551"/>
          </a:xfrm>
          <a:prstGeom prst="rect">
            <a:avLst/>
          </a:prstGeom>
          <a:noFill/>
        </p:spPr>
        <p:txBody>
          <a:bodyPr wrap="square">
            <a:spAutoFit/>
          </a:bodyPr>
          <a:lstStyle/>
          <a:p>
            <a:pPr marR="88265" algn="just">
              <a:lnSpc>
                <a:spcPct val="150000"/>
              </a:lnSpc>
              <a:spcAft>
                <a:spcPts val="1000"/>
              </a:spcAft>
            </a:pPr>
            <a:r>
              <a:rPr lang="en-US" altLang="zh-CN" sz="3200" dirty="0">
                <a:effectLst/>
                <a:latin typeface="黑体" panose="02010609060101010101" pitchFamily="49" charset="-122"/>
                <a:ea typeface="Calibri" panose="020F0502020204030204" pitchFamily="34" charset="0"/>
                <a:cs typeface="黑体" panose="02010609060101010101" pitchFamily="49" charset="-122"/>
              </a:rPr>
              <a:t>1.</a:t>
            </a:r>
            <a:r>
              <a:rPr lang="zh-CN" altLang="zh-CN" sz="3200" dirty="0">
                <a:effectLst/>
                <a:latin typeface="Calibri" panose="020F0502020204030204" pitchFamily="34" charset="0"/>
                <a:ea typeface="黑体" panose="02010609060101010101" pitchFamily="49" charset="-122"/>
                <a:cs typeface="黑体" panose="02010609060101010101" pitchFamily="49" charset="-122"/>
              </a:rPr>
              <a:t>振荡测定法</a:t>
            </a:r>
            <a:endParaRPr lang="en-US" altLang="zh-CN" sz="3200" dirty="0">
              <a:effectLst/>
              <a:latin typeface="Calibri" panose="020F0502020204030204" pitchFamily="34" charset="0"/>
              <a:ea typeface="黑体" panose="02010609060101010101" pitchFamily="49" charset="-122"/>
              <a:cs typeface="黑体" panose="02010609060101010101" pitchFamily="49" charset="-122"/>
            </a:endParaRPr>
          </a:p>
          <a:p>
            <a:pPr marR="88265" algn="just">
              <a:lnSpc>
                <a:spcPct val="150000"/>
              </a:lnSpc>
              <a:spcAft>
                <a:spcPts val="1000"/>
              </a:spcAft>
            </a:pPr>
            <a:r>
              <a:rPr lang="en-US" altLang="zh-CN" sz="3200" dirty="0">
                <a:effectLst/>
                <a:latin typeface="Calibri" panose="020F0502020204030204" pitchFamily="34" charset="0"/>
                <a:ea typeface="黑体" panose="02010609060101010101" pitchFamily="49" charset="-122"/>
                <a:cs typeface="黑体" panose="02010609060101010101" pitchFamily="49" charset="-122"/>
              </a:rPr>
              <a:t>2</a:t>
            </a:r>
            <a:r>
              <a:rPr lang="en-US" altLang="zh-CN" sz="3200" dirty="0">
                <a:effectLst/>
                <a:latin typeface="黑体" panose="02010609060101010101" pitchFamily="49" charset="-122"/>
                <a:ea typeface="Calibri" panose="020F0502020204030204" pitchFamily="34" charset="0"/>
                <a:cs typeface="黑体" panose="02010609060101010101" pitchFamily="49" charset="-122"/>
              </a:rPr>
              <a:t>.</a:t>
            </a:r>
            <a:r>
              <a:rPr lang="zh-CN" altLang="en-US" sz="3200" dirty="0">
                <a:effectLst/>
                <a:latin typeface="Calibri" panose="020F0502020204030204" pitchFamily="34" charset="0"/>
                <a:ea typeface="黑体" panose="02010609060101010101" pitchFamily="49" charset="-122"/>
                <a:cs typeface="黑体" panose="02010609060101010101" pitchFamily="49" charset="-122"/>
              </a:rPr>
              <a:t>酶柱测定法</a:t>
            </a:r>
          </a:p>
          <a:p>
            <a:pPr marR="88265" algn="just">
              <a:lnSpc>
                <a:spcPct val="150000"/>
              </a:lnSpc>
              <a:spcAft>
                <a:spcPts val="1000"/>
              </a:spcAft>
            </a:pPr>
            <a:r>
              <a:rPr lang="en-US" altLang="zh-CN" sz="3200" dirty="0">
                <a:effectLst/>
                <a:latin typeface="黑体" panose="02010609060101010101" pitchFamily="49" charset="-122"/>
                <a:ea typeface="Calibri" panose="020F0502020204030204" pitchFamily="34" charset="0"/>
                <a:cs typeface="黑体" panose="02010609060101010101" pitchFamily="49" charset="-122"/>
              </a:rPr>
              <a:t>3.</a:t>
            </a:r>
            <a:r>
              <a:rPr lang="zh-CN" altLang="zh-CN" sz="3200" dirty="0">
                <a:effectLst/>
                <a:latin typeface="Calibri" panose="020F0502020204030204" pitchFamily="34" charset="0"/>
                <a:ea typeface="黑体" panose="02010609060101010101" pitchFamily="49" charset="-122"/>
                <a:cs typeface="黑体" panose="02010609060101010101" pitchFamily="49" charset="-122"/>
              </a:rPr>
              <a:t>连续测定法</a:t>
            </a:r>
            <a:endParaRPr lang="zh-CN" altLang="zh-CN" sz="3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图片 9">
            <a:extLst>
              <a:ext uri="{FF2B5EF4-FFF2-40B4-BE49-F238E27FC236}">
                <a16:creationId xmlns:a16="http://schemas.microsoft.com/office/drawing/2014/main" id="{F4F06173-2C0C-6406-0D13-031F9E7DA3C5}"/>
              </a:ext>
            </a:extLst>
          </p:cNvPr>
          <p:cNvPicPr>
            <a:picLocks noChangeAspect="1"/>
          </p:cNvPicPr>
          <p:nvPr/>
        </p:nvPicPr>
        <p:blipFill rotWithShape="1">
          <a:blip r:embed="rId4"/>
          <a:srcRect r="2500"/>
          <a:stretch/>
        </p:blipFill>
        <p:spPr>
          <a:xfrm>
            <a:off x="4002405" y="1712502"/>
            <a:ext cx="7082790" cy="2683612"/>
          </a:xfrm>
          <a:prstGeom prst="rect">
            <a:avLst/>
          </a:prstGeom>
        </p:spPr>
      </p:pic>
      <p:sp>
        <p:nvSpPr>
          <p:cNvPr id="16" name="文本框 15">
            <a:extLst>
              <a:ext uri="{FF2B5EF4-FFF2-40B4-BE49-F238E27FC236}">
                <a16:creationId xmlns:a16="http://schemas.microsoft.com/office/drawing/2014/main" id="{8FCB7A0E-3B0C-C7E4-EB8E-8136B54383CA}"/>
              </a:ext>
            </a:extLst>
          </p:cNvPr>
          <p:cNvSpPr txBox="1"/>
          <p:nvPr/>
        </p:nvSpPr>
        <p:spPr>
          <a:xfrm>
            <a:off x="787400" y="4513439"/>
            <a:ext cx="10468610" cy="2085764"/>
          </a:xfrm>
          <a:prstGeom prst="rect">
            <a:avLst/>
          </a:prstGeom>
          <a:noFill/>
        </p:spPr>
        <p:txBody>
          <a:bodyPr wrap="square">
            <a:spAutoFit/>
          </a:bodyPr>
          <a:lstStyle/>
          <a:p>
            <a:pPr marR="88265" algn="just">
              <a:lnSpc>
                <a:spcPct val="150000"/>
              </a:lnSpc>
              <a:spcAft>
                <a:spcPts val="1000"/>
              </a:spcAft>
            </a:pP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对于酶膜、酶管、酶板等固定化酶，其比活力则可以用单位面积的酶活力单位表示，即</a:t>
            </a:r>
            <a:endParaRPr lang="zh-CN" altLang="zh-CN" sz="3200" dirty="0">
              <a:effectLst/>
              <a:latin typeface="Calibri" panose="020F0502020204030204" pitchFamily="34" charset="0"/>
              <a:ea typeface="Calibri" panose="020F0502020204030204" pitchFamily="34" charset="0"/>
              <a:cs typeface="Times New Roman" panose="02020603050405020304" pitchFamily="18" charset="0"/>
            </a:endParaRPr>
          </a:p>
          <a:p>
            <a:pPr marL="66675" marR="88265" indent="266065" algn="ctr">
              <a:lnSpc>
                <a:spcPct val="150000"/>
              </a:lnSpc>
              <a:spcAft>
                <a:spcPts val="1000"/>
              </a:spcAft>
            </a:pP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比活力＝酶活力单位</a:t>
            </a:r>
            <a:r>
              <a:rPr lang="en-US" altLang="zh-CN" sz="2800" dirty="0">
                <a:effectLst/>
                <a:latin typeface="Times New Roman" panose="02020603050405020304" pitchFamily="18" charset="0"/>
                <a:ea typeface="宋体" panose="02010600030101010101" pitchFamily="2" charset="-122"/>
                <a:cs typeface="Times New Roman" panose="02020603050405020304" pitchFamily="18" charset="0"/>
              </a:rPr>
              <a:t>/cm</a:t>
            </a:r>
            <a:r>
              <a:rPr lang="en-US" altLang="zh-CN" sz="2800" baseline="300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altLang="zh-CN"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58216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4">
            <a:alphaModFix amt="58000"/>
          </a:blip>
          <a:srcRect b="29236"/>
          <a:stretch>
            <a:fillRect/>
          </a:stretch>
        </p:blipFill>
        <p:spPr>
          <a:xfrm flipH="1">
            <a:off x="635" y="4309110"/>
            <a:ext cx="12191365" cy="2548890"/>
          </a:xfrm>
          <a:prstGeom prst="rect">
            <a:avLst/>
          </a:prstGeom>
          <a:noFill/>
          <a:ln w="9525">
            <a:noFill/>
          </a:ln>
        </p:spPr>
      </p:pic>
      <p:grpSp>
        <p:nvGrpSpPr>
          <p:cNvPr id="22" name="组合 21"/>
          <p:cNvGrpSpPr/>
          <p:nvPr/>
        </p:nvGrpSpPr>
        <p:grpSpPr>
          <a:xfrm>
            <a:off x="4485640" y="902970"/>
            <a:ext cx="2757805" cy="2565400"/>
            <a:chOff x="3890050" y="1242332"/>
            <a:chExt cx="4318184" cy="4195175"/>
          </a:xfrm>
        </p:grpSpPr>
        <p:sp>
          <p:nvSpPr>
            <p:cNvPr id="28" name="椭圆 27"/>
            <p:cNvSpPr/>
            <p:nvPr/>
          </p:nvSpPr>
          <p:spPr>
            <a:xfrm>
              <a:off x="3890050" y="1242332"/>
              <a:ext cx="4318184" cy="4195175"/>
            </a:xfrm>
            <a:prstGeom prst="ellipse">
              <a:avLst/>
            </a:prstGeom>
            <a:solidFill>
              <a:schemeClr val="bg1">
                <a:alpha val="33000"/>
              </a:schemeClr>
            </a:solidFill>
            <a:ln>
              <a:gradFill>
                <a:gsLst>
                  <a:gs pos="0">
                    <a:srgbClr val="20A3E8"/>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zh-CN" altLang="en-US" sz="900">
                <a:latin typeface="Lato Light"/>
              </a:endParaRPr>
            </a:p>
          </p:txBody>
        </p:sp>
        <p:sp>
          <p:nvSpPr>
            <p:cNvPr id="29" name="椭圆 28"/>
            <p:cNvSpPr/>
            <p:nvPr/>
          </p:nvSpPr>
          <p:spPr>
            <a:xfrm>
              <a:off x="4258022" y="1591020"/>
              <a:ext cx="3675957" cy="3675957"/>
            </a:xfrm>
            <a:prstGeom prst="ellipse">
              <a:avLst/>
            </a:prstGeom>
            <a:solidFill>
              <a:schemeClr val="bg1"/>
            </a:solidFill>
            <a:ln w="57150">
              <a:gradFill>
                <a:gsLst>
                  <a:gs pos="0">
                    <a:schemeClr val="bg1"/>
                  </a:gs>
                  <a:gs pos="100000">
                    <a:srgbClr val="20A3E8"/>
                  </a:gs>
                </a:gsLst>
                <a:lin ang="16200000" scaled="0"/>
              </a:gradFill>
            </a:ln>
            <a:effectLst>
              <a:outerShdw blurRad="444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6" name="TextBox 20"/>
          <p:cNvSpPr txBox="1"/>
          <p:nvPr/>
        </p:nvSpPr>
        <p:spPr>
          <a:xfrm>
            <a:off x="4976341" y="1866677"/>
            <a:ext cx="1835971" cy="748711"/>
          </a:xfrm>
          <a:prstGeom prst="rect">
            <a:avLst/>
          </a:prstGeom>
          <a:noFill/>
        </p:spPr>
        <p:txBody>
          <a:bodyPr wrap="none" lIns="70907" tIns="35455" rIns="70907" bIns="35455" rtlCol="0">
            <a:spAutoFit/>
          </a:bodyPr>
          <a:lstStyle/>
          <a:p>
            <a:pPr algn="ctr"/>
            <a:r>
              <a:rPr lang="zh-CN" altLang="en-US" sz="4400" b="1" dirty="0">
                <a:solidFill>
                  <a:srgbClr val="1F4E79"/>
                </a:solidFill>
                <a:latin typeface="+mj-ea"/>
                <a:ea typeface="+mj-ea"/>
                <a:cs typeface="+mn-ea"/>
                <a:sym typeface="+mn-lt"/>
              </a:rPr>
              <a:t>第七节</a:t>
            </a:r>
          </a:p>
        </p:txBody>
      </p:sp>
      <p:sp>
        <p:nvSpPr>
          <p:cNvPr id="2" name="文本框 1"/>
          <p:cNvSpPr txBox="1"/>
          <p:nvPr/>
        </p:nvSpPr>
        <p:spPr>
          <a:xfrm>
            <a:off x="3326130" y="3059501"/>
            <a:ext cx="5539740" cy="922020"/>
          </a:xfrm>
          <a:prstGeom prst="rect">
            <a:avLst/>
          </a:prstGeom>
          <a:noFill/>
          <a:ln w="9525">
            <a:noFill/>
          </a:ln>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lvl="0" algn="ctr" defTabSz="342900">
              <a:spcBef>
                <a:spcPct val="0"/>
              </a:spcBef>
              <a:defRPr/>
            </a:pPr>
            <a:r>
              <a:rPr lang="zh-CN" altLang="en-US" sz="5400" b="1" dirty="0">
                <a:solidFill>
                  <a:srgbClr val="1F4E79"/>
                </a:solidFill>
                <a:effectLst/>
                <a:ea typeface="宋体" panose="02010600030101010101" pitchFamily="2" charset="-122"/>
                <a:sym typeface="+mn-lt"/>
              </a:rPr>
              <a:t>酶的生产方法</a:t>
            </a:r>
            <a:endParaRPr lang="zh-CN" sz="5400" b="1" dirty="0">
              <a:solidFill>
                <a:srgbClr val="1F4E79"/>
              </a:solidFill>
              <a:effectLst/>
              <a:ea typeface="宋体" panose="02010600030101010101" pitchFamily="2" charset="-122"/>
            </a:endParaRPr>
          </a:p>
        </p:txBody>
      </p:sp>
    </p:spTree>
    <p:extLst>
      <p:ext uri="{BB962C8B-B14F-4D97-AF65-F5344CB8AC3E}">
        <p14:creationId xmlns:p14="http://schemas.microsoft.com/office/powerpoint/2010/main" val="178788337"/>
      </p:ext>
    </p:extLst>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1010402"/>
            <a:ext cx="4766310" cy="584775"/>
          </a:xfrm>
          <a:prstGeom prst="rect">
            <a:avLst/>
          </a:prstGeom>
          <a:noFill/>
        </p:spPr>
        <p:txBody>
          <a:bodyPr wrap="square" rtlCol="0">
            <a:spAutoFit/>
          </a:bodyPr>
          <a:lstStyle/>
          <a:p>
            <a:r>
              <a:rPr lang="zh-CN" altLang="en-US" sz="3200" b="1" dirty="0">
                <a:solidFill>
                  <a:srgbClr val="1D50A2"/>
                </a:solidFill>
                <a:cs typeface="+mn-ea"/>
                <a:sym typeface="+mn-lt"/>
              </a:rPr>
              <a:t>一、提取分离法</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20" name="文本框 19">
            <a:extLst>
              <a:ext uri="{FF2B5EF4-FFF2-40B4-BE49-F238E27FC236}">
                <a16:creationId xmlns:a16="http://schemas.microsoft.com/office/drawing/2014/main" id="{31EF842B-197B-245E-F1C0-0C3E70D88CDF}"/>
              </a:ext>
            </a:extLst>
          </p:cNvPr>
          <p:cNvSpPr txBox="1"/>
          <p:nvPr/>
        </p:nvSpPr>
        <p:spPr>
          <a:xfrm>
            <a:off x="605790" y="5527236"/>
            <a:ext cx="11382704" cy="830997"/>
          </a:xfrm>
          <a:prstGeom prst="rect">
            <a:avLst/>
          </a:prstGeom>
          <a:noFill/>
        </p:spPr>
        <p:txBody>
          <a:bodyPr wrap="square">
            <a:spAutoFit/>
          </a:bodyPr>
          <a:lstStyle/>
          <a:p>
            <a:r>
              <a:rPr lang="zh-CN" altLang="en-US" sz="2400" dirty="0"/>
              <a:t>提取分离法是采用各种提取、分离、纯化技术从动物、植物的组织、器官、细胞或微生物细胞中将酶提取出来，再进行分离纯化的技术过程。</a:t>
            </a:r>
          </a:p>
        </p:txBody>
      </p:sp>
      <p:grpSp>
        <p:nvGrpSpPr>
          <p:cNvPr id="4" name="组合 3">
            <a:extLst>
              <a:ext uri="{FF2B5EF4-FFF2-40B4-BE49-F238E27FC236}">
                <a16:creationId xmlns:a16="http://schemas.microsoft.com/office/drawing/2014/main" id="{919B35B4-FECC-4CBE-B6D3-17AE550EDCDB}"/>
              </a:ext>
            </a:extLst>
          </p:cNvPr>
          <p:cNvGrpSpPr/>
          <p:nvPr/>
        </p:nvGrpSpPr>
        <p:grpSpPr>
          <a:xfrm>
            <a:off x="2015183" y="1992899"/>
            <a:ext cx="7443030" cy="2872201"/>
            <a:chOff x="512203" y="2079346"/>
            <a:chExt cx="7443030" cy="2872201"/>
          </a:xfrm>
        </p:grpSpPr>
        <p:pic>
          <p:nvPicPr>
            <p:cNvPr id="3" name="图片 2">
              <a:extLst>
                <a:ext uri="{FF2B5EF4-FFF2-40B4-BE49-F238E27FC236}">
                  <a16:creationId xmlns:a16="http://schemas.microsoft.com/office/drawing/2014/main" id="{448630DF-EEC8-6671-319C-CB875FBB98E2}"/>
                </a:ext>
              </a:extLst>
            </p:cNvPr>
            <p:cNvPicPr>
              <a:picLocks noChangeAspect="1"/>
            </p:cNvPicPr>
            <p:nvPr/>
          </p:nvPicPr>
          <p:blipFill>
            <a:blip r:embed="rId4"/>
            <a:stretch>
              <a:fillRect/>
            </a:stretch>
          </p:blipFill>
          <p:spPr>
            <a:xfrm>
              <a:off x="512203" y="2256239"/>
              <a:ext cx="4013412" cy="2518416"/>
            </a:xfrm>
            <a:prstGeom prst="rect">
              <a:avLst/>
            </a:prstGeom>
          </p:spPr>
        </p:pic>
        <p:pic>
          <p:nvPicPr>
            <p:cNvPr id="8" name="图片 7">
              <a:extLst>
                <a:ext uri="{FF2B5EF4-FFF2-40B4-BE49-F238E27FC236}">
                  <a16:creationId xmlns:a16="http://schemas.microsoft.com/office/drawing/2014/main" id="{3EBB7AAB-ADE8-35A2-871A-47ED04CE6EA7}"/>
                </a:ext>
              </a:extLst>
            </p:cNvPr>
            <p:cNvPicPr>
              <a:picLocks noChangeAspect="1"/>
            </p:cNvPicPr>
            <p:nvPr/>
          </p:nvPicPr>
          <p:blipFill>
            <a:blip r:embed="rId5"/>
            <a:stretch>
              <a:fillRect/>
            </a:stretch>
          </p:blipFill>
          <p:spPr>
            <a:xfrm>
              <a:off x="4525615" y="2079346"/>
              <a:ext cx="3271562" cy="2872201"/>
            </a:xfrm>
            <a:prstGeom prst="rect">
              <a:avLst/>
            </a:prstGeom>
          </p:spPr>
        </p:pic>
        <p:pic>
          <p:nvPicPr>
            <p:cNvPr id="15" name="图片 14">
              <a:extLst>
                <a:ext uri="{FF2B5EF4-FFF2-40B4-BE49-F238E27FC236}">
                  <a16:creationId xmlns:a16="http://schemas.microsoft.com/office/drawing/2014/main" id="{E3EF87BA-AE04-5F3A-85A3-926B0669C780}"/>
                </a:ext>
              </a:extLst>
            </p:cNvPr>
            <p:cNvPicPr>
              <a:picLocks noChangeAspect="1"/>
            </p:cNvPicPr>
            <p:nvPr/>
          </p:nvPicPr>
          <p:blipFill>
            <a:blip r:embed="rId6"/>
            <a:stretch>
              <a:fillRect/>
            </a:stretch>
          </p:blipFill>
          <p:spPr>
            <a:xfrm>
              <a:off x="6389156" y="2761555"/>
              <a:ext cx="1096942" cy="1092864"/>
            </a:xfrm>
            <a:prstGeom prst="rect">
              <a:avLst/>
            </a:prstGeom>
          </p:spPr>
        </p:pic>
        <p:sp>
          <p:nvSpPr>
            <p:cNvPr id="18" name="文本框 17">
              <a:extLst>
                <a:ext uri="{FF2B5EF4-FFF2-40B4-BE49-F238E27FC236}">
                  <a16:creationId xmlns:a16="http://schemas.microsoft.com/office/drawing/2014/main" id="{0F3C70D3-DC4F-2C1C-9555-06A23E64350E}"/>
                </a:ext>
              </a:extLst>
            </p:cNvPr>
            <p:cNvSpPr txBox="1"/>
            <p:nvPr/>
          </p:nvSpPr>
          <p:spPr>
            <a:xfrm>
              <a:off x="7615853" y="2624994"/>
              <a:ext cx="339380" cy="1438855"/>
            </a:xfrm>
            <a:prstGeom prst="rect">
              <a:avLst/>
            </a:prstGeom>
            <a:noFill/>
          </p:spPr>
          <p:txBody>
            <a:bodyPr wrap="square">
              <a:spAutoFit/>
            </a:bodyPr>
            <a:lstStyle/>
            <a:p>
              <a:pPr>
                <a:lnSpc>
                  <a:spcPts val="2100"/>
                </a:lnSpc>
              </a:pPr>
              <a:r>
                <a:rPr lang="zh-CN" altLang="en-US" sz="2000" dirty="0"/>
                <a:t>菠萝蛋白酶</a:t>
              </a:r>
            </a:p>
          </p:txBody>
        </p:sp>
      </p:grpSp>
    </p:spTree>
    <p:extLst>
      <p:ext uri="{BB962C8B-B14F-4D97-AF65-F5344CB8AC3E}">
        <p14:creationId xmlns:p14="http://schemas.microsoft.com/office/powerpoint/2010/main" val="29257735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852747"/>
            <a:ext cx="4766310" cy="584775"/>
          </a:xfrm>
          <a:prstGeom prst="rect">
            <a:avLst/>
          </a:prstGeom>
          <a:noFill/>
        </p:spPr>
        <p:txBody>
          <a:bodyPr wrap="square" rtlCol="0">
            <a:spAutoFit/>
          </a:bodyPr>
          <a:lstStyle/>
          <a:p>
            <a:r>
              <a:rPr lang="zh-CN" altLang="en-US" sz="3200" b="1" dirty="0">
                <a:solidFill>
                  <a:srgbClr val="1D50A2"/>
                </a:solidFill>
                <a:cs typeface="+mn-ea"/>
                <a:sym typeface="+mn-lt"/>
              </a:rPr>
              <a:t>二、生物合成法</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pic>
        <p:nvPicPr>
          <p:cNvPr id="4" name="图片 3">
            <a:extLst>
              <a:ext uri="{FF2B5EF4-FFF2-40B4-BE49-F238E27FC236}">
                <a16:creationId xmlns:a16="http://schemas.microsoft.com/office/drawing/2014/main" id="{2B458561-1E35-C889-933E-5F01E65560B8}"/>
              </a:ext>
            </a:extLst>
          </p:cNvPr>
          <p:cNvPicPr/>
          <p:nvPr/>
        </p:nvPicPr>
        <p:blipFill>
          <a:blip r:embed="rId4"/>
          <a:stretch>
            <a:fillRect/>
          </a:stretch>
        </p:blipFill>
        <p:spPr>
          <a:xfrm>
            <a:off x="1974099" y="5452655"/>
            <a:ext cx="1847472" cy="1105196"/>
          </a:xfrm>
          <a:prstGeom prst="rect">
            <a:avLst/>
          </a:prstGeom>
          <a:noFill/>
          <a:ln>
            <a:noFill/>
          </a:ln>
        </p:spPr>
      </p:pic>
      <p:pic>
        <p:nvPicPr>
          <p:cNvPr id="5" name="Picture 8" descr="https://timgsa.baidu.com/timg?image&amp;quality=80&amp;size=b9999_10000&amp;sec=1550310369453&amp;di=8670a750a183dbe1222744386da5b9ba&amp;imgtype=0&amp;src=http%3A%2F%2Fwww.em598.com%2Fupload%2Fimage%2F20160510%2F6359849355895662506735267.jpg">
            <a:extLst>
              <a:ext uri="{FF2B5EF4-FFF2-40B4-BE49-F238E27FC236}">
                <a16:creationId xmlns:a16="http://schemas.microsoft.com/office/drawing/2014/main" id="{D8A38B09-3A4E-BABD-5AE2-B3FA73B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8110" y="2259023"/>
            <a:ext cx="2028823" cy="172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descr="https://timgsa.baidu.com/timg?image&amp;quality=80&amp;size=b9999_10000&amp;sec=1550310410831&amp;di=e4e101992701ed3dbf7f474b51159a71&amp;imgtype=0&amp;src=http%3A%2F%2Fimg.lookvin.com%2Feditor%2F201610%2F25%2F091809719.jpg">
            <a:extLst>
              <a:ext uri="{FF2B5EF4-FFF2-40B4-BE49-F238E27FC236}">
                <a16:creationId xmlns:a16="http://schemas.microsoft.com/office/drawing/2014/main" id="{BA07A57D-18FF-056C-DC43-B011AC7C9074}"/>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974099" y="3877596"/>
            <a:ext cx="1847472" cy="1438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图片 82">
            <a:extLst>
              <a:ext uri="{FF2B5EF4-FFF2-40B4-BE49-F238E27FC236}">
                <a16:creationId xmlns:a16="http://schemas.microsoft.com/office/drawing/2014/main" id="{DF4CDE3D-97C9-234D-984C-69C1D66D5A0A}"/>
              </a:ext>
            </a:extLst>
          </p:cNvPr>
          <p:cNvPicPr>
            <a:picLocks noChangeAspect="1"/>
          </p:cNvPicPr>
          <p:nvPr/>
        </p:nvPicPr>
        <p:blipFill>
          <a:blip r:embed="rId8"/>
          <a:stretch>
            <a:fillRect/>
          </a:stretch>
        </p:blipFill>
        <p:spPr>
          <a:xfrm>
            <a:off x="4504244" y="2132919"/>
            <a:ext cx="3817346" cy="3944591"/>
          </a:xfrm>
          <a:prstGeom prst="rect">
            <a:avLst/>
          </a:prstGeom>
        </p:spPr>
      </p:pic>
      <p:sp>
        <p:nvSpPr>
          <p:cNvPr id="84" name="文本框 83">
            <a:extLst>
              <a:ext uri="{FF2B5EF4-FFF2-40B4-BE49-F238E27FC236}">
                <a16:creationId xmlns:a16="http://schemas.microsoft.com/office/drawing/2014/main" id="{3D4E9067-4DD4-72E1-4E64-CC04E800E585}"/>
              </a:ext>
            </a:extLst>
          </p:cNvPr>
          <p:cNvSpPr txBox="1"/>
          <p:nvPr/>
        </p:nvSpPr>
        <p:spPr>
          <a:xfrm>
            <a:off x="237153" y="2702177"/>
            <a:ext cx="1620957" cy="523220"/>
          </a:xfrm>
          <a:prstGeom prst="rect">
            <a:avLst/>
          </a:prstGeom>
          <a:noFill/>
        </p:spPr>
        <p:txBody>
          <a:bodyPr wrap="none" rtlCol="0">
            <a:spAutoFit/>
          </a:bodyPr>
          <a:lstStyle>
            <a:defPPr>
              <a:defRPr lang="zh-CN"/>
            </a:defPPr>
            <a:lvl1pPr>
              <a:defRPr sz="2800">
                <a:latin typeface="+mj-ea"/>
                <a:ea typeface="+mj-ea"/>
              </a:defRPr>
            </a:lvl1pPr>
          </a:lstStyle>
          <a:p>
            <a:r>
              <a:rPr lang="zh-CN" altLang="en-US" dirty="0"/>
              <a:t>芽孢杆菌</a:t>
            </a:r>
          </a:p>
        </p:txBody>
      </p:sp>
      <p:sp>
        <p:nvSpPr>
          <p:cNvPr id="85" name="文本框 84">
            <a:extLst>
              <a:ext uri="{FF2B5EF4-FFF2-40B4-BE49-F238E27FC236}">
                <a16:creationId xmlns:a16="http://schemas.microsoft.com/office/drawing/2014/main" id="{794B073D-3B08-701C-2EE1-7872BD979421}"/>
              </a:ext>
            </a:extLst>
          </p:cNvPr>
          <p:cNvSpPr txBox="1"/>
          <p:nvPr/>
        </p:nvSpPr>
        <p:spPr>
          <a:xfrm>
            <a:off x="807871" y="4340524"/>
            <a:ext cx="902811" cy="523220"/>
          </a:xfrm>
          <a:prstGeom prst="rect">
            <a:avLst/>
          </a:prstGeom>
          <a:noFill/>
        </p:spPr>
        <p:txBody>
          <a:bodyPr wrap="none" rtlCol="0">
            <a:spAutoFit/>
          </a:bodyPr>
          <a:lstStyle>
            <a:defPPr>
              <a:defRPr lang="zh-CN"/>
            </a:defPPr>
            <a:lvl1pPr>
              <a:defRPr sz="2800">
                <a:latin typeface="+mj-ea"/>
                <a:ea typeface="+mj-ea"/>
              </a:defRPr>
            </a:lvl1pPr>
          </a:lstStyle>
          <a:p>
            <a:r>
              <a:rPr lang="zh-CN" altLang="en-US" dirty="0"/>
              <a:t>酵母</a:t>
            </a:r>
          </a:p>
        </p:txBody>
      </p:sp>
      <p:sp>
        <p:nvSpPr>
          <p:cNvPr id="86" name="文本框 85">
            <a:extLst>
              <a:ext uri="{FF2B5EF4-FFF2-40B4-BE49-F238E27FC236}">
                <a16:creationId xmlns:a16="http://schemas.microsoft.com/office/drawing/2014/main" id="{00BC7A3C-CE6A-970D-C335-0FBB95135E5E}"/>
              </a:ext>
            </a:extLst>
          </p:cNvPr>
          <p:cNvSpPr txBox="1"/>
          <p:nvPr/>
        </p:nvSpPr>
        <p:spPr>
          <a:xfrm>
            <a:off x="237153" y="5842070"/>
            <a:ext cx="1620957" cy="523220"/>
          </a:xfrm>
          <a:prstGeom prst="rect">
            <a:avLst/>
          </a:prstGeom>
          <a:noFill/>
        </p:spPr>
        <p:txBody>
          <a:bodyPr wrap="none" rtlCol="0">
            <a:spAutoFit/>
          </a:bodyPr>
          <a:lstStyle/>
          <a:p>
            <a:pPr algn="l"/>
            <a:r>
              <a:rPr lang="zh-CN" altLang="en-US" sz="2800" dirty="0">
                <a:latin typeface="+mj-ea"/>
                <a:ea typeface="+mj-ea"/>
              </a:rPr>
              <a:t>丝状真菌</a:t>
            </a:r>
          </a:p>
        </p:txBody>
      </p:sp>
      <p:sp>
        <p:nvSpPr>
          <p:cNvPr id="88" name="文本框 87">
            <a:extLst>
              <a:ext uri="{FF2B5EF4-FFF2-40B4-BE49-F238E27FC236}">
                <a16:creationId xmlns:a16="http://schemas.microsoft.com/office/drawing/2014/main" id="{2D8F4A8D-B00C-ACD9-0D51-77BE7E8CC63D}"/>
              </a:ext>
            </a:extLst>
          </p:cNvPr>
          <p:cNvSpPr txBox="1"/>
          <p:nvPr/>
        </p:nvSpPr>
        <p:spPr>
          <a:xfrm>
            <a:off x="4796278" y="5935284"/>
            <a:ext cx="3046355" cy="584775"/>
          </a:xfrm>
          <a:prstGeom prst="rect">
            <a:avLst/>
          </a:prstGeom>
          <a:noFill/>
        </p:spPr>
        <p:txBody>
          <a:bodyPr wrap="square">
            <a:spAutoFit/>
          </a:bodyPr>
          <a:lstStyle/>
          <a:p>
            <a:r>
              <a:rPr lang="zh-CN" altLang="en-US" sz="3200" b="1" dirty="0">
                <a:solidFill>
                  <a:srgbClr val="FF0000"/>
                </a:solidFill>
                <a:latin typeface="+mn-ea"/>
                <a:cs typeface="Times New Roman" panose="02020603050405020304" pitchFamily="18" charset="0"/>
              </a:rPr>
              <a:t>常用的产酶</a:t>
            </a:r>
            <a:r>
              <a:rPr lang="zh-CN" altLang="en-US" sz="3200" b="1" dirty="0">
                <a:solidFill>
                  <a:srgbClr val="FF0000"/>
                </a:solidFill>
                <a:effectLst/>
                <a:latin typeface="+mn-ea"/>
                <a:cs typeface="Times New Roman" panose="02020603050405020304" pitchFamily="18" charset="0"/>
              </a:rPr>
              <a:t>方式</a:t>
            </a:r>
            <a:endParaRPr lang="zh-CN" altLang="en-US" sz="3200" b="1" dirty="0">
              <a:solidFill>
                <a:srgbClr val="FF0000"/>
              </a:solidFill>
              <a:latin typeface="+mn-ea"/>
            </a:endParaRPr>
          </a:p>
        </p:txBody>
      </p:sp>
      <p:sp>
        <p:nvSpPr>
          <p:cNvPr id="90" name="文本框 89">
            <a:extLst>
              <a:ext uri="{FF2B5EF4-FFF2-40B4-BE49-F238E27FC236}">
                <a16:creationId xmlns:a16="http://schemas.microsoft.com/office/drawing/2014/main" id="{4642CA8E-E108-A209-CF8C-8D8075B05B1C}"/>
              </a:ext>
            </a:extLst>
          </p:cNvPr>
          <p:cNvSpPr txBox="1"/>
          <p:nvPr/>
        </p:nvSpPr>
        <p:spPr>
          <a:xfrm>
            <a:off x="8644920" y="1437522"/>
            <a:ext cx="3108761" cy="646331"/>
          </a:xfrm>
          <a:prstGeom prst="rect">
            <a:avLst/>
          </a:prstGeom>
          <a:noFill/>
        </p:spPr>
        <p:txBody>
          <a:bodyPr wrap="square">
            <a:spAutoFit/>
          </a:bodyPr>
          <a:lstStyle>
            <a:defPPr>
              <a:defRPr lang="zh-CN"/>
            </a:defPPr>
            <a:lvl1pPr>
              <a:defRPr sz="3200">
                <a:effectLst/>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zh-CN" sz="3600" b="1" dirty="0">
                <a:latin typeface="+mj-ea"/>
                <a:ea typeface="+mj-ea"/>
                <a:cs typeface="+mn-cs"/>
              </a:rPr>
              <a:t>固体培养发酵</a:t>
            </a:r>
            <a:endParaRPr lang="zh-CN" altLang="en-US" sz="3600" b="1" dirty="0">
              <a:latin typeface="+mj-ea"/>
              <a:ea typeface="+mj-ea"/>
              <a:cs typeface="+mn-cs"/>
            </a:endParaRPr>
          </a:p>
        </p:txBody>
      </p:sp>
      <p:pic>
        <p:nvPicPr>
          <p:cNvPr id="91" name="图片 90">
            <a:extLst>
              <a:ext uri="{FF2B5EF4-FFF2-40B4-BE49-F238E27FC236}">
                <a16:creationId xmlns:a16="http://schemas.microsoft.com/office/drawing/2014/main" id="{32059D75-DA9B-EAE6-FA4E-1D9CC51C3ED5}"/>
              </a:ext>
            </a:extLst>
          </p:cNvPr>
          <p:cNvPicPr>
            <a:picLocks noChangeAspect="1"/>
          </p:cNvPicPr>
          <p:nvPr/>
        </p:nvPicPr>
        <p:blipFill>
          <a:blip r:embed="rId9"/>
          <a:stretch>
            <a:fillRect/>
          </a:stretch>
        </p:blipFill>
        <p:spPr>
          <a:xfrm>
            <a:off x="8288768" y="2187886"/>
            <a:ext cx="3630020" cy="3892226"/>
          </a:xfrm>
          <a:prstGeom prst="rect">
            <a:avLst/>
          </a:prstGeom>
        </p:spPr>
      </p:pic>
      <p:sp>
        <p:nvSpPr>
          <p:cNvPr id="92" name="文本框 91">
            <a:extLst>
              <a:ext uri="{FF2B5EF4-FFF2-40B4-BE49-F238E27FC236}">
                <a16:creationId xmlns:a16="http://schemas.microsoft.com/office/drawing/2014/main" id="{4498516A-3842-16EA-02BA-E7ED619DBA5A}"/>
              </a:ext>
            </a:extLst>
          </p:cNvPr>
          <p:cNvSpPr txBox="1"/>
          <p:nvPr/>
        </p:nvSpPr>
        <p:spPr>
          <a:xfrm>
            <a:off x="1882172" y="1544196"/>
            <a:ext cx="2031325" cy="646331"/>
          </a:xfrm>
          <a:prstGeom prst="rect">
            <a:avLst/>
          </a:prstGeom>
          <a:noFill/>
        </p:spPr>
        <p:txBody>
          <a:bodyPr wrap="none" rtlCol="0">
            <a:spAutoFit/>
          </a:bodyPr>
          <a:lstStyle/>
          <a:p>
            <a:pPr algn="l"/>
            <a:r>
              <a:rPr lang="zh-CN" altLang="en-US" sz="3600" b="1" dirty="0">
                <a:latin typeface="+mj-ea"/>
                <a:ea typeface="+mj-ea"/>
              </a:rPr>
              <a:t>常用宿主</a:t>
            </a:r>
          </a:p>
        </p:txBody>
      </p:sp>
      <p:sp>
        <p:nvSpPr>
          <p:cNvPr id="93" name="文本框 92">
            <a:extLst>
              <a:ext uri="{FF2B5EF4-FFF2-40B4-BE49-F238E27FC236}">
                <a16:creationId xmlns:a16="http://schemas.microsoft.com/office/drawing/2014/main" id="{487EC873-DCFB-968F-D0AB-A6D709E1EC88}"/>
              </a:ext>
            </a:extLst>
          </p:cNvPr>
          <p:cNvSpPr txBox="1"/>
          <p:nvPr/>
        </p:nvSpPr>
        <p:spPr>
          <a:xfrm>
            <a:off x="4410783" y="1525107"/>
            <a:ext cx="3877985" cy="646331"/>
          </a:xfrm>
          <a:prstGeom prst="rect">
            <a:avLst/>
          </a:prstGeom>
          <a:noFill/>
        </p:spPr>
        <p:txBody>
          <a:bodyPr wrap="none" rtlCol="0">
            <a:spAutoFit/>
          </a:bodyPr>
          <a:lstStyle/>
          <a:p>
            <a:pPr algn="l"/>
            <a:r>
              <a:rPr lang="zh-CN" altLang="en-US" sz="3600" b="1" dirty="0">
                <a:latin typeface="+mj-ea"/>
                <a:ea typeface="+mj-ea"/>
              </a:rPr>
              <a:t>液体深层培养发酵</a:t>
            </a:r>
          </a:p>
        </p:txBody>
      </p:sp>
    </p:spTree>
    <p:extLst>
      <p:ext uri="{BB962C8B-B14F-4D97-AF65-F5344CB8AC3E}">
        <p14:creationId xmlns:p14="http://schemas.microsoft.com/office/powerpoint/2010/main" val="3192053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7" name="文本框 6">
            <a:extLst>
              <a:ext uri="{FF2B5EF4-FFF2-40B4-BE49-F238E27FC236}">
                <a16:creationId xmlns:a16="http://schemas.microsoft.com/office/drawing/2014/main" id="{45486A26-B6CF-700C-EE93-DB9133BC811F}"/>
              </a:ext>
            </a:extLst>
          </p:cNvPr>
          <p:cNvSpPr txBox="1"/>
          <p:nvPr/>
        </p:nvSpPr>
        <p:spPr>
          <a:xfrm>
            <a:off x="732790" y="1035478"/>
            <a:ext cx="8032968" cy="646331"/>
          </a:xfrm>
          <a:prstGeom prst="rect">
            <a:avLst/>
          </a:prstGeom>
          <a:noFill/>
        </p:spPr>
        <p:txBody>
          <a:bodyPr wrap="none" rtlCol="0">
            <a:spAutoFit/>
          </a:bodyPr>
          <a:lstStyle>
            <a:defPPr>
              <a:defRPr lang="zh-CN"/>
            </a:defPPr>
            <a:lvl1pPr>
              <a:defRPr sz="3600" b="1">
                <a:latin typeface="+mj-ea"/>
                <a:ea typeface="+mj-ea"/>
              </a:defRPr>
            </a:lvl1pPr>
          </a:lstStyle>
          <a:p>
            <a:r>
              <a:rPr lang="zh-CN" altLang="en-US" dirty="0"/>
              <a:t>固定化细胞发酵、固定化原生质体发酵</a:t>
            </a:r>
          </a:p>
        </p:txBody>
      </p:sp>
      <p:sp>
        <p:nvSpPr>
          <p:cNvPr id="14" name="文本框 13">
            <a:extLst>
              <a:ext uri="{FF2B5EF4-FFF2-40B4-BE49-F238E27FC236}">
                <a16:creationId xmlns:a16="http://schemas.microsoft.com/office/drawing/2014/main" id="{1A1D3E31-5521-5042-488C-05F121ABE07A}"/>
              </a:ext>
            </a:extLst>
          </p:cNvPr>
          <p:cNvSpPr txBox="1"/>
          <p:nvPr/>
        </p:nvSpPr>
        <p:spPr>
          <a:xfrm>
            <a:off x="574543" y="2038383"/>
            <a:ext cx="11042913" cy="3539430"/>
          </a:xfrm>
          <a:prstGeom prst="rect">
            <a:avLst/>
          </a:prstGeom>
          <a:noFill/>
        </p:spPr>
        <p:txBody>
          <a:bodyPr wrap="square">
            <a:spAutoFit/>
          </a:bodyPr>
          <a:lstStyle/>
          <a:p>
            <a:pPr marL="285750" indent="-285750">
              <a:buFont typeface="Wingdings" panose="05000000000000000000" pitchFamily="2" charset="2"/>
              <a:buChar char="Ø"/>
            </a:pPr>
            <a:r>
              <a:rPr lang="zh-CN" altLang="en-US" sz="2800" dirty="0"/>
              <a:t>固定化细胞适用于胞外酶等可以分泌到细胞外产物的生产。例如，固定化枯草杆菌细胞生产</a:t>
            </a:r>
            <a:r>
              <a:rPr lang="en-US" altLang="zh-CN" sz="2800" dirty="0"/>
              <a:t>α-</a:t>
            </a:r>
            <a:r>
              <a:rPr lang="zh-CN" altLang="en-US" sz="2800" dirty="0"/>
              <a:t>淀粉酶，固定化黑曲霉细胞生产糖化酶、果胶酶等。</a:t>
            </a:r>
            <a:endParaRPr lang="en-US" altLang="zh-CN" sz="2800" dirty="0"/>
          </a:p>
          <a:p>
            <a:pPr marL="285750" indent="-285750">
              <a:buFont typeface="Wingdings" panose="05000000000000000000" pitchFamily="2" charset="2"/>
              <a:buChar char="Ø"/>
            </a:pPr>
            <a:endParaRPr lang="en-US" altLang="zh-CN" sz="2800" dirty="0"/>
          </a:p>
          <a:p>
            <a:pPr marL="285750" indent="-285750">
              <a:buFont typeface="Wingdings" panose="05000000000000000000" pitchFamily="2" charset="2"/>
              <a:buChar char="Ø"/>
            </a:pPr>
            <a:r>
              <a:rPr lang="zh-CN" altLang="en-US" sz="2800" dirty="0"/>
              <a:t>固定化原生质体则适合于生产原来存在于细胞内的酶和其他胞内产物。例如，固定化枯草杆菌原生质体生产碱性磷酸酶，固定化黑曲霉原生质体生产葡萄糖氧化酶，固定化谷氨酸棒杆菌原生质体生产谷氨酸脱氢酶等。</a:t>
            </a:r>
          </a:p>
        </p:txBody>
      </p:sp>
      <p:sp>
        <p:nvSpPr>
          <p:cNvPr id="16" name="文本框 15">
            <a:extLst>
              <a:ext uri="{FF2B5EF4-FFF2-40B4-BE49-F238E27FC236}">
                <a16:creationId xmlns:a16="http://schemas.microsoft.com/office/drawing/2014/main" id="{E2339885-BFA5-79C5-4CB2-207600512923}"/>
              </a:ext>
            </a:extLst>
          </p:cNvPr>
          <p:cNvSpPr txBox="1"/>
          <p:nvPr/>
        </p:nvSpPr>
        <p:spPr>
          <a:xfrm>
            <a:off x="241300" y="5822522"/>
            <a:ext cx="11950700" cy="461665"/>
          </a:xfrm>
          <a:prstGeom prst="rect">
            <a:avLst/>
          </a:prstGeom>
          <a:noFill/>
        </p:spPr>
        <p:txBody>
          <a:bodyPr wrap="square">
            <a:spAutoFit/>
          </a:bodyPr>
          <a:lstStyle/>
          <a:p>
            <a:r>
              <a:rPr lang="zh-CN" altLang="en-US" sz="2400" b="1" dirty="0">
                <a:solidFill>
                  <a:srgbClr val="C00000"/>
                </a:solidFill>
              </a:rPr>
              <a:t>优点：由于固定化原生质体解除了细胞壁的扩散障碍，可以使某些胞内酶分泌到细胞外。</a:t>
            </a:r>
          </a:p>
        </p:txBody>
      </p:sp>
    </p:spTree>
    <p:extLst>
      <p:ext uri="{BB962C8B-B14F-4D97-AF65-F5344CB8AC3E}">
        <p14:creationId xmlns:p14="http://schemas.microsoft.com/office/powerpoint/2010/main" val="19720724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852747"/>
            <a:ext cx="3407410" cy="584775"/>
          </a:xfrm>
          <a:prstGeom prst="rect">
            <a:avLst/>
          </a:prstGeom>
          <a:noFill/>
        </p:spPr>
        <p:txBody>
          <a:bodyPr wrap="square" rtlCol="0">
            <a:spAutoFit/>
          </a:bodyPr>
          <a:lstStyle/>
          <a:p>
            <a:r>
              <a:rPr lang="zh-CN" altLang="en-US" sz="3200" b="1" dirty="0">
                <a:solidFill>
                  <a:srgbClr val="1D50A2"/>
                </a:solidFill>
                <a:cs typeface="+mn-ea"/>
                <a:sym typeface="+mn-lt"/>
              </a:rPr>
              <a:t>三、化学合成法</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pic>
        <p:nvPicPr>
          <p:cNvPr id="7" name="图片 6">
            <a:extLst>
              <a:ext uri="{FF2B5EF4-FFF2-40B4-BE49-F238E27FC236}">
                <a16:creationId xmlns:a16="http://schemas.microsoft.com/office/drawing/2014/main" id="{B5F4F931-ADD6-3584-B147-B6236335D353}"/>
              </a:ext>
            </a:extLst>
          </p:cNvPr>
          <p:cNvPicPr>
            <a:picLocks noChangeAspect="1"/>
          </p:cNvPicPr>
          <p:nvPr/>
        </p:nvPicPr>
        <p:blipFill>
          <a:blip r:embed="rId4"/>
          <a:stretch>
            <a:fillRect/>
          </a:stretch>
        </p:blipFill>
        <p:spPr>
          <a:xfrm>
            <a:off x="379254" y="1832228"/>
            <a:ext cx="5941256" cy="4173025"/>
          </a:xfrm>
          <a:prstGeom prst="rect">
            <a:avLst/>
          </a:prstGeom>
        </p:spPr>
      </p:pic>
      <p:sp>
        <p:nvSpPr>
          <p:cNvPr id="9" name="文本框 8">
            <a:extLst>
              <a:ext uri="{FF2B5EF4-FFF2-40B4-BE49-F238E27FC236}">
                <a16:creationId xmlns:a16="http://schemas.microsoft.com/office/drawing/2014/main" id="{D798DB91-1D3D-05E2-C0B4-DD9437D27B81}"/>
              </a:ext>
            </a:extLst>
          </p:cNvPr>
          <p:cNvSpPr txBox="1"/>
          <p:nvPr/>
        </p:nvSpPr>
        <p:spPr>
          <a:xfrm>
            <a:off x="6553200" y="2176840"/>
            <a:ext cx="5435600" cy="4031873"/>
          </a:xfrm>
          <a:prstGeom prst="rect">
            <a:avLst/>
          </a:prstGeom>
          <a:noFill/>
        </p:spPr>
        <p:txBody>
          <a:bodyPr wrap="square">
            <a:spAutoFit/>
          </a:bodyPr>
          <a:lstStyle/>
          <a:p>
            <a:pPr marL="457200" indent="-457200">
              <a:buFont typeface="Wingdings" panose="05000000000000000000" pitchFamily="2" charset="2"/>
              <a:buChar char="Ø"/>
            </a:pPr>
            <a:r>
              <a:rPr lang="en-US" altLang="zh-CN" sz="3200" dirty="0"/>
              <a:t>1965</a:t>
            </a:r>
            <a:r>
              <a:rPr lang="zh-CN" altLang="en-US" sz="3200" dirty="0"/>
              <a:t>年，我国人工合成胰岛素的成功，开创了蛋白质化学合成的先河。</a:t>
            </a:r>
            <a:endParaRPr lang="en-US" altLang="zh-CN" sz="3200" dirty="0"/>
          </a:p>
          <a:p>
            <a:pPr marL="457200" indent="-457200">
              <a:buFont typeface="Wingdings" panose="05000000000000000000" pitchFamily="2" charset="2"/>
              <a:buChar char="Ø"/>
            </a:pPr>
            <a:endParaRPr lang="en-US" altLang="zh-CN" sz="3200" dirty="0"/>
          </a:p>
          <a:p>
            <a:pPr marL="457200" indent="-457200">
              <a:buFont typeface="Wingdings" panose="05000000000000000000" pitchFamily="2" charset="2"/>
              <a:buChar char="Ø"/>
            </a:pPr>
            <a:r>
              <a:rPr lang="en-US" altLang="zh-CN" sz="3200" dirty="0"/>
              <a:t>1969</a:t>
            </a:r>
            <a:r>
              <a:rPr lang="zh-CN" altLang="zh-CN" sz="3200" dirty="0"/>
              <a:t>年，采用化学合成法得到含有</a:t>
            </a:r>
            <a:r>
              <a:rPr lang="en-US" altLang="zh-CN" sz="3200" dirty="0"/>
              <a:t>124</a:t>
            </a:r>
            <a:r>
              <a:rPr lang="zh-CN" altLang="zh-CN" sz="3200" dirty="0"/>
              <a:t>个氨基酸的核糖核酸酶</a:t>
            </a:r>
            <a:r>
              <a:rPr lang="zh-CN" altLang="en-US" sz="3200" dirty="0"/>
              <a:t>。</a:t>
            </a:r>
            <a:endParaRPr lang="en-US" altLang="zh-CN" sz="3200" dirty="0"/>
          </a:p>
          <a:p>
            <a:pPr marL="457200" indent="-457200">
              <a:buFont typeface="Wingdings" panose="05000000000000000000" pitchFamily="2" charset="2"/>
              <a:buChar char="Ø"/>
            </a:pPr>
            <a:endParaRPr lang="zh-CN" altLang="en-US" sz="3200" dirty="0"/>
          </a:p>
        </p:txBody>
      </p:sp>
    </p:spTree>
    <p:extLst>
      <p:ext uri="{BB962C8B-B14F-4D97-AF65-F5344CB8AC3E}">
        <p14:creationId xmlns:p14="http://schemas.microsoft.com/office/powerpoint/2010/main" val="4281637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514032" y="753677"/>
            <a:ext cx="4450716" cy="646331"/>
          </a:xfrm>
          <a:prstGeom prst="rect">
            <a:avLst/>
          </a:prstGeom>
          <a:noFill/>
        </p:spPr>
        <p:txBody>
          <a:bodyPr wrap="square" rtlCol="0">
            <a:spAutoFit/>
          </a:bodyPr>
          <a:lstStyle/>
          <a:p>
            <a:r>
              <a:rPr lang="zh-CN" altLang="en-US" sz="3600" b="1" dirty="0">
                <a:latin typeface="+mj-ea"/>
                <a:ea typeface="+mj-ea"/>
                <a:sym typeface="+mn-lt"/>
              </a:rPr>
              <a:t>模拟酶</a:t>
            </a:r>
            <a:r>
              <a:rPr lang="en-US" altLang="zh-CN" sz="3600" b="1" dirty="0">
                <a:latin typeface="+mj-ea"/>
                <a:ea typeface="+mj-ea"/>
                <a:sym typeface="+mn-lt"/>
              </a:rPr>
              <a:t>——</a:t>
            </a:r>
            <a:r>
              <a:rPr lang="zh-CN" altLang="en-US" sz="3600" b="1" dirty="0">
                <a:latin typeface="+mj-ea"/>
                <a:ea typeface="+mj-ea"/>
                <a:sym typeface="+mn-lt"/>
              </a:rPr>
              <a:t>仿酶体系</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AD33C16F-14F5-B4CA-CEAD-2107C751DF0F}"/>
              </a:ext>
            </a:extLst>
          </p:cNvPr>
          <p:cNvSpPr txBox="1"/>
          <p:nvPr/>
        </p:nvSpPr>
        <p:spPr>
          <a:xfrm>
            <a:off x="1304290" y="1459327"/>
            <a:ext cx="2870200" cy="523220"/>
          </a:xfrm>
          <a:prstGeom prst="rect">
            <a:avLst/>
          </a:prstGeom>
          <a:noFill/>
        </p:spPr>
        <p:txBody>
          <a:bodyPr wrap="square">
            <a:spAutoFit/>
          </a:bodyPr>
          <a:lstStyle/>
          <a:p>
            <a:r>
              <a:rPr lang="zh-CN" altLang="zh-CN" sz="2800" b="1" dirty="0">
                <a:solidFill>
                  <a:srgbClr val="C00000"/>
                </a:solidFill>
                <a:effectLst/>
                <a:latin typeface="+mj-ea"/>
                <a:ea typeface="+mj-ea"/>
                <a:cs typeface="Times New Roman" panose="02020603050405020304" pitchFamily="18" charset="0"/>
              </a:rPr>
              <a:t>小分子仿酶体系</a:t>
            </a:r>
            <a:endParaRPr lang="zh-CN" altLang="en-US" sz="2800" b="1" dirty="0">
              <a:solidFill>
                <a:srgbClr val="C00000"/>
              </a:solidFill>
              <a:latin typeface="+mj-ea"/>
              <a:ea typeface="+mj-ea"/>
            </a:endParaRPr>
          </a:p>
        </p:txBody>
      </p:sp>
      <p:sp>
        <p:nvSpPr>
          <p:cNvPr id="6" name="文本框 5">
            <a:extLst>
              <a:ext uri="{FF2B5EF4-FFF2-40B4-BE49-F238E27FC236}">
                <a16:creationId xmlns:a16="http://schemas.microsoft.com/office/drawing/2014/main" id="{30BDB2DB-4FD1-64A1-5974-A0E40A7F528E}"/>
              </a:ext>
            </a:extLst>
          </p:cNvPr>
          <p:cNvSpPr txBox="1"/>
          <p:nvPr/>
        </p:nvSpPr>
        <p:spPr>
          <a:xfrm>
            <a:off x="260987" y="5409526"/>
            <a:ext cx="5720713" cy="1200329"/>
          </a:xfrm>
          <a:prstGeom prst="rect">
            <a:avLst/>
          </a:prstGeom>
          <a:noFill/>
        </p:spPr>
        <p:txBody>
          <a:bodyPr wrap="square">
            <a:spAutoFit/>
          </a:bodyPr>
          <a:lstStyle/>
          <a:p>
            <a:r>
              <a:rPr lang="zh-CN" altLang="zh-CN" sz="2400" dirty="0"/>
              <a:t>通过化学修饰，在环状糊精的分子上引入催化</a:t>
            </a:r>
            <a:r>
              <a:rPr lang="zh-CN" altLang="en-US" sz="2400" dirty="0"/>
              <a:t>基团</a:t>
            </a:r>
            <a:r>
              <a:rPr lang="zh-CN" altLang="zh-CN" sz="2400" dirty="0"/>
              <a:t>，</a:t>
            </a:r>
            <a:r>
              <a:rPr lang="zh-CN" altLang="en-US" sz="2400" dirty="0"/>
              <a:t>已经获得了酯酶、转氨酶、氧化还原酶、核糖核酸酶等多种酶的模拟酶。</a:t>
            </a:r>
          </a:p>
        </p:txBody>
      </p:sp>
      <p:pic>
        <p:nvPicPr>
          <p:cNvPr id="8" name="图片 7">
            <a:extLst>
              <a:ext uri="{FF2B5EF4-FFF2-40B4-BE49-F238E27FC236}">
                <a16:creationId xmlns:a16="http://schemas.microsoft.com/office/drawing/2014/main" id="{B7295799-B388-6185-0B84-13573EB146CB}"/>
              </a:ext>
            </a:extLst>
          </p:cNvPr>
          <p:cNvPicPr>
            <a:picLocks noChangeAspect="1"/>
          </p:cNvPicPr>
          <p:nvPr/>
        </p:nvPicPr>
        <p:blipFill>
          <a:blip r:embed="rId4"/>
          <a:stretch>
            <a:fillRect/>
          </a:stretch>
        </p:blipFill>
        <p:spPr>
          <a:xfrm>
            <a:off x="438238" y="2016171"/>
            <a:ext cx="5543462" cy="3433510"/>
          </a:xfrm>
          <a:prstGeom prst="rect">
            <a:avLst/>
          </a:prstGeom>
        </p:spPr>
      </p:pic>
      <p:pic>
        <p:nvPicPr>
          <p:cNvPr id="14" name="图片 13">
            <a:extLst>
              <a:ext uri="{FF2B5EF4-FFF2-40B4-BE49-F238E27FC236}">
                <a16:creationId xmlns:a16="http://schemas.microsoft.com/office/drawing/2014/main" id="{3539698D-EA67-0AA2-F48E-308A01525441}"/>
              </a:ext>
            </a:extLst>
          </p:cNvPr>
          <p:cNvPicPr>
            <a:picLocks noChangeAspect="1"/>
          </p:cNvPicPr>
          <p:nvPr/>
        </p:nvPicPr>
        <p:blipFill>
          <a:blip r:embed="rId5"/>
          <a:stretch>
            <a:fillRect/>
          </a:stretch>
        </p:blipFill>
        <p:spPr>
          <a:xfrm>
            <a:off x="6379683" y="1830051"/>
            <a:ext cx="4624647" cy="3619630"/>
          </a:xfrm>
          <a:prstGeom prst="rect">
            <a:avLst/>
          </a:prstGeom>
        </p:spPr>
      </p:pic>
      <p:sp>
        <p:nvSpPr>
          <p:cNvPr id="16" name="文本框 15">
            <a:extLst>
              <a:ext uri="{FF2B5EF4-FFF2-40B4-BE49-F238E27FC236}">
                <a16:creationId xmlns:a16="http://schemas.microsoft.com/office/drawing/2014/main" id="{99538752-4E9D-47F6-96E6-AAC9EB116877}"/>
              </a:ext>
            </a:extLst>
          </p:cNvPr>
          <p:cNvSpPr txBox="1"/>
          <p:nvPr/>
        </p:nvSpPr>
        <p:spPr>
          <a:xfrm>
            <a:off x="6274343" y="5449681"/>
            <a:ext cx="5543462" cy="1200329"/>
          </a:xfrm>
          <a:prstGeom prst="rect">
            <a:avLst/>
          </a:prstGeom>
          <a:noFill/>
        </p:spPr>
        <p:txBody>
          <a:bodyPr wrap="square">
            <a:spAutoFit/>
          </a:bodyPr>
          <a:lstStyle/>
          <a:p>
            <a:r>
              <a:rPr lang="zh-CN" altLang="en-US" sz="2400" dirty="0"/>
              <a:t>纳米酶具有类酶催化效应，具有着高效的催化活性，并与生物酶有着极其相似的催化条件和催化机制。</a:t>
            </a:r>
          </a:p>
        </p:txBody>
      </p:sp>
      <p:sp>
        <p:nvSpPr>
          <p:cNvPr id="17" name="文本框 16">
            <a:extLst>
              <a:ext uri="{FF2B5EF4-FFF2-40B4-BE49-F238E27FC236}">
                <a16:creationId xmlns:a16="http://schemas.microsoft.com/office/drawing/2014/main" id="{EA9EED3C-576F-FEBB-8422-AC6DBED5E541}"/>
              </a:ext>
            </a:extLst>
          </p:cNvPr>
          <p:cNvSpPr txBox="1"/>
          <p:nvPr/>
        </p:nvSpPr>
        <p:spPr>
          <a:xfrm>
            <a:off x="8035613" y="1400008"/>
            <a:ext cx="1312786" cy="523220"/>
          </a:xfrm>
          <a:prstGeom prst="rect">
            <a:avLst/>
          </a:prstGeom>
          <a:noFill/>
        </p:spPr>
        <p:txBody>
          <a:bodyPr wrap="square">
            <a:spAutoFit/>
          </a:bodyPr>
          <a:lstStyle/>
          <a:p>
            <a:r>
              <a:rPr lang="zh-CN" altLang="en-US" sz="2800" b="1" dirty="0">
                <a:solidFill>
                  <a:srgbClr val="C00000"/>
                </a:solidFill>
                <a:latin typeface="+mj-ea"/>
                <a:ea typeface="+mj-ea"/>
                <a:cs typeface="Times New Roman" panose="02020603050405020304" pitchFamily="18" charset="0"/>
              </a:rPr>
              <a:t>纳米酶</a:t>
            </a:r>
          </a:p>
        </p:txBody>
      </p:sp>
    </p:spTree>
    <p:extLst>
      <p:ext uri="{BB962C8B-B14F-4D97-AF65-F5344CB8AC3E}">
        <p14:creationId xmlns:p14="http://schemas.microsoft.com/office/powerpoint/2010/main" val="1675634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514032" y="753677"/>
            <a:ext cx="4450716" cy="646331"/>
          </a:xfrm>
          <a:prstGeom prst="rect">
            <a:avLst/>
          </a:prstGeom>
          <a:noFill/>
        </p:spPr>
        <p:txBody>
          <a:bodyPr wrap="square" rtlCol="0">
            <a:spAutoFit/>
          </a:bodyPr>
          <a:lstStyle/>
          <a:p>
            <a:r>
              <a:rPr lang="zh-CN" altLang="en-US" sz="3600" b="1" dirty="0">
                <a:latin typeface="+mj-ea"/>
                <a:ea typeface="+mj-ea"/>
                <a:sym typeface="+mn-lt"/>
              </a:rPr>
              <a:t>模拟酶</a:t>
            </a:r>
            <a:r>
              <a:rPr lang="en-US" altLang="zh-CN" sz="3600" b="1" dirty="0">
                <a:latin typeface="+mj-ea"/>
                <a:ea typeface="+mj-ea"/>
                <a:sym typeface="+mn-lt"/>
              </a:rPr>
              <a:t>——</a:t>
            </a:r>
            <a:r>
              <a:rPr lang="zh-CN" altLang="en-US" sz="3600" b="1" dirty="0">
                <a:latin typeface="+mj-ea"/>
                <a:ea typeface="+mj-ea"/>
                <a:sym typeface="+mn-lt"/>
              </a:rPr>
              <a:t>仿酶体系</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AD33C16F-14F5-B4CA-CEAD-2107C751DF0F}"/>
              </a:ext>
            </a:extLst>
          </p:cNvPr>
          <p:cNvSpPr txBox="1"/>
          <p:nvPr/>
        </p:nvSpPr>
        <p:spPr>
          <a:xfrm>
            <a:off x="1010891" y="1468072"/>
            <a:ext cx="4182110" cy="954107"/>
          </a:xfrm>
          <a:prstGeom prst="rect">
            <a:avLst/>
          </a:prstGeom>
          <a:noFill/>
        </p:spPr>
        <p:txBody>
          <a:bodyPr wrap="square">
            <a:spAutoFit/>
          </a:bodyPr>
          <a:lstStyle/>
          <a:p>
            <a:r>
              <a:rPr lang="zh-CN" altLang="en-US" sz="2800" b="1" dirty="0">
                <a:solidFill>
                  <a:srgbClr val="C00000"/>
                </a:solidFill>
                <a:effectLst/>
                <a:latin typeface="+mj-ea"/>
                <a:ea typeface="+mj-ea"/>
                <a:cs typeface="Times New Roman" panose="02020603050405020304" pitchFamily="18" charset="0"/>
              </a:rPr>
              <a:t>分子印迹酶和</a:t>
            </a:r>
            <a:r>
              <a:rPr lang="zh-CN" altLang="en-US" sz="2800" b="1" dirty="0">
                <a:solidFill>
                  <a:srgbClr val="C00000"/>
                </a:solidFill>
                <a:latin typeface="+mj-ea"/>
                <a:ea typeface="+mj-ea"/>
                <a:cs typeface="Times New Roman" panose="02020603050405020304" pitchFamily="18" charset="0"/>
              </a:rPr>
              <a:t>胶束酶</a:t>
            </a:r>
          </a:p>
          <a:p>
            <a:endParaRPr lang="zh-CN" altLang="en-US" sz="2800" b="1" dirty="0">
              <a:solidFill>
                <a:srgbClr val="C00000"/>
              </a:solidFill>
              <a:latin typeface="+mj-ea"/>
              <a:ea typeface="+mj-ea"/>
            </a:endParaRPr>
          </a:p>
        </p:txBody>
      </p:sp>
      <p:pic>
        <p:nvPicPr>
          <p:cNvPr id="3" name="图片 2">
            <a:extLst>
              <a:ext uri="{FF2B5EF4-FFF2-40B4-BE49-F238E27FC236}">
                <a16:creationId xmlns:a16="http://schemas.microsoft.com/office/drawing/2014/main" id="{3EB62EDF-870F-C909-2940-AD2560FEDAF6}"/>
              </a:ext>
            </a:extLst>
          </p:cNvPr>
          <p:cNvPicPr>
            <a:picLocks noChangeAspect="1"/>
          </p:cNvPicPr>
          <p:nvPr/>
        </p:nvPicPr>
        <p:blipFill>
          <a:blip r:embed="rId4"/>
          <a:stretch>
            <a:fillRect/>
          </a:stretch>
        </p:blipFill>
        <p:spPr>
          <a:xfrm>
            <a:off x="1010891" y="2004445"/>
            <a:ext cx="4540552" cy="3494096"/>
          </a:xfrm>
          <a:prstGeom prst="rect">
            <a:avLst/>
          </a:prstGeom>
        </p:spPr>
      </p:pic>
      <p:pic>
        <p:nvPicPr>
          <p:cNvPr id="5" name="图片 4">
            <a:extLst>
              <a:ext uri="{FF2B5EF4-FFF2-40B4-BE49-F238E27FC236}">
                <a16:creationId xmlns:a16="http://schemas.microsoft.com/office/drawing/2014/main" id="{EFA0D8D7-7D25-C921-0A0F-6719F2602B2E}"/>
              </a:ext>
            </a:extLst>
          </p:cNvPr>
          <p:cNvPicPr>
            <a:picLocks noChangeAspect="1"/>
          </p:cNvPicPr>
          <p:nvPr/>
        </p:nvPicPr>
        <p:blipFill>
          <a:blip r:embed="rId5"/>
          <a:stretch>
            <a:fillRect/>
          </a:stretch>
        </p:blipFill>
        <p:spPr>
          <a:xfrm>
            <a:off x="5885793" y="1816132"/>
            <a:ext cx="5454395" cy="3682409"/>
          </a:xfrm>
          <a:prstGeom prst="rect">
            <a:avLst/>
          </a:prstGeom>
        </p:spPr>
      </p:pic>
      <p:sp>
        <p:nvSpPr>
          <p:cNvPr id="9" name="文本框 8">
            <a:extLst>
              <a:ext uri="{FF2B5EF4-FFF2-40B4-BE49-F238E27FC236}">
                <a16:creationId xmlns:a16="http://schemas.microsoft.com/office/drawing/2014/main" id="{8E46966E-8C0F-9A8E-F1DF-454B58545DE8}"/>
              </a:ext>
            </a:extLst>
          </p:cNvPr>
          <p:cNvSpPr txBox="1"/>
          <p:nvPr/>
        </p:nvSpPr>
        <p:spPr>
          <a:xfrm>
            <a:off x="1030013" y="5567440"/>
            <a:ext cx="10864807" cy="830997"/>
          </a:xfrm>
          <a:prstGeom prst="rect">
            <a:avLst/>
          </a:prstGeom>
          <a:noFill/>
        </p:spPr>
        <p:txBody>
          <a:bodyPr wrap="square">
            <a:spAutoFit/>
          </a:bodyPr>
          <a:lstStyle/>
          <a:p>
            <a:r>
              <a:rPr lang="zh-CN" altLang="en-US" sz="2400" dirty="0"/>
              <a:t>李晓伟博士后和</a:t>
            </a:r>
            <a:r>
              <a:rPr lang="en-US" altLang="zh-CN" sz="2400" dirty="0"/>
              <a:t>Yan Zhao</a:t>
            </a:r>
            <a:r>
              <a:rPr lang="zh-CN" altLang="en-US" sz="2400" dirty="0"/>
              <a:t>教授通过自组装胶束分子印迹技术构筑了一类适合于</a:t>
            </a:r>
            <a:r>
              <a:rPr lang="en-US" altLang="zh-CN" sz="2400" dirty="0"/>
              <a:t>Aldol</a:t>
            </a:r>
            <a:r>
              <a:rPr lang="zh-CN" altLang="en-US" sz="2400" dirty="0"/>
              <a:t>缩合反应的水溶性分子印迹纳米颗粒。</a:t>
            </a:r>
          </a:p>
        </p:txBody>
      </p:sp>
      <p:sp>
        <p:nvSpPr>
          <p:cNvPr id="12" name="文本框 11">
            <a:extLst>
              <a:ext uri="{FF2B5EF4-FFF2-40B4-BE49-F238E27FC236}">
                <a16:creationId xmlns:a16="http://schemas.microsoft.com/office/drawing/2014/main" id="{8EEA4ABD-22B1-12BB-FA62-837A9A8654EE}"/>
              </a:ext>
            </a:extLst>
          </p:cNvPr>
          <p:cNvSpPr txBox="1"/>
          <p:nvPr/>
        </p:nvSpPr>
        <p:spPr>
          <a:xfrm>
            <a:off x="605790" y="6398437"/>
            <a:ext cx="10864807" cy="369332"/>
          </a:xfrm>
          <a:prstGeom prst="rect">
            <a:avLst/>
          </a:prstGeom>
          <a:noFill/>
        </p:spPr>
        <p:txBody>
          <a:bodyPr wrap="square">
            <a:spAutoFit/>
          </a:bodyPr>
          <a:lstStyle/>
          <a:p>
            <a:r>
              <a:rPr lang="en-US" altLang="zh-CN" dirty="0" err="1"/>
              <a:t>Xiaowei</a:t>
            </a:r>
            <a:r>
              <a:rPr lang="en-US" altLang="zh-CN" dirty="0"/>
              <a:t> L I ,  Zhao Y . Chiral Gating for Size- and Shape-Selective Asymmetric Catalysis[J]. JACS, 2019.</a:t>
            </a:r>
            <a:endParaRPr lang="zh-CN" altLang="en-US" dirty="0"/>
          </a:p>
        </p:txBody>
      </p:sp>
    </p:spTree>
    <p:extLst>
      <p:ext uri="{BB962C8B-B14F-4D97-AF65-F5344CB8AC3E}">
        <p14:creationId xmlns:p14="http://schemas.microsoft.com/office/powerpoint/2010/main" val="28954514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custDataLst>
              <p:tags r:id="rId1"/>
            </p:custDataLst>
          </p:nvPr>
        </p:nvPicPr>
        <p:blipFill>
          <a:blip r:embed="rId4">
            <a:alphaModFix amt="58000"/>
          </a:blip>
          <a:srcRect b="29236"/>
          <a:stretch>
            <a:fillRect/>
          </a:stretch>
        </p:blipFill>
        <p:spPr>
          <a:xfrm flipH="1">
            <a:off x="635" y="4309110"/>
            <a:ext cx="12191365" cy="2548890"/>
          </a:xfrm>
          <a:prstGeom prst="rect">
            <a:avLst/>
          </a:prstGeom>
          <a:noFill/>
          <a:ln w="9525">
            <a:noFill/>
          </a:ln>
        </p:spPr>
      </p:pic>
      <p:grpSp>
        <p:nvGrpSpPr>
          <p:cNvPr id="22" name="组合 21"/>
          <p:cNvGrpSpPr/>
          <p:nvPr/>
        </p:nvGrpSpPr>
        <p:grpSpPr>
          <a:xfrm>
            <a:off x="4485640" y="902970"/>
            <a:ext cx="2757805" cy="2565400"/>
            <a:chOff x="3890050" y="1242332"/>
            <a:chExt cx="4318184" cy="4195175"/>
          </a:xfrm>
        </p:grpSpPr>
        <p:sp>
          <p:nvSpPr>
            <p:cNvPr id="28" name="椭圆 27"/>
            <p:cNvSpPr/>
            <p:nvPr/>
          </p:nvSpPr>
          <p:spPr>
            <a:xfrm>
              <a:off x="3890050" y="1242332"/>
              <a:ext cx="4318184" cy="4195175"/>
            </a:xfrm>
            <a:prstGeom prst="ellipse">
              <a:avLst/>
            </a:prstGeom>
            <a:solidFill>
              <a:schemeClr val="bg1">
                <a:alpha val="33000"/>
              </a:schemeClr>
            </a:solidFill>
            <a:ln>
              <a:gradFill>
                <a:gsLst>
                  <a:gs pos="0">
                    <a:srgbClr val="20A3E8"/>
                  </a:gs>
                  <a:gs pos="100000">
                    <a:schemeClr val="accent1">
                      <a:lumMod val="30000"/>
                      <a:lumOff val="7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109710" tIns="54855" rIns="109710" bIns="54855" rtlCol="0" anchor="ctr"/>
            <a:lstStyle/>
            <a:p>
              <a:pPr algn="ctr"/>
              <a:endParaRPr lang="zh-CN" altLang="en-US" sz="900">
                <a:latin typeface="Lato Light"/>
              </a:endParaRPr>
            </a:p>
          </p:txBody>
        </p:sp>
        <p:sp>
          <p:nvSpPr>
            <p:cNvPr id="29" name="椭圆 28"/>
            <p:cNvSpPr/>
            <p:nvPr/>
          </p:nvSpPr>
          <p:spPr>
            <a:xfrm>
              <a:off x="4258022" y="1591020"/>
              <a:ext cx="3675957" cy="3675957"/>
            </a:xfrm>
            <a:prstGeom prst="ellipse">
              <a:avLst/>
            </a:prstGeom>
            <a:solidFill>
              <a:schemeClr val="bg1"/>
            </a:solidFill>
            <a:ln w="57150">
              <a:gradFill>
                <a:gsLst>
                  <a:gs pos="0">
                    <a:schemeClr val="bg1"/>
                  </a:gs>
                  <a:gs pos="100000">
                    <a:srgbClr val="20A3E8"/>
                  </a:gs>
                </a:gsLst>
                <a:lin ang="16200000" scaled="0"/>
              </a:gradFill>
            </a:ln>
            <a:effectLst>
              <a:outerShdw blurRad="444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sp>
        <p:nvSpPr>
          <p:cNvPr id="16" name="TextBox 20"/>
          <p:cNvSpPr txBox="1"/>
          <p:nvPr/>
        </p:nvSpPr>
        <p:spPr>
          <a:xfrm>
            <a:off x="4976342" y="1866677"/>
            <a:ext cx="1835970" cy="748711"/>
          </a:xfrm>
          <a:prstGeom prst="rect">
            <a:avLst/>
          </a:prstGeom>
          <a:noFill/>
        </p:spPr>
        <p:txBody>
          <a:bodyPr wrap="none" lIns="70907" tIns="35455" rIns="70907" bIns="35455" rtlCol="0">
            <a:spAutoFit/>
          </a:bodyPr>
          <a:lstStyle/>
          <a:p>
            <a:pPr algn="ctr"/>
            <a:r>
              <a:rPr lang="zh-CN" altLang="en-US" sz="4400" b="1" dirty="0">
                <a:solidFill>
                  <a:srgbClr val="1F4E79"/>
                </a:solidFill>
                <a:latin typeface="+mj-ea"/>
                <a:ea typeface="+mj-ea"/>
                <a:cs typeface="+mn-ea"/>
                <a:sym typeface="+mn-lt"/>
              </a:rPr>
              <a:t>第八节</a:t>
            </a:r>
          </a:p>
        </p:txBody>
      </p:sp>
      <p:sp>
        <p:nvSpPr>
          <p:cNvPr id="2" name="文本框 1"/>
          <p:cNvSpPr txBox="1"/>
          <p:nvPr/>
        </p:nvSpPr>
        <p:spPr>
          <a:xfrm>
            <a:off x="3326130" y="3059501"/>
            <a:ext cx="5539740" cy="922020"/>
          </a:xfrm>
          <a:prstGeom prst="rect">
            <a:avLst/>
          </a:prstGeom>
          <a:noFill/>
          <a:ln w="9525">
            <a:noFill/>
          </a:ln>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lvl="0" algn="ctr" defTabSz="342900">
              <a:spcBef>
                <a:spcPct val="0"/>
              </a:spcBef>
              <a:defRPr/>
            </a:pPr>
            <a:r>
              <a:rPr lang="zh-CN" altLang="en-US" sz="5400" b="1" dirty="0">
                <a:solidFill>
                  <a:srgbClr val="1F4E79"/>
                </a:solidFill>
                <a:effectLst/>
                <a:ea typeface="宋体" panose="02010600030101010101" pitchFamily="2" charset="-122"/>
                <a:sym typeface="+mn-lt"/>
              </a:rPr>
              <a:t>酶工程发展概况</a:t>
            </a:r>
            <a:endParaRPr lang="zh-CN" sz="5400" b="1" dirty="0">
              <a:solidFill>
                <a:srgbClr val="1F4E79"/>
              </a:solidFill>
              <a:effectLst/>
              <a:ea typeface="宋体" panose="02010600030101010101" pitchFamily="2" charset="-122"/>
            </a:endParaRPr>
          </a:p>
        </p:txBody>
      </p:sp>
    </p:spTree>
    <p:extLst>
      <p:ext uri="{BB962C8B-B14F-4D97-AF65-F5344CB8AC3E}">
        <p14:creationId xmlns:p14="http://schemas.microsoft.com/office/powerpoint/2010/main" val="2068541522"/>
      </p:ext>
    </p:extLst>
  </p:cSld>
  <p:clrMapOvr>
    <a:masterClrMapping/>
  </p:clrMapOvr>
  <mc:AlternateContent xmlns:mc="http://schemas.openxmlformats.org/markup-compatibility/2006" xmlns:p14="http://schemas.microsoft.com/office/powerpoint/2010/main">
    <mc:Choice Requires="p14">
      <p:transition p14:dur="250">
        <p:push dir="u"/>
      </p:transition>
    </mc:Choice>
    <mc:Fallback xmlns="">
      <p:transition>
        <p:push dir="u"/>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05790" y="852747"/>
            <a:ext cx="2686050" cy="584775"/>
          </a:xfrm>
          <a:prstGeom prst="rect">
            <a:avLst/>
          </a:prstGeom>
          <a:noFill/>
        </p:spPr>
        <p:txBody>
          <a:bodyPr wrap="square" rtlCol="0">
            <a:spAutoFit/>
          </a:bodyPr>
          <a:lstStyle/>
          <a:p>
            <a:r>
              <a:rPr lang="zh-CN" altLang="en-US" sz="3200" b="1" dirty="0">
                <a:solidFill>
                  <a:srgbClr val="1D50A2"/>
                </a:solidFill>
                <a:cs typeface="+mn-ea"/>
                <a:sym typeface="+mn-lt"/>
              </a:rPr>
              <a:t>酶的提取阶段</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B608735F-DF5F-DDA7-0C1F-79FE79D37E8B}"/>
              </a:ext>
            </a:extLst>
          </p:cNvPr>
          <p:cNvSpPr txBox="1"/>
          <p:nvPr/>
        </p:nvSpPr>
        <p:spPr>
          <a:xfrm>
            <a:off x="1168908" y="1783275"/>
            <a:ext cx="10003536" cy="2792239"/>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altLang="zh-CN" sz="2400" dirty="0">
                <a:effectLst/>
                <a:latin typeface="Times New Roman" panose="02020603050405020304" pitchFamily="18" charset="0"/>
                <a:ea typeface="宋体" panose="02010600030101010101" pitchFamily="2" charset="-122"/>
              </a:rPr>
              <a:t>1894</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的高峰让吉首先从米曲霉中制备得到高峰淀粉酶，用作消化剂，开创了近代酶的生产和应用的先例；</a:t>
            </a:r>
            <a:endPar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Ø"/>
            </a:pPr>
            <a:r>
              <a:rPr lang="en-US" altLang="zh-CN" sz="2400" dirty="0">
                <a:effectLst/>
                <a:latin typeface="Times New Roman" panose="02020603050405020304" pitchFamily="18" charset="0"/>
                <a:ea typeface="宋体" panose="02010600030101010101" pitchFamily="2" charset="-122"/>
              </a:rPr>
              <a:t>1908</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的罗姆（</a:t>
            </a:r>
            <a:r>
              <a:rPr lang="en-US" altLang="zh-CN" sz="2400" dirty="0">
                <a:effectLst/>
                <a:latin typeface="Times New Roman" panose="02020603050405020304" pitchFamily="18" charset="0"/>
                <a:ea typeface="宋体" panose="02010600030101010101" pitchFamily="2" charset="-122"/>
              </a:rPr>
              <a:t>Rohm</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）从动物胰脏种制得胰酶，用于皮革的软化；</a:t>
            </a:r>
            <a:endPar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Ø"/>
            </a:pPr>
            <a:r>
              <a:rPr lang="en-US" altLang="zh-CN" sz="2400" dirty="0">
                <a:effectLst/>
                <a:latin typeface="Times New Roman" panose="02020603050405020304" pitchFamily="18" charset="0"/>
                <a:ea typeface="宋体" panose="02010600030101010101" pitchFamily="2" charset="-122"/>
              </a:rPr>
              <a:t>1908</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伊定（</a:t>
            </a:r>
            <a:r>
              <a:rPr lang="en-US" altLang="zh-CN" sz="2400" dirty="0" err="1">
                <a:effectLst/>
                <a:latin typeface="Times New Roman" panose="02020603050405020304" pitchFamily="18" charset="0"/>
                <a:ea typeface="宋体" panose="02010600030101010101" pitchFamily="2" charset="-122"/>
              </a:rPr>
              <a:t>Boidin</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）制备得到细菌淀粉酶，用于纺织品的褪浆；</a:t>
            </a:r>
            <a:endPar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Ø"/>
            </a:pPr>
            <a:r>
              <a:rPr lang="en-US" altLang="zh-CN" sz="2400" dirty="0">
                <a:effectLst/>
                <a:latin typeface="Times New Roman" panose="02020603050405020304" pitchFamily="18" charset="0"/>
                <a:ea typeface="宋体" panose="02010600030101010101" pitchFamily="2" charset="-122"/>
              </a:rPr>
              <a:t>1911</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斯坦（</a:t>
            </a:r>
            <a:r>
              <a:rPr lang="en-US" altLang="zh-CN" sz="2400" dirty="0">
                <a:effectLst/>
                <a:latin typeface="Times New Roman" panose="02020603050405020304" pitchFamily="18" charset="0"/>
                <a:ea typeface="宋体" panose="02010600030101010101" pitchFamily="2" charset="-122"/>
              </a:rPr>
              <a:t>Wallerstein</a:t>
            </a:r>
            <a:r>
              <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rPr>
              <a:t>）从木瓜中获得木瓜蛋白酶，用于啤酒的澄清；</a:t>
            </a:r>
            <a:endParaRPr lang="zh-CN" altLang="en-US" sz="2400" dirty="0"/>
          </a:p>
        </p:txBody>
      </p:sp>
      <p:sp>
        <p:nvSpPr>
          <p:cNvPr id="6" name="文本框 5">
            <a:extLst>
              <a:ext uri="{FF2B5EF4-FFF2-40B4-BE49-F238E27FC236}">
                <a16:creationId xmlns:a16="http://schemas.microsoft.com/office/drawing/2014/main" id="{3E63A248-0AA6-B970-083F-635A6F0F7493}"/>
              </a:ext>
            </a:extLst>
          </p:cNvPr>
          <p:cNvSpPr txBox="1"/>
          <p:nvPr/>
        </p:nvSpPr>
        <p:spPr>
          <a:xfrm>
            <a:off x="1504188" y="4949669"/>
            <a:ext cx="9518904" cy="830997"/>
          </a:xfrm>
          <a:prstGeom prst="rect">
            <a:avLst/>
          </a:prstGeom>
          <a:noFill/>
        </p:spPr>
        <p:txBody>
          <a:bodyPr wrap="square">
            <a:spAutoFit/>
          </a:bodyPr>
          <a:lstStyle/>
          <a:p>
            <a:r>
              <a:rPr lang="zh-CN" altLang="zh-CN" sz="2400" b="1" dirty="0">
                <a:effectLst/>
                <a:latin typeface="+mn-ea"/>
                <a:cs typeface="Times New Roman" panose="02020603050405020304" pitchFamily="18" charset="0"/>
              </a:rPr>
              <a:t>此后，酶的生产和应用逐步发展。然而，在近半个世纪的时间里，都是停留在从动物、植物或微生物细胞中提取酶并加以应用的阶段。</a:t>
            </a:r>
            <a:endParaRPr lang="zh-CN" altLang="en-US" sz="2400" b="1" dirty="0">
              <a:latin typeface="+mn-ea"/>
            </a:endParaRPr>
          </a:p>
        </p:txBody>
      </p:sp>
    </p:spTree>
    <p:extLst>
      <p:ext uri="{BB962C8B-B14F-4D97-AF65-F5344CB8AC3E}">
        <p14:creationId xmlns:p14="http://schemas.microsoft.com/office/powerpoint/2010/main" val="26148384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678942" y="1021382"/>
            <a:ext cx="2686050" cy="584775"/>
          </a:xfrm>
          <a:prstGeom prst="rect">
            <a:avLst/>
          </a:prstGeom>
          <a:noFill/>
        </p:spPr>
        <p:txBody>
          <a:bodyPr wrap="square" rtlCol="0">
            <a:spAutoFit/>
          </a:bodyPr>
          <a:lstStyle/>
          <a:p>
            <a:r>
              <a:rPr lang="zh-CN" altLang="en-US" sz="3200" b="1" dirty="0">
                <a:solidFill>
                  <a:srgbClr val="1D50A2"/>
                </a:solidFill>
                <a:cs typeface="+mn-ea"/>
                <a:sym typeface="+mn-lt"/>
              </a:rPr>
              <a:t>液体深层发酵</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B608735F-DF5F-DDA7-0C1F-79FE79D37E8B}"/>
              </a:ext>
            </a:extLst>
          </p:cNvPr>
          <p:cNvSpPr txBox="1"/>
          <p:nvPr/>
        </p:nvSpPr>
        <p:spPr>
          <a:xfrm>
            <a:off x="1094232" y="1901439"/>
            <a:ext cx="10003536" cy="335040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altLang="zh-CN" sz="2400" dirty="0">
                <a:effectLst/>
                <a:latin typeface="Times New Roman" panose="02020603050405020304" pitchFamily="18" charset="0"/>
                <a:ea typeface="宋体" panose="02010600030101010101" pitchFamily="2" charset="-122"/>
              </a:rPr>
              <a:t>1949</a:t>
            </a:r>
            <a:r>
              <a:rPr lang="zh-CN" altLang="en-US" sz="2400" dirty="0">
                <a:effectLst/>
                <a:latin typeface="Times New Roman" panose="02020603050405020304" pitchFamily="18" charset="0"/>
                <a:ea typeface="宋体" panose="02010600030101010101" pitchFamily="2" charset="-122"/>
              </a:rPr>
              <a:t>微生物液体深层培养方法进行细菌</a:t>
            </a:r>
            <a:r>
              <a:rPr lang="en-US" altLang="zh-CN" sz="2400" dirty="0">
                <a:effectLst/>
                <a:latin typeface="Times New Roman" panose="02020603050405020304" pitchFamily="18" charset="0"/>
                <a:ea typeface="宋体" panose="02010600030101010101" pitchFamily="2" charset="-122"/>
              </a:rPr>
              <a:t>α-</a:t>
            </a:r>
            <a:r>
              <a:rPr lang="zh-CN" altLang="en-US" sz="2400" dirty="0">
                <a:effectLst/>
                <a:latin typeface="Times New Roman" panose="02020603050405020304" pitchFamily="18" charset="0"/>
                <a:ea typeface="宋体" panose="02010600030101010101" pitchFamily="2" charset="-122"/>
              </a:rPr>
              <a:t>淀粉酶的发酵生产，</a:t>
            </a:r>
            <a:r>
              <a:rPr lang="zh-CN" altLang="en-US" sz="2400" b="1" dirty="0">
                <a:solidFill>
                  <a:srgbClr val="C00000"/>
                </a:solidFill>
                <a:effectLst/>
                <a:latin typeface="Times New Roman" panose="02020603050405020304" pitchFamily="18" charset="0"/>
                <a:ea typeface="宋体" panose="02010600030101010101" pitchFamily="2" charset="-122"/>
              </a:rPr>
              <a:t>揭开了现代酶制剂工业的序幕</a:t>
            </a:r>
            <a:r>
              <a:rPr lang="zh-CN" altLang="en-US" sz="2400" dirty="0">
                <a:effectLst/>
                <a:latin typeface="Times New Roman" panose="02020603050405020304" pitchFamily="18" charset="0"/>
                <a:ea typeface="宋体" panose="02010600030101010101" pitchFamily="2" charset="-122"/>
              </a:rPr>
              <a:t>。</a:t>
            </a:r>
            <a:endParaRPr lang="en-US" altLang="zh-CN" sz="2400" dirty="0">
              <a:effectLst/>
              <a:latin typeface="Times New Roman" panose="02020603050405020304" pitchFamily="18" charset="0"/>
              <a:ea typeface="宋体" panose="02010600030101010101" pitchFamily="2" charset="-122"/>
            </a:endParaRPr>
          </a:p>
          <a:p>
            <a:pPr marL="285750" indent="-285750">
              <a:lnSpc>
                <a:spcPct val="150000"/>
              </a:lnSpc>
              <a:buFont typeface="Wingdings" panose="05000000000000000000" pitchFamily="2" charset="2"/>
              <a:buChar char="Ø"/>
            </a:pPr>
            <a:r>
              <a:rPr lang="en-US" altLang="zh-CN" sz="2400" dirty="0">
                <a:latin typeface="Times New Roman" panose="02020603050405020304" pitchFamily="18" charset="0"/>
                <a:ea typeface="宋体" panose="02010600030101010101" pitchFamily="2" charset="-122"/>
              </a:rPr>
              <a:t>1960</a:t>
            </a:r>
            <a:r>
              <a:rPr lang="zh-CN" altLang="en-US" sz="2400" dirty="0">
                <a:latin typeface="Times New Roman" panose="02020603050405020304" pitchFamily="18" charset="0"/>
                <a:ea typeface="宋体" panose="02010600030101010101" pitchFamily="2" charset="-122"/>
              </a:rPr>
              <a:t>年，法国的雅各（</a:t>
            </a:r>
            <a:r>
              <a:rPr lang="en-US" altLang="zh-CN" sz="2400" dirty="0">
                <a:latin typeface="Times New Roman" panose="02020603050405020304" pitchFamily="18" charset="0"/>
                <a:ea typeface="宋体" panose="02010600030101010101" pitchFamily="2" charset="-122"/>
              </a:rPr>
              <a:t>Jacob</a:t>
            </a:r>
            <a:r>
              <a:rPr lang="zh-CN" altLang="en-US" sz="2400" dirty="0">
                <a:latin typeface="Times New Roman" panose="02020603050405020304" pitchFamily="18" charset="0"/>
                <a:ea typeface="宋体" panose="02010600030101010101" pitchFamily="2" charset="-122"/>
              </a:rPr>
              <a:t>）和莫诺德（</a:t>
            </a:r>
            <a:r>
              <a:rPr lang="en-US" altLang="zh-CN" sz="2400" dirty="0">
                <a:latin typeface="Times New Roman" panose="02020603050405020304" pitchFamily="18" charset="0"/>
                <a:ea typeface="宋体" panose="02010600030101010101" pitchFamily="2" charset="-122"/>
              </a:rPr>
              <a:t>Monod</a:t>
            </a:r>
            <a:r>
              <a:rPr lang="zh-CN" altLang="en-US" sz="2400" dirty="0">
                <a:latin typeface="Times New Roman" panose="02020603050405020304" pitchFamily="18" charset="0"/>
                <a:ea typeface="宋体" panose="02010600030101010101" pitchFamily="2" charset="-122"/>
              </a:rPr>
              <a:t>）提出操纵子学说，诱导和解除阻遏等调节控制，就有可能显著提高酶的产率。</a:t>
            </a:r>
            <a:endParaRPr lang="en-US" altLang="zh-CN" sz="2400" dirty="0">
              <a:latin typeface="Times New Roman" panose="02020603050405020304" pitchFamily="18" charset="0"/>
              <a:ea typeface="宋体" panose="02010600030101010101" pitchFamily="2" charset="-122"/>
            </a:endParaRPr>
          </a:p>
          <a:p>
            <a:pPr marL="285750" indent="-285750">
              <a:lnSpc>
                <a:spcPct val="150000"/>
              </a:lnSpc>
              <a:buFont typeface="Wingdings" panose="05000000000000000000" pitchFamily="2" charset="2"/>
              <a:buChar char="Ø"/>
            </a:pPr>
            <a:r>
              <a:rPr lang="en-US" altLang="zh-CN" sz="2400" b="1" dirty="0">
                <a:solidFill>
                  <a:srgbClr val="C00000"/>
                </a:solidFill>
                <a:latin typeface="Times New Roman" panose="02020603050405020304" pitchFamily="18" charset="0"/>
                <a:ea typeface="宋体" panose="02010600030101010101" pitchFamily="2" charset="-122"/>
              </a:rPr>
              <a:t>20</a:t>
            </a:r>
            <a:r>
              <a:rPr lang="zh-CN" altLang="en-US" sz="2400" b="1" dirty="0">
                <a:solidFill>
                  <a:srgbClr val="C00000"/>
                </a:solidFill>
                <a:latin typeface="Times New Roman" panose="02020603050405020304" pitchFamily="18" charset="0"/>
                <a:ea typeface="宋体" panose="02010600030101010101" pitchFamily="2" charset="-122"/>
              </a:rPr>
              <a:t>世纪</a:t>
            </a:r>
            <a:r>
              <a:rPr lang="en-US" altLang="zh-CN" sz="2400" b="1" dirty="0">
                <a:solidFill>
                  <a:srgbClr val="C00000"/>
                </a:solidFill>
                <a:latin typeface="Times New Roman" panose="02020603050405020304" pitchFamily="18" charset="0"/>
                <a:ea typeface="宋体" panose="02010600030101010101" pitchFamily="2" charset="-122"/>
              </a:rPr>
              <a:t>70</a:t>
            </a:r>
            <a:r>
              <a:rPr lang="zh-CN" altLang="en-US" sz="2400" b="1" dirty="0">
                <a:solidFill>
                  <a:srgbClr val="C00000"/>
                </a:solidFill>
                <a:latin typeface="Times New Roman" panose="02020603050405020304" pitchFamily="18" charset="0"/>
                <a:ea typeface="宋体" panose="02010600030101010101" pitchFamily="2" charset="-122"/>
              </a:rPr>
              <a:t>年代迅速发展起来的动、植物细胞培养技术</a:t>
            </a:r>
            <a:r>
              <a:rPr lang="zh-CN" altLang="en-US" sz="2400" dirty="0">
                <a:latin typeface="Times New Roman" panose="02020603050405020304" pitchFamily="18" charset="0"/>
                <a:ea typeface="宋体" panose="02010600030101010101" pitchFamily="2" charset="-122"/>
              </a:rPr>
              <a:t>，继微生物发酵生产酶之后，已成为酶生产的又一种途径。</a:t>
            </a:r>
          </a:p>
        </p:txBody>
      </p:sp>
    </p:spTree>
    <p:extLst>
      <p:ext uri="{BB962C8B-B14F-4D97-AF65-F5344CB8AC3E}">
        <p14:creationId xmlns:p14="http://schemas.microsoft.com/office/powerpoint/2010/main" val="23792552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577408" y="689875"/>
            <a:ext cx="4350258" cy="584775"/>
          </a:xfrm>
          <a:prstGeom prst="rect">
            <a:avLst/>
          </a:prstGeom>
          <a:noFill/>
        </p:spPr>
        <p:txBody>
          <a:bodyPr wrap="square" rtlCol="0">
            <a:spAutoFit/>
          </a:bodyPr>
          <a:lstStyle/>
          <a:p>
            <a:r>
              <a:rPr lang="zh-CN" altLang="en-US" sz="3200" b="1" dirty="0">
                <a:solidFill>
                  <a:srgbClr val="1D50A2"/>
                </a:solidFill>
                <a:cs typeface="+mn-ea"/>
                <a:sym typeface="+mn-lt"/>
              </a:rPr>
              <a:t>酶的催化特性改进技术</a:t>
            </a: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4" name="文本框 3">
            <a:extLst>
              <a:ext uri="{FF2B5EF4-FFF2-40B4-BE49-F238E27FC236}">
                <a16:creationId xmlns:a16="http://schemas.microsoft.com/office/drawing/2014/main" id="{0124C14E-18FD-98EE-B14B-5619E79009E3}"/>
              </a:ext>
            </a:extLst>
          </p:cNvPr>
          <p:cNvSpPr txBox="1"/>
          <p:nvPr/>
        </p:nvSpPr>
        <p:spPr>
          <a:xfrm>
            <a:off x="7798119" y="6363583"/>
            <a:ext cx="1581912" cy="369332"/>
          </a:xfrm>
          <a:prstGeom prst="rect">
            <a:avLst/>
          </a:prstGeom>
          <a:noFill/>
        </p:spPr>
        <p:txBody>
          <a:bodyPr wrap="square">
            <a:spAutoFit/>
          </a:bodyPr>
          <a:lstStyle>
            <a:defPPr>
              <a:defRPr lang="zh-CN"/>
            </a:defPPr>
            <a:lvl1pPr>
              <a:defRPr b="1"/>
            </a:lvl1pPr>
          </a:lstStyle>
          <a:p>
            <a:r>
              <a:rPr lang="zh-CN" altLang="en-US" dirty="0"/>
              <a:t>酶非水相催化</a:t>
            </a:r>
            <a:endParaRPr lang="en-US" altLang="zh-CN" dirty="0"/>
          </a:p>
        </p:txBody>
      </p:sp>
      <p:sp>
        <p:nvSpPr>
          <p:cNvPr id="6" name="文本框 5">
            <a:extLst>
              <a:ext uri="{FF2B5EF4-FFF2-40B4-BE49-F238E27FC236}">
                <a16:creationId xmlns:a16="http://schemas.microsoft.com/office/drawing/2014/main" id="{82840DBA-F157-0493-9612-7A1563260C02}"/>
              </a:ext>
            </a:extLst>
          </p:cNvPr>
          <p:cNvSpPr txBox="1"/>
          <p:nvPr/>
        </p:nvSpPr>
        <p:spPr>
          <a:xfrm>
            <a:off x="2439733" y="3463980"/>
            <a:ext cx="1387602" cy="369332"/>
          </a:xfrm>
          <a:prstGeom prst="rect">
            <a:avLst/>
          </a:prstGeom>
          <a:noFill/>
        </p:spPr>
        <p:txBody>
          <a:bodyPr wrap="square">
            <a:spAutoFit/>
          </a:bodyPr>
          <a:lstStyle/>
          <a:p>
            <a:r>
              <a:rPr lang="zh-CN" altLang="en-US" b="1" dirty="0"/>
              <a:t>酶分子修饰</a:t>
            </a:r>
            <a:endParaRPr lang="en-US" altLang="zh-CN" b="1" dirty="0"/>
          </a:p>
        </p:txBody>
      </p:sp>
      <p:sp>
        <p:nvSpPr>
          <p:cNvPr id="8" name="文本框 7">
            <a:extLst>
              <a:ext uri="{FF2B5EF4-FFF2-40B4-BE49-F238E27FC236}">
                <a16:creationId xmlns:a16="http://schemas.microsoft.com/office/drawing/2014/main" id="{EA14DD77-242A-4626-AD02-2D435A94F8A5}"/>
              </a:ext>
            </a:extLst>
          </p:cNvPr>
          <p:cNvSpPr txBox="1"/>
          <p:nvPr/>
        </p:nvSpPr>
        <p:spPr>
          <a:xfrm>
            <a:off x="7569137" y="3735478"/>
            <a:ext cx="1125476" cy="369332"/>
          </a:xfrm>
          <a:prstGeom prst="rect">
            <a:avLst/>
          </a:prstGeom>
          <a:noFill/>
        </p:spPr>
        <p:txBody>
          <a:bodyPr wrap="square">
            <a:spAutoFit/>
          </a:bodyPr>
          <a:lstStyle/>
          <a:p>
            <a:r>
              <a:rPr lang="zh-CN" altLang="en-US" b="1" dirty="0"/>
              <a:t>酶固定化</a:t>
            </a:r>
            <a:endParaRPr lang="en-US" altLang="zh-CN" b="1" dirty="0"/>
          </a:p>
        </p:txBody>
      </p:sp>
      <p:sp>
        <p:nvSpPr>
          <p:cNvPr id="10" name="文本框 9">
            <a:extLst>
              <a:ext uri="{FF2B5EF4-FFF2-40B4-BE49-F238E27FC236}">
                <a16:creationId xmlns:a16="http://schemas.microsoft.com/office/drawing/2014/main" id="{E65C0062-5963-38E4-0484-0914C21F1668}"/>
              </a:ext>
            </a:extLst>
          </p:cNvPr>
          <p:cNvSpPr txBox="1"/>
          <p:nvPr/>
        </p:nvSpPr>
        <p:spPr>
          <a:xfrm>
            <a:off x="2571941" y="6398800"/>
            <a:ext cx="1387602" cy="369332"/>
          </a:xfrm>
          <a:prstGeom prst="rect">
            <a:avLst/>
          </a:prstGeom>
          <a:noFill/>
        </p:spPr>
        <p:txBody>
          <a:bodyPr wrap="square">
            <a:spAutoFit/>
          </a:bodyPr>
          <a:lstStyle>
            <a:defPPr>
              <a:defRPr lang="zh-CN"/>
            </a:defPPr>
            <a:lvl1pPr>
              <a:defRPr b="1"/>
            </a:lvl1pPr>
          </a:lstStyle>
          <a:p>
            <a:r>
              <a:rPr lang="zh-CN" altLang="en-US" dirty="0"/>
              <a:t>酶定向进化</a:t>
            </a:r>
          </a:p>
        </p:txBody>
      </p:sp>
      <p:pic>
        <p:nvPicPr>
          <p:cNvPr id="14" name="图片 13">
            <a:extLst>
              <a:ext uri="{FF2B5EF4-FFF2-40B4-BE49-F238E27FC236}">
                <a16:creationId xmlns:a16="http://schemas.microsoft.com/office/drawing/2014/main" id="{E8A5A75D-1517-2563-513B-39044552A482}"/>
              </a:ext>
            </a:extLst>
          </p:cNvPr>
          <p:cNvPicPr>
            <a:picLocks noChangeAspect="1"/>
          </p:cNvPicPr>
          <p:nvPr/>
        </p:nvPicPr>
        <p:blipFill>
          <a:blip r:embed="rId4"/>
          <a:stretch>
            <a:fillRect/>
          </a:stretch>
        </p:blipFill>
        <p:spPr>
          <a:xfrm>
            <a:off x="1580770" y="1457531"/>
            <a:ext cx="3105528" cy="1963137"/>
          </a:xfrm>
          <a:prstGeom prst="rect">
            <a:avLst/>
          </a:prstGeom>
        </p:spPr>
      </p:pic>
      <p:pic>
        <p:nvPicPr>
          <p:cNvPr id="16" name="图片 15">
            <a:extLst>
              <a:ext uri="{FF2B5EF4-FFF2-40B4-BE49-F238E27FC236}">
                <a16:creationId xmlns:a16="http://schemas.microsoft.com/office/drawing/2014/main" id="{95A3B039-9C5B-BFBE-6D84-9702C0660961}"/>
              </a:ext>
            </a:extLst>
          </p:cNvPr>
          <p:cNvPicPr>
            <a:picLocks noChangeAspect="1"/>
          </p:cNvPicPr>
          <p:nvPr/>
        </p:nvPicPr>
        <p:blipFill>
          <a:blip r:embed="rId5"/>
          <a:stretch>
            <a:fillRect/>
          </a:stretch>
        </p:blipFill>
        <p:spPr>
          <a:xfrm>
            <a:off x="6392603" y="1147413"/>
            <a:ext cx="3232596" cy="2511374"/>
          </a:xfrm>
          <a:prstGeom prst="rect">
            <a:avLst/>
          </a:prstGeom>
        </p:spPr>
      </p:pic>
      <p:pic>
        <p:nvPicPr>
          <p:cNvPr id="17" name="图片 16">
            <a:extLst>
              <a:ext uri="{FF2B5EF4-FFF2-40B4-BE49-F238E27FC236}">
                <a16:creationId xmlns:a16="http://schemas.microsoft.com/office/drawing/2014/main" id="{94A1CA63-BD54-909C-797C-22BE11039767}"/>
              </a:ext>
            </a:extLst>
          </p:cNvPr>
          <p:cNvPicPr>
            <a:picLocks noChangeAspect="1"/>
          </p:cNvPicPr>
          <p:nvPr/>
        </p:nvPicPr>
        <p:blipFill>
          <a:blip r:embed="rId6"/>
          <a:stretch>
            <a:fillRect/>
          </a:stretch>
        </p:blipFill>
        <p:spPr>
          <a:xfrm>
            <a:off x="1673163" y="3854695"/>
            <a:ext cx="3105528" cy="2522721"/>
          </a:xfrm>
          <a:prstGeom prst="rect">
            <a:avLst/>
          </a:prstGeom>
        </p:spPr>
      </p:pic>
      <p:pic>
        <p:nvPicPr>
          <p:cNvPr id="19" name="图片 18">
            <a:extLst>
              <a:ext uri="{FF2B5EF4-FFF2-40B4-BE49-F238E27FC236}">
                <a16:creationId xmlns:a16="http://schemas.microsoft.com/office/drawing/2014/main" id="{4F6755A2-F384-51C4-93FC-C6D74964DB6D}"/>
              </a:ext>
            </a:extLst>
          </p:cNvPr>
          <p:cNvPicPr/>
          <p:nvPr/>
        </p:nvPicPr>
        <p:blipFill>
          <a:blip r:embed="rId7"/>
          <a:stretch>
            <a:fillRect/>
          </a:stretch>
        </p:blipFill>
        <p:spPr>
          <a:xfrm>
            <a:off x="6473951" y="4104810"/>
            <a:ext cx="3744087" cy="2183365"/>
          </a:xfrm>
          <a:prstGeom prst="rect">
            <a:avLst/>
          </a:prstGeom>
          <a:noFill/>
          <a:ln w="9525">
            <a:noFill/>
          </a:ln>
        </p:spPr>
      </p:pic>
    </p:spTree>
    <p:extLst>
      <p:ext uri="{BB962C8B-B14F-4D97-AF65-F5344CB8AC3E}">
        <p14:creationId xmlns:p14="http://schemas.microsoft.com/office/powerpoint/2010/main" val="16797329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pic>
        <p:nvPicPr>
          <p:cNvPr id="3" name="图片 2">
            <a:extLst>
              <a:ext uri="{FF2B5EF4-FFF2-40B4-BE49-F238E27FC236}">
                <a16:creationId xmlns:a16="http://schemas.microsoft.com/office/drawing/2014/main" id="{28E6CD01-C0B7-5B1E-594E-B0EDF3F3893F}"/>
              </a:ext>
            </a:extLst>
          </p:cNvPr>
          <p:cNvPicPr>
            <a:picLocks noChangeAspect="1"/>
          </p:cNvPicPr>
          <p:nvPr/>
        </p:nvPicPr>
        <p:blipFill>
          <a:blip r:embed="rId4"/>
          <a:stretch>
            <a:fillRect/>
          </a:stretch>
        </p:blipFill>
        <p:spPr>
          <a:xfrm>
            <a:off x="850392" y="1646432"/>
            <a:ext cx="4059936" cy="4059936"/>
          </a:xfrm>
          <a:prstGeom prst="rect">
            <a:avLst/>
          </a:prstGeom>
        </p:spPr>
      </p:pic>
      <p:sp>
        <p:nvSpPr>
          <p:cNvPr id="5" name="文本框 4">
            <a:extLst>
              <a:ext uri="{FF2B5EF4-FFF2-40B4-BE49-F238E27FC236}">
                <a16:creationId xmlns:a16="http://schemas.microsoft.com/office/drawing/2014/main" id="{66F9F555-870C-2D24-AE1D-BEE2861F68FE}"/>
              </a:ext>
            </a:extLst>
          </p:cNvPr>
          <p:cNvSpPr txBox="1"/>
          <p:nvPr/>
        </p:nvSpPr>
        <p:spPr>
          <a:xfrm>
            <a:off x="5598414" y="1729296"/>
            <a:ext cx="4816602" cy="3894208"/>
          </a:xfrm>
          <a:prstGeom prst="rect">
            <a:avLst/>
          </a:prstGeom>
          <a:noFill/>
        </p:spPr>
        <p:txBody>
          <a:bodyPr wrap="square">
            <a:spAutoFit/>
          </a:bodyPr>
          <a:lstStyle/>
          <a:p>
            <a:pPr marR="88265" algn="just">
              <a:lnSpc>
                <a:spcPct val="150000"/>
              </a:lnSpc>
              <a:spcAft>
                <a:spcPts val="1000"/>
              </a:spcAft>
            </a:pPr>
            <a:r>
              <a:rPr lang="en-US" altLang="zh-CN" sz="2800" dirty="0">
                <a:effectLst/>
                <a:latin typeface="+mn-ea"/>
                <a:cs typeface="Times New Roman" panose="02020603050405020304" pitchFamily="18" charset="0"/>
              </a:rPr>
              <a:t>2018</a:t>
            </a:r>
            <a:r>
              <a:rPr lang="zh-CN" altLang="zh-CN" sz="2800" dirty="0">
                <a:effectLst/>
                <a:latin typeface="+mn-ea"/>
                <a:cs typeface="Times New Roman" panose="02020603050405020304" pitchFamily="18" charset="0"/>
              </a:rPr>
              <a:t>年，作为酶催化领域，尤其是分子定向进化的先驱，弗朗西斯·</a:t>
            </a:r>
            <a:r>
              <a:rPr lang="en-US" altLang="zh-CN" sz="2800" dirty="0">
                <a:effectLst/>
                <a:latin typeface="+mn-ea"/>
                <a:cs typeface="Times New Roman" panose="02020603050405020304" pitchFamily="18" charset="0"/>
              </a:rPr>
              <a:t>H·</a:t>
            </a:r>
            <a:r>
              <a:rPr lang="zh-CN" altLang="zh-CN" sz="2800" dirty="0">
                <a:effectLst/>
                <a:latin typeface="+mn-ea"/>
                <a:cs typeface="Times New Roman" panose="02020603050405020304" pitchFamily="18" charset="0"/>
              </a:rPr>
              <a:t>阿诺德（</a:t>
            </a:r>
            <a:r>
              <a:rPr lang="en-US" altLang="zh-CN" sz="2800" dirty="0">
                <a:effectLst/>
                <a:latin typeface="+mn-ea"/>
                <a:cs typeface="Times New Roman" panose="02020603050405020304" pitchFamily="18" charset="0"/>
              </a:rPr>
              <a:t>Frances H Arnold</a:t>
            </a:r>
            <a:r>
              <a:rPr lang="zh-CN" altLang="zh-CN" sz="2800" dirty="0">
                <a:effectLst/>
                <a:latin typeface="+mn-ea"/>
                <a:cs typeface="Times New Roman" panose="02020603050405020304" pitchFamily="18" charset="0"/>
              </a:rPr>
              <a:t>）因研究酶的定向进化而获得了</a:t>
            </a:r>
            <a:r>
              <a:rPr lang="zh-CN" altLang="zh-CN" sz="2800" b="1" dirty="0">
                <a:solidFill>
                  <a:srgbClr val="C00000"/>
                </a:solidFill>
                <a:effectLst/>
                <a:latin typeface="+mn-ea"/>
                <a:cs typeface="Times New Roman" panose="02020603050405020304" pitchFamily="18" charset="0"/>
              </a:rPr>
              <a:t>诺贝尔化学奖</a:t>
            </a:r>
            <a:r>
              <a:rPr lang="zh-CN" altLang="zh-CN" sz="2800" dirty="0">
                <a:effectLst/>
                <a:latin typeface="+mn-ea"/>
                <a:cs typeface="Times New Roman" panose="02020603050405020304" pitchFamily="18" charset="0"/>
              </a:rPr>
              <a:t>。</a:t>
            </a:r>
            <a:endParaRPr lang="zh-CN" altLang="zh-CN" sz="3200" dirty="0">
              <a:effectLst/>
              <a:latin typeface="+mn-ea"/>
              <a:cs typeface="Times New Roman" panose="02020603050405020304" pitchFamily="18" charset="0"/>
            </a:endParaRPr>
          </a:p>
        </p:txBody>
      </p:sp>
      <p:sp>
        <p:nvSpPr>
          <p:cNvPr id="6" name="文本框 5">
            <a:extLst>
              <a:ext uri="{FF2B5EF4-FFF2-40B4-BE49-F238E27FC236}">
                <a16:creationId xmlns:a16="http://schemas.microsoft.com/office/drawing/2014/main" id="{FAC08123-7D78-2357-1344-3158AD9FD08F}"/>
              </a:ext>
            </a:extLst>
          </p:cNvPr>
          <p:cNvSpPr txBox="1"/>
          <p:nvPr/>
        </p:nvSpPr>
        <p:spPr>
          <a:xfrm>
            <a:off x="605790" y="835741"/>
            <a:ext cx="5347904" cy="461665"/>
          </a:xfrm>
          <a:prstGeom prst="rect">
            <a:avLst/>
          </a:prstGeom>
          <a:noFill/>
        </p:spPr>
        <p:txBody>
          <a:bodyPr wrap="square" rtlCol="0">
            <a:spAutoFit/>
          </a:bodyPr>
          <a:lstStyle/>
          <a:p>
            <a:r>
              <a:rPr lang="zh-CN" altLang="en-US" sz="2400" b="1" dirty="0">
                <a:cs typeface="+mn-ea"/>
                <a:sym typeface="+mn-lt"/>
              </a:rPr>
              <a:t>酶分子定向进化获得诺贝尔化学奖</a:t>
            </a:r>
          </a:p>
        </p:txBody>
      </p:sp>
    </p:spTree>
    <p:extLst>
      <p:ext uri="{BB962C8B-B14F-4D97-AF65-F5344CB8AC3E}">
        <p14:creationId xmlns:p14="http://schemas.microsoft.com/office/powerpoint/2010/main" val="27587232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sp>
        <p:nvSpPr>
          <p:cNvPr id="8" name="文本框 7">
            <a:extLst>
              <a:ext uri="{FF2B5EF4-FFF2-40B4-BE49-F238E27FC236}">
                <a16:creationId xmlns:a16="http://schemas.microsoft.com/office/drawing/2014/main" id="{7F746B12-BE4C-BEFF-DDFC-42C7A7EEBA04}"/>
              </a:ext>
            </a:extLst>
          </p:cNvPr>
          <p:cNvSpPr txBox="1"/>
          <p:nvPr/>
        </p:nvSpPr>
        <p:spPr>
          <a:xfrm>
            <a:off x="577408" y="689875"/>
            <a:ext cx="3573968" cy="461665"/>
          </a:xfrm>
          <a:prstGeom prst="rect">
            <a:avLst/>
          </a:prstGeom>
          <a:noFill/>
        </p:spPr>
        <p:txBody>
          <a:bodyPr wrap="square" rtlCol="0">
            <a:spAutoFit/>
          </a:bodyPr>
          <a:lstStyle/>
          <a:p>
            <a:r>
              <a:rPr lang="zh-CN" altLang="en-US" sz="2400" b="1" dirty="0">
                <a:cs typeface="+mn-ea"/>
                <a:sym typeface="+mn-lt"/>
              </a:rPr>
              <a:t>酶分子半理性和理性设计</a:t>
            </a:r>
          </a:p>
        </p:txBody>
      </p:sp>
      <p:sp>
        <p:nvSpPr>
          <p:cNvPr id="5" name="文本框 4">
            <a:extLst>
              <a:ext uri="{FF2B5EF4-FFF2-40B4-BE49-F238E27FC236}">
                <a16:creationId xmlns:a16="http://schemas.microsoft.com/office/drawing/2014/main" id="{94A754C2-BC65-D7FD-8F85-C7379BBE06F4}"/>
              </a:ext>
            </a:extLst>
          </p:cNvPr>
          <p:cNvSpPr txBox="1"/>
          <p:nvPr/>
        </p:nvSpPr>
        <p:spPr>
          <a:xfrm>
            <a:off x="669798" y="1864945"/>
            <a:ext cx="4734306" cy="3782895"/>
          </a:xfrm>
          <a:prstGeom prst="rect">
            <a:avLst/>
          </a:prstGeom>
          <a:noFill/>
        </p:spPr>
        <p:txBody>
          <a:bodyPr wrap="square">
            <a:spAutoFit/>
          </a:bodyPr>
          <a:lstStyle/>
          <a:p>
            <a:pPr>
              <a:lnSpc>
                <a:spcPct val="150000"/>
              </a:lnSpc>
            </a:pPr>
            <a:r>
              <a:rPr lang="zh-CN" altLang="zh-CN" b="1" dirty="0">
                <a:latin typeface="+mn-ea"/>
                <a:cs typeface="Times New Roman" panose="02020603050405020304" pitchFamily="18" charset="0"/>
              </a:rPr>
              <a:t>酶</a:t>
            </a:r>
            <a:r>
              <a:rPr lang="zh-CN" altLang="en-US" b="1" dirty="0">
                <a:latin typeface="+mn-ea"/>
                <a:cs typeface="Times New Roman" panose="02020603050405020304" pitchFamily="18" charset="0"/>
              </a:rPr>
              <a:t>的</a:t>
            </a:r>
            <a:r>
              <a:rPr lang="zh-CN" altLang="zh-CN" b="1" dirty="0">
                <a:latin typeface="+mn-ea"/>
                <a:cs typeface="Times New Roman" panose="02020603050405020304" pitchFamily="18" charset="0"/>
              </a:rPr>
              <a:t>半理性设计</a:t>
            </a:r>
            <a:r>
              <a:rPr lang="zh-CN" altLang="zh-CN" dirty="0">
                <a:latin typeface="+mn-ea"/>
                <a:cs typeface="Times New Roman" panose="02020603050405020304" pitchFamily="18" charset="0"/>
              </a:rPr>
              <a:t>是在结构或功能知识的基础上，在人工选定位置或区域内的进行随机突变，创建一个小而精确的突变库。</a:t>
            </a:r>
            <a:endParaRPr lang="en-US" altLang="zh-CN" dirty="0">
              <a:latin typeface="+mn-ea"/>
              <a:cs typeface="Times New Roman" panose="02020603050405020304" pitchFamily="18" charset="0"/>
            </a:endParaRPr>
          </a:p>
          <a:p>
            <a:pPr>
              <a:lnSpc>
                <a:spcPct val="150000"/>
              </a:lnSpc>
            </a:pPr>
            <a:endParaRPr lang="en-US" altLang="zh-CN" dirty="0">
              <a:latin typeface="+mn-ea"/>
              <a:cs typeface="Times New Roman" panose="02020603050405020304" pitchFamily="18" charset="0"/>
            </a:endParaRPr>
          </a:p>
          <a:p>
            <a:pPr>
              <a:lnSpc>
                <a:spcPct val="150000"/>
              </a:lnSpc>
            </a:pPr>
            <a:endParaRPr lang="zh-CN" altLang="zh-CN" dirty="0">
              <a:latin typeface="+mn-ea"/>
              <a:cs typeface="Times New Roman" panose="02020603050405020304" pitchFamily="18" charset="0"/>
            </a:endParaRPr>
          </a:p>
          <a:p>
            <a:pPr>
              <a:lnSpc>
                <a:spcPct val="150000"/>
              </a:lnSpc>
            </a:pPr>
            <a:r>
              <a:rPr lang="zh-CN" altLang="zh-CN" sz="1800" b="1" dirty="0">
                <a:effectLst/>
                <a:latin typeface="+mn-ea"/>
                <a:cs typeface="Times New Roman" panose="02020603050405020304" pitchFamily="18" charset="0"/>
              </a:rPr>
              <a:t>酶的理性设计</a:t>
            </a:r>
            <a:r>
              <a:rPr lang="zh-CN" altLang="zh-CN" sz="1800" dirty="0">
                <a:effectLst/>
                <a:latin typeface="+mn-ea"/>
                <a:cs typeface="Times New Roman" panose="02020603050405020304" pitchFamily="18" charset="0"/>
              </a:rPr>
              <a:t>需要充分了解酶的空间结构和催化机理，通过计算机预测某位点突变对催化性能的影响，从而对酶蛋白改造进行设计指导和虚拟筛选。</a:t>
            </a:r>
            <a:endParaRPr lang="en-US" altLang="zh-CN" sz="1800" dirty="0">
              <a:effectLst/>
              <a:latin typeface="+mn-ea"/>
              <a:cs typeface="Times New Roman" panose="02020603050405020304" pitchFamily="18" charset="0"/>
            </a:endParaRPr>
          </a:p>
        </p:txBody>
      </p:sp>
      <p:pic>
        <p:nvPicPr>
          <p:cNvPr id="6" name="图片 5">
            <a:extLst>
              <a:ext uri="{FF2B5EF4-FFF2-40B4-BE49-F238E27FC236}">
                <a16:creationId xmlns:a16="http://schemas.microsoft.com/office/drawing/2014/main" id="{7BA04C72-6073-A12B-A23E-63E794604A6A}"/>
              </a:ext>
            </a:extLst>
          </p:cNvPr>
          <p:cNvPicPr>
            <a:picLocks noChangeAspect="1"/>
          </p:cNvPicPr>
          <p:nvPr/>
        </p:nvPicPr>
        <p:blipFill rotWithShape="1">
          <a:blip r:embed="rId4"/>
          <a:srcRect l="15664" t="577" r="13584" b="-577"/>
          <a:stretch/>
        </p:blipFill>
        <p:spPr>
          <a:xfrm>
            <a:off x="5687568" y="1653992"/>
            <a:ext cx="5961888" cy="4204803"/>
          </a:xfrm>
          <a:prstGeom prst="rect">
            <a:avLst/>
          </a:prstGeom>
        </p:spPr>
      </p:pic>
    </p:spTree>
    <p:extLst>
      <p:ext uri="{BB962C8B-B14F-4D97-AF65-F5344CB8AC3E}">
        <p14:creationId xmlns:p14="http://schemas.microsoft.com/office/powerpoint/2010/main" val="8305558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06994"/>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descr="C:/Users/君怡的~1/AppData/Local/Temp/kaimatting/20210905234122/output_aiMatting_20210905234128.pngoutput_aiMatting_20210905234128"/>
          <p:cNvPicPr>
            <a:picLocks noChangeAspect="1"/>
          </p:cNvPicPr>
          <p:nvPr/>
        </p:nvPicPr>
        <p:blipFill>
          <a:blip r:embed="rId3"/>
          <a:stretch>
            <a:fillRect/>
          </a:stretch>
        </p:blipFill>
        <p:spPr>
          <a:xfrm>
            <a:off x="605790" y="59690"/>
            <a:ext cx="1701800" cy="387985"/>
          </a:xfrm>
          <a:prstGeom prst="rect">
            <a:avLst/>
          </a:prstGeom>
        </p:spPr>
      </p:pic>
      <p:pic>
        <p:nvPicPr>
          <p:cNvPr id="4" name="图片 3">
            <a:extLst>
              <a:ext uri="{FF2B5EF4-FFF2-40B4-BE49-F238E27FC236}">
                <a16:creationId xmlns:a16="http://schemas.microsoft.com/office/drawing/2014/main" id="{9D264ABB-65D2-6635-74D6-039B10673FC9}"/>
              </a:ext>
            </a:extLst>
          </p:cNvPr>
          <p:cNvPicPr>
            <a:picLocks noChangeAspect="1"/>
          </p:cNvPicPr>
          <p:nvPr/>
        </p:nvPicPr>
        <p:blipFill>
          <a:blip r:embed="rId4"/>
          <a:stretch>
            <a:fillRect/>
          </a:stretch>
        </p:blipFill>
        <p:spPr>
          <a:xfrm>
            <a:off x="198619" y="1515436"/>
            <a:ext cx="5629406" cy="3261574"/>
          </a:xfrm>
          <a:prstGeom prst="rect">
            <a:avLst/>
          </a:prstGeom>
        </p:spPr>
      </p:pic>
      <p:sp>
        <p:nvSpPr>
          <p:cNvPr id="7" name="文本框 6">
            <a:extLst>
              <a:ext uri="{FF2B5EF4-FFF2-40B4-BE49-F238E27FC236}">
                <a16:creationId xmlns:a16="http://schemas.microsoft.com/office/drawing/2014/main" id="{2C68DD1E-CA2C-4967-0F69-64FAF87FE924}"/>
              </a:ext>
            </a:extLst>
          </p:cNvPr>
          <p:cNvSpPr txBox="1"/>
          <p:nvPr/>
        </p:nvSpPr>
        <p:spPr>
          <a:xfrm>
            <a:off x="1189475" y="5140906"/>
            <a:ext cx="4232910" cy="873957"/>
          </a:xfrm>
          <a:prstGeom prst="rect">
            <a:avLst/>
          </a:prstGeom>
          <a:noFill/>
        </p:spPr>
        <p:txBody>
          <a:bodyPr wrap="square">
            <a:spAutoFit/>
          </a:bodyPr>
          <a:lstStyle/>
          <a:p>
            <a:pPr algn="ctr">
              <a:lnSpc>
                <a:spcPct val="150000"/>
              </a:lnSpc>
            </a:pPr>
            <a:r>
              <a:rPr lang="zh-CN" altLang="en-US" dirty="0"/>
              <a:t>生物酶进化的工作流程</a:t>
            </a:r>
          </a:p>
          <a:p>
            <a:pPr algn="ctr">
              <a:lnSpc>
                <a:spcPct val="150000"/>
              </a:lnSpc>
            </a:pPr>
            <a:r>
              <a:rPr lang="zh-CN" altLang="en-US" dirty="0"/>
              <a:t>（图源：</a:t>
            </a:r>
            <a:r>
              <a:rPr lang="en-US" altLang="zh-CN" dirty="0"/>
              <a:t>Natural Product Reports</a:t>
            </a:r>
            <a:r>
              <a:rPr lang="zh-CN" altLang="en-US" dirty="0"/>
              <a:t>期刊）</a:t>
            </a:r>
          </a:p>
        </p:txBody>
      </p:sp>
      <p:sp>
        <p:nvSpPr>
          <p:cNvPr id="8" name="文本框 7">
            <a:extLst>
              <a:ext uri="{FF2B5EF4-FFF2-40B4-BE49-F238E27FC236}">
                <a16:creationId xmlns:a16="http://schemas.microsoft.com/office/drawing/2014/main" id="{7F746B12-BE4C-BEFF-DDFC-42C7A7EEBA04}"/>
              </a:ext>
            </a:extLst>
          </p:cNvPr>
          <p:cNvSpPr txBox="1"/>
          <p:nvPr/>
        </p:nvSpPr>
        <p:spPr>
          <a:xfrm>
            <a:off x="577408" y="689875"/>
            <a:ext cx="4031168" cy="461665"/>
          </a:xfrm>
          <a:prstGeom prst="rect">
            <a:avLst/>
          </a:prstGeom>
          <a:noFill/>
        </p:spPr>
        <p:txBody>
          <a:bodyPr wrap="square" rtlCol="0">
            <a:spAutoFit/>
          </a:bodyPr>
          <a:lstStyle/>
          <a:p>
            <a:r>
              <a:rPr lang="zh-CN" altLang="en-US" sz="2400" b="1" dirty="0">
                <a:cs typeface="+mn-ea"/>
                <a:sym typeface="+mn-lt"/>
              </a:rPr>
              <a:t>基于机器学习的酶分子进化</a:t>
            </a:r>
          </a:p>
        </p:txBody>
      </p:sp>
      <p:sp>
        <p:nvSpPr>
          <p:cNvPr id="10" name="文本框 9">
            <a:extLst>
              <a:ext uri="{FF2B5EF4-FFF2-40B4-BE49-F238E27FC236}">
                <a16:creationId xmlns:a16="http://schemas.microsoft.com/office/drawing/2014/main" id="{86316A07-3EBD-A60B-4874-AC608551A93A}"/>
              </a:ext>
            </a:extLst>
          </p:cNvPr>
          <p:cNvSpPr txBox="1"/>
          <p:nvPr/>
        </p:nvSpPr>
        <p:spPr>
          <a:xfrm>
            <a:off x="7299962" y="725847"/>
            <a:ext cx="3361942" cy="461665"/>
          </a:xfrm>
          <a:prstGeom prst="rect">
            <a:avLst/>
          </a:prstGeom>
          <a:noFill/>
        </p:spPr>
        <p:txBody>
          <a:bodyPr wrap="square">
            <a:spAutoFit/>
          </a:bodyPr>
          <a:lstStyle/>
          <a:p>
            <a:r>
              <a:rPr lang="en-US" altLang="zh-CN" sz="2400" b="1" dirty="0">
                <a:cs typeface="+mn-ea"/>
              </a:rPr>
              <a:t>AI “</a:t>
            </a:r>
            <a:r>
              <a:rPr lang="zh-CN" altLang="en-US" sz="2400" b="1" dirty="0">
                <a:cs typeface="+mn-ea"/>
              </a:rPr>
              <a:t>算出来”的人工酶</a:t>
            </a:r>
          </a:p>
        </p:txBody>
      </p:sp>
      <p:pic>
        <p:nvPicPr>
          <p:cNvPr id="12" name="图片 11">
            <a:extLst>
              <a:ext uri="{FF2B5EF4-FFF2-40B4-BE49-F238E27FC236}">
                <a16:creationId xmlns:a16="http://schemas.microsoft.com/office/drawing/2014/main" id="{467905D8-B7D3-72DD-1371-C2D5D5736882}"/>
              </a:ext>
            </a:extLst>
          </p:cNvPr>
          <p:cNvPicPr>
            <a:picLocks noChangeAspect="1"/>
          </p:cNvPicPr>
          <p:nvPr/>
        </p:nvPicPr>
        <p:blipFill>
          <a:blip r:embed="rId5"/>
          <a:stretch>
            <a:fillRect/>
          </a:stretch>
        </p:blipFill>
        <p:spPr>
          <a:xfrm>
            <a:off x="6363976" y="1555051"/>
            <a:ext cx="5498590" cy="2427235"/>
          </a:xfrm>
          <a:prstGeom prst="rect">
            <a:avLst/>
          </a:prstGeom>
        </p:spPr>
      </p:pic>
      <p:sp>
        <p:nvSpPr>
          <p:cNvPr id="14" name="文本框 13">
            <a:extLst>
              <a:ext uri="{FF2B5EF4-FFF2-40B4-BE49-F238E27FC236}">
                <a16:creationId xmlns:a16="http://schemas.microsoft.com/office/drawing/2014/main" id="{BBAF9009-FAEE-7D8B-5BF6-7FDB3AB6BCF0}"/>
              </a:ext>
            </a:extLst>
          </p:cNvPr>
          <p:cNvSpPr txBox="1"/>
          <p:nvPr/>
        </p:nvSpPr>
        <p:spPr>
          <a:xfrm>
            <a:off x="6927092" y="4424353"/>
            <a:ext cx="4798314" cy="2031325"/>
          </a:xfrm>
          <a:prstGeom prst="rect">
            <a:avLst/>
          </a:prstGeom>
          <a:noFill/>
        </p:spPr>
        <p:txBody>
          <a:bodyPr wrap="square">
            <a:spAutoFit/>
          </a:bodyPr>
          <a:lstStyle/>
          <a:p>
            <a:r>
              <a:rPr lang="zh-CN" altLang="en-US" dirty="0"/>
              <a:t>中国科学院微生物研究所的吴边研究员团队通过使用人工智能计算技术，实现了自然界未曾发现的催化反应。</a:t>
            </a:r>
            <a:endParaRPr lang="en-US" altLang="zh-CN" dirty="0"/>
          </a:p>
          <a:p>
            <a:endParaRPr lang="en-US" altLang="zh-CN" dirty="0"/>
          </a:p>
          <a:p>
            <a:r>
              <a:rPr lang="zh-CN" altLang="en-US" dirty="0"/>
              <a:t>对芽孢杆菌来源的天冬氨酸酶进行了分子重设计，成功获得了一系列具有绝对位置选择性与立体选择性的人工</a:t>
            </a:r>
            <a:r>
              <a:rPr lang="en-US" altLang="zh-CN" dirty="0"/>
              <a:t>β-</a:t>
            </a:r>
            <a:r>
              <a:rPr lang="zh-CN" altLang="en-US" dirty="0"/>
              <a:t>氨基酸合成酶。</a:t>
            </a:r>
          </a:p>
        </p:txBody>
      </p:sp>
    </p:spTree>
    <p:extLst>
      <p:ext uri="{BB962C8B-B14F-4D97-AF65-F5344CB8AC3E}">
        <p14:creationId xmlns:p14="http://schemas.microsoft.com/office/powerpoint/2010/main" val="14731935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平行四边形 7"/>
          <p:cNvSpPr/>
          <p:nvPr/>
        </p:nvSpPr>
        <p:spPr>
          <a:xfrm>
            <a:off x="1134110" y="2844800"/>
            <a:ext cx="11482705" cy="2226945"/>
          </a:xfrm>
          <a:prstGeom prst="parallelogram">
            <a:avLst/>
          </a:prstGeom>
          <a:solidFill>
            <a:srgbClr val="17438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nvSpPr>
        <p:spPr>
          <a:xfrm>
            <a:off x="1261110" y="2759075"/>
            <a:ext cx="11594465" cy="2226945"/>
          </a:xfrm>
          <a:prstGeom prst="parallelogram">
            <a:avLst/>
          </a:prstGeom>
          <a:solidFill>
            <a:srgbClr val="1743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6" name="平行四边形 5"/>
          <p:cNvSpPr/>
          <p:nvPr/>
        </p:nvSpPr>
        <p:spPr>
          <a:xfrm>
            <a:off x="-543560" y="2111375"/>
            <a:ext cx="4166870" cy="1946275"/>
          </a:xfrm>
          <a:prstGeom prst="parallelogram">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901440" y="3437255"/>
            <a:ext cx="6819265" cy="745490"/>
          </a:xfrm>
          <a:prstGeom prst="rect">
            <a:avLst/>
          </a:prstGeom>
        </p:spPr>
        <p:txBody>
          <a:bodyPr wrap="square" lIns="68580" tIns="34290" rIns="68580" bIns="34290">
            <a:spAutoFit/>
          </a:bodyPr>
          <a:lstStyle/>
          <a:p>
            <a:pPr algn="ctr"/>
            <a:r>
              <a:rPr lang="zh-CN" altLang="en-US" sz="4400" b="1" dirty="0">
                <a:solidFill>
                  <a:schemeClr val="bg1"/>
                </a:solidFill>
                <a:latin typeface="微软雅黑" panose="020B0503020204020204" charset="-122"/>
                <a:ea typeface="微软雅黑" panose="020B0503020204020204" charset="-122"/>
              </a:rPr>
              <a:t>谢谢！</a:t>
            </a:r>
          </a:p>
        </p:txBody>
      </p:sp>
      <p:sp>
        <p:nvSpPr>
          <p:cNvPr id="14" name="椭圆 13"/>
          <p:cNvSpPr/>
          <p:nvPr/>
        </p:nvSpPr>
        <p:spPr>
          <a:xfrm>
            <a:off x="1798955" y="2887980"/>
            <a:ext cx="1691005" cy="1591310"/>
          </a:xfrm>
          <a:prstGeom prst="ellipse">
            <a:avLst/>
          </a:prstGeom>
          <a:solidFill>
            <a:schemeClr val="accent1">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192655" y="3172460"/>
            <a:ext cx="1297305" cy="899160"/>
          </a:xfrm>
          <a:prstGeom prst="rect">
            <a:avLst/>
          </a:prstGeom>
        </p:spPr>
        <p:txBody>
          <a:bodyPr wrap="square" lIns="68580" tIns="34290" rIns="68580" bIns="34290">
            <a:spAutoFit/>
          </a:bodyPr>
          <a:lstStyle/>
          <a:p>
            <a:r>
              <a:rPr lang="en-US" altLang="zh-CN" sz="5400" b="1" dirty="0">
                <a:solidFill>
                  <a:schemeClr val="bg1"/>
                </a:solidFill>
                <a:latin typeface="微软雅黑" panose="020B0503020204020204" charset="-122"/>
                <a:ea typeface="微软雅黑" panose="020B0503020204020204" charset="-122"/>
              </a:rPr>
              <a:t>01</a:t>
            </a:r>
            <a:endParaRPr lang="zh-CN" altLang="en-US" sz="5400" b="1" dirty="0">
              <a:solidFill>
                <a:schemeClr val="bg1"/>
              </a:solidFill>
              <a:latin typeface="微软雅黑" panose="020B0503020204020204" charset="-122"/>
              <a:ea typeface="微软雅黑" panose="020B0503020204020204" charset="-122"/>
            </a:endParaRPr>
          </a:p>
        </p:txBody>
      </p:sp>
      <p:sp>
        <p:nvSpPr>
          <p:cNvPr id="16" name="平行四边形 15"/>
          <p:cNvSpPr/>
          <p:nvPr/>
        </p:nvSpPr>
        <p:spPr>
          <a:xfrm>
            <a:off x="-542925" y="2107565"/>
            <a:ext cx="4166870" cy="1946275"/>
          </a:xfrm>
          <a:prstGeom prst="parallelogram">
            <a:avLst/>
          </a:prstGeom>
          <a:solidFill>
            <a:srgbClr val="1743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799590" y="2844165"/>
            <a:ext cx="1690370" cy="1635125"/>
          </a:xfrm>
          <a:prstGeom prst="ellipse">
            <a:avLst/>
          </a:prstGeom>
          <a:solidFill>
            <a:srgbClr val="1D50A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图片1"/>
          <p:cNvPicPr>
            <a:picLocks noChangeAspect="1"/>
          </p:cNvPicPr>
          <p:nvPr/>
        </p:nvPicPr>
        <p:blipFill>
          <a:blip r:embed="rId2" cstate="print"/>
          <a:stretch>
            <a:fillRect/>
          </a:stretch>
        </p:blipFill>
        <p:spPr>
          <a:xfrm>
            <a:off x="1713865" y="2759710"/>
            <a:ext cx="2106930" cy="210058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jb3VudCI6NzYsImhkaWQiOiJjM2IzYmRlNmFiZDcxYmI0NDM2ZDFjMzY1OTcxNWYwNCIsInVzZXJDb3VudCI6NzZ9"/>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14,&quot;width&quot;:19199}"/>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14,&quot;width&quot;:19199}"/>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14,&quot;width&quot;:19199}"/>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14,&quot;width&quot;:19199}"/>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14,&quot;width&quot;:19199}"/>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14,&quot;width&quot;:19199}"/>
</p:tagLst>
</file>

<file path=ppt/tags/tag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14,&quot;width&quot;:19199}"/>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014,&quot;width&quot;:19199}"/>
</p:tagLst>
</file>

<file path=ppt/theme/theme1.xml><?xml version="1.0" encoding="utf-8"?>
<a:theme xmlns:a="http://schemas.openxmlformats.org/drawingml/2006/main" name="Office 主题​​">
  <a:themeElements>
    <a:clrScheme name="绿色标准">
      <a:dk1>
        <a:srgbClr val="000000"/>
      </a:dk1>
      <a:lt1>
        <a:srgbClr val="FFFFFF"/>
      </a:lt1>
      <a:dk2>
        <a:srgbClr val="606060"/>
      </a:dk2>
      <a:lt2>
        <a:srgbClr val="F0F0F0"/>
      </a:lt2>
      <a:accent1>
        <a:srgbClr val="025B25"/>
      </a:accent1>
      <a:accent2>
        <a:srgbClr val="85C226"/>
      </a:accent2>
      <a:accent3>
        <a:srgbClr val="000000"/>
      </a:accent3>
      <a:accent4>
        <a:srgbClr val="919191"/>
      </a:accent4>
      <a:accent5>
        <a:srgbClr val="E8781A"/>
      </a:accent5>
      <a:accent6>
        <a:srgbClr val="FCDB00"/>
      </a:accent6>
      <a:hlink>
        <a:srgbClr val="4472C4"/>
      </a:hlink>
      <a:folHlink>
        <a:srgbClr val="BFBFBF"/>
      </a:folHlink>
    </a:clrScheme>
    <a:fontScheme name="pwnr5son">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2400" dirty="0" smtClean="0">
            <a:latin typeface="+mj-ea"/>
            <a:ea typeface="+mj-ea"/>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smtClean="0">
            <a:solidFill>
              <a:schemeClr val="accent1"/>
            </a:solidFill>
            <a:latin typeface="+mj-ea"/>
            <a:ea typeface="+mj-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MTc1MDAyOTk5NTgyIiwKCSJHcm91cElkIiA6ICIyODk0MjI0MzIiLAoJIkltYWdlIiA6ICJpVkJPUncwS0dnb0FBQUFOU1VoRVVnQUFBcjRBQUFNc0NBWUFBQUN5WHFHSkFBQUFDWEJJV1hNQUFBc1RBQUFMRXdFQW1wd1lBQUFnQUVsRVFWUjRuT3pkZDFnVTU5b0c4SHUyMFh1UmFnRVJWQkRzaWtZVDAzc3hwaGcxcHB6MGRxSkpUUFE3S2Nab1lreE03OVpFVFRIZEdJM1JtRVRFRGdLS0JSR2s5NzZ3OWZzRFhSbG1VVkYwdHR5LzYvSTY4THd6c3c4Y2cvY083N3l2WURhYnpTQWlJaUlpY2pDQ0lBaHRQMWZJMVFnUkVSRVIwWVhFNEV0RVJFUkVUb0hCbDRpSWlJaWNBb012RVJFUkVUa0ZCbDhpSWlJaWNnb012a1JFUkVUa0ZCaDhpWWlJaU1ncE1QZ1NFUkVSa1ZOZzhDVWlJaUlpcDhEZ1MwUkVSRVJPZ2NHWGlJaUlpSndDZ3k4UkVSRVJPUVVHWHlJaUlpSnlDZ3krUkVSRVJPUVVHSHlKaUlpSXlDa3crQklSRVJHUlUyRHdKU0lpSWlLbndPQkxSRVJFUkU2QndaZUlpSWlJbkFLREx4RVJFUkU1QlFaZklpSWlJbklLREw1RVJFUkU1QlFZZkltSWlJaklLVEQ0RWhFUkVaRlRZUEFsSWlJaUlxZkE0RXRFUkVSRVRvSEJsNGlJaUlpY0FvTXZFUkVSRVRrRkJsOGlJaUlpY2dvTXZrUkVSRVRrRkJoOGlZaUlpTWdwTVBnU0VSRVJrVk5nOENVaUlpSWlwOERnUzBSRVJFUk9nY0dYaUlpSWlKd0NneThSRVJFUk9RVUdYeUlpSWlKeUNneStSRVJFUk9RVUdIeUppSWlJeUNrdytCSVJFUkdSVTJEd0pTSWlJaUtud09CTFJFUkVSRTZCd1plSWlJaUluQUtETHhFUkVSRTVCUVpmSWlJaUluSUtLcmtiSUNJaWNtUWhHMWJMM1FMWmtKTEx4c3ZkZ2xQakhWOGlJaUlpY2dvTXZrUkVSRVRrRkJoOGlZaUlpTWdwTVBnU0VSRVJrVk5nOENVaUlpSWlwOERnUzBSRVJFUk9nY0dYaUlpSWlKd0NneThSRVJFUk9RVUdYeUlpSWlKeUNneStSRVJFUk9RVUdIeUppSWlJeUNrdytCSVJFUkdSVTJEd0pTSWlJaUtud09CTFJFUkVSRTZCd1plSWlJaUluQUtETHhFUkVSRTVCUVpmSWlJaUluSUtETDVFUkVSRTVCUVlmSW1JaUlqSUtURDRFaEVSRVpGVFlQQWxJaUlpSXFmQTRFdEVSRVJFVGtFbGR3TkVSRVRVTlpTQ2dCdTZSVUFwQ0paYWFuVUZDcHFiWk96cS9CQUFxQVFGOUdhVDNLMlFIV0h3SlNJaWNoRFBSUFhEVTczaUxKL25OalZnVE9rZjUrVzF2RlZxckI5K3FlWHpSekszWTNkdEZYcDdlT0craUdqTXpjbENuVUhmcVd1cUJBR2VLalc4VldyNHFOUUkwTGdnVU9PQ1FIWHIvd2E3dUNMYzFSM2hydTRJYzNIRG9vSWN2SFJ3YjZkZlk2QzNQNGI1Qm1DRVh5QU1aalB1U2QvYXFXdVEvV0x3SlNJaWNnQzNoZllRaFY0QTZPWHVpUnVDSTdDNkpML0xYODlvTnFPbm00ZmxjM2VsRWcvM2lNR3MzZ2xRQ2dLaVBid3djYysvTUpqTmtuTi9Ibkl4M0pSS3VDcU8vMUVxNGFGVXdsM1p1Vmh5UzBna1poL0tnTkhLYTNSRUpTandaVkl5Zk5RYVM2MjNoeGNPTjlaMzZyWEpQbkdPTHhFUmtaMjdMYlFIM3U0MzJPcllPLzJINExyZzhDNS9UVjI3S1FZS0NQaTV0QkJWZWgwQVlJeC9NRjdwazJqMTNHRytBVWp3OGtXTWh4Y2kzZHdScEhIcGRPZ0ZnR0NOS3k3eUQrN1VPYzBtSTc0dUZyOFJtQlRlcTlPdlRmYUpkM3lKaUlqc2xBRGc2YWkrbUI3VkR5ZG05VFlaRFhnMGN3ZGVqVTFFdUtzN1ZJS0FUeE9HNDZWRGUvRnAvdUV1ZTIyOXlRVHo4UjRBUUNFSUtHeHV3bjE3dDJMMTRERTQzRmlQRFJVbFozWHRScU1CdFhvOXF2VTYxQmgwcU5LMW9FTFhnZ3A5QzhwYldsQ3EwNktvV1l2Q1ppMnE5QzJpY3o4Zk1LTFRRZitoN2pGNHFIdE1oK01iS2tvd0tXM0xXWDB0WkZzWWZJbUlpT3lRdjlvRjcvWWZnc3NDUXl5MUpxTUJrOUpTa0ZKZGpvT045Zmg1eUZnRWFGeWdFQVM4MGljUnczd0RNWDMvYnRRY3Z5dHJUZUdsdDRnZWpqdFRxd2FPRm4zZTE5TUhLd2FPd3ZhYVN0eXc4NjhPejN2dGNDYldWeFNqM21CQWc5R0FCb08rVTFNWGlEcUR3WmVJaU1qT1hCY2Nqbmx4QXhHb2NiSFVLblV0bUpTV2dqMTFWUUNBbktaNmpOLzlOMVlralVhWXE1dmx2R0crQVhqNVlNWjVtZmQ3Tm80ME5TQzdvZTY4WEZ0dk1xR2kzUjNoczlIK3JqTFpMd1pmSWlJaU94SHQ3b1hac1lrWUY5Qk5WTStzcjhFOWU3ZmltRmE4YkZsMlF4MnUyYkVSeTVOR0ljSExGMERydk5nUDRvZmlQOTE3NC9XY0xHeXFMTzN3OVk1cUcySHNZTGt3dGFCQTl6WVB0K1UwTlFDUTNxbVZjeW0xbmJXVnVIblgzNmM4eGwycFFwUFJjSUU2SXJreCtCSVJFZG1CbWIzajhYQ1BQbEJabVlZUTcrV0xIYU91N3RUMWtyejlzSExnYUtSV1YyRDg3cit0VGkrNGVlZG1GTGRvclo0ZjRlcU9uYU5QdnVhMU96WlpwbEQ0cU5Tb1BjT2x6RDVLR0lZUHoyRm13K0IvZjBPNTd2UjNaRU5kM0N4ZlM0aUxLeDdvSG9QTEFrTmdCakIycTNqSnR5UnZQenpTb3c5U3FzdnhiM1U1VjN4d0lGelZnWWlJeUE1c3JhNFEvYU5kZUpaM1VtdmJ6ZS85N05qaHM1cFQyMzZOWG8vanF6SUVhVnl3NTZKcjhNMmdpM0JUdDBpb2hWTkhEYldnZ0VaeDluOEVkRHdmV1JBRTNCd1NpVitIWG95dG82NkV2N3AxYW9nWndNTTkrcUNQaHpkaVBid3RkOE5QdUR3d0ZEZDBpOEM4dUlGWVAyd2NOQXJHSlVmQk83NUVSRVRud1UrbEJlanY2ZE5sMTl0WVdZSjNqaDdBa3oxanNiVGdDT1ljenNUaFMyN3M5SFdtN2QrTkNGZDMvRGVxTDFZVkhjV2Fzc0lPai8xaHlOZ09wenJjdXVzZkdNeG15eDFvUDdVR2hjMU5lS3huTE55VktvenhEMGFNaHhmV2xCZGFtd0hSWmN5bnVyZ1ptQkhkSHoyT1Q4bTRPNklYM3M3TlJtbExNM2JWVm1LSVR3QUE0T2FRU0dUVTExaE9HeGQ0Y2lwSlNuVUZkQ2J1RHVjb0dIeUppSWk2MkpicWNqeVd0ZU9zMXFZOWxRVkg5bUZOV1NFeWo0ZTBrQTJyei9wYUs0dnowR1E0OWR6V3RodFV0R2VDR1pXNkZuUnpjUVVBQktnMUNIVnh3OTBSVVpaalBzMC9CSDI3MEtob04xWGovcjJwK0xXc0VCcUZBay8wakVPVDBZQVA4dzVhZmMxK25qN1lNUHhTeXpYUzY2b2wweHphWHQwRU01WVg1bUpXNzNnQXdOU0lhTHgvOUNEMFpoUFdsUmRiZ3UvMXdSRjQ1VkFHQU1CWHJVR2lsNS9sR245V250MlNiR1NiZU8rZWlJaW9DK1UwTmVDK3ZhblFtMHlTYVFYbnltQTJXMEx2dWFyVjY2RHY0Rzd1bVdnMkdsSFVjbks2UllpckcxNk5UWVNyUWdtZ2RaV0paUVc1a3ZPOFZHclI1M3F6Q1QzZFBQRFhpTXN4UGFvdlh1Z2Rid21rYlFrQVh1NHpRQlNjNStWa1NZNVR0WmxhWVRDYnNiTG9xQ1Y4ZDNOeHhVMGhFUUNBZGVYRmx1TWkzZHd0MHgwdTl1OG1lbzMxYlk0ais4Yzd2a1JFUkYya1JxL0RsTFF0cDF3bnR5dVVYRGIrbks5eDJiWS9KU0ZhQUVScitBNzRldzNLZE0wQWdPNXVIdGcrNmlyTG1OWmtSTDYyQ1FPOS9RRUFVOEtqTU5qSDN6Sys4R2cyR3Eyc2x1RFRMdmpxVENZVXRtalJZaklDQUZTQ2dJOFRodUh5YlgraXVzMzM4WjdJYU5FdWJXdkxpNnl1U05GMlBxN0JiRUtscmdYcktvb3RtMXJjSDlrYjN4Ym40MkJqSFk1cG14RHA1ZzRBdUNvb0RCbjFOYUpwRHZzYmFzOTZMalhaSnQ3eEpTSWk2Z0o2c3duMzdVMDl2cXlYZlhJNWZyZjJoTGJiRXJjTmxDYXpHVHFUQ1VmYWZLMXRRMisrdGhGTEM0NVlmWTIyYXc4RFFMVmVCNzNKaENmMzdZTGgrRU4yRWE3dStIcmdhSGdmRDhtai9JTHdjcDhCbG5OcURYbzhuNzNINnZXOVZDZnY2VFVjbjhyeFZlSEpPOCtKM242SVAzNTM5NCtLazNkenJ3Z0toUUJnWE1ESkRVRis1OTFlaDhQZ1MwUkUxQVdlMjc4SFc2ckxSYlhUcldoZ2EvelVHdEhuRFcxV2J2QnVjNmYyeEozY2ZRMjFWcTh6NjJCNmh3K0V4WHVLVjFBNE1VZDNiMTAxRnVabVcrb0R2UDJ3WXVBb1hCNFlpbVZKeVpidnBSbkFvNW5iVWRMU2JQWDZRUnBYeThjMWh0WTd4cHVyeWtUTHNrMEs3d2xBUEg4M3djc1hWd2VIaVlMNWI2ZDQ4SS9zRTZjNkVCRVJuYU1QOHc1aVJkRlJVVTBBTUNjdUVjL3V0MzVuc3F0Y3QrTXY3TzhnZ0xhWGM1cFZJRTdzOEFZQTlRYTk1UTRzQU12S0NBQXNVeEIyMVZaS3J2RjdlUkhXbHhkalliL0JXRjZZaTEyMVZhTHhBZDRuZzIrTHlTZ0twQXVPN0VNZkR5L2MwSzExSHU0UW53QXNUMG9XblQ4dkp3c2JLcXcvY0tZUUJJUzRuQXkrWmNmRHNjbHN4bmZGK1hpOFp5d0E0SmFRN25qNVVBYTJWSlZqZjBNdHR0VlU0Sy9LTWd6elBUbTN1S0M1U2JUU0F6a0crM29yU2tSRVpHTitMeS9Dbk1PWmt2b0QzV013SlR6S3lobGRxOWxrUktQUmNFWi9UaWZHdzl2eWNYR0xGcGNGaG1CY1FBaXVEZ3JEMDczNldzYUttbHZEcXQ1a0V0M1pyZGJyOE16KzNRQ0E2N3BGWU0zUVMvRDFvSXZnYy94T3NnQmdUSnQ1dW9jYTYyRnFFNjdOQUI3UDJpa0p5eWQ4a0hjUTc3UzVLOXhldUt1YmFMcEdmcHVkN0w0dFBybEZzN2RLald1Q3d0RnNNdUtTMUEyWWtaMkczOHVMUkhPSWYrWGRYb2ZFTzc1RVJFUm5LYU8rQm85bTdwQnNBSEY1WUNoZWpFbVFxYXV6TjhqbjVESmVSNW9hY0ZsZ0NLWkdSRXVPUzZ1dmhvdENpVVdKSTBWemYxT3F5MUd1YTBHZ3hnV2V4NWR5RytzZkRCei8vb3p3Q3hKdGM3eXozUjFqcFNEZ3R0RHVIUzZqMXNQTkE5SHVuaDNPbzA3eTloZDlmcUN4enZMeHdjWTY3S3l0eERGdEU3NHV6c1BmVldXaVk4TmMzVVFiV2Z4YXl1RHJpQmg4aVlpSXprSkpTek9tcEtWSTdxVDI5L0xCeHduREpPdlYyb08yRDNabDFkZWl4TXAyeFRWNkhSWWZ5OEVuQ2NNd3ROMnlZMWNHaFNIR3d3c1JydTZXV25HTDFySjk4VjFoUFVYSC8xblJ1aXFEcTBLSlcwSWk4WGpQV1BSeTkreXd2K3VDdzNGVlVCaFdGT1hpbzd4RHlHMFhnTnZlVGRhWlRIQlZLSkhvZlRMTXp6cVFidG51b3YxdWJWY0hoVmsrcmpYb1lUQ2JMT2MyR1EwNHhHMkxIUUtETHhFUlVTZHBqVWJjblo0aW1wOEtBTUVhVnl4TFRMWnMzM3NoYkJoK2FaZGNKOWt2U0JSWXQ5VlVRRzgyVzZZaTFCdjB5R3lveGN1SE12Qml6QUJjMVNZb210RTZqVUVsQ0ZpUk5CcE5wcE52Qms1TVcwajA5c1A0ME82V2VyVmVoMXFERHJQN0pHSkNhSGY0dG51d0RtaTlnN3k3dGdvUDllaGoyU0ZPSlFpWUVoNkZLZUZSMkYxYmhkVWwrZmkrNUJnYURBWlJlTjFSVzRtZmhvdzlxKytGajBxTjM0ZU5zM3krdDY0YVYyemZlRmJYSXR2QzRFdEVSTlFKcmZOUWR5QzlybHBVZDFVb3NUUnBKTUxiaEVkNzhzVHhCNytBMXBDN3RhWUNlcE1KWVg5K0x6cHUxY0RSdURqZzVGcTMrZHBHUExOL043NU1HZ1cxUW1GWkYvZUV6Y2ZYMm4yMFJ4L1JybXJMQzNNeEp6WkpjdWNWYUwxTC9OTEJ2ZmlwdEFBQXNLYXNDUFA3RHJRc1EzYkNJQjkveEhsNlkwTkZDYTRPRXEvSThFdHBBVWI1QlhYdW0wQU9qdyszRVJFUmRjTGN3NW1TQjU4VWdvQjMrdyt4Yk9aZ2p4WWV6YmJjd2Y2cHRFQ3kxZkFKN3gwOVlKbmVVZFNzeFlUZC8yQnpWUmxtSFV5WEhGdWoxMW5DNnpQWmV5d2JUcFRyV3ZEZTBRTjRldDh1MGZ6bzRoWXQ1dVZrWVZUS2VzdDVBTENucmdwWGJOK0lwL2Z0UXI2MlVmUWFyeDdPUko2MkVkdHFLcEhUMURvZG9kNmd4dzhseDg3MlcwRU9URENiMjgzSUp5SWlJcXUrS2M3RGsxazcwZjRmenVlaSsrTy92ZUtzbmhPeVlYV1g5N0Z6OU5XV2orL2RtNHFjTTV4L3Vubms1WmFQSis3WmdvTnRIdjRDV3FkcUxFb2NnU2V6ZHA1eUk0Nngvc0dZRlpPQUtXbmk2UjVYQjRWaFdsUmZ4SHA2NDFCalBaN1BUc08ybWdyTHVFb1E4RTcvSVZoZG5JK054MFB3bk5nazlQZjB3ZWZIRHVQMzhpTFJFbXJXcUFRQjF3VkhZRko0TDZnRUFUZnYybXo1LzhOYnBjYml4Skg0cDZvTUMzT3pKYnZFblMyRDJYeEdxMktjaWE3WWRZL09uQ0NJSjlzeitCSVJFWjJCMU9vSzNMYm5IOG5HRExlR2RzZjcvWWQyZU43NUNMN25rd0JJZ3IwMUNrRVFMVVYydmwvdlRIdFFLeFNBdVhVblBWdkU0SHRodFErK25PTkxSRVIwR2tlMWpiaDNiNm9rOUE3ekRjQmJmUWZMMU5YNWNhWWh0Q3RDYjJkZTcweDc2R2lLQmhIQU9iNUVSRVNuVkd2UVkxTGFGbFRwVzBUMTdtNGVXRHhBdkk0dEVkazIvdGRLUkVUVUFZUFpqUC9zVGNYaGRuTm92VlZxZkptVWpJQTJxd2dRa2UxajhDVWlJdXJBQzlscGtoMitWSUtBVHhLR28wK2I3WDJKeUQ0dytCSVJFVm54U2Y0aExDczhJcW5QN3BPSVM5cXNZMHRFOW9QQmw0aUlxSjAvS29yeHlxRU1TZjIreUdqY0V4a3RRMGRFMUJVWWZJbUlpTnJZMTFDTGh6TzJpelpXQUlCeEFTRjRwVStpVEYwUlVWZGc4Q1VpSWpxdVROZU15V2twYUdpM1dVR2NwemMrU1JnR3BYaEpVQ0t5TXd5K1JFUkVBSnBOUmt4TjM0ckM1aVpSUFZEamd1V0pvK0RWUmJ1QUVaRjhHSHlKaU1qcG1RRThrYlVUdTJ1clJIVVhoUkpMRWtjaTBzMWRuc2FJcUVzeCtCSVJrZE9ibjdNUFA1Y1dpR29DZ0xmN0RjWVFud0I1bWlLaUxzZmdTMFJFVG0xMVNUN2V6dDB2cVQ4ZDFSZTNoRVRLMEJFUm5TOE12a1JFNUxSMjFGYmk2WDI3WVc1WHY2bGJKS1pIOVpPbEp5STZmeGg4aVlqSUtlVnJHM0ZQK2xhMG1JeWkrbUFmZjd6VGZ6QzRmZ09SNDJId0pTSWlwMU52MEdOeVdnb3FkQzJpZW9Tck81WWtKc05Gb1pTcE15STZueGg4aVlqSXFSak5aanlRc1EwSEd1dEVkUytWR3N1VGtoR2tjWkdwTXlJNjN4aDhpWWpJcWN3Nm1JNU5sYVdpbWxJUThISDhNUFQxOUpHcEt5SzZFQmg4aVlqSWFTdzZsb1BGeDNJazlaZGlCdURTd0JBWk9pS2lDNG5CbDRpSW5NTEd5bEw4NzJDNnBENDFJZ3IvNmQ1YmhvNkk2RUpqOENVaUlvZDNvTEVPRDJWc2c4RXNYcmhzckg4d1hvMU5rcWtySXJyUUdIeUppTWloVmVoYU1Ea3RCWFVHdmFnZTQrR0Z6d2FNZ0VyZ3dtVkV6a0l3bTgzdDErMG1JaUp5Q0RxVENlTjMvWTBkdFpXaWVvREdCYjhOdlFROTNEeGs2b3lJTGdSQkVMK3o1UjFmSWlKeVdFL3QyeWtKdlJxRkFvc0dqR0RvSlhKQ0RMNUVST1NRRmh6WmorOUxqb2xxQW9BMyt3N0NjTjlBZVpvaUlsa3grQklSa2NQNXNmUVkzanl5VDFKL29sY2NiZ3Z0SVVOSFJHUUxHSHlKaU1paDdLNnR3bE5adTlEK0FaYnJnc014STdxL0xEMFJrVzFnOENVaUlvZFIwTnlFcWVsYjBXd3lpdXBKM241NFAzNG91SDREa1hOajhDVWlJb2ZRWURSZ1Nsb0t5blROb25xWXF4dVdKaWJEVmFHVXFUTWlzaFVNdmtSRVpQZU1aak1leXRpR2ZRMjFvcnFIVW9WbGljbm81dUlxVTJkRVpFc1lmSW1JeU82OWRHZ3ZObFNVaUdwS1FjQ0g4Y01RNytVclUxZEVaR3NZZkltSXlLNHRMVGlDei9NUFMrcXplaWZneXFCUUdUb2lJbHZGNEV0RVJIWnJjMVVaWmgxSWw2emdjRmQ0THp6Y0kwYVdub2pJZGpINEVoR1JYVHJVV0k4SDlxWkNiemFKNnFQOWd6QXZMa21tcm9qSWxqSDRFaEdSM2FuU3QyQnkyaGJVR3ZTaWVyUzdGNzVJR0FHMXdIL2VpRWlLUHhtSWlNaXU2RTBtM0pPZWlxUGFSbEhkVDYzQjhxUmsrS2cxTW5WR1JMYU93WmVJaU96S3RQMjdzYTJtUWxSVEt4VDRZc0FJUkxsN3l0UVZFZGtEQmw4aUlySWI3K1JtNDV2aVBGRk5BUEJHM0VBayt3WEoweFFSMlEwR1h5SWlzZ3UvbGhYaTlTUDdKUFZIZXZUQm5XRTlMM3hEUkdSM0dIeUppTWptcGRkVjQvR3NIVENaeFF1WFhSMFVocG05NDJYcWlvanNEWU12RVJIWnRPSVdMZTVPVDRIV2FCVFZFN3g4OFVIOFVDZ0VRYWJPaU1qZU1QZ1NFWkhOYWpJYU1Ea3RCU1V0emFKNnFJc2JsaVVsdzEycGtxa3pJckpIREw1RVJHU1RUR1l6SHM3Y2pzejZHbEhkWGFuQzBzU1JDSFZ4azZreklySlhETDVFUkdTVFpoL093THJ5WWxGTklRaDRyLzhRRFBEMms2a3JJckpuREw1RVJHUnp2aXJNeGNkNWh5VDFGNkw3NDlyZ2NCazZJaUpId09CTFJFUTI1ZCtxY3N3NGtBWnp1L3J0WVQzd1dNOVlXWG9pSXNmQTRFdEVSRFlqcDZrQjkyZWtRbTh5aWVvai9ZTHdadHdnbWJvaUlrZkI0RXRFUkRhaFJxL0Q1TFF0cU5IclJQVmU3cDVZTkdBRTFBcitrMFZFNTRZL1JZaUlTSFo2c3duMzdrM0ZrYVlHVWQxSHJjR1hTY253VTJ0azZveUlIQW1ETHhFUnllN1ovWHVRVWwwdXFxa0ZCVDVQR0k1b2R5K1p1aUlpUjhQZ1MwUkVzdm9nN3lCV0ZoMFYxUVFBcjhVbDRTTC9ZRmw2SWlMSHhPQkxSRVN5V1Z0ZWhEbUhNeVgxQjd2SFlISjRMeGs2SWlKSHh1QkxSRVN5eUtpdndhT1pPMkF5aXhjdXV5SW9GUCtMU1pDcEt5SnlaQXkrUkVSMHdaVzBOR05LV2dxYWpBWlJ2YitYRHo2S0h3YUZJTWpVR1JFNU1nWmZJaUs2b0xSR0k2YWtwNkM0UlN1cWQzTnh4ZkxFVWZCUXFtVHFqSWdjSFlNdkVSRmRNR1lBajJYdHdONjZhbEhkVGFuRWtzU1JDSE4xazZjeEluSUtETDVFUkhUQnZIWTRFMnZLQ2tVMWhTRGczWDVETU5EYlg2YXVpTWhaTVBnU0VkRUY4WFZSSHQ0L2VrQlNmemFxSDY3dkZpRkRSMFRrYkJoOGlZam92RXV0cnNBejJidGhibGVmRU5vZFQvV0trNlVuSW5JK0RMNUVSSFJlNVRZMTRKNjlXNkV6bVVUMTRiNkJXTkIzc0V4ZEVaRXpZdkFsSXFMenB0YWd4K1QwRkZUcmRhSjZEemNQTEJvd0Fob0YveGtpb2d1SGE4WVFFZEY1WVRDYmNmL2VWQnh1ckJmVmZWUnFMRTlLUm9ER1JhYk9McXdicjUwcGR3dGtRMzVhTTBmdUZwd2EzMm9URWRGNThYejJIdnhUVlNhcXFRUUJueVFNUng4UGI1bTZJaUpueHVCTFJFUmQ3dVA4UTFoZW1DdXFDUUJlalUzRXhRSGQ1R21LaUp3ZWd5OFJFWFdwOWVYRm1IMG9RMUsvTDdJM3BrWkV5OUFSRVZFckJsOGlJdW95V2ZXMWVDUnpPNHhtOGNKbDR3SkM4SEtmQVRKMVJVVFVpc0dYaUlpNlJKbXVHVlBTVTlCZ05JanFmVDE5OEVuQ01DZ0ZRYWJPaUloYU1mZ1NFZEU1YXpZWmNYZmFWaFEyTjRucVFSb1hMRTlLaHBkS0xWTm5SRVFuTWZnU0VkRTVNUU40SW1zbjl0UlZpZW91Q2lVV0o0NUVoS3U3UEkwUkViWEQ0RXRFUk9ma2pad3MvRnhhSUtvSkFCYjJHNHdoUGdIeU5FVkVaQVdETHhFUm5iWHZpdk94TURkYlVwOFcxUmMzaDBUSzBCRVJVY2NZZkltSTZLeHNyNm5FdFAyN1lXNVh2emtrRXRPaitzblNFeEhScVRENEVoRlJwK1ZyRzNIUDNxMW9NUmxGOVNFK0FWalliN0JNWFJFUm5ScURMeEVSZFVxZFFZOUphU21vMUxXSTZwRnU3bGlTT0JJdUNxVk1uUkVSblJxREx4RVJuVEdEMll3SE03YmhZR09kcU82bFVtTjU0aWdFYWx4azZveUk2UFFZZkltSTZJek5PcENPVFpXbG9wcEtFUEJ4L0RERWVYckwxQlVSMFpsaDhDVWlvalB5eGJFY0xDbklrZFJmNmpNQWx3YUd5TkFSRVZIbk1QZ1NFZEZwYmF3c3dZc0gweVgxcVJGUnVEK3l0d3dkRVJGMUhvTXZFUkdkVW5aREhSN00yQTZEV2J4dzJjVUIzZkJxYkpKTVhSRVJkUjZETHhFUmRhaEMxNExKNlZ0UWI5Q0w2bjA4dlBGcHduQ29CRUdtem9pSU9vL0JsNGlJckdveEdURTFmU3VPYVp0RTlRQ05DNVluSmNOYnBaYXBNeUtpczhQZ1MwUkVWajIxYnhkMjFsYUthaHFGQW9zR2pFQVBOdytadWlJaU9uc012a1JFSlBIbWtmMzRvZVNZcUNZQVdOQjNNSWI3QnNyVEZCSFJPV0x3SlNJaWtSOUxqMkhCa1gyUytwTzk0akFodExzTUhSRVJkUTBHWHlJaXN0aFZXNFduc25iQjNLNStmYmNJUEJmZFg1YWVpS3dSQkFGS0ZiZkhwczVSeWQwQUVSSFpob0xtSmt4TlQwR3p5U2lxRC9UMngzdjloNERyTjlnR2YzOXZ6SC9ySVRRMGFGRmRYWStYLzdjVVpuUDd0eW9uUFRYdFZ2U1A3d1VBK1BmdnZWaTZlTjFwWDhQVlRRTWZidzhFQnZrZ0pEUUFvYUgrNk5iTkR3dmYrZzVHbzhseTNPMTNqc09WVnc4RkFCdzZXSUI1YzFhY3NwZlRVU29WY0hOM2dZZTdLenc4M2VEajQ5SDZ4OWNEUHI2ZThQUHpSRkNRTDRLQ2ZCRVE2STNmZnQyR1JaLy8xdW5YaU9rVGdYNzllNkpmL3g0d0drMlkrK3BYWjkwejJSY0dYeUlpUW9QUmdNbHBLU2pYdFlqcVlhNXVXSm8wRXE0SzNsbXpGVDE2ZGtOZ2tBOENnM3pRM0t3N2JkQWNPQ2dHdnI2ZUFJQ0tpdG9PajFNcUZmajQ4Mm53OC9PRVdtMDlIdno4VXdvT0hTd0FBQXhJak1JZEV5K0JRcUdBVHFmSGQ5OXNocnU3aTlYem1wdDFvc0E4Yi80RDBMaW80YUpSUTZOUlFlT2locXVyQnE2dW1sTitMZTJOdVhnQWxpejZIU2FUNmZRSEg2ZFVLdkYvTDAyQnA2ZWJwUllSRVlTQ2d2Sk92VGJaSndaZklpSW5aelNiOFdER051eHZFSWNpVDZVS3l4TkhJVmpqS2xOblpFM1BYaWUzaDk2L0wrK1V4d1lFZUZ0Q0x3RGtIQ3JxOEZpajBRU0R3ZGhoNkFXQXZ2MTY0TkRCQWtSMkQ4YU1tWGRCb1dpZE1hblJxUEhtMnc5M2VONy9aaTVDZXRySjdhNzc5dXR4eXI3UGxKK2ZGeEtUb3JGbjk2RXpQa2VuMDJQamhqMjQ0YVprUysyS3E0WjIrczR4MlNjR1h5SWlKL2Zpd2IzNHM2SkVWRk1LQWo2TUg0YitYajR5ZFVYdHpadi9nQ1F3M2p6K0l0dzgvaUpSN2NaclorS25OWE9zWHVQMUJROUthci85bW9wUFB2b0ZBRkJhVW9XZ0lCODAxR3ZoNSs4RkFHaHFiTWFLci81RWZsNHBjZzRYSWJKN01HYS9kaTg4UE03Zkc2Sm1yUTRORFZyVU56U2hvVjZMdXJvbTFOWTBvS2FtRVRVMURhaXVxa2RGUlMwcXltdFFWeWRlWi9xNUZ5WWllVlRuNXFQZmVQTW8zSGp6cUE3SGQrNDRnTmt2TFR1cnI0VnNDNE12RVpFVFcxSndCRjhjT3l5cC8xOU1BcTRJQ3BXaEk1TFQ3SmVXV2FZa25BalBEWTNOK09XbkZBQkFYRngzdlBDL1NmRHhhVjNIZWRQR1BjaElQeUs1enBpTEU1RTBzRGNBb0xpbzBqSTl3cHJsUzlkang3WnNORFcxUUt0dFFWTlRTNmVtTGhCMUJvTXZFWkdUK3F1eUZQOTNJRjJ5Z3NPazhGNTRxSHVNTEQxUng4ckxhaEFRNEkzZ2JuNEFXdStLVmxiV1dUMTI1NDREQUlCKy9YckEvZmlkMmVLaVNoUVdWa2lPemNzcnRYemNkaDV1ZTdGeGtaZzk5ejVvTkszUllmdTIvVmkzZGdlYUdwdEYxNGhQNklYNGhOYUg2VnBhOUpqMzJnbzBOYlZZdlNZQUZCVlZpczd2U2dhREViVzFqZWQ4bmJxNmM3OEcyUVlHWHlJaUozU29zUjRQWm15RDNpd09PaGY1QjJOdVhKSk1YZEdwTEpqL0RVYU5qc2V6ejk4SkFGano2MVlzVzdMZTZyR3pYMW9HUVJEdzVhcVpsdHAzMzI3R2h2Vzd6dnIxRHgwc3hNNGRCNUE4cWo4eU0zTHh5MDhwK04vTGR3Tm1NMTU5WlRteU1vOGlQcUVYWnIwNEdTcVZFbnE5QWEvTi9oSkhjMHRPZi9IekpIdC9QbWJPK1B5VXg3aTZhdERjckx0QUhaSGNHSHlKaUp4TWxiNEZrOUsyb05hZ0Y5V2ozYjN3ZWNKd3FBVXU4VzZyVGt3ZkFJRGEya2JMZElRLzF1L0UrKy84SURvMk5OUmZ0SExCd1FQaW5mamFDKzdtaDg4V1RaZldnMzB0ci9QK096K2d0TFFLcTFac3hJd1hKbHBXY1hocDlsU3NYN2NUVjE4OURFcVZFczFhSGQ2WXR4SnBlNlRUYU5xYi9zeHRNRTJmY05yak9uTC8xUG1vcVdrNDdYRUJnVDZvUEw2cWhiKy9OMjY0S1JsRGhzYkNiQVllZitRZDBiRXhmU0p3MHkyamtabVJpNHowSTF6eHdZRXcrQklST1JHZHlZUjcwbE9ScHhYLzZ0WlByY0dYU2Nud1VYZHVPU202c0pJR3RVNUJhV3BzUnZiK2ZLdkhkUFJnMjNzZlB0bmhkWmQ4c1JaYnRtU2Q5dlgxZWdPV2ZQRTdBT0MxMlYvaXlmL2VpdEZqRXFEUnFISGQ5U01CQUtXbDFaanp5bkxrSFQyejZRdEtsUkxuc2xpZUlIUzh3clJDSVdETTJBRzQ5b2FSaUlvS3hYMTN2NEc2dWlhWVljWk50NHkybkJzZEhZYWNuSk1yWGd3ZEZvdlJGeVZnOUVVSmFHN1dZZnhFSFJVQUFDQUFTVVJCVk5JZGM2RFhHODZoUzdJVkRMNUVSRTVrMnY1ZDJGWWpudWVwVmlpd2FNQUk5SEwzN09BczZpeWowWVFsWDZ5Rld3ZnIycDZONk43aENBNzJCUURzM0hud2xQTnh6NGJSWUVSaFFldmZEUjhmRDNoNnRkNHROaHBOS0NtdUFnQ1l6R2JFeGtXaWQwdzQrdlhyaVFGSjBaYnp6V1l6MXEzZGdjV0wxcUpaZStHbURweHFIV096R2Jocnl1VUlDZkVIQUZ4MXpYQjhzMm9UcXF2cWNlREFNY1RGdFc3QmZkSFlBYUxnTzJod0g4dkhtUm01REwwT2hNR1hpTWhKTE16TnhyZkY0cnVFQW9ENWNRTXgwaTlJbnFZY1VFMU5BK2JQVzRYTWpOeFQzbzNzckxaTGRHMUwzZGZoY1J2LzNBMEFHRHMyMGJLbDc3NnNveWdwcWVyd25MeThNbFJXMXVHUkI5OEdBTHo1OXNPSThZb0FBRlJXMXVIWmFSK2pzYkVaQ3hZK2pPamU0UjFlNStKeFNRZ0s4c0hzbDVkM0dFamJmMDllZjIwRlVyWmtRYTFXNGRiYnhxSzVXWWNmVnY5ajlkeWV2VUt3OEwzSExOYzRmS2hRTXMyaDdlWE5aalBXcjkyQktmZGNDUUM0NXRyaFdQM2QzekFhak5pZW1tMEp2cU5HeDJQSm90WTcyWjVlYnVnZGMvSnIzTFh6WUlkZkw5a2ZCbDhpSWlmd1Mya0IzamdpRFV1UDlvekZIV0U5TDN4RER1cEE5akc4UG5lbFpTN3B1V3pmMjE1WWVLRGw0MmVldTBNMGR2a1ZRM0Q1RlVNQUFBLzk1eTBvRkFMR1hUcklNdjcrdXo5WTd1YWVUdi80bm9qcEUySDVQRGpZRis5OTlBUmVlWEVaUHY5MERlYSs4UUFBUUt0dHdUK2I5OExQend0RGg4ZEJFQVM0dW1xUWsxT0VhNjRiTHJwbVpVVWRVcmUyL3YxcnYvNnZ3V0JDU0tnL1hueGxLc0xDQW1BMG1yQS9Ldy9aMmUzZXBBa0M3cjMvR2xGdy9uTFpINUwrbGNxVGM5U05SaE0yL0xFTEV5ZGZCcFZLQ1Q5L0w0d1pNd0NiTnU3QjltMzdNV1hxRmExZll6Yy9SRVdINFVoT0VRWU9qQkc5eG81dDJXZjBmU1A3d09CTFJPVGcwdXFxOGNTK25UQzFDMkhYQklkaFp1OTRtYnB5UE92V2JzZG5uNnl4aVYrTER4NFNhL25ZWUREaTF0dkdudkw0ZDk1YWJmbDQ0cVRMSk9QKy90NTRiZDc5ZVBuRnBWajArVy9Jenl2RGdleDgzSFBmMVJnNlBFNTA3RzEzWENJNVB6TWp0OFBncTljYlVGRmVDNzJ1OWZ1bVZDb3c3Ym5iOGZRVEg2QysvdVRtRk5kY054eUpiYVpXcEc3ZFozWEh0clk3ejUxWXpteDc2bjRrajI3OXUzN2REU094YWVNZUhNc3ZRMWxwdFdWNXVCRWorK0pJVGhFR0R6azV6U0h2YUNuS3kyc2tyMEgyaTQvdUVoRTVzS0ptTGU1T1Q0SFdhQlRWQjNqNzRZUCt3OUIxdjRoM1hqcWRBZSs5OHowK2ZQK244eHA2cXlyclVGaFFZZmxUVm5ZeWtEVTFObHZxQnIwUnZuNG41MnVyVkVxTXUzVFFLZitja0R3Nkh2RUp2VVJmaDA1bmdNbGtncnVISzRhUDZJdWZmdGlDeXNwYXZEcnZmbHh4MWRCT2Z4MCt2dUs1NUEwTldoZ01Scnp6OW1yTHZPWGdZRis4L09wVXl4ckVDUU9pY04vOTExak9hV3hzeGljZi9tTDErbTNuVld1MXJlc0hyMSszMDFMckhST09YbEd0bTdQczJIN0FVaDg2clBXdWRkdjV2YWVhVWtMMmlYZDhpWWdjVktQUmdDbnBLU2h0YVJiVlExM2NzRFJ4Sk55VTUvSXNQUUZBZVhrTjVzMVpnY09IQ2lWamFyVUsvM25vT256NDNvOWQ4bHFmZmZLcjZQUGVNZUZZc1BBUkFNQ1dMWm1TNWN6TzFJbnBHSjVlYm5qZ3dlc0FBTnRTOTJQMFJRa0FXdWNzLy9wekNtTGp1dU83Ynpaajh0MVg0T1piUmx2bUQxZVUxK0xWbDVjalAvL2tLZzV1Ymk1WXNQQVJoSVMyUGxUMlI1dmdlU0owbmxCVDNUcEhOK2R3SWI3OStpL2NNWEVjZ05hSCtWNTg1VzU4OS9WbVRILzJkc3ZybWMxbXZEWC9HMVJWV2QrOHc3ZE5zRzVzMEFJQTB2WWNSbVZsSFFJQ3ZBRUFWMXcxRko5OCtETjI3VHFJYTY4ZkFRQ0lpZzdEOEJGOTRlUHJZVGwvYXdxRHI2Tmg4Q1VpY2tBbXN4a1BaMjVIWnIzNDE3VHVTaFdXSlNVajFNV3RnelBwVEtXbjVXREJHMTliM1Jrc0lOQUhNMTY0RTMxaUk3c3MrTFlsQ0lKb3lrQmtaREJ1di9NU0JBVDZJRE1qRjhzV3I4T3l4ZXVzbnR1dG14L212LzJ3WmR2aFZTczJBZ0NDQW4zaDUrOEZBUGp6ajkyVzRBc0FQLzJ3QlFNSGxlSGp6NmZCMjl2ZFV0K2JmZ1Q3OStVaEpqWUN1Ym5GQUZvRC8vVG5icmVFM2wwN0QrS3ZUV21XYzNyM0RyTjhyTk1aVUhGOFB2U0pYaUlpZ3l5dkhSZlhIYk5lbkN6cS82dmxHeXc3MDFuN3Z2ajdlMXMrcjZxcUI5QWFsdi9hdUFmako3Uk8rYmo0NGtRcytXSXRNdEtQSU85b0tiS3lqaUp0OXlIMDdkZkRjbTVaV1EyT3RGbnBnUndEZ3k4UmtRTjY1VkFHMXBjWGkyb0tRY0Q3L1ljaXdjdFhwcTRjeHcrci84SHlwZXV0TGlrV245QUx6ODY0VTNUbnNDczg4dmhONk5ldkI3eTgzZUh0N1E2RjR1UnN4YmkrM1JIWHQzV0Znb0w4TWdEQW80L2ZoTnpjRW14WXZ4TzY0L05uM1QxYzhYOHZUYkdFM2wwN0R1RHJsWnNBQUxtNXhTZ3JxNEhaYkxhNjhVUlc1bEZVbE5mQTI5c2RMUzE2clBoeUE0S0QvWEQ3bmExemV2dkVSbURsbDMvaXY5TW5JR0ZBRkFDZ3BMZ0tiNzM1amVVYWdpQWdzYzBtSElVRjVhSUhBTTFtTTk1NTZ6c0VCZmtpTmk1UzBzUDMzLzJOYjcvK3E4UHZVVkN3cjJWTFpRQW9LejM1eG0vVHhqUkw4SFgzY01XSTVIN1l2Q2tkVHp6NnJ1V1lFM2ViQVdEckdheHJUUGFId1plSXlNRjhXWmlMVC9LbEQvM003QjJQYTRMRHJKeEJaNnBacThPN0MxZGp5Nytaa2pGQkVIRDlqY21ZZXU5Vm9wVUZ1a3BRa0E4aXV3ZWY5cmpHeG1aY2V2bGd5L3piMisrOEJOOS85emZXLzc0VHo4NjR3M0tOa3BJcXZQWG10NkxnbWI3bk1JN2tGTUZra2daNm5VNlArZk5XNFpZSlkvRDFpazBvTDYvQnVFc0hRYWN6UUtOUjRmSXJodURTeXdaWkFubDFkVDFtdjdRTURmVmF5elg2eC9kRXQrTVBrd0hBL25hYmNDZ1VDbHd5YnFEbGJuRjdJU0grQ0FzUFJGR2g5UlVxWW1MRVM2MjFuWDV4TEw4TTJkbjVLQ3V0d2NZTnV5WGhQakRJQjFIUkovLzdTTEh5L3pIWlB3WmZJaUlIOG05Vk9aN1BUa1A3UmJUdUNPdUpSM3Ywc1hvT25abWl3Z3JNbmZNVjh2UEtKR091cmhvODl1VE51R2pNZ1BQMittMm5WSmhNSnRUWGF5MTNibk55aXZEbkg3dFFXVkdIQTluSDhOTHNxWlpqZlgwOWNlLzkxMkRTbENzc2QwTjFPajNtelZtQmhnWnQyNWZBdi85a1lGL1cwUTU3S0NxcUZNMGwzcnc1SFJHUmdaWTdxU2RDYjFscE5WNmN0UmhGUlpXaTh5Ky9jb2pvODkzSDE4alZhTlFZZTNFaXhrOFlnOUN3Z0E1ZlAzbDBQSWFQN0ljTjYzZmloKy8vUlhHNzY3ZTltNnpYdHdieXRtdnlmdjdKR2t2UWorNHRmaE00WW1RL3k4ZU5qYzB3bWt5V2M1dWJkU2c0eG0yTEhRR0RMeEdSZzhocHFzZDlHYW5RbThWMzY1TDlnakMvNzBDWnVuSU0yMUwzWStGYjM2R3BzVmt5RmhvV2dPZG4zb1VlUGJ1ZDF4NSsrVEVGRzlidlFsbFpEU29yYXRFckt0VHljTnVSbkNLcytTWFZjdXkwcHo3RUZWY093YTIzWDJ4NW9LdnRGSUFkMnc4Z1AxOGE0SzFOY1dndk9OZ1hmZUlpTVdoUURJWU1pN09FN3hPMnBlN0h1Mit2bG9UcTNqSGhHSHR4b3VYeit2b21ORFJvY2Y4RDErS1NjUU10TzhXMWxabVJpd01IanVHbW0wZGI3cUlybFFwY2VmVXdYSG4xTUJ3OGNBeWJONlZqODEvcGFOSzJZTVNJaytFMWUzKytaYzNoenZMd2NNV2JiejlzK1R6bmNDR2VmdkxEczdvVzJSWUdYeUlpQjFDdDEyRnlXZ3BxOWVLdFlxUGNQYkZvd0Fpb0JhNWVlVGJNWmpOV2ZQa252djM2TDZ1YlVRd1pHb3VubjdsTnNqYnQrWkRUaVFldERBWWpmbHV6RFgrczM0V3JyaG1HVzI4YksxcnRZTlRvZUVUM0RzTXJMeTQ5NDQwdEprMjVITmRlTjhLeXhGaDdaV1UxV0xyNGQvejdkNGJWOFp2SFh5VGFHR0xkMmgzNHowUFhJVHBhT3YybXNxSVdpNzVZYTduVzFpMVplUFR4bXlRclF2U0pqVVQzSHQyd2M4Y0JqQmpaVHpTdk91WGZUTXRjWTZJVEdIeUppT3ljM21UQ3ZYdFRjYVJKdkhXcnIxcUQ1VW5KOEZWclpPck12alUwYUxIZ2pXK3dlNWQweTFwQkVIRDduWmZnam9uanVuUmI0cTZtMXh2d3kwOHArR1A5VG95L2RReHV1bVUwTkJvMUFLQzJwaEhGUlIxdlk5emV4ai8zWVB5RU1aSjZ6dUZDclBrbEZYOXYzbnZLZFl3L2V2OG5lSGk0WXVDZ0dOVFVOR0QxdDV1eDVkOU1MRmo0c0dXS1JHVmxIZGF1MllaZmZrcEJjL1BKTjNHSERoYmd2MDk4Z01zdUg0d0pkMXdzbWllOGJNazZsSlJVUWFsU29MQ2dBdUVSZ1docWFzSG12OUx4NENNM25QSFhSODZCd1plSXlNNDlrNzBIVzZ2Rjh3L1ZnZ0tmSjR4QXRMdVhURjNadDl6Y1lzeDdkUVZLU3FUQjBNUERGZitkUGdGRGg4VlpPZE0yTld0MStHcjVCdnkrZGdjbTMzMDVSaWIzeDhLM3ZyUDZFRnRIaWdvcnNQbXZkQ1FON0kyY3cwWEkySHNFMjFMM1MrYlpkcVNoUVl2Wkx5M0RrLys5Rlg5dFNrTlRVd3VPNUJUaHR6WGIwS3RYS0g3OVpTdTJiZDFuZGFVTW9QWHUreC9yZDJMam43dVJQQ29lVjF3MUZFcWxBci85dWcwQVVGaFFnZWxQZjRRWFp0MkY5TFFjTkRZMlkrSnRzOC80NnpzVll5ZStUMlRiQkhOWGJpUk9SRVFYMVB0SEQrRFZ3K0tuendVQTgvc093cVR3WHZJMFplYzJiMHJIQisvOWdKWVd2V1NzUjg5dWVIN21YYWQ4QUt1OUc2K2QyWlh0V1dnMEtvU0d0dlpSWDYvdGNFTUhhN3k4M0VYYkFWdHpZaXRmbzlHRXl1TnI3U3FWaWc2RDZka1NCTUhxTkpLelBWZWxVc0lNd0dnd1dqOUpaait0bVNOM0MwNUZhUGNyR2Q3eEpTS3lVNytWRmVHMUhPbGFvdy8xaUdIb1BRdEdneEdMdmxpTE5iK2tXZzFpRjQwWmdNZWV2Qm11cnJZeGRVU25NeUF2ci9UMEIxcHh1dEFMdEs3TTBGNVhoMTRBWngxNk96clhZS09CbDJ3RGd5OFJrUjNLcUsvQlkxazdZR3IzRC8rVlFhSDR2OTRKSFp4RkhhbXVyc2NiYzFkWlhjcExxVlRnN251dXdvMDNqN3J3alJGUmwyTHdKU0t5TThVdFdreEpTMEdUVWZ3Z1VieVhMejZNSHdhRkRUOXNaWXV5cy9QeHhtc3JVVmtwblNyZzQrdUJaMmZjaWZnRTNrRW5jZ1FNdmtSRWRrUnJOR0pLV2dxS1c4UnJwSFp6Y2NXeXhHUjRLUGxqdlRQV3J0bUd6ejlkWS9YWDQzMWlJekhqaFRzUkVPZ2pRMmRFZEQ3d0p5UVJrWjB3QTNnMGF6c3k2bXRFZFRlbEVrc1RreEhtS3QwQWdLelQ2UXo0K0lPZjhPZUczVmJIcjdocUtCNTQ2RHFvMWZ4bmtzaVI4TDlvSWlJN01lZHdKbjRyRTI5aW9CQUV2TmQvS0pLOC9UbzRpOW9ySzZ2QnZEa3JrSE80VURLbTBhand3RVBYUzdiV0pTTEh3T0JMUkdRSFZoVWR4UWRIRDBqcXowYjF3M1hCNFRKMFpKL1MwM0x3NXV1clVGY25YZFVnTU1nSE0xNllpSmcrRVRKMFJrUVhBb012RVpHTjIxcGRqbWV5OTZEOXdrMFRRcnZqcVY3MnM0bUMzRlovOXplK1hQcUgxVTBiRWdaRTRaa1pkOERIeDhQS21VVGtLQmg4aVloc1dHNVRBKzdkbXdwOXU3QTIzRGNRYi9VZExGTlg5a1dyYmNHN2I2OUd5aGJwbXNlQ0lPREdtMGZoN251dXRHeWJTMFNPaThHWGlNaEcxZXAxbUpTV2dtcTlUbFR2NmVhQnhZa2pvR1pRTzYzQ2dncTg5dXFYS0RoV0xobHpkZFBnOFNkdndlaUx1TzR4a2JOZzhDVWlza0Y2c3duM1phUWlwNmxlVlBkUnFiRThhUlQ4MVM0eWRXWS9VcmZ1d3p0dmZZZW1waGJKV0ZoWUFHYk11Z3M5ZW5TVG9UTWlrZ3VETHhHUkRYbytPdzMvVm9udlVxb0ZCVDRkTUFJeEhsNHlkV1VmekdZenZscStBZDk5czlucWxyWkRoOGZoNldrVDRPN2hLa04zUkNRbkJsOGlJaHZ6VWQ0aGZGbVlLNm9KQUdiSEptS3NmN0E4VGRtSmhub3QzbnpqYSt6WmZVZ3lKZ2dDN3J4ckhHNjc0eElJM04yT3lDa3grQklSMlpEMTVjVjQ5WENHcEg1Lzk5NllHaEVsUTBmMjQwaE9FZWJOV1lIUzBtckptS2VuRzU2ZVBnR0RoOGJLMEJrUjJRb0dYeUlpRzVGVlg0dUhNN2ZEMk83WDg1Y0dodUNsbUFFeWRXVWZObTNjZzQvZS93a3RMWHJKV005ZUlYaCs1bDBJQ2ZXWG9UTWlzaVVNdmtSRU5xQzBwUm1UMDdlZzBXZ1ExZnQ2K3VDVGhPRlE4bGZ6VmhrTlJuengrVy80N2RkdFZ1Znpqcms0RVk4OWNUTmNYTlF5ZEVkRXRvYkJsNGhJWnMwbUkrNU9UMEZSczFaVUQ5SzRZSGxTTWp5Vi9GRnRUWFZWUGQ2WXR4TDdzdklrWTBxVkVsUHZ2UW8zM0pnc1EyZEVaS3Y0MDVTSVNFWm1BSTluN1VSYW5YaGVxcXRDaVNXSnlZaHdkWmVuTVJ1M2YxOGUzcGk3Q2xWVmRaSXhYMTlQUFB2OG5lZ2YzL1BDTjBaRU5vM0JsNGhJUnEvblpPR1gwZ0pSVFFDd3NQOWdEUGJobkZScmZ2czFGVjk4OWhzTUJxTmtMRFl1RXMrOU1CRUJBZDR5ZEVaRXRvN0JsNGhJSnQ4VzUrT2QzR3hKZlZwVVA5elVMVktHam15YlRxZkhoKy8vaEUxLzdwR01DWUtBSzY0YWlnY2V1ZzRxbFZLRzdvaklIakQ0RWhISllGdE5CYWJ0MzRYMmoyUGRFaEtKNlZGOVplbkpscFdWVm1QdW5CVTRrbE1rR2ROb1ZIanc0UnR3MlJXRFplaU1pT3lKWUxiMkdDd1JFWjAzZWRwR1hMTmpFeXAxNHExMGgvZ0VZUFhnaStDaTRCM0x0dmJzUG9RRmIzeUQrdm9teVZoUWtDOW16SnlJM2pIaE1uUkdSTFpPYUxkYkRlLzRFaEZkUUhVR1BTYW5wVWhDYjZTYk81WWtqbVRvYmNOc05tUDF0My9qcStVYllES1pKT09KU2RHWS90d2Q4UGJtQTRCRWRHWVlmSW1JTGhDRDJZd0hNcmJoWUtONEpRSXZsUnJMRTBjaFVPTWlVMmUyUjZ0dHdjSUYzeUYxNno3Sm1DQUl1T21XMFpneTlRb29GQW9adWlNaWU4WGdTMFIwZ2N3NmtJYS9La3RGTlpVZzRKT0VZWWp6NUNvRUp4UWNLOGZjVjc5Q1FVRzVaTXpOelFXUFAzVUxSbzJPbDZFeklySjNETDVFUkJmQTU4Y09ZMG5CRVVuOTVUNkpHQmNRSWtOSHRtbHJTaGJlZlhzMW1wcGFKR1BoRVlGNGZ1WmRpT3dlTEVOblJPUUlHSHlKaU02elB5dEs4TkxCdlpMNjFJaG8zQmNaTFVOSHRzZGtNdUhMWlJ2dy9YZC9XOTE2ZVBpSXZuaHEyZ1M0dTNNNkNCR2RQUVpmSXFMemFIOURMUjdLM0E1RHV6QjNTVUEzeklsTmxLa3IyMUpmMzRRM1gvOGFhWHNPUzhZVUNnWHV2R3NjSnR4K01kbzluRTFFMUdrTXZrUkU1MG01cmdXVDAxSlFiOUNMNnJFZTN2Z2tZVGlVREhMSXlTbkN2RGtyVUZaYUxSbno5SExEdEdkdXc2REJmV1RvaklnY0VZTXZFZEY1MEdJeVltcDZDZ3FheFd2UEJtaGNzRHdwR2Q0cXRVeWQyWTZOZis3R1IrLy9ESjFPTHhuckZSV0tHVE1uSWlTRTJ6WVRVZGRoOENVaTZtSm1BRTltN2NLdTJpcFIzVVdoeE9JQkk5SGR6VU9leG15RTBXREU1NSt1d2RyZnRsdWR6M3Z4SlVsNDVQR2I0T0xDTndkRTFMVVlmSW1JdXRpQ0kvdndZK2t4VVUwQXNLRHZJQXp6RFpDbktSdFJWVldIMTE5YmllejkrWkl4cFVxSmUrKzdHdGZkTUZLR3pvaklHVEQ0RWhGMW9SOUtqbUhCa2YyUytsTzk0bkJyYUhjWk9ySWQrN0x5OE1hOGxhaXVxcGVNK2ZsNTRkbm43MEMvL2owdmZHTkU1RFFZZkltSXVzak8ya284dFc4WDJ2L3kvb1p1RVhnMnVyOHNQZG1LWDMvWmlrV2ZyNFhSWUpTTXhmWHRqdWRldUJQKy90ekVnNGpPTHdaZklxSXVjRXpiaEh2U3Q2TEZKQTUyQTczOThXNy9JWERXOVJ0ME9qMCtlUGRIL0xVcFRUSW1DQUt1dW1ZWTduL2dXcWhVU2htNkl5Sm53K0JMUkhTTzZnMTZURTdmZ25LZGVMZXhjRmQzTEUwYUNWZUZjNGE2MHRKcXpIMzFLK1FlS1phTWFUUnFQUFRvRGJqMHNrRXlkRVpFem9yQmw0am9IQmpOWmp5WXNSM1pEWFdpdXFkU2hlVkp5UWpXdU1yVW1ieDI3enFJQmZPL1FVTzlWaklXM00wUE0yWk9SSFIwbUF5ZEVaRXpZL0FsSWpvSC96dVlqbzJWSmFLYVVoRHdVY0l3OVBQMGtha3IrWmpOWm56M3pXYXMrUEpQbUV3bXlYalN3TjZZL3R6dDhQSnlsNkU3SW5KMkRMNUVSR2RwU1VFT3ZqaVdJNm4vTHlZQmx3ZUd5dENSdkpxYVdyQnd3YmZZbGlwZDFVSVFCTnd5L2lKTXV2dHlLQlFLR2JvakltTHdKU0k2SzM5VmxtTFdnWFJKZlhKNEx6ellQVWFHanVSMUxMOE1jK2Q4aGNLQ0NzbVltNXNMbnZqdmVDU1BjdTZWTFloSWZneStSRVNkZExDeERnOWtiSU9oM2E1alkveURNVGR1b0V4ZHlTZmwzMHk4dS9CN2FMVXRrckdJaUNBOFArc3VSRVFHeWRBWkVaRVlneThSVVNkVTZsb3dPUzBGZFFhOXFON2J3d3VmRFJnQmxlQThDNWVaVENZc1gvb0hmbGo5ajlXdGgwZU03SWNubjc0Vjd1NHVNblJIUkNURjRFdEVkSVowSmhQdTJic1ZlZHBHVWQxZjdZTGxpY253VWFsbDZ1ekNxNnRyd3B1dnIwSjZtblNPczBLaHdNUkpsK0xXMjhaQ2NLSTNBa1JrK3hoOGlZak8wTlA3ZDJGN1RhV29wbEVvc0dqQUNQUnk5NVNwcXd2djhLRkN2UDdhQ3BTVjFVakd2THpjTWUzWjJ6QndrUFBOY3lZaTI4ZmdTMFIwQnQ3T3pjWjN4Zm1pbWdCZ2Z0d2dqUEFMbEtjcEdmejV4eTU4L09IUDBPa01rckdvNkRBOFAzTWlncnY1eWRBWkVkSHBNZmdTRVozR3o2VUZtSDlrbjZUK1dNOVkzQjdXUTRhT0xqeUR3WWpQUHZrVjY5YnVzRHFmOTVKTEIrS1J4MjZFUnVNODB6Mkl5UDR3K0JJUm5jS2V1aW84dVc4blRPM0MzclhCNFhpaGQ3eE1YVjFZbFpWMWVQMjFGVGlRZlV3eXBsSXBjZS85MStEYTYwZkkwQmtSVWVjdytCSVJkYUNvV1l1cDZWdWhOUnBGOVFIZWZuaS8vMUE0dzJOYldabEhNWC9lS2xSWDEwdkcvUHk5OE56emQ2SnZQK2U0NjAxRTlvL0JsNGpJaWthakFaUFR0NkMwcFZsVUQzVnh3N0xFWkxncGxUSjFkdUg4OGxNS0ZpLzZIVWFEVVRMV3QxOFBQUGY4bmZEejk1S2hNeUtpczhQZ1MwVFVqc2xzeHNPWjI1RlZYeXVxZXloVldKYVVqQkFYVjVrNnV6QmFXdlI0LzkwZjhQZGYwcDNwQkVIQTFkY094LzMvdVFaS2xlT0hmeUp5TEF5K1JFVHR2SHdvQSt2TGkwVTFwU0RnL2ZpaFNQRHlsYW1yQzZPa3VBcno1cXhBYm02eFpFeWpVZU9SeDI3RUpaYzYzKzUwUk9RWUdIeUppTnBZWHBpTFQvTVBTZW96ZThmajZxQXdHVHE2Y0hidE9JQzMzdndXRFExYXlWaTNibjZZTVhNaW9xSWQrM3RBUkk2TndaZUk2TGgvcXNyd1FuWWEyaS9XZFdkWVR6elNvNDhzUFYwSVpyTVozNno2QzZ0V2JJVEpaSktNRHh3VWcrblAzZzVQTHpjWnVpTWk2am9NdmtSRUFIS2E2bkYveGpib3plTGdsK3dYaERmNk91NnY5cHNhbS9IV2dtK3hZMXUyWkV3UUJJeWZNQWFUcGx6T3JZZUp5Q0V3K0JLUjA2dlc2ekFwTFFXMWVwMm9IdVh1aVVVRFJrQXRLR1RxN1B6S3p5dkQzRGxmb2Fpd1FqTG03dTZDSjUrK0ZTTkc5cE9oTXlLaTg0UEJsNGljbXQ1a3dqMTd0eUszcVVGVTkxVnJzRHhwRkh6VkdwazZPNy8rL1NjRDc3M3pQWnExT3NsWVJHUVFucDkxRnlJaWdtVG9qSWpvL0dId0pTS25OajE3TjFLcnhYYzgxUW9Gdmhnd0F0SHVuakoxZGY2WVRDWXNXN3dlUC83d3I5V3RoNU5IOWNjVC94MFBOemNYR2JvaklqcS9HSHlKeUdtOWQvUUF2aTdLRTlVRUFQTmlrekRLei9IdWR0YldOdUxOMTFkaGIvb1J5WmhDb2NDa0taZGgvSVN4TW5SR1JIUmhNUGdTa1ZOYVUxYUl1VGxaa3ZyRFBmcmdydkJlTW5SMGZoMDZXSURYWDF1Sjh2SWF5WmkzdHp1bVBYczdrZ2IybHFFeklxSUxoOEdYaUp6TzNycHFQSjYxRTZaMnYrcS9LaWdNczNySHk5VFYrZlBIdXAzNDlPTmZvTk1aSkdQUnZjTXhZK1pFQkFjNzlzWWNSRVFBZ3k4Uk9abmlGaTN1VHQrS0pxTTRCQ1o0K2VMRCtLRlFPTkN5WFhxOUFaOTkvQ3ZXL2I3RDZ2aWxsdzNDUTQvZUNJMkcveFNjVDg5UCtsdnVGc2lHelAxeWpOd3RPRFgrdENNaXA5RmtOR0JLV2dxS1c4UTdrNFc0dUdKWlVqTGNsWTd6STdHeW9oYnpYbHVKZ3dlT1NjWlVLaVh1ZStCYVhIUHRjQms2SXlLU2orUDhsQ2NpT2dXVDJZeEhNM2NnbzE0OHg5Vk5xY1RTeEdTRXVqak9ybVNaR2JtWVAyOFZhbW9hSkdQKy90NTQ3b1U3RWRlM3V3eWRFUkhKaThHWGlKekNuTU9aV0Z0ZUpLb3BCQUh2OVIrS1JHOC9tYnJxZWovL3VBVkxGcStEMFdDVWpQWHIzeFBQUG44SC9QeThaT2lNaUVoK0RMNUU1UEJXRmgzRmgza0hKZlhub3ZyaHV1QndHVHJxZXMzTk9yei96Zy80NSsrOWtqRkJFSER0OVNOdzczMVhRNmxTeXRBZEVaRnRZUEFsSW9lV1VsMk9aN1Azb1AxV0RiZUY5c0NUdmVKazZhbXJGUmRWWXU2Y3I1QjN0RlF5NXVLaXhpT1AzNFNMTDBtU29UTWlJdHZDNEV0RUR1dElVd1B1MjVzS3Zja2txZy8zRGNTQ3ZvTms2cXByN2R4eEFHKy8rUzBhR3JTU3NaQVFmOHlZT1JHOW9rSmw2SXlJeVBZdytCS1JRNnJWNnpBNUxRWFZlcDJvM3RQTkE0c1RSMEN0VU1qVVdkY3dtODM0ZXVVbXJGcXgwZXJXdzRNRzk4RzBaMjZEcDVmalBMUkhSSFN1R0h5SnlPSG96U2JjbDVHS25LWjZVZDFIcGNieXBGSHdWN3ZJMUZuWGFHeHN4dHR2Zm9zZDI3TWxZNElnNE5iYnh1S3V5WmRCY0tBMWlZbUl1Z0tETHhFNW5CblphZmkzcWx4VVV3c0tmRHBnQkdJODdIdEZnN3lqcFpnNzV5c1VGMVZLeHR3OVhQSFUwN2RpK0lpK01uUkdSR1Q3R0h5SnlLRjhtSGNRWHhYbWltb0NnRmRqRXpIV1AxaWVwcnJJUDMvdnhmdnYvSURtWnAxa0xMSjdNRjZZZFJmQ3dnTmw2SXlJeUQ0dytCS1J3MWhYWG93NWh6TWw5ZjkwNzQyN0k2Sms2S2hyR0kwbUxGMzhPMzcrTWNYcWZON2swZkY0OHFueGNIWFR5TkFkRVpIOVlQQWxJb2VRV1YrRFJ6SzN3OWd1R0Y0V0dJSVhZd2JJMU5XNXE2MXB4QnZ6VmlJekkxY3lwbFFxTUduSzViamwxakV5ZEVaRVpIOFlmSW5JN3BXMk5HTktlZ29halFaUnZaK25EejVPR0E2bG5UN2tkZkRBTWN4N2JTVXFLMm9sWXo0K0hwajI3TzFJVElxV29UTWlJdnZFNEV0RWRxM1paTVRkNlNrb2FoYXZZeHVzY2NYeXBHUjRLdTN6eDl5NjMzZmdzNDkvaFY1dmtJejFqZ25IakprVEVSVGtLME5uUkVUMnl6Ny9SU0FpQW1BRzhGam1EcVRWVll2cXJnb2xsaVNPUkxpcnV6eU5uUU85M29CUFB2b0ZmNnpiYVhYOHNpc0c0OEdIYjRCR3d4L2ZSRVNkeForY1JHUzM1dVZrNGRleVFsRk5JUWg0cC84UURQTHhsNm1yczFkUlhvdDVyNjNBb1lNRmtqRzFXb1g3SDdnV1YxMHpUSWJPaUlnY0E0TXZFZG1sYjRyejhHNnVkQU9IYWIzNjRzWnVFVEowZEc0eTloN0IvTmRYb2JhbVVUSVdFT0NONTE2WWlOaTRTQms2SXlKeUhBeStSR1IzdHRWVVlQciszV2kvc05mNGtPNllGbVYvbXpmODhQMC9XTDVrUFl4R2syU3NmM3hQUFB2OG5mRDE5WlNoTXlJaXg4TGdTMFIySlUvYmlIdlNVNkV6aVVQaVVKOEF2TjF2c0V4ZG5aM21aaDNlVy9nOS92MG5RekltQ0FLdXYyRWtwdDUzTlpSS2hRemRFUkU1SGdaZklySWJ0UVk5SnFWdFFaVytSVlR2N3VhQnhZa2pvVkhZVDBBc0txckV2RmUvUWw1ZXFXVE0xVldEUngrL0NXTXVUcFNoTXlJaXg4WGdTMFIyd1dBMjQ0RzlxVGpVV0MrcWU2dlVXSjZVakVDTmkweWRkZDZPYmRsNGU4RzNhR3hzbG95RmhQcmorWmwzb1dldkVCazZJeUp5YkF5K1JHUVhaaDVJdythcU1sRk5KUWo0T0dFNFlqMjhaZXFxYzh4bU0xWit0Ukhmck5wa2Rldmh3VU5qOGZUMENmRDBkSk9oT3lJaXg4ZmdTMFEyNzdQOHcxaGFjRVJTZjZWUElzWUZkSk9obzg1cmFORGlyVGUveGE0ZEJ5UmpnaURndGpzdXdaMTNqWU5ncDd2TWZMMXhWd0FBSUFCSlJFRlVrWDFRcWdTNGVhalJVS3VUdTVWekpnaUFRaUhBYUpTK2lTVHFDSU12RWRtMERSVWxlT25RWGtuOW5zaG8zQnRwSDl2MUhzMHR3ZHc1WDZHa3VFb3k1dUhoaXY5T200Q2h3K05rNkl5Y1JWaFBUMHg0SUJaQjRlNDRkcmdPbjh4T1ArWHhvVDA4Y2U5ekNhZ3MwV0xqai9rNHVGZjZkL2Q4VUNnRnVMb3A0ZUttZ3B1SENoNWVhbmg2cStIaHJZR250eHBldmhyNEJyakFKOEFGUHY0dVNOMVFoRFZmU2Q4VW4rNDFJcU84MENQV0I3MWlmV0F5bWJIODdheno5QldScldId0pTS2J0YitoRmc5bmJvZXgzYlNBY1FIZDhHb2YrM2p3NisrLzB2SEJleitpdVZsNmg2MUhqMjZZTWVzdWhJVUZ5TkFaMmFPbjV3ODlvK01LY3Vyd3pjY25mN3RRV2FKRlVKZzdsRW9CRVZGZVVLa1ZNT2lseStlZGNOa3RQZURwM1JvNnpTWXpnc0pPN29MWTFLQkhZNTBlc3hlUGhrcDkrZ2RLVzdSR3ZQU2ZMYUxhUS85TGdscWpnRXFqZ0ZxdGdGcWpnTVpWQ1kyTDhveSt2aE1TazRPeGRtVXVUS1l6dit1clZBcTRlM284M0R4T1JxQ2dNSGVVRnpWMTZyWEpQakg0RXBGTkt0ZTFZSEphQ3VvTmVsRTkxc01ibnlRTWg5TEdwd1FZalNZcytXSXRmdmw1cTlYNXZLTXZTc0RqVDkwQ1YxZU5ETjJSdlFvS1BiUDUzdzAxT3N6OWNvelZNWlZhZ2RtTFI0dHE2NzdPeFYrL0hBTUF4Q1Q0b2QvZ2syL0c3cDJSSURwMjh5L0g4UHZYdVdmY3M3V0EzYU5QMTh6TDkvTFJJTHEvTHc1bFZKLys0T1AwT2hOMi8xT0tVVmVGVzJyRExnbnA5SjFqc2s4TXZrUmtjMXBNUmt4TlQwRkJzL2dPVEtER0JjdVRrdUdsVXN2VTJabXBxV25BRzNOWElpdnpxR1JNcVZSZ3l0UXJjZE10bzZVbkVzbk13MHVOOGYvcGM4cGpUcnlOKy9mM1FpaVZBb2FNRGJIY1BkMjV1UVRhUmdPOC9UUklIQmtNQU5EcmpKM3VROWRzaExiUmdLWkdBN1FOZWpUVzY5RlExM3FudWFGV2g3b2FIV3FyV2xCYjJZTEdldkdiNDd1ZTdJZjRvWUdkZXIzUlYwZGc5TlVkNy9pWW5WYUZwVzltZHZycklOdkQ0RXRFTnNVTTRNbXNYZGhWSzU1VDZLSlFZbkhpU0hUL2YvYnVPeXlxSy8wRCtQZE9ZeWhETHdPaWdDZ3FDZ0tDWFpSRVkySTBiZE5zYVp1MnB1MG1KcHIyeTZZWWs1aVl1dGtrbTZwcHhqUk5UTXpHQkJ1Z0lGMUJtblFZT2d3RFU1aVorL3VEWmVET0haaEJPcnlmNThrVDV0eHo3ejBnNVoxejMvTWVlOGVSR1ppTjhzNlg0K1VYdjBSRGc1SjN6TVhWRVk5dXV4bGg0Vk5IWUdSa1BIaDgwM0hUeHcvdmlvR1hyejJldVRNQnozNjRCSFhWYXV4K05NVjAvSVo3WnRoOFhVVjVHNFFpQnV2dm53VVg5ODdTZ1BFSHkvRGZiMHJnS2JmSFAxNk9oa0RJZ0dXQmM4bjFBRHBuaVdVdUVpeGUzVGx6eXJMQXdjOEswYUV6SWpqVTFSVDRhdHI3RG54Lys2WVl1V21OMEtyMTBHb00wS29OL1VwZElLUS9LUEFsaEl3cXIxN0l3WTgxNVp3MkJzRHUwQ2pFdUl6dVhOakR2eVRqd3c4T29hTkR6enMyUGNRZjI1L1lBRTh2bHhFWUdSa3ZldWJVZG1YN2lFUUMwK3V1NHl6TFl2LzdlWEJ3RWtNbzdEc3RTS2ZyRERZdnZ5a0l3Yk5kQVFBdGpWb2NQZGo1YzNqNXpVRVEvTzhhYVNjVXFDaHVOWTNsK250Q1ROY3ZMMUtpUTJjRXd3REJjMXhOMTFjMmN6ZWNNVmV2VUtPbW9zMm16NysvREhvV2JhMERyMkRSYmphclRNWXVDbndKSWFQRzk0cHk3TDZReTJ2L1I5QXMvRVUrWlFSR1pCdWRUby8zLzMwUVIvNmJhdkg0cXRYUnVPZHY2eUFXMDY5Y01qQ1A3SXFHcTZlVTAvYjBlNHNBQUo1eWUxUHVidGZzNzUxUGhNTjNTdDlQU2M0Y1ZlQzdEL1BSM05BZG9McTQyK0haRDVmdytzNkxsV05lckJ4L2ZGK0tXVkVlOEF0ME1oMXJxdFBpeGIyeFlJMnNLVkFHQUVYNXlDMGFLeXRRNG9NZGZWZXdrTmdKb2RQMlB4MkRqRTMwVzVnUU1pcWt0RFRnSHptcE1IL0FlYldQUHg0TkRoMlJNZG1pcnE0WkwrMzRFb1VGbGJ4allyRUlkOTI3RnFzdnQyMGxQaUVqcWVpYzdRdkVkRG9qM0x5NkEvQ3p5ZlU0K0ZraDVpN3lBdE1qNk5XMDY1SDBlMVdmMTdyNXZsbGcvM2J4cVEwdi96M1pwcnJFTHU1MmFHbnNETzZkM1NSWWNyay9aa2E0ZzJXQk43YWY0ZlQxbnlyRHNpdjlVWnpiZ3FLY1pxcjRNSTVRNEVzSUdYSGw2bmJjbnBrRXJaRTc2eExsNG82M1prZGp0Tlp2eU13b3dtdXY3RU5MQy84eHJZZW5DN1kvc1I0aE15YVB3TWpJYU1DeUdMS0E2ZWZQaTdEeXVnQklIVVQ0NWFzTFdMTitLbFRLRGh3OVdJYTFtL2oxclhOU0czaTFhczJyUHRRcjFNakxiTVNNdWU0QWdILzlYenJ1ZXk0U0FQRHByck13R2xuY3NhMnp3a050WlJzK2Z6TUhmOTBlaHV6VGRkai9maDRNZWhiRnVTMndkeEpCcmRLanRxb2RDYjlWb3JtZXZ6VjNUMEloQTFoSngraExYMmN5QW1EdUltOHN2c3dQdmdGT2VQbWgwMmhyN1FETEFzdlcrSnZTUmZ3Q25WQlZvaktkTnpQU0hlRUx2QkMrd0FzNnJRSFAzNXZVWi9rM01uWlE0RXNJR1ZHdCtnNXN6a3hBdlk2YkJ6aEo2b0JQNXk2Q25hQi9kVDJIeS9mZkhzZm5lMzZId2NEL1l6Z25MQWlQYlY4UEY5ZlJ2UkNQREExbGt4Wm5qdFhnekRIRmtPV0dKaHl1eE1yckFtQTBzRGh4cUFKcjFrK0Z1azJQaE1PVkZnUGYwSGtldlpZMzY4S3lRRjVHZCtCYnIxQ2JqalhXYVdBMDJ5SHRRazR6a3Yrc1J2YnBlb2dsUXJoN1N5Q1NDTkNoTTZLNlhJV2Y5aFFOd21kcVhWOXp4U3dMWEhaRElOeTlPMmVuRjF6cWl6OS9MRU5yc3c3bGhVcE1tZDVaVm0zdUltOU80QnNTN203NitFSnVDd1c5NHdnRnZvU1FFV05nV2R5VGZScm5WZHdLQ0U1Q0VmWkdMSWEzUk5yTG1TTkhvOWJoelRlK1ErSkpmbWtqaG1GdzFUV0xjZXZ0bDBNb3RGN1luNHdmUmlPTHZJeEdwQnhWSUMremtSY2tEalpIbVJoU0J4RlV5cUZiZE9VcDc2NFo3TzRsNVZWYWtMbEtzSENsSHhhdTlNUEpYeXVRbVZpSHljRXlBSjNseUhwalhvTDdpemR6Y0RhbEhpS3hBQ3ZXVFlaT2E4RHhReFVXejVWUGNjU0RPK2FacmxGUjNNcExjK2g1ZVpabGtSeGZqY3R2Q2dJQUxGenBoMk0vbGNOZ1lKR2IxbUFLZk1QbWUrTFhyenJyK0RvNGllQS9WV2E2Um43bThPeGFSNFlIQmI2RWtCSHpkSDRtL215bzRiUUpHUWJ2aFMxQXFOUG9xMzVRVlZtUEYxLzRBdVZsdGJ4alVxa0U5ejkwTFpiRmhvL0F5TWhJYWFyVDRNd3hCYzRjcTRHeXFlL3FCWU5wZXJnYkFLQ3h0bnRXMXNWTllpcEYxdVhERjdOc3F1cGdTVmVhQXdEYzl1Z2MzdkVaRWQyem9uNkJUbkR1Y1c5UFgzdGNkZXMwMCt1RG54V2FQcFk2Y0VNUGc0R0ZoNDg5Ym50MERqemw5akFhV0pUa0sxRld3SDFEekREQTJvM0JuTUQ1OS8wbHZISDFYRmhuTkxBNGMweUJWWDhKaEZERVFPWXFRZmdpYjZTZnJFRk9XZ05XL3k4Z2R2T1NtdElkcG9lNWNlNlJtOWJBdXdjWnV5andKWVNNaUUvS2kvQnhPZjlSNkRQVHc3SFNVejRDSStyYjZWTzVlR1AzdDJodjQrY3IrdnA1NFBFbk55SWcwR2NFUmthR204SEFJamUxQVNsSHExR1EzUVFMRy9NTnVSWHJPblBIcTBzNzg4dVZUVm80dTlsaCsxc0xPUDI2S2o3MHBieW9GZTgra3c2QVB4dmJsNWpsM1QrblUyZTVjbzY1dU50aDBTby8wK3MrQTErOUVjME5HbE02Z1VESVlQMTlNL0gyVStsb1YzWFBhQzljNldjcXR3WjA1aTNuWi9FWDVBbEYzVTliREFZV2Jjb081S1kxWU03OHprMHRGcS8yUS9ySkd0Uld0cU9wVG1OYXBCYzZ6d05WSlNxRXpPME82QlhsYlp4cUYyVHNvMmR4aEpCaEY5OVFnNmZ6K1NXR2JwazBGWGRQbVdiaGpKSERzaXcrMy9NN2RyN3doY1dnTjJiK1RMejJ4aFlLZWllQWVvVWF2MzUxQVM4OWVCcGZ2SldEL0t5K2cxNG5aekZpcit4OU43Q0JjSGJybkYzTnorcDhESC9nMDBMVVZyYjNtV0pnQzBHUEZKMW43a3d3ZmJ6N3NUTjQ5Wkh1elRHbXpuUTFwUW4wbDVNemQrZkZkcFVlQmoyTGJ6L0lNNldJdUhwS2NjZTJNRk9RUERYVUZWZjJ5RjNXdE90eDROTUNpOWVYMm5ldkM5RCs3K3VSY3JUYTFPWWZKSU52UUdjWnR2TVozV2tNc3lJOXdERGMvTjZjVkpydEhXOW94cGNRTXF6eTJwUzRKL3MwOUdZUlE2eTdOMTZjR1RGQ283Sk0xYXJHYTd1K1FWcHFQdThZd3pDNGVjTWx1R2w5SEpqK1RKT1JNVVhmWWNUWjVIcWtIRldnK0h5ejFkbGRoZ0dtelhIRC9EaGZ6SnJuQWFHUTZUVmZkU0FPZmxZSWlWUm9DdHh5VWh1UWs5cUFtQlZ5WEhkbjk1YkR4MzdpYmdZakVnc3dMOWFITSt2YWMvTUlpVjEzNE92ZzJOM0hVU2JtNUMzUHY5VFg5UEczSCtRajliZ0Mva0V5M1BkOFozcEUwYmxtZkxnenkrTFkvUUtjT0srN2NuUXJpMVdJUDFDR1M2OExBQUJNQ25MQzdZL09RZnpCTXF5L2I1WXBaWU5sZ1gzdm5vZXl5WElKTXljWGllbGpkVnZuWmpJRjJVMm1XWEVBbUI4bng0RlBDNUdYMldpYW1mWUxkRUxvUEU5T1lIN3VUTDNGZTVDeGl3SmZRc2l3YWRCcHNUa2pFVW85ZDBIT2RFY1ovaE8rRUtKUkZFQVdYNmpHU3p1K2hFTEJYOWppNUdTUGYyeTlBZEV4dG04SlM4YVdtb28ySk1jcmtKRlFnM1lWZnljK2M4NXVkb2hlN29QbzVYSk9mZHVoY3RPV21RQ0FhKytZM21lL3cvdUtUUi9MSnp0aXc0T2hwcUMzb3JnVmg3OHVSdEc1WmxNZlIxbDMwTGZ0emU2MGlYdWVuc3U1N25mL3lZZWpUSXc1OHoyUmtjRE4wN2RtVWxCMzRLdnZNSnBxNndMQUh6K1V3bXVTQThJWGVBRUFwa3gzeHEyUGNQT0xmOTlmd3BtcDdZbGhPbXYwZG1sdDdneU9XUlpJTzFsclNoR0pXT3lOWDc2OGdBczV6VkNVdDZFa3J3VUYyVTBJQ09sZVc5QmNyK0ZVZWlEakF3VytoSkJob1RNYWNYdFdFc3JVM0pxMzdtSTc3STFZQWhlUnVKY3poOS9SK0F5OCsvYVAwR3I1SytZREFuM3crSk1iNGVzM3VyZFBKdjJuMHhxUWRhb09LVWNWS0M5VVdwM2RGUWdaekpqcmpwZ1Zjc3lJY0lkQU1IcmV1QUg4T3IzbS9JTmt1UFB4enNXWVJpT0xKMjg1QVptcnBNOXp1blRvRFBDZTVJTGF5blpUQ29Kamo1bFM4OFZ0WlFWS1pDVFdtbWJFdTlSVnRYTyt6aXdMN0g4dkQ2NGVkcGd5alo5S2Nmem5jc1FmTE90MVhLNmVVczYyemsxMTNlbEo2U2RyVElHdjFFR0UyVEdleUVpb3hadVBkKys0ZU9tMUFhYVB6NmJRYk85NFJJRXZJV1JZL0NNbkZjbk4zSHc1aVVDQVQrWXVSS0Q5NktoM2E5QWI4UEdIditMUXo2ZkFXb2g2bHNXRzQvNkhyb1ZVYWx0d1FNYUd5bUlWVXVLcmtaRlVDNjNhZW82c201Y1UwY3ZsaUY3dVkzcDBQdHdPZlhFQmVSYktiSVhOOThTcTZ3TXYrcnBkSmN6cXF0VjQ5NWwwUFBQQllnQ2RtMWtZalN3ZWVDSEsxTGZuNGpWejVvdmJ4R0lCTWhKckVUalRoVE1qWG1wV3VVRWdZQkMxekFjZTN2YXd4TjNiSHA1eWUwNk40WjU2bGlFRGdOcUs3ZzFFYWl2YlVWYWdSRk85QnFuSGExQjRscnN3enNYRGpyTUZjM1l5QmI3akVRVytoSkFodDdzNEY5OHB1TE0wRElCWFowVmhnYXZueUF6S1RGTlRLMTdaK1RWeXpwWHdqZ2xGUXR4MisycGNkYzJTNFI4WUdSS2FkajB5RW11UmNsUmgwK05zb1lqQnJDZ1B6SS96eGJRNWJ2MnFmakFVV3B1MUZuZUY2M3EwRDRDM1ZiQ1B2NE9wK3NLNWxIb29lL1JsalN4RVlnRzhKM1crQ1cycTAwRFQzcDNpb2RVWUJxVTJjY3dLWDg3cnJ1QmRMQkZnN21KdnJGZzNHUjQrbG9OZUFKZ3ozeE9oOHp5UWNreUJFNGNxMEZERERZQ245YWo2b084d1FpUVJ3RCtvT3hqK2FXK1JhY2VMU1lIY0lEazB1dnNwanFaZEQ2T0JOWjJyMHhwUVM5c1dqd3NVK0JKQ2h0VEJtZ3E4ZWlHWDEvNUE0QXpjNkJ0ZzRZemhkejYzREMrLytCVWFHNVc4WTY2dVRuaDArODJZRXhZMEFpTWpnNjIwUUltVStNN2R4blJhNjdPN25uSjd4TVQ1SW1xWkQ2OGF3VWk2K2I1WnVQbStXWDMyNlZsQ0RBQXV2UzdBRlBpZStMVUNwZm5jNy9mZ1VGY0lSWjBSZlYwMVA4aHo5ZWd4dTgwQ2oyODZ6amx1YlhHYmY1QU1FWXU5VGEvYlZSMVF0K214ZG5Nd0lwZjR3TUdKSDVKY3lHMUdlV0VybHEzeE45WG5GUWdaTExqRUZ3c3U4VVY1VVNzeUVtcVFrVmdIclZxUDBPanVOOUpsQlVwZWJyS3RwQTRpVGgzanltSVYzbms2N2FLdVJVWVhDbndKSVVNbXJhVVJENTQ3QTZOWjJzQmE3MGw0ZkJxL0lQNUkrT1hRYVh6MHdTSG85ZndnS0dUR1pHeC9ZajA4UEVmZlpockVkdTJxRHFTZnJFWEswV3JVVkZpZnRSTkxCSmdkNDRuNUszd1JOR3RzLzl1SGhMdGo3ZVpnR0ExR2VQazZtTnJiTE96NDFsWG5GZ0NxaXJtejRIL2RIc1paK0thMTRVMkR1V1ZyL1RrejVjbC9LbkRWTGRNNDZRVmRXaHExK09YTEM4ZzZWUWVnczdyQ3RYZE1ONVVoNnpJNVdBWWZmd2VjejJoRWFMUUg1ODFKZG5JOXBvWnk2d3NUUW9FdklXUklWR3JhY1Z0bUVqUkc3aC9JdWM1dWVIdDJERVo2R1pCT3A4ZDcvenFBUDQ1WW5zVlpmWGtNN3JwM0xjUmkralU1RnJFc1VKemJqT1I0QmM2ZHFUZHRqdEFYK1dSSHhLeVFJNktYMmNmUkpPMWtqY1VValNuVG5CRyswTXYwdXFGR0RTOWZidXBBdlVMTlN4RUFnRk5IcWhHMndBdU9NakdLY2pvclBSejhyQkR1M3ZaWWVzVWtVeit0eHNBTGpHM3g0OGNGa05xTEVCTHVCbFdMRGtkL0trTjJjaDN1ZXk3U3REQlEyYVRGcVNQVlNEaGN5Wm1STHk5cXhkdFBwV0hlY2prdXVYb0tKMC80OE5mRmFLelZRQ2hzUVYxMTUrZXJWUnVRa1ZpTHEyOGJYWFhCeWNnYjNUL1poSkF4U1dYUVkzTkdJbXAxM0EwZmZPM3M4ZG5jeGJBWENuczVjM2pVMWpianBSZStRRkZSRmUrWVJDTEMzWDliaDFXWFJZL0F5TWhBcVZwMFNEMWVnelBIRkwwdWdPcEpJaFVpZklFWFl1TGtGcXNJakZiNW1ZM0lUS3JqdGV0V0dEaUJiMk90MmxUWlFLc3hvTHFzRFVlK0s3RllzYUttb2cxN2RwL0Q2aHNEVFNYR2tuNnZncE9MQkl0WCswR25NYUMrUm8zZjk1ZWFOb2JvRDNXYkhwKzlkaFkzM0QwRDZRbWRDd21yU2xRNGRhUUt2bE9ja1BqZlN1U2tOdlNhUzh5eXdKbWpDcVNkcUVIWWZFL0V4UGxDSUdCdzZram56M0hYZ3J6TmZ3OUY0YmxtYU5yMWVQYnV4SDZQMHhLamNRUzI1eU5EZ21FdExWMG1oSkNMWkdSWjNKcVpoTi9ycXpudGprSVJmb3hlampEWnlENTZ6RWd2eEd1djdJTlN5WC9rN2VYbGltMVByTWYwa0tIWmJZc01EWllGQ3JJYmtSeXZ3UG0wQmhoc1dJUTFLY2dKTVhHK2lGamtEVHY3b1gwalpwNExPeENPem1JSUdBYnFkcjFOczlnWFF5SVZEbmdIdVA1Z0dGejB0cytXemhXS0dJQ0ZUZDhISThGYW1Ua3l1Qml6SFlab3hwY1FNcWorV1pERkMzcUZESU4vellrWjhhRDN1LzNIOFBtZUl6QWErUUZEK055cDJMcnRacmk0akk3U2FzUzZsa1l0emh4VDRNeXhHalRYODdlVE5pZDFFQ0Zpc1RkaVZzZ3Q1cFdPQlpaeWN3ZmJjQWE5d01VSHZiMmRhOUNQem9DWGpBNFUrQkpDQnMyZXlndjRUMWtoci8zSmFYTnd1VmZ2TlQrSG1scXR4WnU3djBOUzRqbmVNWVpoY00yMVMzSEw3WmRCSUJCWU9KdU1Ka1lEaS9NWmpVaUpyMForZHBQVkVsc00wNW4zR2hQbmkvQ0ZYaEJMNk4rWWtJbU1BbDlDeUtBNDNsaUxKODlud2p3TTJlQVhpQzBCSVNNeUpnQ29xS2pEemhlK1FFVTVQeDlTYWkvQkF3OWRoNlhMd2taZ1pLUS9HbXMxT0hOVWdkUVRDaWliZEZiN096aUpFYm5VR3pFcmZPSGo3MkMxUHlGa1lxREFseEF5WUlWdHJiZ3IrelE2V0c0S3dSSTNMN3c4SzdLWHM0YmVxYVFjdkxuN1c3UzNhM25IL0NaNTR2RW5OMkpLZ0xlRk04bG9ZTkN6T0pkYWo1UjRCWXJPTlZsOUpNNHdRTkFzVjh5UGsyTjJ0Q2RuNjFwQ0NBRW84Q1dFREZCVGh3NmJNeFBSMHNHZGhRdDJjTUpINFFzaFpvWS8rR0JaRnAvditSM2Y3VDl1Y2V2aG1BVXo4ZkFqTjhEQlVXcmhiRExTNnFyYWtYSlVnYlNUTlRibHRNcGNKSWlLOVVITUNubWZ1MzRSUWdnRnZvU1FpOVpoTk9MMnJDUVV0M05yZXJxS0pkZ2JzUVN1WXNtd2owblZxc2Fycit4RGVsb0I3NWhBSU1ETkd5N0JqVGV2QURQU2U4NFNqZzZkRVdlVDY1QWNyMEJwZm92VjJWMkJnTUcwT1c2WUh5Zkh6Q2dQQ0lYMDcwa0lzWTRDWDBMSVJYc2tOdzJubXVvNWJXS0JBQitITDhSVWgrRmZOWCtocUFvdjdmZ1NOVFZOdkdOT1R2WjRlT3NObUJjelk5akhSWHFuS0d0RGNudzFNaEpyb1c3VFcrM3Y0bUdINkZnNW9wZjd3TldUWnV3SklmMURnUzhoNUtLOFZaS0hiNnBMT1cwTWdKZG5SbUt4bTVmbGs0WlEvQi9wZVBlZEE5RHArSS9HZzRKOHNmM0pEWkQ3dWcvN3VBaWZUbU5BNXFrNnBNUlhvK0pDcTlYWlhhR1F3WXdJZDhURStTSWszTTIweXhjaGhQUVhCYjZFa0g3N3ViWVNMeFh4UzRQOUxTQUVHL3dDaDNVc0JyMEJILzduRi94NjZMVEZmTjdZRlhOeC80UFh3czVPUEt6aklud1ZGMXFSSEs5QVZsS3RUVHQvdVh0TEViMUNqdWhZT1dTdXc1ODJRd2daZnlqd0pZVDBTNmF5Q1ErY1M0SFJMTWk4M01zUFQwMmJNNnhqYVdwc3hjczd2MEp1VGludm1GQWt4TzEzWEk1MVZ5OGUxakVSTGsyN0h1a0p0VWc1cWtCMXFjcHFmNUZZZ05Bb0Q4VEV5UkU4MncyVWlrMElHVXdVK0JKQ2JGYXRWZVBXekVTb0Rkelp1akNaSzk2ZEV3UEJNRVlwdVRtbGVIbm5WMmhxYk9VZGMzT1Q0ZEh0TjJQMm5NQmhHdy9oS3NsclFVcThBdG5KZGVqUVdkOWExOHZQQVRFcjVJaGE2Z05IWjVxZEo0UU1EUXA4Q1NFMmFUZm9jVXRHSWhSYTd0YXdjanNwOWtRc2hvTncrSDZkSFBycEZENys4QmZvOWZ6SDVUTm1Uc2EySnpiQXc4TjUyTVpET3JXMWRpRDlaQTFTNGhXb3JXcTMybDhzRVdET2ZDL01qNU1qY0liTE1JeVFFRExSVWVCTENMSEt5TExZY2pZRjJhM05uSFlIb1FoNzVpNkdyOTN3MUU3VjZUcnc3anNIRVA5SE91OFl3ekJZZlVVTTdycG5MVVFpNGJDTWh3QXNDMXpJYVVaeWZEVnlVaHVnNzdBK3V5dWY0b2o1Y2I2SVhPSU5xUVA5R1NLRURCLzZqVU1Jc2VxRndyTTRYRmZGYVJNd0RONmFIWTF3WjdkaEdVTnRUUk4yN3ZnU0Y0cXFlTWNrRWhIdTNYSVZMbDAxYjFqR1FvRFdaaDFTajlmZ3pERUZHbXJVVnZ2YlNZVUlYK2lGbURoZlRBNldEY01JQ1NHRWp3SmZRa2lmdnF3cXdiOUw4M250MjROblk2MzNwR0VaUTNwYUFWNTc1UnUwdHZJZm4zdDd1MkxiRXhzd2JmcndqR1VpWTFrZ1A3TVJ5ZkhWeU10b2hNSFFkeDB5aGdFbUJja3dQMDZPOEVYZXNKUFNURHdoWkdSUjRFc0k2VlZDVXgyMm5VK0hlWGh6bzI4QUhnd2MrbzBnV0piRnQ5OGN3NWVmL3dHamtmOElmVzVFTUxadXV4bk96ZzVEUHBhSnJMbEJpelBIRkRoelRJR1dCcTNWL2xJSEVTS1hlQ01temhlK1V4eUhZWVNFRUdJYkNud0pJUlpkYUZmaHIxbW4wR0VXY0M1MDg4UnJzNktHL1A3dDdWcTh1ZnRibkVySzRSMWpHQWJYL21VWk50KzZDZ0tCWU1qSE1oRVpEU3h5MHh1UUVxOUFRWFlUakVicnM3c0JJUzZJaVpNamJMNFh4Qkw2ZHlHRWpENFUrQkpDZUpvN2ROaWNrWURtRGgyblBjakJDWitFTDRKNGlJUE5pdkk2N0h6aEMxUlUxUEdPMmR2YjRjRy9YNGZGUzRlM1p2QkUwVkNqeHBtakNxUWVyMEZyaTg1cWYwZVpHSkZMZlJBVEo0ZTNIODI4RTBKR053cDhDU0VjSGF3UmY4MDZoYUoyN21ZRExtSUo5czVkRERmeDBPNmdsWmh3RG0rOS9oM1VhdjRqOVVuK25uajh5WTJZUE1WN1NNY3cwZWc3akRoM3BnRXA4ZFc0a050c2RRdGhoZ0dtaHJwaWZwd3Zaa2Q3UWlpaVhTWUlJV01EQmI2RUVJNXR1ZWxJYU9MT3RJb1pBZjRUdGdEVEhJZHVOYjdSYU1Ubm4vMk83Nzg3WVhIcjRRVUxaK0h2ajl3QUJ3ZTdJUnZEUkZOYjJZNlVvOVZJUDFtTHR0WU9xLzFscmhMTWkvVkI5SEk1UEh5R3A0UWRJWVFNSmdwOENTRW03NWJtNDh1cUVrNGJBMkRIekxtSWRSKzZXZGJXMW5hOCt2SStaS1FYOG80SkJBSnMySFFwcnI5eE9SamF2M2JBT25SR1pKK3VRM0o4TmNvS2xGWm5kd1VDQnRQRDNUQS96aGN6STl3aEVOSy9BU0ZrN0dKWVMxTXJoSkFKNTNCZEZmNmFkUW9HczE4SjkweVpqbWREd29mc3ZrVkZWWGhweDVlb3JXbmlIWE9TMmVPUlIyOUUxTHlRSWJ2L1JGRmRxa0p5dkFJWmliWFF0T3V0OW5mMXNFUDBjam1pbDh2aDRrR3o3SVNRc1lreG16R2hHVjlDQ0xKYm0zSGYyUlJlMEx2SzB4ZlBUQThic3Z2K2NTUU43LzNySUhRNi9tUDJvS20rZVB5cGpmRHhHWjROTXNZanJjYUF6TVJhcE1RclVGblNhblYyVnloa01EUFNBekZ4Y29TRXU0TW0yQWtoNHcwRnZvUk1jQXF0QnJka0pLTE53SjBGREhWeXdYdGg4eUVZZ3VoSHJ6Zmd3dzhPNGZBdnlSYnplVmZFUmVDK0I2K0JSQ0llOUh0UEJPVkZyVWlPcjBiV3FUcm9OQWFyL1QxODdCRzlRbzU1c1Q2UXVRenQ0a1ZDQ0JsSkZQZ1NNb0dwRFFiY21wbUlhaTEzeTFsdmlSUjdJeGJEVVRqNHZ5SWFHNVY0K2NXdmNENjNqSGRNS0JMaWpqdXZ3TnAxaXdiOXZ1T2R1azJQOUlRYXBCeFZRRkhXWnJXL1NDekE3R2dQeE1UNVl1b3NWNXJkSllSTUNCVDRFakpCc1FBZU9KZUNUQ1UzdDFZcUVPS3ppRVdZSkIzOG1xdzU1MHJ3eXM2djBkVFV5anZtNWk3RFk5dlhJM1Iyd0tEZmR6d3JQdCtDbFBocW5FMnBSNGVPdjd1ZE9lOUpEb2haNFl1b1pkNXdjS0laZFVMSXhFS0JMeUVUMU03Q3MvaTV0cExUSm1BWXZEVTdHcEhPN29OK3Y1OFBKdUhqajM2RlFjOS85RDV6MWhSc2UySTkzTjJkQi8yKzQxR2JzZ05wSjJxUWNyUWFkZFZxcS8zRkVnSENGbmhoZnB3dkFrTG9hMHdJbWJnbzhDVmtBdnFtdWhSdmwrVHgycmRPbllXcmZQd0g5VjVhYlFmZWZmdEhISTNQNEIxakdBWlhySm1QTysrK0VrS1JjRkR2Tzk2d0xGQjRyZ2twOFFya3BOYkRvTGRla01jdjBBa3hLK1NJV093TnFRUDl1aWVFRVBwTlNNZ0VjN3E1SGx0ejAyQWVOdjFGUGdVUEI4MGExSHNwRkkxNGFjZVhLTDVRelRzbWtZanh0L3V2d2lXWFJnM3FQY2NiWlpNT3FjY1ZTRG1xUUZPZHhtcC9PM3NoNWk3eVJreWNIUDVCUTdmaENDR0VqRVVVK0JJeWdaU28yM0I3NWlub2pOeGMwUG11SG5nOWRONmczaXN0TlIrdjdmb0dxbGIrbzNodkh6ZHNmM0lEZ29QOUJ2V2U0NFhSeUNJL3N3bko4ZFhJeTJ5RTBkRDM3QzdEQVA1VFpaZ2Y1NHZ3UlY2UTJOSHNPU0dFV0VLQkx5RVRSSXUrQTVzeUV0RFlvZVcwVDdGM3hDZmhpeUFSQ0FibFBpekxZdisrby9qcWl6OWhOUElYVzBWRVRzUFdiVGRCSmh2OHhYTmpYWE85QmlsSEZVZzlYb09XUnEzVi92YU9Ja1F1OFVGTW5Cenl5WTdETUVKQ0NCbmJLUEFsWkFMUXN5enV5anFGd2padU5RVm5rUmg3SXhiRFF6STRPM08xdDJ2eHhtdjdjZnBVTHU4WXd6QzQ3dnBZYkxwbEpRU0RGR1NQQndZRGk5eTBCcVRFVjZQd2JET01SdXV6dTRFelhCQVQ1NHV3K1o0UWllbHJTUWdodHFMQWw1QUo0SW56R1RqZVdNdHBFekVNM2c5YmdCbU9nN1BLdjd5c0ZqdDNmSUhLaW5yZU1RY0hPeno0ajc5ZzBlTFpnM0t2OGFCZW9VYktVUVhTVHRSQTFhS3oydC9KV1l6SVpUNklXZUVMTDEvN1lSZ2hJWVNNUHhUNEVqTE9mVkJXaUQyVkYzanR6NGZNUlp5SHo2RGNJK0hrV2J6OXh2ZFFxL21QNS8zOXZmRDRVeHZoUDlsclVPNDFsdWs3akRpYlVvK1VlQVdLenpkYjNVS1lZWUJwczkwUUV5ZEg2RHhQQ0VXMHl3UWhoQXh0K1N6YUFBQWdBRWxFUVZRRUJiNkVqR08vMTFmajJZSXNYdnNkazROeCsrVGdBVi9mYURSaXo2Zi94WS9mbjdTNDlmRENSYUg0K3lQWHc5NStjRklweHFxYWluYWt4RmNqUGFFVzdhb09xLzJkM2V3d0w5WUhNU3ZrY1BPU0RzTUlDU0ZrWXFEQWw1QnhLa2ZWZ3I5bEo4TmdGcEJlNHVHRDUwUG1Edmo2U21VN1huMzVhMlJtRlBHT0NRUUNiTnk4RW4rNUlSYk1CTjBMVjZjMUlQdDBIWkxqRlNndlZGcWQzUlVJR1lTRXUyRituQzltUkxoRElKaVlYemRDQ0JsS0ZQZ1NNZzdWNmpUWW5KRUlsVUhQYVovcDVJejN3eFpBT01CZ3RMQ2dFaS90K0JKMWRjMjhZektaQXg1NTdFWkVSazBmMEQzR3Fxb1NGWkxqcTVHWlZBZE51OTVxZnpjdkthS1h5eEc5M0FmT2JoTjdacHdRUW9ZYUJiNkVqRE1hb3dHM1pTYWhVdFBPYWZlVTJHSHYzQ1dRaWNRRHV2NlIvNmJpL1g4ZmhFN0hEK3FtQnZ2aDhTYzN3TnZIYlVEM0dHdTBhZ015RW11UkhGK05xaEtWMWY1Q0VZTlprUjZJaWZQRjlEQTNUTkJKY1VJSUdYWVUrQkl5anJBQUhqcDNCbWt0alp4Mk80RVFuODVkaE1uMkYxODdWNjgzNElQM2ZzWi9ENmRZek9lTnV6UVNXKzYvR2hMSndBTHJzYVNzUUlua2VBV3lUOWRCcHpWWTdlOHB0MGZNQ2ptaVl1VndjcDQ0WHlkQ0NCa3RLUEFsWkJ6WlZaU0RBelVWbkRZR3dPdWg4eER0NG5IUjEyMW9VT0xsRjc5RTN2bHkzakdSU0lpLzNyVUdhOVl1dk9qcmp5WHRLajNTRTJxUUVxOUFUVVdiMWY0aXNRQnpZandSRXlmSDFGbXV3ekJDUWdnaHZhSEFsNUJ4NGp0RkdWNHY1bThjOGZEVVdiaE9Qdm1pcjN2dWJBbGUyZmtWbXB2NWovRGQzWjN4Mk9NM1kxWm93RVZmZnl4Z1dhRDRmRE5TNGhVNG0xSVBmUWQvUnpwelB2Nk9pSW1USTNLSkR4eWM2RmN0SVlTTUJ2VGJtSkJ4SUtXbEFRL25wTUU4QWVFYW44bllPalgwb3E5NzhFQWlQdjM0TUF4Ni9tUDgwTmtCZUd6N2VyaTV5eTc2K3FPZHFrV0h0Qk0xU0RtcVFMMUNiYlcveEU2SXNBVmVtQjhueDVUcGc3TXhDQ0dFa01GRGdTOGhZMXladWcyM1p5WkJhK1FHcC9OYzNQSG03SG00bUhWVFdtMEgzbm5yQnh3L21zazd4akFNMXF4ZGdML2V1UVpDa2ZBaVJ6MTZzU3hRa04yRWxQaHE1S1kzd0tDM1VvY013S1FnSjhTczhFWEVZbS9ZMlkrL3J3a2hoSXdYRlBnU01vYTE2anV3T1NNUjlUcnVqbW4rVWdkOE9uY3g3QVQ5RDhJVTFZM1l1ZU1MbEJRcmVNZnM3TVQ0Mi8xWEkrNlN5SXNlODJqVjBxaEY2dkVhbkRtbVFGT2R4bXAvcVlNSWN4ZDVZWDZjTC93Q25ZWmhoSVFRUWdhS0FsOUN4aWdEeStLZTdOUElhMU55Mm1VaU1mWkdMSWFYcFA4MVlWTlQ4ckQ3MWYxUXFmaVA5WDE4M0xEOXlRMllHdXgzMFdNZWJZd0dGbm1aalVpT3IwWitWaE9NaHI1bmR4a0dtRExOR1RGeGNvUXY5SVpZSWhpbWtSSkNDQmtNREd1cEx0RVlzSG56NXBFZUFpR0VESXE5ZS9lTzlCQUlJV1JjWXN5MkQ2WHBDa0lJSVlRUU1pRlE0RXNJSVlRUVFpWUVDbndKSVlRUVFzaUVRSUV2SVlRUVFnaVpFQ2p3SllRUVFnZ2hFd0lGdm9RUVFnZ2haRUtnd0pjUVFnZ2hoRXdJRlBnU1FnZ2hoSkFKZ1FKZlFnZ2hoQkF5SVZEZ1N3Z2hoQkJDSmdRS2ZBa2hoQkJDeUlSQWdTOGhoQkJDQ0prUUtQQWxoQkJDQ0NFVEFnVytoQkJDQ0NGa1FoQ045QUFJSVlTUThlekh2RnRHZWdoa0ZMbG14cDZSSHNLRVJqTytoQkJDQ0NGa1FxREFseEJDQ0NHRVRBZ1UrQkpDQ0NHRWtBbUJBbDlDQ0NHRUVESWhVT0JMQ0NHRUVFSW1CQXA4Q1NHRUVFTEloRUNCTHlHRUVFSUltUkFvOENXRUVFSUlJUk1DQmI2RUVFSUlJV1JDb01DWEVFSUlJWVJNQ0JUNEVrSUlJWVNRQ1lFQ1gwSUlJWVFRTWlGUTRFc0lJWVFRUWlZRUNud0pJWVFRUXNpRVFJRXZJWVFRUWdpWkVDandKWVFRUWdnaEV3SUZ2c05BSXBHTTlCQUlJWVFRUWlZODBVZ1BZTHlUeStWNDZhV1hVRmRYaHdzWExxQ29xQWhKU1Vsb2JXMGRsT3RIUlVWQnFWU2l0TFFVSFIwZC9UclgzOStmODFxdFZxT2hvV0ZReHRVbEpDUUVZckVZdWJtNU1CcU52Zlpic1dJRnI2MmlvZ0tGaFlXRE9wNmhKSlZLNGVIaEFVOVBUM2g0ZU9EVXFWTm9iMjhmc3Z2NSt2b2lKQ1FFSGg0ZStQNzc3NGZrSHM3T3pyQ3pzME5kWFYydmZTUVNDWjU0NGdsZSt6Ly8rYzgrcnoxbnpoeWNQWHQyb0VNa2hCQkNiRWFCN3hDNzl0cHJJUlFLSVpmTElaZkxNVy9lUEJ3L2ZueFFyaTBXaTdGbHl4YlkyZG5CWURDZ3ZMd2NDUWtKT0h6NHNFM243OXk1ay9NNk5UVVZiN3p4eHFDTXJjdUdEUnNRSEJ5TTF0WldwS1dsSVRrNUdlZk9uWVBCWU9EMCsrdGYvOG83OTdmZmZodnh3RmNvRk1MUjBSSE96czZtLzF4Y1hEZ2ZlM2g0d01QREE0Nk9qcHh6V1paRmZIejhvSTNGd2NFQnk1Y3ZSMGhJQ0VKQ1F1RHM3R3c2bHBLU2d2THk4a0c3RndEWTJkbGg2OWF0a012bCtPU1RUNUNVbEdTeG4wQWdRSEJ3c00zWFpSZ0c2OWV2eHhWWFhJR0RCdzlpLy83OWZmYVh5V1Q5R25kZmREb2R0RnF0MVg2ZmZQSUo1M1ZGUlFXZWZ2cnBRUnNISVlTUWtVR0JyNW05ZS9jTytCcTdkKzlHZW5vNi9QMzlzV2pSSXM2eHhNUkVhRFNhQWQ4REFNTEN3bUJuWndlZ00wQUxEQXhFY25JeVFrSkNlSCtrbjMzMjJZc0tJcGN0VzRhNzc3NmIwN1o1ODJhYnpwMHlaWW9wSUpMSlpGaStmRG1XTDErT3RMUTB2UDc2Ni8wZXkwQXNXYklFRW9rRVlyRVlFb21FOTU5VUtvV0Rnd01jSEJ4Z2IyOFBSMGRIMk52YkR5aE5aY21TSllNYStPcDBPcXhidDg1aUlMaHk1VXBlc0RZUVFxRVFEenp3QUlLQ2dnQUFXN1pzUVZoWUdQYnMyVE9nNzEraFVJZzc3N3dUUzVjdUJRQmNkZFZWME9sME9IRGdRSy9udlB2dXV4ZDlQM04vL3ZtblRWOG5rWWo3cTFFc0ZnL2FHQWdoaEl3Y0NueUgwQzIzM0FLR1lUaHRjWEZ4aUl1THMrbjhqSXdNdlBiYWE3MGVuemR2SHE4dExTMk5OL000VWk2NTVCS0w3VWVQSGgzZWdRQzQ5OTU3aC8yZUlTRWg4UFQwUkgxOS9hQmNUNi9YSXo0K0hsZGRkUlh2MktKRmkvREZGMTlBcDlNTnlyMDJiZHFFdVhQbmN0cVdMVnVHNE9CZ3ZQbm1tNmlxcXVyM05TVVNDZTYvLzM1RVJrWnkycSsvL25xMHRyYml6ei8vSE5DWSsyUE5talZZdjM0OXA4M1dOM1NFRUVMR0xscmNOa1FXTFZxRVdiTm1EZG4xQlFJQkw0Q29xYWxCWldYbGtOMnpQK3pzN0xCNDhXSmVlM1YxTlRJeU1rWmdSTU9QWVJnc1diSmtVSzhaSHg4UGxtVjU3ZmIyOWxpNGNPR2czZWZJa1NPb3JhM2x0ZnY1K2VIWlo1OUZURXhNdjY0bms4bnd4Qk5QOEw1bkFhQzh2SHpDZkU4UVFnZ1pXVFRqT3dSY1hWMXg0NDAzRHVrOVpzNmN5WHZrblpxYU9xVDM3SSs0dURqWTI5dnoyZzhmUG13eGNMc1lvYUdoeU12TDQrVUxqeFNkVG9lbXBpWTBOVFdob2FFQjlmWDFLQ3NyczlqWFVqcktRTjExMTEyNDY2NjcrblhPVTA4OWhkTFNVbDU3WldVbG5ubm1HZHgvLy8yWVBYczI1NWhVS3NXRER6NklyNy8rR29jT0hiSjZEeTh2THp6MjJHT1F5K1c4WXprNU9Yanp6VGVIZEJFZ0llT1ZzNTAvUkFJcEFLQzlvdzRhZmNzSWoyaTRNUkF3QWhqWjBmRTNnSXdORlBpYWVmNzU1M2x0WFFGS2UzczdYbnZ0Tld6WnNnVWVIaDRXK3pNTWd3MGJOc0RKeVdsSXh4a2JHOHRyNjIzeEVkQTVReXdVQ3Z1OEpzTXd2RDRDUWY4ZkNrZ2tFcXhkdTViWHJsUXFjZkxreVg1Zno1TEZpeGZqM252dlJXRmhJZDUrKzIwME5UVU55blc3NlBWNnFOVnF0TFcxb2EydERTcVZ5dlIvbFVvRnBWS0oxdFpXS0pWS3RMUzBvS1dsWmR3RmJ5cVZDcSs4OGdvMmJkcUVWYXRXOFk3Wk9rc3JsVW81Qy9HNkpDUWs0TU1QUDRSZXIrL3ovSjQvWTZ0V3JlTE5iTy9Zc1lOVE1jVDhEVVZpWWlMKytPTVBBRUJ6YzdOTll5Wmt0Sk5KL0JBWDhEd1lSZ2lXTmVCSXlYWUFneGY0dXRoTndlTEpqMEdscTBGK3d3SFV0R1VOMnJYN3dqQkNpQVZTaUFRT0VBc2NZQ2VTd1U3bzNQbWZ5QmwyUWxjNGlEMWdML2FBdmNnZEY1cVA0R3p0bC8yK2g1dDBLanpzUStCaFB3TXNERGhkK2VZUWZVWmt0S0hBMTB4K2ZuNnZ4NHhHSS9Mejh6bDVsT2I5cjcvK2VreWRPcFhUVmxOVGc2ZWVlcXJmNWNaNksvOWxiMi9QZTlSY1ZWV0ZrcEtTWHE5bHkreGlWRlFVUHYzMDAvNE0wYUs0dURpNHVMancybi82NmFkQnlVR2RPM2N1N3I3N2JqQU1nK25UcDJQSGpoMzQxNy8raFhQbnp2WHJPZ2NPSEVCUlVSRTBHZzAwR2czVWFqWFVhalhhMjl2Ny9XODFYaG1OUnV6WnN3Y0toUUliTjI2RVFDQ0FScVBCcTYrK2FuTmFUWGw1T1hidjNvMXQyN1pCTEJhRFpWbDg5OTEzZlM1bzY2bm56MWgwZERUdmVGNWVYcDlQRVJvYkcvdjh1U1prTEpyanZRRU0wemxSd1RCQ3JBcmFkZEhYeXEzL0Rua04zSi9IbVo3WGRnYWI5czVnWVlSTTRtczZwak9vb0RXMDRxcVFqeUZnckljUmVxTWFQeGZjdzJsYk51VnBDQmt4aEFJSmhJd0VRa1lNa1VBS29jQ3VYMlAzbHkzQ3VkcXZ3YUwzY3BubUJCQmkwYVNISVJaMnI0ZVJTWHpScXF2dTE3M0oyRVNCN3lBS0NRbkIxVmRmeldsaldSYi8rYzkvQnEyU0F3QXNXTENBVjIwZ01URngwSzQvRUdLeDJPSnNiMU5UazJuV2JTQkNRa0x3NElNUGNtYW1aVEladG0zYmh1KysrdzRIRHg2ME9aVWlOemUzMzhIeWVMWnMyYkplajZuVmFpUW5KMlBod29WSVNVbUJuNThmL1B6OEFQUmU4Y0Q4ZW1scGFWaXdZQUV5TWpMUTJOalk2LzJTa3BLc3pnSVRNcEhKblNMZzR4ZytaTmYzZHB3RFg2ZnV4ZE9ML1IvakhDOW8vQm5uNnI2eCtYb0dsdi96N0dFLy9lSUgySU5VNUFJdngxRFV0dGxlRTl6QTZsQ21QSWxndDlXbXRnRFh1SDdQSEpPeGlRTGZRVlJZV0lqczdHeUVoWVdaMm94R0k2OGNtSzJlZWVZWnFGUXFYdnZ5NWN0NWJhZFBuNzZvZXd5Mnl5NjdESzZ1cnJ6Mmd3Y1BEbmdXTlNBZ0FJODg4b2pGRW1NTXd5QThQQnkvL3Zycm9GVTJHRzVOVFUxSVRrNGUxbnNxbFVyVHg3WitueTVidHF6UElObmE5U0lqSXkwdWN1dVNtcHJhYStCclhpVUZ3S0RsakJNeUZqaUlQUkVsNy83WlNxMStEd3JWd0JhSEd0anUzNWtTb1F5Ujhqdjc3Ti8xRTFmWWRCZ0NDQkhnRW11YVBTMXRPWTRPUXh1a0lsZjRPM2VXOHpRWXJkZk9OcWMzYXRCaGJJZk9vRUtIb1ExYVF5dTBCaVYwZWlVMGhoWm85QzFRZHpSQXJXK0V6c0RkRUdxKzN3UHdrL1Z2QWU0MHQ4c3h6ZTN5WG84cjJqSndxbUozdno4UE12cFE0R3RCYjdWOG5aeWNlTWZNWDk5enp6MTQ3cm5uNE9QakE2Q3picW0zdC9kRmpjTlNxa05JU0FpbVRadkdhKzhad0tqVmF0T2pYV2RuWjR1TGlvYUNtNXNicnJubUdvdkhCcnBweDR3Wk0vRHd3dy9Ed2NIQjR2SGk0bUs4K3Vxcll6Ym9CVHBUWWo3Ly9QT1JIc2FvWmw1Zmw0SmVNcEVJR1FrV1RIb0lFbUhuR3BJR2RUNW1lRnlOR1I1WFd6blRzdUxtUDFIVTlKdnB0WUFSSWNadkMreEY3Z0NBL0lhRHlLbi9GazRTT1M0TjNQbS8xQW9XVmEwcEFJQ2N1bThnRmJsZ3F0dGxBQUFXTExKcTk4QmcxTUhMSWRRVStPcU42ajdIa1ZPL0h3cFZPanFNYXVpTkd1Z042bjZsTGhEU0h4VDREckwyOW5hOC9mYmIyTDU5TzhSaXNXbURpWXRocVZyQmxWZGVhZlc4OHZKeTA0S2doeDU2Q1BiMjlzakt5a0ptWmlheXM3Tk5pN0JFSWhGdXVPRUdYSEhGRldBWUJpekxZdi8rL2ZqcHA1OHVhcnliTm0yQ1ZDcTErWE94VldSa0pPNi8vLzVlTjVPb3JLekVLNis4QXJXNjcxK3U0NGxJSk1Lc1diTVFFUkdCd01CQTNnSXZjNUdSa2NqUHowZGJXOXN3am5MZ3JHMG93ekNNMVQ1cjE2N2xwTjk4OE1FSGd6STJRb2FiU0dnUHZiRXpiWTVsRGNpcytReVhCTzY0Nk90SmhOektRTE04cjRPWFEyY1ZGN1crRWZtTlB3TUFabnZkWk1vbkxtczVnV1pOTVlET1FEbFNmaGNFL3p2V3BDNkN3YWdEd01ETElkUjBYYlcrNzhYSEtwMENTbTNGUlg4ZWZUR3lldDZNOE1YUTZmbFBYOG5ZUklIdkVDZ3RMY1hXclZ1eGUvZkFIb3VZQjR0K2ZuNTlQaUkyRnhRVVpGb00xUFY0dXVlMnhON2UzbGl5WklucDhUSERNTGp4eGh2aDYrdUxqejc2cUYvQjZ1elpzekYvL255Yis5dHF5WklsdU91dXUzcXRTRkZaV1ltZE8zZGFUQW14WnZ2MjdRTWRubFhQUC8vOFJTK3Nrc3ZsY0hWMXhmbno1em50dDl4eUMySmpZemx2cW1iUG5vM3M3R3lMMS9Iejg4UEREejhNbG1WUldscUtuSndjMDMrMGlJK1FzVU9yYjBGU3hXc0k5YndCQUtEdWFNQ2hnc0hibktlOW84SDBzYjNJSFd1bjg5OGtUbkdKeFJTWFdKeHYrQUcrVGxGd3NRdm9QbDlmajZ0bmZBYXdSbE9nREdESWdscGJOS29MY2JMOHhUNzdDQVYyRjVXT1FjWW1Dbno3d0xJc1dsdGJUYVdZV0phRlVxbUVUQ1l6bGZscWFXbmh2TzZpMFdoNGorVnZ2LzEyU0tWU2JOMjZGWk1uVDhienp6OXZxc1N3Wk1rUzN1NWk1b0huMnJWckxlWTQ5bWJEaGcyOE1mVjhsRjVWVllYbm5uc08yN2R2aDVlWGw2bWRZUmhJSkJLYloxRHQ3T3h3MjIyMzJUd3VXMFZGUmVHeXl5N3I5WE11TFMzRnl5Ky9qTmJXZ2IrYkh5MEVBZ0VpSWlLd2F0VXF6SjQ5RzNWMWRkaTZkU3Zua2I1ZXIrYzlTVmkyYkZtdmdXOTRlT2NpR0laaEVCZ1lpTURBUUt4WnN3WVBQUEFBcDd5WHJUdVh6Wmt6QnpmZmZETUNBZ0tzOW1WWkZubDVlVWhNVEVSS1NzcEZ2VUVoaEhRTDg5NklBSmZPZFI1VDNWWlo2ZDAzRmtZY3lMdk45THF1UGNmbWN3MUdIUnhFbnFiWFZhMHB5S3JaQTMvWlFxQkgwTnRoYkVkeDg1RStyeFh0dXdYd3ZmaTBwZDh1L0FOYUcyb1kyNHZjb2RZM0FnQ2tJamNFdTYyRzNHa3V3QUovbER6TzZlc21uWXBwN2xlZ3Z2MDg2dHR6cU9MRE9FS0JieCtVU2lXMmJkdUc5OTU3RDBEbjRxT0hIbm9Jcjd6eUNueDlPMHU3M0gvLy9aelhYY3czbDlEcGRIQjBkTVQyN2R2aDcrOFBBSGo0NFlmeHpEUFBvS21waVJjNEc0MUdUckF6WmNvVUxGMjYxT2F4TDF1MkRETm56dVMwU2FWU3ZQNzY2MWJQWGJwMHFkVjczWFhYWGFaS0ZiZmNjc3VRNUJIM0RNYk5GUllXWXRldVhlT3VkdTV6enozSENTaTl2YjBSRlJYRjJaemt6Smt6dU9LS0t6am5SVVZGUVNLUldNeHhuak5uRHErdHZMeThYelZ0UlNJUjVzMmJoNVVyVi9LK3IvckNNQXhtenB5Sm1UTm40dFpiYjBWV1ZoWVNFeE9SbHBZMnB2T3hCOXY1aGg5R2VnaUVRS1ZUb0tZdHkxUXg0bGpwUDdFODRKOEFnS1NLVjhIQ2FLcncwS3FyeE9tcXQ3Qms4alpVS2s4alRmRWZHRms5NnR2UFF5SjBoTTdRaGxaZEZTNDAvWWIyanI2M2JSY3dmZGVZdDZhdjZTQ0dZZUR2dkFoVFhWZkJSVG9GdnhYOTQzK3BEeXltdTE5aE90dFZHb2htVFlucFBCK25DRXlTTGNBazJRSVlqRm9jS3Z3YmpCYXFVNUN4aHdKZkszcm1sZlluaDlRODhPM0tyZXlaQSt2bTVvWUhIbmdBTzNiczRBVys1cXZhTjJ6WVlQTnNyMHdtdy9yMTYyMGU2MEFzWExqUTRtWWFReWtqSXdQdnZQTU90TnJ4OTJncUx5K1BONU42K2VXWGN3TGZnb0lDdExhMmNyN0g3T3pzRUJrWnlhdnVJUmFMTFc2ZG5aVmx2Umk5V0N4R2FHZ29JaUlpTUgvK2ZJdWJVQUNBVnF1MUtaZGRLQlNhS2pwb05CcWtwS1RnNU1tVHlNM043WFdSV3M5MG9kV3JWL04ya2Z2MjIyOTV1K005L1BERG5OZkp5Y21jalZOS1Mwdmg3ZTJOWDM3NXhlcVloOHY1ZWdwOGlXM1NGUjhoWGZFUnIzMlNiRDVDUE5aQktuU0ZxcU1XSjhwZVFIZjloVzcySW5lc0RuNmpsNnV6cUduTE5BVytLcDNDZEtTOW93NUdzd1ZuOWUyNUtHbU9SMlZyTW9TTUJJNWlMd2dGWWhoWUhaVGFjbVRWOXAxL1AxaXN6UlhQOHZ3TEhNV2RpOHlEWEM5QlhzTUJhUFROYUZRWHdkMitjN0g0Sk5sQ2J1RGJvMXhjblRxWGd0NXhoQUpmSzNydXdEYVF3TGU5dlIwdExTM1l0V3NYbm4zMldWTUFMSmZMTVduU0pGNE9hOC9BZCs3Y3Vidy8rSDI1ODg0N2VmY2ZDcDZlbnJqOTl0dUgvRDQ5L2ZISEg5aXpaMCtmQzdsc1ZWeGNiUEhSdTFnczdsZnVxMVFxeGZUcGxtdFM5amM0Ly9QUFAzSFpaWmR4Mm1iT25JbkF3RUJUV2d6THNzakl5T0NWRkZ1NGNDRXY4SjB4WTRiRlJZR1dBbDlIUjBkTW16WU53Y0hCbURadFdxL245cFNmbjQ5UFB2a0VPM2Z1NUIxNy8vMzNzV2JOR2t5ZVBKbDNUQ3FWbXZMT0d4c2JrWkNRZ0pNblQ2S3Fxb3JUTHowOUhVRG5waTFidG16aEhOUHI5VGg4K0xEVnIzRnRiYTNwT2wwYUd4dDV1ZE5kM04zZGVXMVVQWUtNRmxIeXV6SEZwZThuY25ZaUYxd3o0ek5lZTFuTFNlVFdmMnZ6dlp3azNVL3lITVJldkVvTFVwRXJnbHd2UlpEcnBTaHNPb3dLWlJMY3BNRUFZRnFFWndsak5rZWJYUFUycWxwVElHQkVDUEZZQjROUmk0Skd5MjlNbmUwbUl5N3dCZE0xbWpYRkZ0SWN1cS9Qc2thVU5CL0ZiSzhiQVFCQnJwZWlvUEZuR0ZrREZLcTBIb0h2Zkp5cit4b0FJQkU2d2xVYVpMcEdyV3A0ZHEwanc0TUNYeXU2dGlZR1lIRmIzTjVtWVh1YjhhMnFxc0w3NzcrUGh4NTZDT25wNmZqb280L1EwdExDZTN6Y003L1gwaTVvdlltTGkwTlVWSlRGWThlT0hlTzF1YnE2WXU3Y3VaeTIxTlJVcTdtWWVyMGVvYUdodlpZWDY0L2VOa0RvaVdWWjdOdTNENGNPSGVyMzlYdjdOOXEzYng5bkF3dVpUSVpObXpiQng4Y0hPM2Z1dERtNHZ1bW1teXdHdnZuNStTZ3RMYlY0anFYRmVrYWpFWldWbFNnb0tPQmQ3L0xMTHplbDNBQ2RtMEdZQjc3aDRlRzhkSWV1L042ZTFHbzE4dkx5ZU8yVEowL0cxcTFiTFk3WG5FYWp3WUVEQi9ETEw3LzBHaHlmUEhrU0owK2VSRmhZR0s2ODhzcGUzN3k1dTd0ajNicDFXTGR1SFE0ZlBvd3Z2dmlDMTJmRmloVzhpaUZuejU0ZDhLei84dVhMWVRRYTBkSFJBYVBSQ0FjSEI4VEZ4Zkg2amNlbkM0UlkwNVhtQUFDTC9QbS9HM3djdS85MnVOb0Z3TjdkemZUYVNlS0xjSjliVEsremF2YVlQaFlKdVg4M2pLd0JqbUp2TFBMZkNpZUpIQ3hyUUlNNkg0M3FRck03TWdqejNzQUpuSE1zQlBJQ3B2c0pLZ3NqeWxxT1laYm5kUkF3SWtoRnJwZ2tXNGh5WlFLcVZla0kvVjlBN0NEMmhJdGRBRnEwcGZCMkNPUGNvN290blhjUE1uWlI0R3RGejhmT3RiVzFBTGl6UDVZQ0hrdmxsVUpDUW5qdGtaR1JlT2VkZHl6ZVZ5YVRZZS9ldmNqSXlMQVlDUFEyMWsyYk52VjYvTU1QUCtTMXpabzFpeGY0SGpod0FNWEZ4VmJ2TnhqYndNNmFOUXQzM0hGSG4zM2EyOXZ4NzMvL0d4a1pGMWVrdmJmQXV1dk5CY013aUkyTnhjMDMzMnlhNFYrM2JwMU5XK3E2dWJueFptaTc3TisvdjlmenpGTmJlbzRuUGo2ZTkzMjFjT0ZDN051M3ovVG1LenM3RzNxOW5sUFhWaUtSSUN3c2pKTVdZZjV2MjNXdXBZb2Q1OCtmeDZsVHA3Qnc0Y0pleDIwd0dCQWZINC92di8vZTVrV0YyZG5aeU03T1JrQkFBTmF1WFl2NTgrZGIvUHdCV1B3Mzl2RHc0TzJJQ0FCSGp2UzlZTVlXbDE1NktZS0NncXoyNi9yWkoyUTArYU40R3dCZ2hzYzE4SElJUll1MkRQWHR1YWhXcFhMNlhScjA4cERjdjJ1UkhRQjRPbkJUcXV4RjdwanF1dEwwdW1mZ0t4YVlCNzRkVU9zYllXUTduN1F4akJEUnZsdHd0UFQvb0ROMFQ4Sk1kVnRwS3JjR0FOV3FWTlMyOFJmMUNwanUzL2xHMWdDdG9SVUtWYnBwVTR0Z3Q4dFFya3hBcTY0UzdSMzFjQkIzTHRMemxjMURpN1lVUGs3ZEV3WktiVG5VUGFwZGtMR1BBbDhyWnN5WVlmcTR1cnB6VldmUEJWVlBQLzMwa0k5Qm9WQkFxVlNhY2l4emNuSVFHaHJLNmVQazVJUy8vLzN2Vmg5TkQvYTRXbHBhVERQU0JvTUJ2Ly8rT3k2L3ZQZmRiN280T2pwaS9mcjFGbmVoNjZteXNoSnZ2UEVHRkFwRm4vMzYwdHZYcEN1ZFpNMmFOYmo1NXBzNXg2Njk5bHJrNXVaYURlNXZ2LzEyaTlmUHpzN3U5VkU2d04rSUFlZ09mRStmUG8xTm16WnhadE9GUWlGV3JseHBDcWExV2kxeWMzTTV1d1FDUUhSMHRDbnc5ZlQwTkcwcjNKUDVZLytldnZycUswUkhSL1BHMTlyYWlxTkhqK0tQUC81QVF3UDNqNEJHbzdHcElrUnBhU24rOWE5L1lkKytmYmp5eWlzUkd4dkwrZG9WRnhmenRwQm1HQWIzM25zdkhCMGRPZTJWbFpVMjVTa0RuWUZ6enp6bjNOeGMwOGRsWldVMkJiNUR2YVBlTlRQMldPOUV4cXdmODI2eDNzbEdWYW9VdEhYVUFBQmFkZFVRQ2FUd2Nab0xzY0FCM3FJdzFLdnplQlVJdWphcGFOSmNzTG94aEFEZFQ2TitMcmpiVk5Mc2orSnRNTUtJVlVHN0FBQ2U5ak5OYVFMOVpTZmtyaGZvTUxUQnlPcVJwdmdQbGs5NUJnd2poSVBZRTR2OUgwTkMrVXZvTUxiRDAyRVc1bmgxVnlycU1MWWpzOGJ5ejQxSVlHLzZ1R3Z6akpLV282YkExMVVhQkJlN0tXalJsa0doU2pkVngvQjFpc1Q1K2gvZzNTTy90MXFWZGxHZkl4bTlLUER0ZzFRcTVRU1lYWStIQ3dzTExlNmVOcFFLQ2dvd2I5NDhGQlVWNGRTcFU3ekFkL1hxMWZEMDlPemw3RTdXQ3YxM2VlNjU1L284dm52M2JsUHdWRkJRWUtvVi9NMDMzNkMrdnI3UHdMZHJkdldHRzI2d21zS1JsNWVIVjE5OTFWUTk0bUwxbHUvY2xjZDc3Tmd4WEhubGxaeCtRcUVRRHo3NElKNTY2cWxlcXgvRXhzWmFyS3ZjMGRHQlBYdjZEbVRzN2UxNWJWMkJyMDZuUTJKaUlsYXVYTWs1dm56NWNuei8vZmVtZmhrWkdiekFOeUlpQWdLQkFFYWowZUpzTDh1eXlNek03SFZjalkyTmlJK1B4NnBWcTZEWDYzSHUzRGtrSlNVaE9UbTUxN3huTHk4dlBQSEVFNXkydHJZMlBQWFVVeGI3MTlmWDQ3UFBQc01QUC95QTFhdFhZK1hLbFhCd2NNRFBQLy9NNit2bzZHaHh4bjdQbmowMjU5MHVXclFJaXhZdE1yM3VHYVRYMU5SWVBUOGhJUUZuenB5eDZWNkVEQ1VCSTBLYlRvRzIveTA2azBsOE1VbTJ3RFNEYW1UMXFHczdCNW1FVzJXb3BQbFAwOGM5RjJtWjU5b0NuVFZ0dTNSdFF3eDBibmJSTTJnT2RMM0U5SEdhNGtPVXRSeUhxelFJS3dLZUJRRFV0WjlEUXJubG1XWVg2UlRPYTQyaE0wZTNXVk9Ddk1hRG1PbHhMWURPU2d1TC9MY2l2L0Vnb24yMzlLait3Q0sxNmoxb2V0a1l3MDdVSFZoM0dEb25xdXJhemtLamI0SlU1UGEvOGNjaHMrWXoxTFJsbVFKZkY3c0ErRHBGY1FMenFsYjYyUjl2S1BEdFE4K1Y2bzJOamFaWnh3TUhEc0RQencrelo4KzJtS3RaVzFzTEZ4Y1h6dmtxbGNvMFU5eDFUcy9Ielo2ZW5wekh2NjJ0clZDcjFhWkgyMlZsWllpS2lzTG5uMzl1S29mV1UycHFLdWVSdS9tcS82RlNVbEtDNk9ob0pDY240NWRmZnVsekU0dlpzMmRqNDhhTkZoYzc5WGJ0Z1FhOVFPODUwbDNYVnFsVStQTExMM0hQUGZmd3pudjQ0WWZ4NG9zdjhzWVJGQlNFVzIrOTFlSjFmL2poQjZzejFKWjJ1T3Q1anovLy9KTVgrTHE0dUNBeU10SVVoR1ZrWlBCbVdwMmNuREI5K25UazVlVlpESHp6OHZLc3BpZ2NQSGdRRnk1Y1FGcGFtazNsNG1ReUdlOU5seTMvYmtxbEV2djM3OGVoUTRld2RPbFNwS1NrOFBxb1ZDcTg4TUlMV0w5K3ZlbjdPejQrSGprNXZkY2JQWEhpQklETzNHRnJpMExyNnVwNGJTekxRcVZTb2JTMEZDZE9uRUJpWXFMVno0V1E0U0NUK0NFdThJVmVqd3NZRVpZSFBOUG5OWDRxdUxQSEt3WmlvU05ZMW1CYWpOWnpON2ZWVTd2TFh5NmJ3bjBqbTY3NEVCS2hESDZ5R0ZRb0UvcnhXWUN6Y016QWRxeEluVFlBQUNBQVNVUkJWRURUMFdoNmZiNytSOGdrZnBna1d3QUFjTGVmaG9XVHVKVmFjdXEvZzZMTmN1b2JBOFlVM0FLQVJ0ODVjY0dDUlpreUFTSHVuYnM0K2pzdnd0bTZyMURmbmd1bHRod042bnpVdG1YRDNUN0VkRzU3UnoxYXRKYlhhWkN4aXdKZks0NGNPWUx3OEhBa0pTV1oybFFxRlhidDJnV1JTSVRycnJzTzY5YXQ0NXp6eUNPUDRMSEhIdVBNeHYzNDQ0LzQ3YmZmRUJFUmdZMGJONkt1cmc1dnZQR0dhU0hTdSsrK3l3bFU5KzNieDFtTVZsNWVqdVBIajZPd3NOQmk0RnRTVW9MaTRtSUVCUVVoS3lzTDU4K2Z4NDAzM2pob1g0ZmVGQmNYbzdpNEdPKy8vMzZmL1RadTNJaFZxd1pXYkwwbmlVU0NaY3VXSVMwdHplS2l3NTU2cXdlc1ZDcE5INTg4ZVJMUjBkR1lOMjhlcDA5UVVCQWVmUEJCdlBiYWE2WTNLdTd1N3ZqSFAvNWhNY1dodUxqWXBqSlpsdDZVOUF3eXk4dkxVVnBheWl0dHRtTEZDbFBnVzF0YkM0VkN3YXVoSEJFUmdhS2lJdDVUQVFDYy9OK2VBZ0lDZUxtOWt5Wk5zdnA1QUoyMWhzMUpwVkxjZE5OTk5wM2ZwZWYzNjc1OSswd2Y2L1Y2N04yN0YvbjUrVmkrZkxuVjJmU3VMWWtqSXlPdEJyNW56cHpCZmZmZEI1WmxZVEFZME5IUkFiMWVUMVVjeUxobE1PcGdZSFVRTXAyL3Y5eWtRWmpuZXkreWE3OUFoVElKVXBHcmJkZGhkWkRaVFVLcnJncHp2RGNDQU94NkJNM21pOXNhMVFXb1VDWUJZT0RkSTA5WHBhc0d5eWxJeGlLdCtnUFlpendzcGxJVU5CNUNmc1BCWHNkbEwvYUFzRWVPYjd1Kys4MXRlVXQzNENzV09NRFBLUnJseWtUOFdmS2txYzlNejJ0TkgxZXBhTFozUEtMQTE0cTZ1anE4OE1JTEZ2OFE2dlg2WGxkN205YzhWYWxVMkx4NXMybldTaTZYWS92MjdkaTFheGZVYWpWdkJ0QzhqbTlSVVZHZk9hTUFjT3JVS1FEQTIyKy9qVXN1dVlSMy9LV1hYdUsxQlFRRThHcitmdmJaWjZaOFprdDYxazB0S2lyQzY2Ky9iblV6Z2hNblRpQXVMczVpYnV2RmtNbGt1TzIyMjNEYmJiZWhwS1FFbVptWnlNcktRbEZSa2NXdG5zMTFkSFR3eXROOTlORkhDQTRPaHFzcjl4ZC9XRmdZSG5yb0liejExbHR3Y1hIQkUwODhBVGMzTjVoVHFWUjQrKzIzYmRycTJmd2VBSGl6cXlkUG51UUZ2dUhoNGZEdzhERGwyV1psWmZFQzM4aklTT1RrNUZpc3JkdmJJM3QvZjMrc1hidlc2cmh0NWVucE9hRHI5UXg4dTB5ZVBCa1hMbHpBTmRkY1k5TTFmSHg4TExaZmYvMzEvUnBMZG5hMnhTb1loQXkzRm0yWktWL1lWUnFJMkNuL0J3RWpRbDM3T1NSVnZHWktZM0NVK0dEWjVDY2dGYm1odzlpT1AwdWU1Q3pRMHVwYjRDRHVuQkJ3Rkh2RFR1Z01iNGN3VkNpVFRDWE1WTHBxSEN0OUZsZE83NndtYzZ6MG56Q3lCc1FGUG0rNlRzL0ZhK2JNRjdjSkdURXFsRW53ZEpoaHVqZlFHUkQzeEVDQXlTNUw0U2l4L1BQcktQYUdrMFRPcVRIY2s1dDBLdWUxVWx0cCtyaFZWNGxHZFNIYU8rcFFwanlCdWpidW1nSjdrVHRuQythcTFxSE43U2NqZ3dKZksySmpZeEVTRXRMcmNmTWQyN3FZeitpcFZDcjg5Ny8veFpJbFMwd0xkYVpQbjQ1dDI3Ymh4UmRmNU9VeG11ZFROalkyd3ByRXhFU2NQSG15MThmTTVndUhBRmdzMlZWVVZHUlRWUWVnTTVlenExUmJYOHJLeXJCLy8zNkxHMnZVMU5UMEdxVDBwdWZYdDJzYjNxdXZ2aG8vL2ZRVHZ2bm1HMDdmS1ZPbW1KOXU4ZXZaMnRxS2Q5NTVCNDgvL2pndmhTVXlNaEtQUHZvb3ZMMjlMZVpTc3l5TGQ5OTkxK0tqYzBzczFZbzF6eVZPU2tyQyt2WHJPU2t3RE1PWWNuMEJJRE16RTVkZGRobFlsa1ZaV1JuT25qMkw3T3hzaXlYdFNrdExVVi9mOXc1S281bWx5ZzdEY1IydFZrdUJMeGxWQkl3STgzei9CZ0hUK1NmY1hUb2RTeVp2UjVPNkNGcERLMEk4MWtJc2NJQ1IxU08xNmoxZVZRS1Zyc1lVZkhvNGRKYlNWT3NiSVdCRWtFazZKd3JhTytyUllleCtNNjQzcW5rYldGeU1BSmNWbk5jMWJaMXJEb1NNQlA3T2l4RGl2cmJYb0JjQS9HUXg4SFdLUW1uTGNSUTAvWUkySFRkUHYyZlZCeU9yaDVBUmMxSXJzbXMvTjgwd3UwZ0RPZWY2T25VLzhlc3d0b05samFaekRVWXRXblhjT3VOa2JLTEExNHBKa3liWi9NaTNKMHN6dmpVMU5Yai8vZmROTzB2cGREcjgvdnZ2RmtzN21jLzQyc0xhRnJTV0h2dWF6eWdDUUhCd2NKLzFlY3ZLeW13dVpkWFRyNy8raW9pSUNOTUtlNFBCZ0VPSER1SEhIMy9FeHg5LzNLOXI5WmEvYkI3WU1ReGpzZVNjK1VZSlhmTHk4dkQ1NTU5YnpOKzFsRHJRNWF1dnZrSjJOcitzVG04c3ZXRXlUOWxvYVduQjJiTm5lYlY0WTJOajhjTVBQNEJsV2VUbTV1TGRkOS9GMmJObk9mOG1kOTU1Sjh4WnlxRWxoSXc5UmxhUFk2WFB3TWR4THZ5ZEY4SFhLUW9lOWlId3NPZE8waWkxRldBWUlVUUNLV2REaVdaTk1id2RPN2N5OTVkMXBqaXBkRlh3c0E4eEJkT1dnandIVVhkZGU3RDhhaFhXRnJlNVNvTXcyYmw3b2FuT29FS0hvUTFoM2hzeDJYa3BKRUp1OVJhZ2MzZTRKazBScHJsZEFlWi9pOXNZUm9oQTF6Z0V1c2FoU1ZPRWNtVWlLcFJKMEJ2VjhKVjFCNitONmdKZWJyS3R4QUlIVGgzalprMEpqcGIrMzBWZGk0d3VGUGdPQWFsVXludWszelVybXA2ZWJzb2JmdlBOTjFGV1ZtWng4VlYvZGc2ejFmYnQyMjNxMTl1aXJTNDlxenIwQjh1eStQREREN0Z6NTA0VUZoYmlzODgrNnpVQXRjWlNxZ0hBcjdjNmRlcFVpeFVVK2tybE9ITGtDTHk4dkxCbXpScWJ4dkxERHovZzExOS90YWt2MExtNDBkSU10NlZaNkpNblQvSUNYdzhQRDRTSGh5TXpNeE1kSFIyYy9IT2c4ODJhcFZscENud0pHZHNjeEo3d2NnaUZWT1FHUjdFM1pIYVQ0R0xIZjZMVnhWVWFpQVdUSG9LUjFhTkJuWWZTbHVPb1VDYWhwaTBMSVI3Y3RTbU5taUpNYyt1dXlOT3M0UzdxV2p4NUc2ZmFnWjd0LzhMajZlNXIwSE5YdFpMbWVJUjViNGFyMmN3cjBEa0RmYmIySzFTMmR1NUdXZFY2QmhIeU8zaWZyNXMwR000U2Y5U29NdUhyTkk4enhzcldaRjU5WVVJbzhCMEM1ck85QUxCcjF5NWUyNDRkTzNxOXhtT1BQWWJ6NTgvMzJXY3NxcTJ0eFpOUFBqbWd1cndBZWkzZFpuN2RybEpyNXF5bGNuejk5ZGZ3OC9ORFJFUkVuLzBPSHo1c1NqdXcxZVRKa3kzbU9sc0t4bE5UVTZIUmFDQ1ZTbUUwR25IdTNEbWNPSEdDVTR2V25Qa0NQUUNvcUtqbzgwMUdRa0lDRWhKc1g1bk5NQXp1dnZ0dUxGM0szVHJWVWpXUjR1Sml2UDc2NjFZWElSSkMrbVprRFpqcmM1dHBWclluQTl1QkdsVUdpcHIrQ3dEd2QxNElQOWw4MkFsbEVEQWllRG5NaGtMVk9XSFJvTTVEczZiRUZIQzJhTXZRcHF0QmNmTWZtQ1NiRDRsUWh2cjJ6c29wV2JWNzRTajJRbkNQb0ZodjFLQlpVOUx2OFdmVWZOcFpiOWd4REZwOUMvSWJmMFpsYXpKV0JENExCcDFQUGpYNkpoUTMvNEhDcHQ5Z01IYXZvV25TWE1EUmtxY3h4U1VXTXp5dTR1UUpuNnYvQm0wZHRXRFVRcWgwMVhDUytFSnZWS05DbVlTNVBuMVA1SkNKaHdKZks3NzY2cXMrVitsZmZmWFZ2TVV5dzFGR2JDeXpOZWp0YXpNT1Mra25lcjJlczdrQ3d6QllzR0NCeGZQNzJwaENKcFBoK3V1dnQxZ096RngwZERUeTh2TDZWZWZWVWczb2hvWUdpN25aT3AwT3YvenlDM1E2SFJJU0VxeW1zd0N3bU44N21Cc3dPRGc0NEo1NzdyRjRuL2ZmZngrclZxM2lmTzJDZ29MdzNIUFA0WTAzM2tCUlVkRkYzOWVXVFRKNmlveU1OS1VWRGVRNmhJd1dHbjBUU3Byak1kVnRGWFFHRlZwMWxXaFNGM1dXNG1vL0M0T3hlNUZ4Z3pvUFdUVjc0ZTA0Qi83T2krSHBNQk1sTGQyVmd2NmZ2ZnNPaStyYTJnRCtUcUZYQVVGVXhCNFZFMHVLSmNXVzJKS29TZFJZWXRTb0ZEV0owYXRpekwzZjk5M2NDRVpUcnlpZ1ltTHZ4dGhiTkJwTkxGR3hkMEZCNlNDOVRQbitPRklPWitqTUhNcjdleDZlREh1Zk9XY05HRmpzV1dmdGM0K1g0Z1gzcWJBMmM4YWxXS0hIZTJwT0ZQNksvZzRkWEVZZ1N5TzhBM1V2K1JBczFBNW8yYUEvTkxwc1pPVEc0bnJDTmxIcFJIbmxhVFB3Wi9TMzZOcG9DcUpTVDBHank4S1RuRWpjVHo0Q0I4dG11SnQ4RUkvVHowT3ZOM3lEc0I1NlJENzVIUTlTLzBBVDJ4Zmg2ZGdiU29VSzk1S0ZYUnp6YjhqcjF1UlR4R2RlUlo0dUUzdHUrMVk0VHNQWHJucDlNOVVNVEh5TndOQ0tiMDFnNkJkKysvYnRKWnNQL090Zi95cjN6VzNHVkZLL1g1VktKZHBSTDkvang0OUYzVGM2ZGVwa3NKVlpiR3lzd2JJQ1cxdGJEQmd3QVAzNzl5KzF4cmtvRnhjWGZQcnBwN2gyN1JxMmI5OWVycHVnRENYVVJUdGxGTGRqeDQ1eXhRSUkzU0phdG13cEdhK094RmVoVUtCSGp4NFlQWHEwd2E0VWx5OWZSbmg0T0I0OGVJQXZ2L3hTVk1MajZPaUlMNzc0QW9jUEg4YXZ2LzVhcVJweElnS3VKbXpDOWNUdHlOT1dmVk94SGpyRVpseENiTVlsS0tBUXRRMUx6NDB4V0xPYWxIVUhmMFYvSnhyTDBUekJ6cHNUeXJ4ZVN2YjlNbmVwMCt1MStQdHhzR2pzVXR4YUFPVnZJYWpYYXhHVjloZWkwdjU2dWdsSDRYUHpkSms0RmJXb1lLem9EWHBFQUJQZk1yMzk5dHZvMTY5ZmlmT0dFaVNWU2lXcE5TMk5sWldWWkpVNElTR2hYSjBjNm9yOHQvT0xhdDI2TllZT0hZb2pSNDRnUFQwZENvVUN6czdPR0Q1OHVNRzY2S2lvS05Ibmd3WU5Nbml0NHJXdXJxNnU2TmV2SC9yMjdXdHdZNG55Nk5DaEF6cDA2SUFiTjI1ZzM3NTl1SGp4b3NHT0djVjNBOHgzOCtiTmN1K3NWeG1HV3RrQlF1dTdzcEppR3hzYjlPalJBd01HREpDMFRzdVhtSmlJNEdEaGwxbHljaksrLy81N3pKOC9YMVRTb1Zhck1YRGdRUFR1M1J0NzkrN0ZzV1BIV1A1QVZFRmFYUzYwS0wxOXBDSDZDaVNXbFZuTnJacks5ODAyOUxxSzdrNUhWQndUM3pMWTJ0ckMxdGEyUXM4NWQrNWNoZDc2OXZYMXhjc3Z2eXdhKzllLy9sWHRxMkxmZlBPTlpNelFkckF6WnN3b3M2dkVtalZyY1BHaTRaMXpLaU1oSWNIZ3hoekRodzh2ZDkvVmlJaUlnc2RlWGw0bGRtRTRmZm8wek16TTBLVkxGL1RxMVF2UFB2c3NGQXJwMXAzRm5UbHpCcTFidHpiWWlpeGZ1M2J0MEs1ZE95UW5KK1A0OGVNNGZmbzBIajU4V0REZnMyZFBneVVjWmZWb05pV0ZRZ0YzZDNkMDZOQUJuVHQzaHBlWFY2bjlsK1BpNGhBUUVDRGFFT1RPblR2NC92dnY4ZW1ubjByK2pWbGFXdUxkZDkvRk8rKzhnenQzN3VETW1UTzRlUEVpWW1OakpmMnl5M3VEb1NHRytqZFg5WndSRVJHbDdocEhSRVExR3hOZkUrclNwUXNVQ2dWU1UxT1JrWkdCM054Y2VIbDVvVWVQSHFManNyT3prWjZlWHUzWE43VERsaUdsSlhiNUtyc3lXcExyMTY4YlRId3JJajhSVjZ2VkpkWngzcmx6QjYrKytpcGVmZlZWZzkwZURFbElTRUJZV0JndVg3NE1HeHNiVEpnd1FiTExXWEVOR2pUQTBLRkRNWFRvVU1USHgyUFJva1dJalkzRmdBRURKTWVtcEtUZzNyMTc1WXJGV05xMWE0Zm5uMzhlVFpzMlJZc1dMUXA2VFpmbDNMbHpDQXNMTS9oSFduaDRPQll0V29SUFB2bkU0QitQK2EzbTJyUnBnN0ZqeHlJM054ZlIwZEdJaW9yQ2hnMGJrSmFXWnJEdmMxVlY1WndIRGh4ZzRrdEVWSXN4OFRXaDl1M2JsL2oyZTFFM2I5NnNkMXVtSGo1OEdIMzc5cFZzSEZGZVo4NmNLZWhhOE54eno1WFllM252M3IxbzBLQkJ1Wkxlbkp3YzdOdTNEN3QzN3k3WW9TOGpJd05CUVVFNGMrWU14b3daVTJKM2lhSWVQSGlBeDQ4Zm8zSGp4aVcyR1pQNys1MmNuSXkrZmZ1V2VrTmhVUWtKQ2RpeVpRdE9uVHBWNm5IWHIxL0hGMTk4Z1duVHBobnNwMXlVdWJrNVdyUm9nVHQzN3JBR21JaUlqSUtKYnhrcTA5V2hKQmN2WGl4WDRudmt5SkZ5eDFkWFBIcjBDR3ZXck1INDhlUExWWFpRMU0yYk43Rml4WXFDejgrZlA0OWx5NVpoMHFSSm9rVHV6cDA3QlNVb1BYcjBNTmhkQVJDNlF4dy9maHpidDIvSGt5ZFBEQjV6OXV4WmhJZUg0ODAzMzhTYmI3NXBjSHRnUUVpVVY2MWFWZkFhdi96eVM4eVlNUVBPem9XTjRHdkM5enMyTmhhYk5tMHFzK05CVEV3TURoNDhpS05IajVaN2s1WEV4RVI4K2VXWDZOdTNMMGFNR0ZIcWF2TDkrL2V4ZnYzNkNzVk9SRVJVWGt4OFRlanUzYnZRNlhRR2Qyckw5OXR2djFWcWM0anlxT2x0bkk0Y09ZS1ltQmk4ODg0N2FOdTJiYWtKc0Y2dlIwUkVCSTRlUFlyang0OURxeFczdnpsMTZoUWVQMzZNbVRObnd0SFJFVnF0RmovLy9IUEJ5bXBZV0JqKzg1Ly9pTDRYV1ZsWk9IcjBLUGJ2MzErdW02NXljM094WThjT0hENThHQU1HRE1BYmI3d2h1ZGx4M2JwMW91UTVJaUlDLy9NLy80T1pNMmVpWmN1V0NBOFBSM1Mwc0pmODNMbHp5LzRpVmJPaU4xQWVPblRJNEI4RVdWbFpPSC8rUEU2ZVBJa3JWNjVVYW5WYXI5Zmp5SkVqT0hYcUZGNS8vWFgwNzk5ZjBoa2lPenNiUzVZc3FkU3VoVVJFUk9YQnhOZUVjbkp5OFBEaFF6UnJKdXc4bzlWcW9kRm9rSkdSZ2Vqb2FQeisrKy9sYWp1Vm1aa3A2UnBSdklOQVJrWkdoVHBMVkplRWhBU0RiMzhiNm5CZ3lOV3JWM0gxNmxWWVcxdWpjZVBHc0xhMkxpaC8wT3YxQlYrdm1KZ1laR1ZsbFhxdSsvZnY0Ly8rNy8vdytlZWY0K0RCZzZLYjN4NCtmSWhEaHc1aHdJQUJ1SC8vUG80ZlA0NVRwMDRoTTdQaXJXL1MwdEt3ZGV0VzdONjlHNis4OGdwNjkrNE5UMDlQWEw1OEdTZE9uSkFjLytUSkUzejExVmZ3OC9QRGxpMWJDc1lydTR0ZGRkSHI5VmkxYWhYKy9lOS9JeVltQmxldlhzWGx5NWR4NWNxVmFrdEdzN0t5c0d2WEx1elpzd2ZQUHZzc2V2VG9nWTRkTzhMQndRR3JWNitXL0p1dDZYK3NFUkZSN2FMUXkxMWNXRW5HL0lWWWRPZXJxS2dveE1iR2xuaXNuWjJkcUxWVzhaWmFKRDg3T3p1RE5hTldWbFpvMkxCaHFUMTBLNnRaczJaSVMwdXJsZTI2TEMwdERXNm1ZVXp1N3U2bGJpTmQxeG16bFIzSnI2emV0bFMvREh0bXRkd2gxQ3VLWW04ZmM4WFhnTC8vL3J2Y3g2YWxwZkZHbkJxdXBPOVBWbGFXVVpKZW9QUU5LV282VXllOWdPSHRtb21JaUtwYnljV21SRVJFUkVSMUNCTmZJaUlpSXFvWG1QZ1NFUkVSVWIzQXhKZUlpSWlJNmdVbXZrUkVSRVJVTHpEeEpTSWlJcUo2Z1lrdkVSRVJFZFVMVEh5SmlJaUlxRjVnNGt0RVJFUkU5UUlUWHlJaUlpS3FGNWo0RWhFUkVWRzl3TVNYaUlpSWlPb0Z0ZHdCRUJFUjFXWERubGt0ZHdoRTlCUlhmSW1JaUlpb1htRGlTMFJFUkVUMUFoTmZJaUlpSXFvWG1QZ1NFUkVSVWIzQXhKZUlpSWlJNmdVbXZrUkVSRVJVTHpEeEpTSWlJcUo2Z1lrdkVSRVJFZFVMVEh5SmlJaUlxRjVnNGt0RVJFUkU5UUlUWHlJaUlpS3FGNWo0RWhFUkVWRzlvTkRyOVhxNWd5Q2k4c3ZOemNYaXhZc1JHUmtwR3JlM3Q4ZThlZlBnNU9SVW9mT2RPSEVDR3pkdWhFYWprY3cxYjk0Y1BqNCtGVDVuamFOSkIrS1BBTEY3Z1l4N1pSK3ZOQU9jWGdIY0JnR09uUUVvakI0aUVSRlZQNFZDSWZvQnpzU1hxQlpLU1VsQllHQWdrcE9UUmVOTm16YkZuRGx6WUdGaFVhSHozYjkvSHlFaElaTHpBWUNkblIwbVQ1Nk1kdTNhVlNubUdpUDlCaEN6RjBqNEhkQm1sbjI4WldQQWJTRGdPZ0F3citWL0FCQVIxVE5NZklucWlJY1BIMkxSb2tYSXlja1JqVC8zM0hPWU9uVXFpdjIvWHFhMHREU0Vob2JpMXExYmtqbWxVb2wzM25rSC9mdjNyMUxNTllvMkUwZzRKaVRCNmJjQWxQR2pVS0VHbkxvQmJvT0JCaStDcThCRVJEVWZFMStpT2lROFBCekJ3Y0hRNlhTaThkZGZmeDBqUm95bzhQbDBPaDIyYmR1R0kwZU93TkNQaHVlZmZ4N2p4NCt2OElweWpaZHhENGpkQThUL0pwUkZsTVhDVlZnQmRoc29QQ1lpb2hxSmlTOVJIWFB3NEVGczI3Wk5OS1pRS0RCbXpCaTg5dHBybFRybjJiTm5zV2JOR3NscU1nQTBidHdZdnI2K2NITnpxOVM1YXpSZERwQndYS2dGVHIyS3NsZUJsWURqQzhJcXNGTjNRS0V5U1poRVJGUStUSHlKNnFEVnExZmo1TW1Ub2pHVlNvV1BQLzRZN2R1M3I5UTVvNk9qRVJ3Y2pMaTRPTW1jbFpVVkprNmNpRTZkT2xYcTNMVkMxZ01nWmg4UWZ3akllMUwyOGVaT2dHdC80WVk0eThiR2o0K0lpTXJFeEplb0R0SnF0ZmpoaHg5dzgrWk4wYmkxdFRYbXpwMkxSbzBhVmVxOG1abVpDQXNMdytYTGx5VnpDb1VDZ3dZTndwQWhReXBjVDF5cjZEVkE0aDlDTGZDVGl5aHpGUmdLd0tFejBHaVEwQmxDYVdhS0tJbUl5QUFtdmtSMVZFWkdCaFl1WElqWTJGalJ1S3VySy96OS9XRmpZMU9wOCtyMWV1emV2UnQ3OXV3eFdQZmJzV05IVEpvMENkYlcxcFU2ZjYyUy9RaUkzUS9FSFFCeWs4byszc3dCYVBnNjBHZ3dZTlhNK1BFUkVaRUlFMStpT2l3Mk5oWUxGeTVFUmthR2FMeE5temFZTVdNRzFHcDFwYzk5NmRJbHJGcTFDcG1aMGhaZ0xpNHU4UFB6UTlPbVRTdDkvbHBGcndXUy9oSnFnVlBPQVhwZEdVOVFBUFplUWhtRVN5OUFXY2R1RGlRaXFxR1krQkxWY1RkdjNzU1BQLzRvMlpDaVo4K2VHRDkrZkpYT0hSY1hoK0RnWUVSSFIwdm16TTNOOGNFSEg2QmJ0MjVWdWthdGt4TVB4TzBYVm9KenBQWFFFbXBib0dGZjRZWTRtMWJHajQrSXFCNWo0a3RVRDV3OGVSSnIxcXlSbENhODg4NDdHRGh3WUpYT25aT1RnOVdyVitQY3VYT1NPWVZDZ1Q1OSttREVpQkZRS3V2Ymp1aDZJUG1zc0FxY2RGcW9EUzZWQXJCdEs2d0NOK3dEcU9wQnFRZ1JrWWt4OFNXcUo3WnQyNGFEQncrS3hoUUtCWHg4Zk5DbFM1Y3FuLy93NGNQWXRtMmJwSWN3SUpSV2VIdDd3OTdldnNyWHFaVnlrNEM0ZzBEc1BxRXV1Q3dxSzhDbHQ3QUtiRmRIZHNnaklxb0JtUGdTMVJONnZSN0xsaTFEZUhpNGFOekN3Z0t6WnMyQ3A2ZG5sYTl4NjlZdGhJYUdJaTB0VFRMbjZPZ0lIeDhmdEd6WnNzclhxYjMwd0pOd29TTkUwaCtBTHEvc3A5aTBmTG9LL0xwUUZrRkVSSlhHeEplb0hzbkp5Y0dpUll2dzhPRkQwYmlqb3lQbXpac0hSMGZIS2w4ak9Ua1p3Y0hCaUlpSWtNeXAxV3FNSERrU3ZYcjFxdkoxYWoxTktoQjNTRmdGem93cyszaWxCZUQ4Q3REb1RjRCtXZVBIUjBSVUJ6SHhKYXBua3BPVEVSZ1lpSlNVRk5HNGg0Y0hacytlWFMzYkQyczBHbXpjdUJFblRwd3dPTit6WjArTUdUTUdabWJzYVF0QTJCVXVkaStROEx1d1cxeFpyRHlFVldEWC9rS0xOQ0lpS2hjbXZrVDFVR1JrSkJZdlhvemMzRnpSZU9mT25lSHI2MXR0RzFEODhjY2YyTGh4SS9MeXBHL3BlM3A2d3NmSEI4N096dFZ5clRwQm13SEVIUkdTNEl5N1pSK3ZVQVBPUFlWYVlNZXVBT3J3eGlGRVJOV0FpUzlSUFhYKy9IbUVob1pLT2ozMDc5OGY3NzMzWHJWZEp5SWlBc0hCd1VoT1RwYk0yZHJhWXZMa3laWGVScmxPUzc4bEpNRHhSd0d0dEZleWhHV2pwNnZBQXdCei9qRkJSR1FJRTEraWVtemZ2bjM0NVpkZlJHTUtoUUxqeG8zRHl5Ky9YRzNYU1V0THcvTGx5eVZiS0FPQVVxbkVzR0hETUdEQWdHcTdYcDJpelFJU2pnbEpjTnBObExsRnNrSUZOSGhKV0FWdThCS2dxRzl0NUlpSVNzYkVsNmllKyttbm4vRG5uMytLeHRScU5UNzk5Rk8wYmR1MjJxNmowK213ZmZ0MkhENTgyT0JXeDEyN2RzWDQ4ZU5oYVdsWmJkZXNjekx2Q3gwaDRnOERtdlN5anpkdkNMZ05BTndHQWhadXhvK1BpS2lHWStKTFZNOXBOQnA4Ly8zM3VIMzd0bWpjeHNZRy92NytjSFYxcmRicm5UdDNEcXRYcjBaT2p2UW1MbmQzZC9qNStjSE5qVWxhcVhTNVFPSUpJR1lQa0hvRlphOENLd0dIcmtDandZQlRENkUybUlpb0htTGlTMFJJVDA5SFlHQWc0dVBqUmVOdWJtN3c5L2VIdFhYMTdpTDI2TkVqTEZ1MkRIRngwaTE5TFMwdE1YSGlSSFR1M0xsYXIxbG5aVDBVV3FMRkhRTHlVc28rM3F5QjBBM0NiUkJnMWNUNDhSRVIxU0JNZklrSUFCQVRFNE9GQ3hjaU0xTjhJOVV6enp5RFR6LzlGQ3FWcWxxdmw1V1ZoYkN3TUZ5NmRFa3lwMUFvTUhEZ1FBd2RPclRhT2t6VWVYb05rSGhLcUFWT09ZOHlWNEdoQUJ3NkNRbXc4NnVBa3EzbGlLanVZK0pMUkFXdVg3K08vLzczdjlCcXRhTHhWMTU1QmVQR2phdjI2K24xZXV6WnN3ZTdkKzgyV1BmcjVlV0ZTWk1td2NiR3B0cXZYYWRseHp4ZEJUNEE1Q2FXZmJ6YUhuRHRKOXdRWjkzYzZPRVJFY21GaVM4UmlSdy9maHpyMTYrWEpLTHZ2ZmNlK3ZmdmI1UnJYcmx5QlN0WHJwU3NOZ09BaTRzTGZIMTk0ZUhoWVpScjEybDZIWkI4V2xnRlRqNEw2TFZsUEVFQjJIVUFHZzBDbkhzQkt0NW9TRVIxQ3hOZklwTFl2SGt6amh3NUlocFRLcFh3OWZWRnAwNmRqSExOK1BoNEJBY0hJeW9xU2pKbmJtNk9zV1BIb252MzdrYTVkcjJRR3cvRUhnQmk5d001c1dVZnI3SUJHdllSVm9GdDJ4Zy9QaUlpRTJEaVMwUVNlcjBlUzVjdWxkVGZXbGhZWVBiczJVWmJmYzNOemNYcTFhdHg5dXhaeVp4Q29VRHYzcjB4WXNTSWFxODNybC8wUU1yZlFsdTBwRCtGMnVDeTJMWVJFdUNHZlFGVjlkN29TRVJrU2t4OGljaWc3T3hzTEZxMFNMSUMyNkJCQTh5Yk53OE9EZzVHdS9hUkkwZXdiZHMyU2EweEFMUnUzUnJlM3Q1R3ZYNjlrWmNNeEIwVTZvR3pvc3MrWG1VcGxFQTBHaXlVUkZEbG5IeEQ3Z2lvSm5uNWtOd1IxQ3RNZkltb1JFbEpTUWdJQ0VCcWFxcG8zTlBURS8vNHh6OWdibTV1dEd2ZnVuVUx5NWN2bDF3YkFCd2RIZUh0N1kxV3JWb1o3ZnIxaXg1NGNrbW9CVTc4UStnVFhCYnI1c0lxc092cmdOck82QkhXS1V4OHFTZ212aWJGeEplSVNuWC8vbjE4ODgwM3lNdkxFNDEzN2RvVjN0N2VSbTAzbHBLU2dwQ1FFTnk3ZDA4eXAxYXJNV0xFQ1BUdTNkdG8xNitYTkdsQTNHRWhDYzZNS1B0NHBUbmcvSXFRQkRzOEI0RHQ1OHJFeEplS1l1SnJVa3g4aWFoTTU4NmR3NG9WS3lTZEhnWU5Hb1JodzRZWjlkb2FqUWFiTm0zQ2lSTW5ETFk4Njk2OU96NzQ0QU9ZbWJFUGJiVkx1eWJVQWlmK0RtaXp5ejdlcXFtd1BiTHJBTURNMGZqeDFWWk1mS2tvSnI0bXhjU1hpTXBsejU0OStQWFhYMFZqQ29VQzQ4ZVBSNDhlUFl4Ky9aTW5UMkxEaGcyU2xXY0FhTmFzR1h4OWZlSHM3R3owT09vbGJTWVEvNXV3Q3B4K3UrempGV3BoYStSR2d3SEg1OEZWNEdLWStGSlJUSHhOaW9rdkVaVmJXRmdZVHA4K0xScFRxOVdZTVdNRzJyUXhmc3VyeU1oSUJBY0hJeWtwU1RKblkyT0R5Wk1ubzBNSDNuUmxWT20zaFFRNC9paWd6U2o3ZUFzM1lSWFliU0JnN21MOCtHb0RKcjVVRkJOZmsyTGlTMFRscHRGbzhPMjMzK0x1M2J1aWNWdGJXL2o3KzZOaHc0WkdqeUU5UFIzTGx5L0hqUnMzSkhOS3BSSkRoZ3pCd0lFRHVkV3hzV216aFJLSW1MMUEybldVdVVXeVFnVTBlRkdvQlc3UURWQW9UUkptamNURWw0cGk0bXRTVEh5SnFFTFMwdElRR0JpSWhJUUUwYmk3dXp2bXpKa0RhMnZqOTNuVjZYVFlzV01IRGgwNlpMRHV0MHVYTHBnd1lRSXNMYm56bUVsa1JnaXJ3SEZIQUkyMEM0ZUV1UXZnMmg5d0d3UllOako2ZURVT0UxOHFpb212U1RIeEphSUtlL1RvRWI3KyttdGtaV1dKeHR1M2I0OVBQdmtFU3FWcFZ2UCsvdnR2ckY2OUd0blowaHV2R2pWcUJEOC9QelJxVkE4VEs3bm9jb1YyYUxGN2hmWm9aYTBDUXdFNGRoVldnWjE3Q3JYQjlRRVRYeXFLaWE5Sk1mRWxva3E1ZXZVcWxpeFpBcDFPSnhwLzdiWFhNSGJzV0pQRjhlalJJd1FIQnlNMlZyb05yNldsSlNaTW1JQXVYYnFZTEI1NktpdGEyQmdqN3FDd1VVWlp6QndCMXplRVZXQXI0K3dNV0dNdzhhV2ltUGlhaWxJeTdnQUFJQUJKUkVGVUZCTmZJcXEwWThlT1ljT0dEWkx4a1NOSG9sKy9maWFMSXlzckM2dFdyVUo0ZUxoa1RxRlFZTUNBQVJnMmJCanJmdVdnMXdoYkk4ZnNCWjZjQi9TNk1wNmdBT3c3QW8zZUJKeGZGZm9FMXpWTWZLa29KcjRteGNTWGlLcGs0OGFOT0hyMHFHaE1xVlJpNnRTcGVQYlpaMDBXaDE2dng3NTkrN0JyMXk3SktqUWdsR0ZNbVRJRk5qWTJKb3VKaXNtSkJXTDNBN0VIZ056NHNvOVgyd0lOWHhmYW9sbTNNSDU4cHNMRWw0cGk0bXRTVEh5SnFFcDBPaDJXTEZtQ3ExZXZpc1l0TFMweGUvWnNORzNhMUtUeFhMbHlCV0ZoWWNqSWtMYmFjbloyaHErdkw1bzFhMmJTbUtnWXZRNUlQaVBVQWllZkFmVGFNcDZnQU95ZUVXcUJYWG9ES2l0VFJHazhUSHlwS0NhK0pzWEVsNGlxTERzN0d3c1hMc1NqUjQ5RTQ4N096dkQzOTRlOXZiMUo0MGxJU01DeVpjc1FGUlVsbVRNek04UFlzV05Oc3VrR2xVTnVJaEIzUUtnSHpvNHArM2lWTmRDd2o1QUUyN1kxZm56R3dNU1hpbUxpYTFKTWZJbW9XaVFtSmlJZ0lBQnBhV21pOFJZdFdtRFdyRmttMzFJNE56Y1hhOWV1bFd5NEFRaDF2NzE2OWNMSWtTT2hVcWxNR2hlVlJBK2tuQmRXZ1JOUENiWEJaYkZwSlNUQXJ2MEFWUzBxWVdIaVMwVXg4VFVwSnI1RVZHM3UzcjJMNzc3N1RyS3Q4QXN2dklESmt5ZkxjblBaYjcvOWhxMWJ0MEtybGI2ZDNxcFZLM2g3ZThQUjBkSGtjVkVwOHA0STNTQmk5d0ZaRDhzK1hta0J1UFFTa21CN0wrUEhWMVZNZktrb0pyNG14Y1NYaUtyVm1UTm5FQllXSnRsWTRzMDMzOFNRSVVOa2llbjI3ZHNJRFExRmFxcDBjd1VIQndkNGUzdWpkZXZXTWtSR1pVcTlETVRzRWZvRDYzTEtQdDdhVTJpSjV2b0dvRFp0aVUyNU1mR2xvcGo0bWhRVFh5S3FkcnQyN2NMdTNidEZZd3FGQWhNblRrUzNidDFraVNrbEpRVWhJU0c0ZCsrZVpFNnRWbVA0OE9IbzA2ZVBESkZSdVdqU2dmakR3aXB3aHZSN0tLRTBBNXhlRVRwQ09IUUNVSU5hMlRIeHBhS1krSm9VRTE4aXFuWjZ2UjRyVnF6QXVYUG5ST05tWm1iNDdMUFAwS3BWSzFuaTBtZzAyTHg1TTQ0ZlAyNXdxK051M2JwaDNMaHhKcTlIcGdwS3V5SFVBaWNjQTdSWlpSNE95OFpQVjRIN0ErWk9SZyt2VEV4OHFTZ212aWJGeEplSWpDSXZMdy9mZlBNTjd0Ky9MeHEzczdQRHZIbno0T3pzTEZOa3dLbFRwN0IrL1hwSkxUSUFlSGg0d05mWEZ5NHVMakpFUmhXaXpRVGlqd3BKY1BwdGxMbEZza0lOT0hVVGFvRWJ2QWpaVm9HWitGSlJUSHhOaW9rdkVSbE5hbW9xQWdNRGtaaVlLQnB2M0xneDVzNmRDMHRMUzVraUF5SWpJeEVTRWlLSkRRQnNiR3d3YWRJa2VIblZnaHVsU0pCeFYwaUE0MzhUeWlMS1l1RUt1QTBFWEFjQ0ZnMk5IMTlSVEh5cEtDYStKc1hFbDRpTUtqbzZHbDkvL1RXeXM3TkY0MTVlWHBnK2ZUcVVTcVZNa1FIcDZlbFlzV0lGcmwrL0xwbFRLcFY0KysyM01XalFJRzUxWEp2b2NvQ0UzNFVrT1BVYXlsNEZWZ0tPTHdpcndFN2RBWVVKMnRzeDhhV2ltUGlhRkJOZklqSzZ5NWN2WStuU3BaS3RoUHYwNllOUm8wYkpGSlZBcDlQaGwxOSt3Y0dEQnczVy9YYnUzQmtUSjA2VWRYV2FLaWt6VXJnWkx2NncwQ0t0TE9aT2dPc0FZU1hZc3JIeDRtTGlTMFV4OFRVcEpyNUVaQkpIamh6QjVzMmJKZU9qUm8ycUVkMFV6cDgvajU5Ly9sbXlNZzBBYm01dThQUHpnN3U3dXd5UlVaWHA4b0NrUDRDWXZjQ1RjSlM1Q2d3RjROQlo2QWpoL0lwUUcxeWRtUGdhaVVKWXNTL1A1aWMxQ1JOZmsyTGlTMFFtczI3ZE9ody9mbHcwcGxRcU1YMzY5QnBSVC92NDhXTUVCd2NqSmthNmRhNmxwU1hHangrUHJsMjd5aEFaVlp2c1I4SXFjTnhCSURlcDdPUE5ISUNHYndDTkJnRld6YW9uaHRxWStLb3NnWmUyRjM3KzUyRHh2R1Zqb04yL2dMeGs0ZXNhRVZxK1ZmYXlLRlRDTnRWcUcwQmxLM3cvekJ3QnN3YkNmODBiQ1BYYUZxNkFlVU1nWmlkd1A2VGkxN0J0QjloM0ZENzBXdURHLzFZOTl2Smk0bXRTVEh5SnlHUjBPaDErL1BGSFNVMnRsWlVWNXN5Wmc4YU5qZmoyY2psbFoyZGoxYXBWdUhqeG9tUk9vVkNnZi8vK0dEWnNtS3kxeVZRTjlGb2c2UytoRmpqbEhLRFhsZkVFaGJBcm5OdGd3T1UxWWJlNHlxcnV4RmRwRHZUWVV6M25LaWsybFJYUS9kZVNqL01ZQnpUN1VIaWNIUVA4UGE1aTEzMzJlK0YxcUN5RXI2M1NIRkJhQ1FsM1JlUW1BZWRHbCtQN1dZVFNBbmh4STZDMkxSdzcvMUg1ZGcyc0RreDhUYXA0NHN1ZjVFUmtORXFsRXQ3ZTNwS1NnYXlzTEFRRkJTRXRMVTJteUFwWldsckMxOWZYWUhLcjErdHg0TUFCL1BqamowaFBMMGZuQUtxNUZDckErV1dndzFmQTgydUV4TTNDdFpRbjZJSFVLOER0cjRHem80QjcveTNmUmhyMWdVSWxsSVhraTY5RUltZnZCZGkyRVZiVkxkeUVGZDJLSnIyQVVLZnQwS1ZpejlIbENPOEFGTlZvc09GanFjN2hpaThSR1YxOGZEd0NBd01seVdPclZxMHdjK1pNcU5YVlhGTlpTVmV2WHNYS2xTdVJrWkVobVhOMmRvYVBqdzg4UFQxbGlJeU1RdzhrbnhWV2daTk9sNk5XVkFIWXRoV1NKSmZld2x2eTVXSHNGZCtjZUVBbnJWVTNTR1VwbEFpVUZWdHBLNzZ1YndCdDVwUS9YZ0Q0ZTd4UWRwS3ZyRlZQYlpiUXBrNlRCbWhTZ2J4VUlDOUZLSzNJU3dGeUU0WFhuUnN2TGJGbzl5L0ErZFdLeFZlVzVOUEF0UytxNTF4YzhUVXBsam9Ra1N4dTM3Nk43Ny8vSGhxTk9Mbm8xcTBiUHZyb0k1bWlra3BJU0VCd2NEQWVQcFMrN1dsbVpvWXhZOGFnWjgrZU1rUkdScFdiQk1RZEFHTDNpeE8wa3Fpc0FaZGVRaEpzMjY3MFk0MmQrRjc1eDlPYitNcWh3WXRBaHdWbHgxWlM0cXMwQTdxdUVsWnBLNksweERjeURFajZVOWlnSlAraklxVUx4VEh4cFNLS0o3NDFZNW1GaU9xOE5tM2FZTnk0Y2ZqcHA1OUViY1JPbno0Tk56YzN2UG5tbXpKR1Y4akZ4UVZ6NTg3RjJyVnI4ZGRmZjRubTh2THlzSHIxYXR5L2Z4L3Z2LzkralZtcHBtcGc3Z1EwSFEwMEhRV2tYSHk2Q254UzZCQmhpRFpUdUdrdWRoOWcwMUtvQlc3WVQxdzNhaXJ1N3dET3I1WHYyTkxLTzZ3OGdLNWhodWZ5azdXb0RZVkpyMTRqck1pV3hNd1JoYnZsbGJMR2xoVU5aRWFVUEY4VmVvMndRbHhWMVhIakh0VUkvS2xOUkNiVHZYdDN4TVRFWU4rK2ZhTHhYYnQyd2MzTkRTKzg4SUpNa1ltWm1abGg0c1NKYU42OE9iWnUzU3BhcGRicjlUaCsvRGlpb3FMZzQrTURSMGRIR1NPbDZxY0FITHNJSDNsUGhQclZtSDFBMW9PU241SnhEN2kzQkloWURyaThLaVRCOXMrYUxtVG5seXYvM0thamhUS0poT05sSHdzQVRVWVdQcjc3WCtFUGhKTDAyRjNrcGtDWjNseE92UVpjbVZYNk1TcExRRnZPVWhHcTlaajRFcEZKRFIwNkZMR3hzVGgvL256Qm1GNnZ4MDgvL1FSbloyZTBhTkZDeHVqRSt2VHBBdzhQRDRTR2h1TEpFL0dLejcxNzkvRFZWMS9CMjlzYmJkcTBrU2xDTWlvekI2RHhjT0VqOVlxUTVDVWNGMjZPTWtTWEE4UWRGajZzUElRRTJMV0d0ekp6Nmc3WWRRQ2FUUUF1K2haMk5sRFpDS3ZnK2JJZUNyWEIrVGVnUFFrSDRvOEFycThEQ1NkSy9wcmtLNjJxOHBsNWdONi84cS9oM0ZpaDlyY3M1ZzJGbW1BQU1IY0dHcjhMTk9nR1FBOWNtQ0krMXZZWm9Na0k0WFUrdVdpNmpnOWtkS3p4SlNLVHk4M054ZUxGaXhFWkdTa2F0N2UzeDd4NTgrRGs1RlRDTStYeDVNa1RoSVNFNE83ZHU1STVsVXFGOTk1N0QvMzY5Wk1oTWpJNVRUb1EvNXVRQkdkSS96MUlLTTFLTHBlb0xLVVowS1BJU3V2MWZ3cXQyaXBLb1FSZTJpYVVaNlJlQlM3UEtKeHJOUU5vVktUODZPUWJRaGNHcjYrRjFuQVgvWUFHTHdDdFp3cGZrN2hEd1AxbEVLM3NGbDN4UFRjV3lJa3JuS3ZPT3Rlejc0dDdOQmV0OFUyOURNVHNBdHlIQVRhdG5pYkpUNFNrL3NXTktDakZDSjhLcE44dVBFZXo4WURIQjhKamJUWnc1dDNxK3o2eXh0ZWsyTTZNaUdSbmJtNk9hZE9tb1VHREJxTHgxTlJVQkFVRkdkeE5UVTRPRGc2WU5Xc1dldmZ1aldJL1E2SFZhckY1ODJhRWhZVWhOemRYcGdqSlpOUzJnUHNRb0hNdzBHbUpzS3BiV25lSDZrNTY4ODlaOUx6dXc0UjJZQlZoNWdBMG4xSllrNXhlcE5lMnlncG9XR3gzUmRmK1FtSjQ3UXZnVmdDUW15Q3NtQUxDT1JRS1NNc1ppcVFZVmJsWnJTeGxyZDgxbXlpc2Fpc3RnRVp2Q1dPNVNVQmFrZGZzMGx2OG5BWkZ5cTVTdzQzemZTUlpzTlNCaUdUaDRPQ0FhZE9tWWRHaVJjakpLWHliTkNvcUNpdFdyTUMwYWRNa1NhYWNWQ29WUm84ZWpSWXRXbUR0MnJYSXl4UC9Jang5K2pTaW82UGg1K2NIRnhjWG1hSWtrN0o5Qm1qOURORENGMGc0SnF3Q3A5MkVTZXBaMDY0SzJ5d0RnT1B6d0V2UzdjRXJKUGxjNGVOR2IwcVQrVGIvRU1vY0hqL3Q5T0RVQTdCdUxqek9UUUllL0N6Y1lHZG1COFE4N1RnaCt2KzNhT0piN1AvckcvOEdFazhJSzlsTlJ3c3JyTkVsdkI2YmxzSWZIZm5uU0w5bG9NeWh5UG4xT2lCMkQrQTUrZWxyR3dKRWJSSnVla3Y2VTBpSUFhRkRSOFJ5NGJIYVR2amU1a3MrWXpnV3FwVzQ0a3RFc3ZIdzhNQ2tTWk1rRzBkY3Zud1pXN1pza1NtcTBuWHYzaDF6NTg2RnM3T3paQzRxS2dvTEZpekFsU3RYWklpTVpLT3lBdHdHQWMvOVYwakszSWNhdjd0RDVFK0FycHJlWVVpOUFxUThyYmxYV1FOTjNqZHdrQUpvK2ZIVFZWNkZzQUZJdm9nUW9FTUEwTzZmUUl1cHduYkdnTERSUlQ2OXR2Q3gya1o4YXIxR2VFN241Y0o1UFQ4cVRFaUx4OURjRjZMRU5uS1ZnY09LWFRkMmYyR1Babk1ub0dGdjRYSFNuNFhIV2JnQk5xMkZ4NDR2aUs5Um1USVNxckdZK0JLUnJEcDE2b1IzM25sSE12N2JiNy9oK1BGeTNtbHVZaDRlSHBnL2Z6NDZkSkQrY3M3SXlFQlFVQkQyN05rRDNrSlJEOW0wQkZwT0YrcEgyOHdWMThsV3A3U3JRUGcwWVhVMS9hWnc4MVZGUGpJamhKdTJJbGNDVi8xUnNFcnRNZTVwRzdKaThydGFtRGtDRGZzSzliNEFrUEszVVBPY3Z5cXFOQWRhZlFJaGNTeTY4bG8wOFMzMlI0RXVUNmovMVQ5TjVCVXE0Sm5QQWJXOStEajNJVUszalh5Sko0WHRwNHRUbWhXNXJrYW82VTA2VmVROFQzL2VaRVlDT2JHRjQvbmRNUnE4V0RpV2VWOWNtMHkxSGhOZklwSmQvLzc5OGNvcnI0akc5SG85Tm03Y2lPdlhyNWZ3TEhuWjJOamdrMDgrd2FCQmd5UWxHVHFkRHIvKytpdVdMVnVHckt3c21TSWtXU2t0aEk0SHJXYVVmV3hsWlVZQWQ3OEg3djRvZEpISS83ajBLWEQrSS9ISHphL0V4MXlZQWx5WkRVUnRMT3pJWU5PNnNHNjNlTy9iVzE4RGtTdUE2SzFBYzI5aFRKY25YQnNRU2hOeUU0WEhqczhETHNYNkNoZXQ4UzJlV0d2U2hBVDE5cUxDQk5uQ0RmQUtGTHBMQUVKWlJ3dmZJczlKRjdhUk5xUm9tWWIyNmY5L01VVmFLTnEyRlc1MEE4U3J1VTdkQVNqRWlXOWlrWVNaNmdRbXZrUlVJNHdaTXdiUFBQT01hRXlyMVNJME5CUXhNVEV5UlZVNmhVS0JZY09Hd2NmSEI1YVdscEw1OFBCd0JBUUU0TkdqY3V3RVJsUWVhbHZESDBVcExhVHp4V3QyRGMycnJJUk9Ed0R3YUt2NCtQU2JRUFEyb2ZWWWZwdXoxRXVBdlpld2d0cGtSR0dyTUVDY3BBTGk3YUR6U3dyeTVkZm9wdDhHb3RZWGp0dTJBYndXQ0FscCszOERpdnpia3ZUQXJjRENSTHU0b2pmNjVXK3drZkszY0VOZVByZkJ3bitMMXUvYXRBYWNlNG9UODhRL0RGK0RhaTIyTXlPaUdpTXpNeE9CZ1lHSWpZMFZqVGRzMkJEKy92Nnd0WlZoVjZ4eWlvbUpRWEJ3TUI0L2ZpeVpzN0N3d0ljZmZsaGpOdWdnRTZ2T0xZdU4xUW9ySnhZNFAwbllwamd2QmJqb0RieFVKUGs5K1FiUTRDV2d3MWVWTy8rcEFZV3J2cTAvSzB3OGRibkFuMitoOElaQUJmRE1mT0ZtczVKRWhnazd5Qm1rZU5wR3pWejQ5TUZxNE9FYTRiSG5KR0ZuUGdEUVpnQm5udFl5ZC9vdjhPU3lrQnpiZXhWdTBwRVRDNXo3b0JJdnRneHNaMlpTYkdkR1JEV1d0YlUxcGsrZkRoc2I4YzB2OGZIeENBNE9GdTJnVnRNMGF0UUkvdjcrNk5LbGkyUXVKeWNISzFhc3dMWnQyNkRUR2JHdEUxRlY2SEtFV3Q3SWxZWnZuRXM1TDVRWWxQWjhReHRKNkhWRlNoMFVnRVBYd3Jtc2h4QjN3ZEFEdDc4V3R4b3JLbnBUS1VrdmhDMlo4NU5lUUZ6REczKzQ4TEhLQm5CK1JZajVncmRRTnBGMENuQXNFbHZpaVpLdlE3VVcyNWtSVVkzaTZ1b0tYMTlmL1BEREQ2SkU5L2J0MjFpN2RpMG1USmdnWDNCbHNMUzBoSyt2TC9idjM0K2RPM2VLa2x5OVhvK0RCdy9pd1lNSG1EeDVNdXpzN0dTTWxHcXQ1TlBTTVR1dnduS0h2R1NoeFZkeEttdnhOc3JGejVQN05HRjl2RlBZakVJbExkMkJYZ004L2tYb3dKRDFBTWgrRE9URUN5VUhlVWxDR3pLRkVtZzdEM2h5NmVsTmJoQW4wUTdQQXBhTkNqOVB2U3EraGtJcDdIYVgzeG1pT0V0M3dLb3BrQlZsZU41T1hDNkZ6SWdpanlPQnRHdEFkaXdRZDZDd2swVStpNGJpTW93RUpyNTFFVXNkaUtoR09ubnlKTmFzV1NQcGpEQnMyREFNR2pSSXBxaks3L3IxNjFpeFlnWFMwNlVyWkU1T1R2RHg4VUh6NXMxTkh4aVpYbldXT2hSbjFVeG9vWmJmeVNCcWszQVRXbkUyclo3MnZ5MW5UQ29yb2V5aHZNY1g1OVFkYVArbDhEZzNFVGo3dE1TZ3JUL1FzTWd1aC9tN3ppa3RoRzRSVFVlVm5QVG0wMnVCMkgxQTlCWWd1MWo5Zk5FZDUzUjV3TlU1eFZhdkRXMjA4WlR6eTBEVE1jSmpUYnE0MjRVMnU3Q3pSVld4MU1Ha2lwYzZjTVdYaUdxa2wxOStHVEV4TVRoNDhLQm9mT2ZPblhCemMwUFhybDFMZUdiTjBMNTllM3orK2VjSURnN0dnd2ZpWDVoSlNVbFl2SGd4Um84ZWpaZGZmbG1tQ0tuV3Mya3QzUFJWMEw1TEQ4UWRMUFVwMWM2eXNiQUxuQ1lEMEdVLzdjbnJMdlRpelplZm5OcTJGWkxiZkpwVTRlYXpGbE9GRGhocUErK0NQQWtIMG00QVRZWVg5dWRWcUlRZDJCcTlKY3pGSHhGYXFta3pDMXVTQVVMTHQyZS9xOXpyVXRzS08vUGxTNzh0Ykd0TXRSNFRYeUtxc2Q1OTkxM0V4Y1hoNHNXTEJXTjZ2UjZyVnEyQ3M3TXpQRDA5Wll5dWJNN096cGd6Wnc3V3JWdUhQLy84VXpTWGw1ZUgxYXRYNC83OSt4ZzFhaFRVYXY0NHBuSXlkeEkybVhBZlVxVFRBWUNvemRXM0tsbGVkczhBYlQ4di9aajhIcnBOUmtMVTJ6ZG1EOUJpV21GUDRLSnk0NEg3b2NLT2VJRFFYYUgxak1JMlpBWFhieWZzSUpkOFdraDZSUjBaVGhUdWJrZjBGRzl1STZJYVM2RlE0S09QUGtLelpzMUU0N201dVZpNmRDbVNrdzNjU0ZQRG1KbVpZY0tFQ1JnOWVyVEI1UGJFaVJOWXZIaHhyWGd0VkVPWU93dEpYdEdrTjNhdmNGT2FxYVZlSzMwKzQwN2hOc2QzdnkvY2NDSXZXZWdoZk9kYmNZL2YzQVJoTjdiekh4VW12UUNRZmdPNDZDY2NuMTJzdldIa0NxSGVPUFhLMDV2bElLeit4djlXcFpkR2RSTnJmSW1veGt0SlNVRkFRQUJTVXNSTjlUMDhQREI3OW14WVdGaklGRm5GM0wxN0Y2R2hvWkxYQVFEMjl2YVlNbVVLMnJadEswTmtaRlRHcVBGVjJ3UHQvMC9ZakNJaXRPd1NCOHRHd281eSthNTlVZnJ4RmFueGZYRVRZUFowbHpXOUR0RG5DWFc5U1g4QkQ5Y0pTV2craFFwb00xc29UMGcrSzR5MW5DYXM1RDc2QlVnNktkN2x6UkNGQ25CK0RXZzBXSGg4ZVJZS2FuRlZOa0Q3L3dWU0xnZzlnYXRyNjJpOXRuQXpqS3BpamE5SkZhL3haZUpMUkxWQ1pHUWt2dm5tRytUazVJakdPM1hxQkQ4L1A4bnVhVFZWYW1vcVFrSkNjT2ZPSGNtY1NxWEN1KysraTlkZmYxMkd5TWhvakhWem05SU1VSmlKRTh0YXFaUWJ6aXJ6M1B5VmNIME5iWC9JeE5lazJNZVhpR29sVDA5UFRKdzRVWkxnaG9lSFkvdjI3VEpGVlhIMjl2YVlPWE1tK3ZUcEkza3RXcTBXVzdac3dZb1ZLeVFKUHBHRUxxOE9KTDFBNVpQZUVwNnIxOVRjcEpka3g4U1hpR3FOTGwyNllOaXdZWkx4UTRjTzRZOC9hcy9Xb2lxVkNxTkdqY0xFaVJOaGJtNHVtVDk3OWl3V0xseUl1TGc0R2FJaklxcTdtUGdTVWEweWNPQkE5T3paVXpTbTErdXhZY01HM0x4NVU2YW9LcWRidDI2WU0yY09YRnhjSkhQUjBkRUlDQWpBNWN1WFpZaU1pS2h1WXVKTFJMWE8yTEZqMGFhTnVBV1NScU5CU0VnSVltTmpTM2hXemVUaDRZSFBQLzhjWGw1ZWtybk16RXdFQlFWaDkrN2RrbzA4aUlpbzRwajRFbEd0bzFhcjRlZm5CMWRYVjlGNFJrWUdnb0tDa0pHUklWTmtsV05qWTRPUFAvNFlnd2NQbHRUOTZ2VjY3TnExQzB1WExrVm1abDJvNXlRaWtnOFRYeUtxbFd4c2JEQnQyalJZVzF1THhtTmpZeEVjSEF5dHRveVdTRFdNUXFIQTBLRkQ0ZWZuQnlzcks4bjhwVXVYRUJBUWdFZVBIaGw0TmhFUmxRY1RYeUtxdFJvMWFnUWZIeCtvVkNyUitLMWJ0N0J1M1RxWm9xcWFUcDA2WWQ2OGVYQjNkNWZNeGNYRklUQXdFR2ZQbnBVaE1pS2kybytKTHhIVmF1M2F0Y1BvMGFNbEpRSW5UNTdFd1lObE5QV3ZvZHpjM0RCdjNqeDA3ZHBWTXBlVGs0T1ZLMWRpeTVZdDBPbDBCcDVOUkVRbFllSkxSTFhlcTYrK2luNzkra25HZCt6WWdZc1hMOG9RVWRWWldGakF4OGNINzc3N0xwUks4WTlxdlY2UHc0Y1A0N3Z2dmtOYVdwcE1FUklSMVQ1TWZJbW9UaGcrZkRpZWUrNDUwWmhPcDBOWVdCZ2VQbndvVTFSVk4yREFBSHo2NmFld3RaVnV2WHJyMWkxODlkVlhpSWlJTUgxZ1JFUzFFQk5mSXFvVEZBb0ZKaytlaktaTm00ckdjM0p5RUJRVWhKU1VGSmtpcTdwMjdkcGgvdno1OFBUMGxNd2xKeWRqMGFKRk9ISGloQXlSRVJIVkxreDhpYWpPc0xDd3dMUnAwK0RnNENBYVQwNU94dEtsUzVHYm15dFRaRlhuNU9TRTJiTm5TemJ2QUlRZXhtdlhyc1dhTld1ZzBYQ3JWaUtpa2pEeEphSTZ4Y25KQ1ZPblRvV1ptWmxvUERJeUVtRmhZYlY2SXdnek16T01IejhlWThlT2hWcXRsc3ovOGNjZldMUm9FWktUazJXSWpvaW81bVBpUzBSMVR2UG16VEZod2dSSnA0Y0xGeTdnbDE5K2tTbXE2dlBhYTY5aDFxeFpjSFIwbE14RlJFVGdxNisrcW5YYk54TVJtUUlUWHlLcWsxNTQ0UVVNR1RKRU1uN2d3QUdjT25WS2hvaXFWOHVXTFRGLy9uekoxczBBa0phV2h1Ky8veDZIRGgyU0lUSWlvcHFMaVM4UjFWbURCdzlHdDI3ZFJHTjZ2UjdyMXEzRDdkdTNaWXFxK3RqYjIyUG16Sm5vMTYrZlpIVmJwOU5oNjlhdFdMNThPWEp5Y21TS2tJaW9abUhpUzBSMTJvY2Zmb2hXclZxSnhqUWFEWUtEZ3hFZkh5OVRWTlZIcVZSaTVNaVIrT2lqajJCaFlTR1pQM2Z1SEFJREF4RVhGeWREZEVSRU5Rc1RYeUtxMDlScU5mejgvT0RpNGlJYVQwOVB4NUlsUzVDWm1TbFRaTlhycFpkZXdwdzVjOUN3WVVQSjNLTkhqeEFRRUlCTGx5N0pFQmtSVWMzQnhKZUk2anc3T3p0TW56NGRWbFpXb3ZHWW1CaUVob2JXbWExL216WnRpczgvL3h3ZE8zYVV6R1ZtWm1McDBxWFl0V3RYcmU1c1FVUlVGVXg4aWFoZWNIZDN4NVFwVXlUYi8xNi9maDBiTm15UUthcnFaMjF0amVuVHArUE5OOStVMVAzcTlYcnMzcjI3VHExMEV4RlZCQk5mSXFvM3ZMeTg4UDc3NzB2R2p4OC9qc09IRDhzUWtYRW9GQW9NR1RJRWZuNStzTGEybHN4ZnVYSUZDeFlzUUZSVWxBelJFUkhKUjZIbmUxNUVWTTlzM0xnUlI0OGVGWTBwbFVyNCtmbmh1ZWVla3lrcTQ0aUxpOE95WmN2dzZORWp5WnlGaFFVKytPQUR2UFRTU3pKRVJrUmtmSXBpYjMweDhTV2lla2VuMHlFb0tBaFhybHdSalZ0YVdtTDI3TmxvMnJTcFRKRVpSMDVPRGxhdlhvMXo1ODVKNWhRS0JmcjI3WXZodzRkTHlrQ0lpR283SnI1RVJBQ3lzN094Y09GQ3lVcW9rNU1UNXMyYkIzdDdlNWtpTTU2REJ3OWl4NDRkQm0vbWE5dTJMYVpNbVZJblh6Y1IxVjlNZkltSW5rcE1URVJnWUNCU1UxTkY0eTFhdE1Dc1diTmdabVltVTJUR2MrUEdEYXhZc1FKcGFXbVN1UVlOR3NEYjJ4c3RXN2FVSVRJaW91ckh4SmVJcUloNzkrN2gyMisvUlY1ZW5tajhoUmRld09USmt5V2RFZXFDNU9Sa0JBY0hJeUlpUWpLblZxdngvdnZ2NDdYWFhqTjlZRVJFMVl5Skx4RlJNV2ZPbkVGWVdKaWt2KzNnd1lNeGRPaFFtYUl5TG8xR2cvWHIxK1BreVpNRzUxOSsrV1dNSGoyNlRxNTZFMUg5d2NTWGlNaUFYYnQyWWZmdTNhSXhoVUtCaVJNbm9sdTNiakpGWlh3blRwekF4bzBib2RGb0pIT2VucDd3OWZXRms1T1RESkVSRVZVZEUxOGlJZ1AwZWoxV3JseUpzMmZQaXNiTnpNencyV2Vmb1ZXclZqSkZabnozNzk5SFNFZ0lrcE9USlhOMmRuYVlQSGt5MnJWckowTmtSRVJWdzhTWGlLZ0VlWGw1K1BiYmIzSHYzajNSdUoyZEhmejkvZUhpNGlKVFpNYVhscGFHME5CUTNMcDFTektuVkNyeHpqdnZvSC8vL2pKRVJrUlVlVXg4aVloS2tacWFpc0RBUUNRbUpvckdHemR1akRsejVzREt5a3FteUl4UHA5TmgyN1p0T0hMa2lLVGVHUUNlZi81NWpCOC9IaFlXRmpKRVIwUlVjVXg4aVlqS0VCMGRqYSsvL2hyWjJkbWljUzh2TDB5ZlByM09iL1J3OXV4WnJGbXpCams1T1pLNXhvMGJ3OWZYRjI1dWJqSkVSa1JVTVV4OGlZaks0Y3FWS3dnS0NwSnM5dEM3ZDIrTUhqMWFwcWhNSnpvNkdzSEJ3WWlMaTVQTVdWbFpZZUxFaWVqVXFaTU1rUkVSbFI4VFh5S2ljanB5NUFnMmI5NHNHUjgxYWhUNjlPa2pRMFNtbFptWmliQ3dNRnkrZkZreXAxQW9NR2pRSUF3Wk1xUk85am9tb3JxQmlTOFJVUVdzWDc4ZXYvLyt1MmhNcVZSaTJyUnA2Tml4bzB4Um1ZNWVyOGZ1M2J1eFo4OGVnM1cvWGw1ZW1EeDVNcXl0cldXSWpvaW9kRXg4aVlncVFLZlQ0Yi8vL1MrdVhic21HcmUwdE1UY3VYUFJ1SEZqbVNJenJVdVhMbUhWcWxYSXpNeVV6TG00dU1EUHp3OU5temFWSVRJaW9wSXg4U1VpcXFDc3JDd3NYTGdRang4L0ZvMDdPenRqM3J4NXNMT3preWt5MDRxTGkwTndjRENpbzZNbGMrYm01dmpnZ3cvcTlHWWZSRlQ3TVBFbElxcUVoSVFFQkFZR0lpMHRUVFRlc21WTHpKbzFDMnExV3FiSVRDc25Kd2RyMXF5UmJQUUJDSFcvZmZyMHdmRGh3NkZTcVdTSWpvaElqSWt2RVZFbDNibHpCOTk5OTUxa2U5K1hYbm9Ka3laTmtpa3FlUncrZkJqYnRtMlRkTDBBZ0RadDJzRGIyeHYyOXZZeVJFWkVWSWlKTHhGUkZmejExMS80NmFlZkpEZDZ2ZjMyMjNqcnJiZGtpa29ldDI3ZFFtaG9xR1FWSEFBY0hSM2g0K09EbGkxYnloQVpFWkdBaVM4UlVSWDk4c3N2Mkxkdm4yaE1vVkJnMHFSSmVQSEZGMldLU2g3Snlja0lDUW5CL2Z2M0pYTnF0Um9qUjQ1RXIxNjlaSWlNaUlpSkx4RlJsZW4xZW9TR2h1TDgrZk9pY1RNek04eWNPYlBlclhKcU5CcHMzTGdSSjA2Y01EamZzMmRQakJrekJtWm1aaWFPaklqcU95YStSRVRWSUM4dkQ0c1hMMFpFUklSbzNON2VIdjcrL25CMmRwWW5NQm45OGNjZjJMaHhJL0x5OGlSem5wNmU4UEh4cVpkZkZ5S1NEeE5mSXFKcTh1VEpFd1FFQkNBNU9WazAzcVJKRTh5Wk13ZVdscFl5UlNhZmlJZ0lCQWNIUzc0bUFHQnJhNHZKa3llamZmdjJNa1JHUlBVUkUxOGlvbXIwOE9GRExGcTBDRGs1T2FMeFo1OTlGbE9uVG9WU3FaUXBNdm1rcGFWaCtmTGx1SG56cG1ST3FWUmkyTEJoR0RCZ2dBeVJFVkY5dzhTWGlLaWFoWWVISXpnNFdOTGFxMSsvZmhnNWNxUk1VY2xMcDlOaCsvYnRPSHo0c01HdGpydDI3WXJ4NDhmWHkxVnhJaklkSnI1RVJFWnc2TkFoYk4yNlZUU21VQ2d3ZXZUb2V0M1Y0Tnk1YzFpOWVyVmtSUndBM04zZDRlZGxaK2p0QUFBZ0FFbEVRVlRuQnpjM054a2lJNkw2Z0lrdkVaR1JyRjI3VnRMWlFLVlM0ZU9QUDY3WGRhMlBIajNDc21YTEVCY1hKNW16dExURXhJa1QwYmx6WnhraUk2SzZqb2t2RVpHUmFMVmEvUGpqajdoeDQ0Wm8zTnJhR25QbXpJRzd1N3RNa2Nrdkt5c0xZV0ZodUhUcGttUk9vVkJnNE1DQkdEcDBLSXI5amlJaXFoSW12a1JFUnBTWm1ZbkF3RURFeHNhS3hoczJiQWgvZjMvWTJ0cktGSm44OUhvOTl1elpnOTI3ZHh1cysvWHk4c0trU1pOZ1kyTWpRM1JFVkJjeDhTVWlNcks0dURnRUJnWWlJeU5ETk42bVRSdk1tREVEYXJWYXBzaHFoaXRYcm1EbHlwWEl6TXlVekxtNHVNRFgxeGNlSGg0eVJFWkVkUTBUWHlJaUU3aDE2eForK09FSGFEUWEwWGozN3QweGNlSkVtYUtxT2VMajR4RWNISXlvcUNqSm5MbTVPY2FPSFl2dTNidkxFQmtSMVNWTWZJbUlUT1RVcVZOWXZYcTE1RzM5WWNPR1lkQ2dRVEpGVlhQazV1Wml6Wm8xT0hQbWpHUk9vVkNnZCsvZUdERmlCRlFxbFF6UkVWRmR3TVNYaU1pRXRtL2ZqZ01IRG9qR0ZBb0Z2TDI5MGJWclY1bWlxbG1PSERtQ2JkdTJRYXZWU3VaYXQyNE5iMjl2T0RnNHlCQVpFZFYyVEh5SmlFeElyOWNqSkNRRUZ5NWNFSTJibTV0ajFxeFphTjY4dVR5QjFUQzNiOTlHYUdnb1VsTlRKWE9Pam83dzl2WkdxMWF0WklpTWlHb3pKcjVFUkNhV2s1T0R4WXNYNDhHREI2SnhCd2NIekpzM0R3MGFOSkFwc3BvbEpTVUZJU0VodUhmdm5tUk9yVlpqeElnUjZOMjd0K2tESTZKYWk0a3ZFWkVNVWxKU0VCQVFnSlNVRk5HNGg0Y0hacytlRFFzTEM1a2lxMWswR2cwMmJkcUVFeWRPR0d4NTFyMTdkM3p3d1Fjd016T1RJVG9pcW0yWStCSVJ5ZVRCZ3dkWXZIaXhaUHZlVHAwNndjL1BqNXMzRkhIeTVFbHMyTEFCZVhsNWtqa1BEdy80K2ZuQjJkbFpoc2lJcURaaDRrdEVKS01MRnk0Z0pDUkVzcHI1eGh0dllQanc0VEpGVlRORlJrWWlPRGdZU1VsSmtqa2JHeHRNbmp3WkhUcDBrQ0V5SXFvdG1QZ1NFY25zd0lFRDJMNTl1MmhNb1ZEZ2d3OCt3Q3V2dkNKVFZEVlRlbm82bGk5Zkx0a0dHZ0NVU2lXR0RCbUNnUU1IY3JXY2lBeGk0a3RFVkFQOC9QUFBPSFhxbEdoTXBWTGhrMDgrUWJ0MjdXU0txbWJTNlhUWXNXTUhEaDA2WkxEdXQwdVhMcGd3WVFJc0xTMWxpSzVzYjd6eGh0d2hFRldiUTRjT3lSMUNoUlJQZkpWeUJVSkVWSitOSFRzV2JkdTJGWTFwdFZxRWhvWWlOalpXcHFocUpxVlNpZmZlZXc5VHBrd3htTnhldUhBQkFRRUJlUHo0c1F6UkVWRnR3c1NYaUVnR2FyVWF2cjYrY0hWMUZZMW5aR1JneVpJbHlNaklrQ215bXV2NTU1K0h2NzgvM056Y0pITXhNVEVJREF5VTlFc21JaXFLcFE1RVJES0tqWTFGWUdBZ01qTXpSZU50MjdiRmpCa3p1RjJ2QWRuWjJRZ0xDME40ZUxoa1RxRlFZTUNBQVJnNmRDaVV5cHF4dGxPMDFLRzJ2VTFNQk5UdWY4TXNkU0FpcWtIYzNOemc0K01qU1hCdjNicUZkZXZXeVJSVnpXWnBhUWsvUHorRHlhMWVyOGYrL2Z2eDQ0OC9jdFdjaUNTWStCSVJ5YXhkdTNZWVBYcTBwRFBCeVpNbmNlREFBWm1pcXRrVUNnVUdEeDZNNmRPbnc4YkdSakovL2ZwMWZQWFZWNUxkOG9pb2ZtUGlTMFJVQTd6NjZxdm8xNitmWkh6SGpoMjRlUEdpREJIVkRsNWVYdmo4ODgvaDRlRWhtVXRNVE1UWFgzK05QLy84VTRiSWlLZ21ZdUpMUkZSRERCOCtITTg5OTV4b1RLL1hJeXdzakN1WHBYQnhjY0djT1hQUXJWczN5VnhlWGg1Ky92bG5iTml3QVZxdFZvYm9pS2dtWWVKTFJGUkRLQlFLVEo0OEdVMmJOaFdONStUa0lDZ29DQ2twS1RKRlZ2T1ptNXZqbzQ4K3d2dnZ2eStwbDlicjlUaDI3QmkrK2VZYmZnMko2amttdmtSRU5ZaUZoUVdtVDU4T0J3Y0gwWGhLU2dxV0xsMkszTnhjbVNLckhmcjI3WXZQUHZzTTl2YjJrcm03ZCs5aXdZSUZ1SFBuamd5UkVWRk53TVNYaUtpR2FkQ2dBYVpPblFwemMzUFJlR1JrSk1MQ3dnenVYa2FGMnJScGcvbno1Nk5WcTFhU3VTZFBudURiYjcvRjBhTkhaWWlNaU9UR3hKZUlxQVpxM3J3NUpreVlJT24wY09IQ0JlellzVU9tcUdvUFIwZEh6Snc1RTcxNjlaSjhEYlZhTFRadTNJaXdzRERrNWVYSkZDRVJ5WUdKTHhGUkRmWDg4ODlqeUpBaGt2R0RCdy9pMUtsVE1rUlV1NmpWYW93Wk13WWZmdmdoek16TUpQT25UNS9Hd29VTGtaQ1FJRU4wUkNRSEpyNUVSRFhZNE1HRDBiMTdkOUdZWHEvSHVuWHJjT3ZXTFptaXFsMTY5dXlKT1hQbXdOblpXVEwzOE9GRExGaXdBRmV2WHBVaE1pSXlOU2ErUkVRMTNMaHg0OUM2ZFd2Um1FYWpRWEJ3TU9MaTRtU0txblpwMXF3WjVzK2ZqL2J0MjB2bU1qSXlzR1RKRXV6ZHU1ZjEwMFIxSEJOZklxSWFUcTFXdzgvUER5NHVMcUx4akl3TUJBVUZJVE16VTZiSWFoY2JHeHQ4OHNrbkdEQmdnS1R1VjZmVFllZk9uVmkyYkJteXM3TmxpcENJakkySkx4RlJMV0JyYTR2cDA2ZkQydHBhTkI0VEU0T1FrQkRvZERxWklxdGRsRW9sM24zM1hYaDdlOFBTMGxJeUh4NGVqZ1VMRnVEeDQ4Y3lSRWRFeHNiRWw0aW9sbkIzZDhlVUtWT2dWSXAvZE4rNGNRUHIxNitYS2FyYXFXdlhydkQzOTBlalJvMGtjN0d4c1FnTURNVDU4K2RsaUl5SWpJbUpMeEZSTGRLaFF3ZU1HalZLOGxiOWlSTW5jUGp3WVptaXFwM2MzZDB4Yjk0OGRPblNSVEtYbloyTjBOQlFiTisrbmF2cFJIVUlFMThpb2xxbVY2OWU2Tk9uajJSODI3WnR1SFRwa2d3UjFWNldscGJ3OGZIQnNHSERKQ3ZwZXIwZUJ3NGN3QTgvL0lEMDlIU1pJaVNpNnNURWw0aW9GaG94WWdRNmR1d29HdFBwZEZpNWNpV2lvcUpraXFwMlVpZ1VHRFJvRUQ3KytHUFkyTmhJNW0vY3VJRUZDeFlnTWpKU2h1aUlxRG94OFNVaXFvV1VTaVdtVEptQ0prMmFpTWF6czdNUkZCU0UxTlJVbVNLcnZUcDA2SUQ1OCtmRHc4TkRNcGVZbUloRml4Wng0eENpV282Skx4RlJMV1ZwYVlscDA2YkIzdDVlTko2VWxJU2dvQ0J1eDFzSnpzN09tRHQzcm1UVEVBREl5OHZENnRXcnNXN2RPbWcwR2htaUk2S3FZdUpMUkZTTE9Uczd3OC9QVDdJbGIwUkVCRmF0V3NVTkdTckJ6TXdNRXlkT3hLaFJvNkJXcTBWemVyMGV4NDhmeHpmZmZJT1VsQlNaSXFTNlFLL1hRNnZsSDFDbXB0RHpweUlSVWExMzl1eFpyRnk1VXBMb0RoNDhHRU9IRHBVcHF0cnY3dDI3Q0FrSndaTW5UeVJ6OXZiMjhQYjJScHMyYlVvOXh4dHZ2Rkh3K05DaFE5VVMxK09IOS9IN3ZxMEFBS2VHamREL25YSFZjdDdpY3JLenNHNXBBTHk2ZEVmSEYxNkdqWjFEd2R5eXIvNVI4UGo1VjE3SFM3MEdsdXVjQ2JHUDhQdmVyWGg3akRmTUxhUzlsR3N6blZhTDdLeE1aR2RsSUNzekhSbXBUNUNXbW9MMHB4OXBUNUtRa2hpSDVJUjRQRW1LeDh0dkRNSGJZM3dxZkkwSDkyN2kvcTBydUgvek1wUktGU2JNK0YvanZLQ25qUEZ2MkZRVXhWcmdxRXM2a0lpSWFvOFhYM3dSc2JHeDJMVnJsMmg4Mzc1OWNITnpNL2pXUFpXdFZhdFdtRDkvUGtKQ1FuRDM3bDNSWEdwcUtyNzc3anU4OTk1NzZOZXZuOGxpMG1tMTJMemlXenk4ZHhNQTBMNXpONXcrdHEvUzUzTm80SUoyblY0ME9IZisxRys0ZHVFdlhMdndGN2I5OUNPbS9mTTdlTFlXdG4yK2U2T3dnMGlMWnpvYWZINXhoMzVaaHlNNzEwT2p5VU5tUmhyR1RaOWZjSjE5VzFaVitqWE0vMjVOd2VQN3Q2NGc2TXVabFQ2WElXK05ub0xlZzBjVWZMN2t5OCtRbDVzRFRXNHU4bkp6a0plWGk1enNMT1RtVkd6WHYvT25qdUxOVWRMZTNLWFJhalZZK2MwWHlNb283RFFTOStnaFhCdExhOU5KaW9rdkVWRWQ4ZFpiYnlFbUpnWm56NTR0R05QcjlWaXpaZzBhTm15SVZxMWF5UmhkN2VYZzRJQlpzMlpoOCtiTitQMzMzMFdyNmxxdEZwczNiMFpFUkFUR2pSc0hjM056bzhlemQwdFlRZElMQU5jdm5zYjFpNmNyZmI0MlhsMUtUSHovK20xUHdXTW5WM2MwYTlXdTB0Y0JBT2oxMEdpRTJ2UHcwNytqV2F0MjZEWG9QZVJrWnlJNUliWnE1emFoaUZ0WHErVThhVStTY09mcUJiUjk5dmx5UDhmTTNBSXZ2Tm9mSi9adkx4ZzdmV3h2aFZlTzZ5c212a1JFZGNqNDhlT1JtSmlJZS9mdUZZeHBOQm9zVzdZTS92NytjSEZ4a1RHNjJrdWxVbUgwNk5GbzBhSUYxcTVkSzdseDhNeVpNM2owNkJGOGZYM1JzR0ZEbzhWeDlzUkJITnV6eFdqbkwrck90WEJFUjk0cCtQelZBZTlJTms0cHpaKy83VWFubDNyQjJ0YXVZS3pma05HNGR2RjBRZUsrZDlOS05HL1RvZnFDTnFDaGUxT0Q0eGxwVDVDWm5nWUFVS25VY0hLVjd1S1h6OGJXdnNRNVF5d3NyV0JsWXd0ckd6dFkyOXJCeHRZQnR2YU93b2REQTlnN09zSFJ1U0VjblJxS3lrY0FZUFdQWCtMUzJSTVZ1dDd2KzdiaDkzM2JTcHh2MzdrYkpzMzZza0xuckt1WStCSVIxU0ZtWm1hWU9uVXFBZ0lDa0ppWVdEQ2VscGFHSlV1V1lPN2N1YkN5c3BJeHd0cXRlL2Z1YU5La0NZS0RnNUdRa0NDYWk0cUt3b0lGQ3pCcDBpUkpqK1hxOE9EdURXeForVjNCNTU2dE8yRGFQNyt0ME52a0ZYRm9SMkg1Z0wyakUxNTZiVUM1bjN0dyt4b2MzTEVHUjNkdHdvZWYvQXROV3doMTBFcVZDcU84LzRGdnYvQ0RWcU9CVnF2QnZpMWg4SjIzQ0QzNnZpVTZ4NTFyNFFnT21BMUE2TFU4OStzd3VEUnFJcmxXV2VaK0hXWndQRGhnTnU1Y0N3Y2cxQ2lQbkZ5NThvakJJejlDaHk3ZFlXbGxEUXRMYTFoWVdSdnRlMEpWeDhTWGlLaU9zYk96dy9UcDA3Rnc0VUprWnhmV0hENSsvQmlob2FINCtPT1ArWXU1Q2p3OFBQRDU1NTlqeFlvVnVIYnRtbWd1TXpNVFFVRkJlT3V0dHpCNDhPQUtyWkNXcFlsbmF6UnQzaG9QN3Q2RW1ia0ZYaHYwTHVhTUw5OE5aU1Zadk9hZ3dmRTcxOEpGTmJ4OTN4NEZNM09MY3Azemo0Ty80T0RUcERrcElSWkwvajBEZnZNWEY5UUd1elh4Uk4rM1IrSG9yazNvODlaSTlCc3kydUI1VGh3b2ZDdS9mZWVYS3BYMDVzdkx6Y0g1VTc4VmZLN0p5OFhkNjRXdno5YmVzY1E2NmE0OSs1YjYybDNjbXFCUjArYVZqcTAwS3JVYXRuYU9WVDZQalYzRlZxenJNaWErUkVSMVVPUEdqVEZseWhRRUJRVkJwOU1WakYrN2RnMmJObTNDNk5HR2t3MHFIeHNiRzN6eXlTZll1WE1uOXUvZkw2cjcxZWwwK1BYWFh4RVJFWUdQUHZxbzJxNnBVcXZ4NGNmL3hEZnpmVEZrckMvY0dqZURkUVhmZ2k4UG5VNkhuV3VYaWNhNjl4bGNydWNlMzc4ZHU5YUhpTVk2ZGVzbHFRM3VOMlEwbnUvWnI4Ums5dUg5VzdoNi9zK0N6OThZOWtHNXJsK1M3S3dNMFdwNWNiL3QybGppWEljdTNjcWQ5RmUzNXEwN3dHLys0bEtQeWMzSnJuUGRNWXlKaVM4UlVSM1ZzV05IakJneEFwczJiUktOSHp0MkRHNXVidWpidDY5TWtkVU5Db1VDdzRZTmc2ZW5KMzc2NlNmUjZqb0FYTHAwQ1FFQkFkVjJ2YnpjSE9UbTVPRDl5YlBnMnJnWkFHRDZQMHRPNXNwU1VrM3J5WU8vNFBIRGU2SXh0Vm5aTiszdDMvb1REdTljTHhwNzdzVlg4ZjZVV1pLVmI3WGFyTVNrVjYvWDQ1ZlZTMFZqUC96UHg1aXpjQ1dTRW1MUXJPVXpSa240SzJ2ZDBnQ3NYeFpZNmVmUC8zNHQ3QndhbEhuY2s2UUVPRGdKTmZxcHlZazRmbUE3cmw4OEF3V0Fmd1F1RngzNzhONU5ITnU3RmEzYVA0Zlc3VHV6NDBNUlRIeUppT3F3dm4zN0lqWTJGc2VPSFJPTmI5bXlCYTZ1cmthcFJhMXZ1blRwQW5kM2R3UUhCK1B4NDhlaXVkalk2dXRVRUJWeHUxcmJkTTM4enpJMDloUjMra2lLajhIK2JUOVgrRngvL2JZSDZXbmlYc2RkZS9iRktPL1pVS3BVQUlDTGZ4M0QycUFGa3VmNkwvNEpMbTZOQ3o0L2NXQUhJdTlja3h4M1lOdlBDRDl6SEs2TlBlQTlKd0NPenE0VmpqTmZTU1VlK2Y0eHJuKzV6MVgxVFNoSzNrNUJwOWZod3A5SDhjZkJuWGowNEM2KytINnRjRE9jUW9IZjkyNHRlS2NoT3VJT21qUnZYZkM4YXhkUEkvejA3d2cvL1R2TUxTeng3K0J0VUt2TlNycE12Y0xFbDRpb2pudi8vZmNSRnhjbnFrZlY2WFJZdm53NTVzNmRpOGFORzVmeWJDcVBSbzBhd2QvZkh6Ly8vRFBPbno4dmR6aVZvdE5xc1Rab0FYS3lzeXI4M09KSmI4OStiK09kOGRNclhPTWNlZWNhOW14YVlYQXUvTXh4QUVMUDJpVmZmZ2J2T1lHVlhzbXNTR0pyZkNWL2pSUUtCZlp2L1FtSmNjSWZWSC8rdGdldkR4MERlMGNuTkd2VnZ1QVBoQXQvSFJVbHZqY3ZGYlkwYk5XK0U1UGVJcGo0RWhIVmNVcWxFdDdlM2xpNGNLRm9SVEk3T3h0TGxpekJ2SG56WUdkblY4b1pxRHdzTFMzaDQrT0QvZnYzWStmT25hTGE2dXJRb20xSDBVcmxyZzJoT0hsd0oyd2RIREgxaTIvaDVPSW1sQW1zV1lxVGgzWkNxVktoZmFlWE1NcG5OcXlzYlFHVW52QWQyN3NGRCs3ZXFGS01Db1VDZzkrZmhENXZqcXp3Y3hOaW9ySHF1LytGVmlPc29IcTBhSXVIOTI4VnpQZDVjeVNPN2QwQ3ZWNlBsTVI0TFAzUFRIalBEWlNzV3BleWdGb3RpdStPK09Fbi84UnpMNzRLalNZUHYvMjZFZVlXbHVqOTVnaUR6MzM4OEI2K25lOVhjQTZQRm0wbFpRNUZ6NjlRS05HOXoyRHMyYlFTQUhEcThLL284OVpJcUZScWVIWHRYcEQ0WGpwOUhHK05tZ0lBeUV4UHc4TjdoVisza25vMDExZE1mSW1JNmdFckt5dE1uejRkZ1lHQlNFdExLeGhQVEV6RTBxVkxNWFBtVEppWmNWV29PZ3djT0JDZW5wNVlzV0lGN096c1JEMlZxNU9kZlFOb05IbElTWXpIc3EvK2dUWmVYWkFZOXhqLzM5NTlSMFYxNW04QWY2YlFPMUlVVUNTZ2lBVXI5aTdZWW9tbVdCS2owVmd4MmJoR3M4Yk5KcnRtWXhLVC9KS05pQ1gybUJoak5CbzFLdGFnV0JBTFlrTkVVRUJBa0tMMG1ibS9QMFl2WEFaVUVMM2dQSjl6T0dmdWwxdStnNXpqdzUzM3Z1KzFTL29wdW5SYUxWemRQY1hRK3lnbVpjYnhLbFVxNkxUYUN2Y3JLaXlvOEs2c21ia0ZSaytkZzFZZHVsZDRYTXYyWGZIeFl2MURaUCtlT1ZyeXZkdXBTVmoyK1FlNGw1dXQ3OFhVREdPbWZZQXZQNWdrN2hQUWN3Q3M3UnpFaCtmdTNjMUI2R2R6OFBhYy80b3pSZ0FRRjhoNDhENHFNdmVMbFJYV0h5aDczZklLOC9NazJ5cVZHcG5wS1ZpeGFENHlVcE9oVktuZzVkc0NuajdTK1lrRlFjRDJEY3Nrd1hiZ3F4TU16cS9UbGY3Y2xVb1ZBbm9OeE83ZjFrS3IwU0EzK3c3T0hqK0U5dDBDMGFKZEYremFwSitxN1U1R0dwSVQ0K0R1NllQWW1DakpOVnEwNWFxTlpYRStHeUlpSStIazVJVHAwNmREclpiZTg0aVBqOGZhdFZVZjEwbVY4L1B6dzRjZmZvanAwNmZYNkhuZkg5ZGYvTnF4c2ZTQnBxeU1OSnc4dkZzTXZROGMrR09qdVAvUnNHMFBQYmVYYnlzQWdMbUZKZm9PR1ZYaFBoZlBuTUNpZjB4R3hEN3AwdGhPOWQzeDdyKy9yelQwQXZvSDVHenNIR0ZqNXlpcFg3OXlIaUgvbVlYc3pOdGk3YlZKc3lvY3h0QnIwTXVTdThrRitmZXcvSXQvNEhwc2pGZ3JLUzRXWDZ0VUZkL2ZzN0N5ZXVqWHd4VGszNU5zcTAxTVlPL29Jdjdob0I4eXNoRDU5M0lsKzBYczI0NnJGODZJMnkzYmQ0VnZxdzRHNTllVVdSeEZwVmJCMnNZT0xkcDFFV3RIOXZ3T1FEOHRuS09UcTFpUGlZb0FBRncrVnpyTW9VRkRyeWNhQy8wODRoMWZJaUlqNHUzdGpYSGp4bUhObWpXU3UwS1JrWkdvWDc4K2hnd1o4cENqcVNycTFhc25kd3RWMHFDaEY5UW1waGd6ZFM3eXk0VzcxS1FFYlA5cEdXTFBSMVY0Ykp0T3ZlQjZmNmFKcXRyL3gwYkpHT0hBNFdQUnRtdmxNNDRNSGpVSnVkbVppRHE2SDRCK3RvdlVwQVI0TmRVL3FGbVFYL3FKaHJsRnhTRzIvQjNucW5od1Yvb0JTeXNicU5ScWpKcjhQdjczNzNlaDAycVJsWkdHNVYvT3c3Ui9mQWx6U3l2RVhUeUg3UnRLcDNtenNMVEd5UEh2VkhqK3dvSjg4YldadVNVQW9GUHZRWWcrcVYvTjdlYjFXS1FrWG9PYnB6ZjgybllXLzZDNWVQbzQrbzhZaDh0bHh2ZVdEY3lreCtCTFJHUmtPbmZ1akxTME5PemF0VXRTMzdGakIxeGRYUkVRd0RHQnRWVmxzeEdVSGJ0YmZwYUVzcmF1QzZuMDNDcTFHdVBmL1FoK2JUb2hNbHg2bmI5MmI2azA5RlptK1JmL2dLdTdKL3hhZDhRTHpWcFZPaVhhdU9ENTJMVHlHeVFueEtGYjBIQU1mR1hDUTgrclVDancydVRaeU1uS3hNMzRLM2hqNW56NHRlNG9majgzcTNURlFpdnJtaCs3bnB4NFRiTDlZSXl1aDFjVEJBNGJLeTdla1hUOUtsWXNtbzkrdzhaZ3c1TFB4TmtmRkFvRnhrNy9BTFlPRmY5aGRDODNTM3h0YWFVZnB0SzBaWHZZT1RnaEowdS9XdUR4UTdzd2N2dzdhTlk2UUF5K3lZbHh1QkFWSVFubXJRSXF2d052ckJoOGlZaU0wTEJodzVDV2xvYW9xTkl3SXdnQzFxNWRpM3IxNnVHRkYxNlFzVHQ2bUVmTlNQRDUreE1NYW1xMUNUNWZ2Uk5LcFZKODZFNnIwMElRQk1uTUMzNXRPbFY0enVGdlRNZTFTK2ZFMlFYODJuVENwYk1uSHRySHpmaFl4TWFjUnZpZXJmRHYyQU52dnZOUmhmdVpXVmhpMHV4UEVYVWtESDBxR1dKUm5rcWx4b1QzUGtIMm5kdW83KzRwK2Q2ZDI2VlR5Tms3NlQvbXQ3Q3l3Y1MvTDhEdDFDVFkyanVLZDFLVEU2NWl6NVoxNHY0VC83NEFnazZMcXhmUG9tbkw5dUt4WlNVbFhCVmZxMDFNWWVmb0xHNEhqWGdEYVNrM2NPN0VZUUQ2V1NwV2ZTTjkzd05mbVZEcHoxa1FCT1NVQ2U0Mjl2cGhJUXFGQXUyN0I0b0xiWnlPT0lDaFk2YkF4NjgxR2pUMGdwZHZTL2kyYkkvclZ5K0l4em80dWNMZDB3Y2t4VEcrUkVSR1NLRlE0SzIzM2tManhvMGw5WktTRW9TR2hpSXpNN1BpQTBsMmFyV0p3VmRaS3JYYWNCOVQvZDFXVTNNTGNiK2lnZ0trSmwzSDBvVnpIam1iZzVtNUJWNmJQQnQyams0WTk4NC9NV24yZ29mdXJ5a3Bsb3lGZFhTcWVMR01CMnp0SFI4NzlENWdibUZwRUhvQjRGYlNkZkYxUFJmOW5XKzEyZ1R1amIxeCtNL04rSFBUS2xoWVdxRjUyMDVvNk8wck9kYXJhUXNjM2JjZFIvYitqcnk3MldqZXRwUGs1eXNJQXE3R2xFNVg1K0xXVVBLSGcwS2h3SmlwY3lRUDI1WFY1OFhLbDJnR2dLek1kR2hLU3Njb2wvMjV0ZS9XVDN4ZG1KK0g4NmVPd3NUVURMTS9XNGFSNDk5QmkvWmRjVFdtZEF5eFArLzJWb2gzZkltSWpKU0ppUW1DZzRPeGNPRkMzTGx6UjZ6bjV1WWlKQ1FFYytmT2hiazVsMEt0YlQ1ZnZkT2dWdll1OEp6UGY2aDBxSU9WdFowNEs4RzkzQ3dVRmVRaDd1STU3TjJ5SG0vUCtlOURyK3ZkekI4ZmZyT3V3Z2ZHeWsveFZmYXVLd0RVdTkrUFRxdkY5bkpMR2tjZENVUFFTMjlVT2dORFZXaEtpcEYwdmZTT3JGc2ovU2NYK2ZkeXNmeUxlZUl3aUtVTDUrS0RyMVliSEI4YkU0WFkrOEgyMTFYZndzckdEczNMeklvUWYrVTg3dHhPRmJjYk41SE8zS0RUNlhEcXlENWtwcVZVMkYvbTdWdTRuWm9FNS9vZUZYNy9adndWeWJhclIybXdkM1gzaEtkUGN6ZzZ1eUtnUjM4MGFkbE9zbTkyNW0wa0o4YUoyLzRkZTFSNERXUEg0RXRFWk1Sc2JXMFJIQnlNUllzV1NaYmNUVTVPeG9vVkt4QWNIQXlsa2g4TzFnYWgvMzBmMXk1SFAzSy9pb1k2UEtDZjhrd2Z5bEp1eE1QaS9oalN5cFlQTHE5czZGVW9GR0xndlgwclNiSmYvSlh6a20wWHQ0WW95THVIZGQ5L2lxc1hwQXQ4aFAyK0FWRkg5cUZqNzBId2JkVWU5VDBhdzhUVURBQXcrTFdKNG43V3R2WUcvV2kxR21oS1NpQUlBc3d0TEJFYmMwWnl4N1J4aythNGR6Y0h5ei8vQUduSmlXSjl3TXR2d3RISkZla3BOeVRuYTkycEZ5NmVPWUdvby92RUJUMkNQL3BHSERKdzh0Q2ZrdjJiK2V2SEZwY1VGK0hNc1lNNDhNZEdaRlFTZWdFZyttUTRZcUlpMEtuWFFQUWEvS3JCSHlobDd5YXIxU2JRbEJSTDVqSithZHgwNFA0ZDVySkRMZ0Rnd3YxWkhRRDl3M05LcFVvODF0VE12Tm9QSHo1dkdIeUppSXljaDRjSEprMmFoTkRRVU1taUN6RXhNZmoxMTE4eGFsVFZQb0ttMnN2TjAxdWNVdXY0d1oyd3RMWUZBTW1xWDQvTHdzb2ErZmYwTXlpY1AzVUVhNzc5QkE1T3Jpak16OFBaKzJOY0gyamc0WVVETzM2UmhONzY3cDVJdlI5RzcyU2tZZmZtTmRpOWVRMEFmVkJUbTVoQXFWU0pRd24rK3ZNMzZBUWR0Qm9OdEZvdHRKb1NNWGozSFRvYWcxK2JpQk9IU2gvWXRLL25EQk16Y3l6NTlPOUlUN2twMXB1MURrQ1BBU09nMDJvckhPSXhjc0k3U0l5N2lJeTBGQlFYRldMVjEvL0MzLzc5UFhLeU0zRTY0b0M0bjZXMUxTeXRyTEh0eDFCRUhkMG4vaXpLOHZacmpVYmV6WEQ0ejgzaXZNZzZyUmJIRHV6RXNRTTcwY2k3R2RwMTdZdDJYZnZDek1KU25KSU1BQm8zYlY3dEphb0w4dS9odTQ5TFo0M3c4R3FDOS81VCtZT054b1RCbDRpSTRPL3ZqNWRmZmhtLy92cXJwSDd3NEVHNHVycWlkKy9lOGpSR29qSFQ1cUs0cUtqQzc1VmRjR0hLM0lXVnp0MmFrM1ViaDNkdEJxQmY0ZXRCV0d2U3ZFMlYrL0ZxMmdvWFR1dURtaUFJa3RCV2xxZVBIeXl0YmRDaFJ4QU83dmdGZ0Q0UVRwNzdHYzRlUDRTdGF4Y2JMSk5jWEZTSTRxTENpazVYb1E3ZGc1QVlkeEVYenh3WGEyMDc5OEhCUDM2UmhGN2ZWaDBnNkFUTW16VFU0QnhtOThjL201bGJZTXkwRHhDeVlCWjBPaDF5c3pNUmN6b0MxeTVGUzRaMGRPNHpHRnZYaHlBNUljN2dYSGFPVGhnNlppcmFkTzRGQUdqVm9UczJyLzRXS2VWbWhMaHg3VEpTa3hMZzE2WVRZc3JOeU9BZjBCTnhGNlh6TXRPVFkvQWxJaUlBUUdCZ0lGSlRVeEVlSGk3V0JFSEFMNy84QWhjWEZ6UnYzdndoUjlQVDlyZ0xFVGk2TktoMGpLOXpBdzgwZk1GWE1wYjBoV2F0cXJYSXdjQlh4dVBhcGJPU2VXZkxzN0N5eG9nM1p3SUFYTjBhd2FkNUcrVGR6Y1ZiNzMwQ3Rkb0VIYm9Ib1psL0FJNGQySW1MWjQ0ak5Ta0JKY1VWaC92S3VEZjJnWXRiUTZTbDNJQnpBdytrcDl5RVVxVkNsOENoY0hSeWhZdGJRK3pZdUFKZVRWdGd3bnNmNCtpKzdiaHkvcFRCZVpyNWwwN2o1K25qaDc1RFIrUDR3VjBZUFhVT212a0hvRzNuUGlqTXo4T1Y4NmRnWStlQXZrTkhvM1dubnZqdVh6UEZUMHJzSEp6UXBkOFE5Qnc0RXFabXBlUGpHM243WXRhQ0pZajhhdy8yYmZ0Sk1rNzR4VkdUVU0rbEFYUmFMWndiZU9EMnJTU1lXMWlpYmRjKzJMTDIreXI5TE9qUkZFTDVFZWxFUkdTMGREb2R2dnZ1TzF5K0xQMEkyTkxTRW5QbnprV0RCZzFrNnF6dUNnb0tFbCtIaFlVOWxXczg3ankrZ0g2ZTIwMHJ2MEhjeFhOd2NtbUFjZTkrWkREK016SjhMMzVaL3BXNFhkbjh3WGR1cCtKbzJEWWtKY1NodUxBQUFnUW9sU3BZMmRqQjA4Y1BuWG9QbEt6VWR1MXlOSnhkM1N1ZHd4YlFqNWN0S1M2Q1JxT0JUcXVCVHFmVEIwdEJNSGlJRGdyOWRHUFdObllBOU1zcHIvNi9qK0hxN29rUmJ3YUx1NlhjaUlkemZYZVltSm9oTnVZMDFuejdDUlFLQlZScU5jd3RyT0R0MXhwRHgwd1doMzRBK3ZIRCtmZnVpdlAwQXZwaENodVhMMEs3YnYzRW9QejcraVZJdVhFTjNZTmVRc3YyWFIvNWtKNU9xMFYwWkRpT0g5d0ZuVTZMNlI5K0pRN25LTXpQdzVydlBvRlA4N1lJSEQ3V1lKVzQ2bElxVmVJZDdlcDRGci9EVDR1aTdMUWJZUEFsSXFKeTh2UHo4Y1VYWHlBMU5WVlNkM0p5d3J4NTgyQnRiUzFUWjNWVFhRNE5kWkZHVXdLdFJ2TkVRYThxeXMrRi9LVEhhalVhUUZINWNzdHlxTXUvdytXREx4L1ZKU0lpQ1V0TFN3UUhCOFBLU3JyY2EwWkdCa0pEUTZIUmFHVHFqT2pSMUdxVFp4WjZBVlE3OUZaMnJFcXRybFdoOTNuRDRFdEVSQVpjWEZ3d2JkbzBxTlhTLzREajR1S3dmdjE2bVpJUUl3c0FBQnRYU1VSQlZMb2lJbm95REw1RVJGU2hwazJiNHZYWFh6ZTRLM1g4K0hIczJyV3JrcU9JaUdvdkJsOGlJcXBVMTY1ZDBiOS9mNFA2OXUzYkVSVVZKVU5IUkVUVngrQkxSRVFQTldMRUNMUnQyMVpTRXdRQmE5YXNRVUpDZ2p4TkVSRlZBNE12RVJFOWxFS2h3TVNKRStIcDZTbXBGeGNYWThtU0pjakt5cEtwTXlLaXFtSHdKU0tpUnpJMU5jV01HVFBnNE9BZ3FlZms1R0R4NHNVb3FtUkZNU0tpMm9UQmw0aUlIb3U5dlQxbXpKZ0JNek16U1QwcEtRay8vUENENGVJQ1JFUzFESU12RVJFOXRrYU5HbUhpeElrR016MUVSMGRqOCtiTk1uVkZSUFI0R0h5SmlLaEsyclJwZ3hFalJoalU5Ky9mai9Ed2NCazZJaUo2UEF5K1JFUlVaUU1HREVDM2J0MGtOVUVROFBQUFArUHk1Y3N5ZFVWRTlIQU12a1JFVkMydnYvNDZtalp0S3FscHRWb3NXN1lNYVdscE1uVkZSRlE1Qmw4aUlxb1dsVXFGYWRPbXdjWEZSVkxQejgvSDRzV0xrWmVYSjFOblJFUVZZL0FsSXFKcXM3S3l3c3laTTJGbFpTV3BwNmVuWStuU3BkQm9OREoxUmtSa2lNR1hpSWllaUt1cks2Wk1tUUsxV2kycHg4YkdZc09HRFRKMVJVUmtpTUdYaUlpZVdMTm16VEJtekJpRGFjNGlJaUt3Wjg4ZW1ib2lJcEppOENVaW9oclJ2WHQzQkFZR0d0UzNidDJLTTJmT3lOQVJFWkVVZ3k4UkVkV1lsMTkrR2ExYnQ1YlVCRUhBNnRXcmNlUEdEWm02SWlMU1V3aGNZNUtJaUdwUVVWRVJGaTFhaEpzM2IwcnE5dmIybURkdkh1enQ3V1hxVEI1QlFVRnl0MEJVWThMQ3d1UnVvVW9VNWNaZjhZNHZFUkhWS0RNek13UUhCOFBPems1U3o4N09Sa2hJQ0lxS2ltVHFqSWlNSFlNdkVSSFZPQWNIQjh5WU1RT21wcWFTK28wYk43QjY5V3J3dzBZaWtnT0hPaEFSMFZOeit2UnBMRisrM0NEb0RoZ3dBQ05IanBTcEt5SXlGaHpxUUVSRXoweTdkdTB3ZlBod2cvcmV2WHNSRVJFaFEwZEVaTXdZZkltSTZLa2FOR2dRT25mdUxLa0pnb0FOR3pZZ05qWldwcTZJeUJneCtCSVIwVk0zYnR3NE5HblNSRkxUYURSWXVuUXAwdFBUWmVxS2lJd05neThSRVQxMWFyVWEwNlpOZzdPenM2U2VsNWVIeFlzWEl6OC9YNmJPaU1pWU1QZ1NFZEV6WVcxdGplRGdZRmhhV2tycWFXbHBXTFpzR2JSYXJVeWRFWkd4WVBBbElxSm5wa0dEQnBneVpRcFVLcFdrZnZueVpmejg4ODh5ZFVWRXhvTEJsNGlJbmlrL1B6K01HalVLNVdZWlFuaDRlSjFiRllxSTZoWUdYeUlpZXVaNjllcUZ2bjM3R3RTM2JObUNjK2ZPeWRBUkVSa0RCbDhpSXBMRks2KzhnbGF0V2tscU9wME9LMWV1eE0yYk4yWHFpb2llWnd5K1JFUWtDNlZTaWJmZmZodnU3dTZTZWxGUkVVSkNRcENUa3lOVFowVDB2R0x3SlNJaTJaaWJteU00T0JpMnRyYVNlbFpXRnBZc1dZS1NraEtaT2lPaTV4R0RMeEVSeWFwZXZYcVlQbjA2VEV4TUpQV0VoQVNzV3JVS2dpREkxQmtSUFc4WWZJbUlTSFl2dlBBQ3hvOGZiekRUdytuVHA3RnQyemFadWlLaTV3MkRMeEVSMVFvQkFRRVlNbVNJUVgzMzd0MDRmdnk0REIwUjBmT0d3WmVJaUdxTklVT0dvR1BIanBLYUlBaFl2MzQ5NHVMaVpPcUtpSjRYREw1RVJGU3JqQjgvSHQ3ZTNwS2FScVBCMHFWTGtaR1JJVk5YUlBROFlQQWxJcUphUmExV1kvcjA2YWhYcjU2a2Z2ZnVYU3hldkJnRkJRVXlkVVpFZFIyREx4RVIxVG8yTmphWU9YTW16TTNOSmZWYnQyNWgyYkpsME9sME1uVkdSSFVaZ3k4UkVkVktibTV1bURKbENwUks2WDlWbHk1ZHdzYU5HMlhxaW9qcU1nWmZJaUtxdFZxMGFJSFhYbnZOb0g3NDhHSHMzNzlmaG82SXFDNWo4Q1Vpb2xxdFQ1OCs2TjI3dDBGOTgrYk5pSW1KZWZZTkVWR2R4ZUJMUkVTMTNxaFJvOUNpUlF0SlRhZlRZY1dLRlVoT1RwYXBLeUtxYXhoOGlZaW8xbE1xbFpnOGVUTGMzTndrOWNMQ1FvU0VoQ0EzTjFlbXpvaW9MbUh3SlNLaU9zSEN3Z0xCd2NHd3NiR1IxRE16TXhFYUdvcVNraEtaT2lPaXVvTEJsNGlJNmd3bkp5ZE1uejRkSmlZbWtucDhmRHpXcmwwTFFSQms2b3lJNmdJR1h5SWlxbE84dmIweGJ0dzRLQlFLU1QweU1oSTdkdXlRcVNzaXFnc1lmSW1JcU03cDFLa1RCZzBhWkZEZnVYTW5UcDQ4S1VOSFJGUVhNUGdTRVZHZE5HellNSFRvMEVGU0V3UUI2OWF0UTN4OHZFeGRFVkZ0eHVCTFJFUjFra0tod0lRSkUrRGw1U1dwbDVTVUlEUTBGSm1abVRKMVJrUzFGWU12RVJIVldTWW1KcGd4WXdZY0hSMGw5ZHpjWEN4ZXZCaUZoWVV5ZFVaRXRSR0RMeEVSMVdtMnRyWUlEZzZHdWJtNXBKNlNrb0lWSzFaQXA5UEoxQmtSMVRZTXZrUkVWT2Q1ZUhoZzBxUkpVQ3FsLzYzRnhNUmcwNlpOTW5WRlJMVU5neThSRVQwWC9QMzk4ZkxMTHh2VUR4NDhpRU9IRGozN2hvaW8xbUh3SlNLaTUwWmdZQ0I2OXV4cFVQL2xsMTl3NGNJRkdUb2lvdHFFd1plSWlKNHJZOGFNZ1orZm42U20wK213WXNVSzNMcDFTNmF1aUtnMllQQWxJcUxuaWxLcHhKUXBVMUMvZm4xSnZhQ2dBSXNYTDhiZHUzZGw2b3lJNU1iZ1MwUkV6eDFMUzB2TW5Ea1QxdGJXa25wR1JnWkNRME9oMFdoazZveUk1TVRnUzBSRXp5Vm5aMmRNbXpZTmFyVmFVcjkyN1JyV3JWc25VMWRFSkNlRklBaUMzRTBRRVJFOUxjZU9IY1BhdFd0Ui9yKzc0Y09IWS9EZ3dVLzkra0ZCUVUvOUdsUjNoSVdGeWQyQ1VWRW9GSXF5Mjd6alMwUkV6N1V1WGJwZ3dJQUJCdlh0MjdmajFLbFRNblJFUkhKaDhDVWlvdWZlU3krOWhMWnQyMHBxZ2lCZ3pabzFTRWhJa0tjcElucm1PTlNCaUlpTVFuRnhNYjc2Nmlza0ppWks2cmEydHBnM2J4NGNIUjJmeW5YTERuWGd4OXpHaWI4RDh1RlFCeUlpTWtxbXBxYVlNV01HSEJ3Y0pQWGMzRnlFaElTZ3FLaElwczZJNkZsaDhDVWlJcU5oYjIrUDRPQmdtSm1aU2VwSlNVbjQ0WWNmREI2QUk2TG5DNE12RVJFWmxZWU5HMkxpeElsUUtxWC9CVVpIUjJQejVzMHlkVVZFendLREx4RVJHWjAyYmRwZ3hJZ1JCdlg5Ky9jalBEeGNobzZJNkZsZzhDVWlJcVBVdjM5L2RPdldUVklUQkFFLy8vd3pMbCsrTEZOWFJQUTBNZmdTRVpIUmV2MzExK0hyNnl1cGFiVmFMRnUyREttcHFUSjFSVVJQQzRNdkVSRVpMWlZLaGFsVHA4TFYxVlZTejgvUFIwaElDUEx5OG1UcWpJaWVCZ1pmSWlJeWFsWldWZ2dPRG9hVmxaV2tucDZlanREUVVHZzBHcGs2STZLYXh1QkxSRVJHejlYVkZWT25Ub1ZhclpiVXIxNjlpZzBiTnNqVUZSSFZOQVpmSWlJaUFMNit2aGc3ZGl6S0xmU0VpSWdJN042OVc2YXVpS2dtTWZnU0VSSGQxNjFiTjhueXNnLzgvdnZ2T0hQbWpBd2RFVkZOWXZBbElpSXFZK1RJa1dqZHVyV2tKZ2dDVnE5ZWpjVEVSSm02SXFLYXdPQkxSRVJVaGtLaHdLUkprOUN3WVVOSnZhaW9DRXVXTEVGMmRyWk1uUkhSazJMd0pTSWlLc2ZNekF6QndjR3d0N2VYMUxPenN4RVNFb0tpb2lLWk9pT2lKOEhnUzBSRVZBRUhCd2ZNbURFRHBxYW1rdnFOR3pld2F0VXFDSUlnVTJkRVZGME12a1JFUkpYdzlQVEVXMis5WlREVHc5bXpaN0ZseXhhWnVpS2k2bUx3SlNJaWVvaDI3ZHBoK1BEaEJ2V3dzREFjUFhwVWhvNklxTG9ZZkltSWlCNWgwS0JCNk5LbGk2UW1DQUorK3VrbnhNYkd5dFFWRVZVVmd5OFJFZEZqZU9PTk45Q2tTUk5KVGFQUllPblNwVWhQVDVlcEt5S3FDZ1pmSWlLaXg2QldxekZ0MmpRNE96dEw2bmw1ZVZpOGVESHk4L05sNnV6WjBlbDBPSFBzSUtLTzdoZS9zakxTWk9sRkVBUm90UnBacmsxMWwvclJ1eEFSRVJFQVdGdGJZK2JNbWZqaWl5OGtRVGN0TFExTGx5N0YzLzcyTjZoVUtoazdmSHdMM2gwcnZ2N29mejg5MWpGN3Q2ekR2bTJsK3pxNXVtSE81ei9VV0U4NnJSYUZCZmtvTE1oRFFmNDk1T1htNEc1dU51N2QvN3FiY3dmWm1lbkl5cmlObkR1MzBTMW9HSWFPblZybGE5eUl2NExyc1RHNGZ1VThsRW9WSnJ6M1NZMjlCNnJkR0h5SmlJaXFvSDc5K3BneVpRcSsvLzU3YUxWYXNYN2x5aFg4OU5OUEdEZHUzRk85L3Z2aitsZHBmNzgyblRCcDlnS0RlazVXUnBYT2MrcEltQ1QwQWtCR1dnck9uZndMN2JyMnJkSzVGaStZaFpMaUltaUtpMUZTWElTU2ttSVVGUmFndUtpd1N1YzVIWEVRTDQ2ZURLWHk4VC9BMW1vMVdQbjFQMUdRZDArc3BhZmNoSXRidzRjY1JjOExEblVnSWlLcUlqOC9QNHdlUGRwZ21yTWpSNDVnNzk2OU1uVlZ1WVd6SitEOWNmMnJISm9mT0hVa0RKdFdmRjNoOXpZdVg0VG9rK0ZWT2w5QzdBVWtKOFFoTGVVRzdtU2s0VzVPVnBWREx3RGN6Ym1EdUF0bnFuU01pYWtaT3ZTUS9oeE9ITnBWNVd0VDNjUTd2a1JFUk5YUXMyZFBwS2FtWXYvKy9aTDYxcTFiNGVycWl0YXRXeitWNjc0Ui9LSDRPamtoRGdkM2JnS2dYMnA1Nk5pcHNMVjNsT3h2NStDRWpjdS9xdGExQkVIQXZ0ODNZTy9XOWVLQ0hhWm01aGc3L1IvNGZmMFNaR2VtUTZmVll2M2lUekZzN0ZUMEdEaXltdTlLeXN6Y0FoWlcxckMwc29HbHRRMnNyTzFnYld1di83SnpnSzI5SSt6ck9jUGUwUmxXTm5hU1k5Zjlid0dpSTZzV3hBLy8rUnNPLy9sYnBkK3Y3SzQ1MVQwTXZrUkVSTlgwNnF1dklqMDlIZWZQbnhkck9wME9LMWV1eEp3NWM5Q3dZYzEvZk42bWMyOEF3T1hvU0J3N3VGT3NXMW5iSWlIMmdzSCsvVjkrczFyWHlidWJnNDNMdjhLbHN5ZkVtcW1aT1NiTlhnQnZ2OVp3ZFd1RWtBV3pjTzl1RGdSQndMWU5TM0g5NmdXODh0WjdzTFMyZWV6ckRINXRJcHEzN1F4ekMwdVltVnZDek1LeVNrTVhpS3FDd1plSWlLaWFGQW9GM243N2JTeGF0QWhKU1VsaXZhaW9DQ0VoSVpnM2IxNk5YMU9qS2NHZTM5YmgwTTVOa21XVDc5M05xZkJPWjdlZ1lWVytSdlRKY0d4Wit6M3U1V2FMTldzYk8weWMvU2thZWZzQ0FKd2JlR0RhaDR2d3cxZnprWjE1V3p6dStwVUxHRHAyeW1PUCszVnlkVWQ5ajhaVjd2RnhxTlJxV052WVAvRjVyR3hzYTZBYnFnMFlmSW1JaUo2QXViazVnb09Ec1hEaFF1VG01b3Ixckt3c2hJU0UxT2kxNGkrZng2YVYzeUFqTlJtQVBuZzNidExDNEE3cHJhUUU1Ti9UOTZKU216ejIrVy9mU3NLMkgwTnhPVHBTVW5mejlNYUU5ejZCbzVPcnBGN2ZvekhlL2ZoL1dQbjFSMGhPakFPZ0gzZjdVK2puQ04rekZRTmZHUS9mVmgycS9ENXJTbU9mNXBnKy8rSERQSXFMQ21GcVp2Nk1PaUs1TWZnU0VSRTlJVWRIUjh5WU1RTmZmLzAxU2twS3hIcGlZbUtOWHNmSzFnNTNzKzhBQU9xNXVHSDAxUGVSY2lNZWFjbUo2RGRzRE93Y25CQWRHWTRmUXo0REFEVHpENENuajUvQmVjcmVLWDVnMTZaVk9MVHJWK2pLekZUeFFFcmlOWHcycTJxelZkeU12NElWWDM2SUY1cTF3clI1aXlvZHZyQmh5VUw4RlBwNWxjNWQxdnh2ZjRTTm5jTWo5OHU1a3dFN1J5Y0FRRzVXSnY3YXN3V1h6cDZFQXNEN242OHc2UDNRcnMzdzl2T0hqMThienZqd0hHSHdKU0lpcWdGZVhsNllNR0VDZnZqaGh3cURaVTF3ZFd1RVZ5YStoL1JiTjlGM3lDanMyclFLNFh1MkFnQWkvOXFMWnY0QmlJazZDa0VRNE43WUIyOEVmd2lGUWdFdjN4WndydThPaFZJSlFSQWtkM1FmekV6eGdtOHJITnp4aTFpM3IrZUM3TXlxcjBobllXVXRtU3FzeDRBUkR4MnorK1NMVUZUK3M5WUorZ1UzanV6ZGhwUWIxL0RQYjMvVVB3eW5VT0R3cnMzaXYxTnlRaHpjRy91SXgxMDhld0xuVGh6R3VST0hZV3BtanY4cy9RM3FLdHc1cDlxTG84ZUppSWhxU0ljT0hUQjA2TkNuZW8yMlhmcGd3TWczb1ZTcTRPdmZRUndmVzFKY2hQT25qa0FRQlBnSDlNQ00rVi9EM05JS0FHQnRhNC9MMFpHNGRQWUU1cnc1QUN1LytxZDRQbHVIZWdDQVpxMEQwRy9ZR0NnVUNuUUxISVk1NWU2Q1BxNVhKODNDMExGVFlXRnBqWjREUjZKVmgrNVA5b1lmU1ZINWR4UUs3TjY4Qm9seEYxRlNYSVJqQi9RUEE5cmFPNktSZCttZDhEUEhEMHFPdTFMbUR3TnZ2OVlNdmM4UjN2RWxJaUtxUVMrKytDTFMwdEp3NHNTSlIrOWNUVnZXZm8vSXYvYWlwTGhJVXJldjU0SnVRY05nYld1UDhEMWJrWE1uQS8yR2pZWnZxL1k0dFBQWENzL1ZwZThROFhYL0VlUGdIOUFEYnA3ZUFJQ3YxbGQvVHVLT1BRZkExTnh3N0d6NXUrRnZ2dnNSL0FONlFLTXB3WUh0RzJGcVpvN2VMNzVhNFRsdjNZekhOL09uaStkbzZOWFVZSmhEMmZNckZFcDA3ak1ZTzM5WkNRQ0kyTGNkZllhOEJwVktqUmJ0T2lNeDdpSUFJUHJFWHhneWVqSUFJUC9lWGR5TWp4WFAwYXgxUUZYZk90VmlETDVFUkVRMTdNMDMzMFJHUmdZYU5XcUUrUGo0R2o5L2grNzljV3ovRG5IYnpkTWIzUUtIb1gzM1FHUm4zc2JuNzA4UXYrZnA0d2YvamozUXRHVTdLQlJLcUUxTVlXcHVEbXRiZXpScDNnYk4yM1lXOTFXcVZHTG9mVklXVnRZVjFndno4eVRiS3BVYW1la3BXTEZvUGpKU2s2RlVxZURsMndLZVBzMGwrd21DZ08wYmxrbUM3Y0JYSnhpY1g2Y3JIYU9zVktvUTBHc2dkdisyRmxxTkJyblpkM0QyK0NHMDd4YUlGdTI2WU5lbVZRQ0FPeGxwU0U2TWc3dW5EMkpqb2lUWGFGSG01ME4xSDRNdkVSRlJEVk9yMVpnMWF4Wk1URXl3Y3VYS0dqdHZSbG9LQU1EUzJnWnRPdmVHVXFsQ3E0RHU0bkNIQjlPS3VibzFRbHJLRFFCQTNLV3phTnkwQlVaT2VMZlNjNnBVS2ppVW1iR2h1aXU4bGZYM1QwTXJETkVGK2ZjazIyb1RFOWc3dXNERXhCUUFvTk5xOFdQSVFzeGFFQUpMNjlKcHhDTDJiY2ZWTXF1MHRXemZ0Y0laSXpSbEhpNVVxVld3dHJGRGkzWmR4TlhsanV6NUhlMjdCY0xWM1JPT1RxNjRrNUVHQUlpSmlvQzdwdzh1bnlzZDV0Q2dvUmZzNjdsVTUrMVRMY1hnUzBSRTlCU1ltTlQ4dU5DeWQzSWZpRHE2NzZISG5Bb1B3Nm53c0lmdTQrRGtpdm4vdC81SldudHNaZWNHQmdCTEt4dW8xR3FNbXZ3Ky92ZnZkNkhUYXBHVmtZYmxYODdEdEg5OENYTkxLOFJkUElmdEc1YUp4MWhZV21QaytIY3FQSDloUWI3NDJzemNFZ0RRcWZjZ01mamV2QjZMbE1ScmNQUDBobC9iempnYXRnMEFjUEgwY2ZRZk1VN3k0RitMZGwxcTVrMVRyY0dIMjRpSWlPaVpTVTY4SnRsK01FYlh3NnNKQW9lTkZldEoxNjlpeGFMNXVIam1CRmIvMzcvRTJSOFVDZ1hHVHY5QWZDaXZ2SHU1V2VKcnkvdkRMWnEyYkE4N0J5ZXhmdnpRTGdEUzhidkppWEc0RUJVaENlYXRBcDcyZzNuMHJQR09MeEVSVVIweDhlOExLcXhmUG5jU0p3Ny9DYTFHSHc3TnpDMGdDSUs0T01PckU5K0RtWVYraGdkTlNURk8vclVibDg5Rm91ZkFrZkJwM2hhbVptYVZYdk9kajc5RmZRK3Z4K3B2L3VUaGo5d25LZUdxK0ZwdFlnbzdSMmR4TzJqRUcwaEx1WUZ6Snc0REFCTGpMbUxWTng5SmpoLzR5Z1Q0dGVsVTRia0ZRVUJPVnFhNGJXUHZDRUFmbHR0M0Q4U0JQellDQUU1SEhNRFFNVlBnNDljYURScDZ3Y3UzSlh4YnRzZjFxNlZMUGpzNHVjTGQwd2YwZkdId0pTSWlxaU9hdHkwTmZDWEZSVGg3L0JDT2hHMURja0tjV0svbjRvWUo3MzJNdUF0bnNHM0RVaFFYRmVMRTRkMTRkZElzUkIzWmgyTUhkdUJ1anY2dTZMa1RmeUhvcFRjcWZSQU5BRXhNekdCbWJsRWovUXVDZ0tzeHA4VnRGN2VHNGp6Q2dENmdqcGs2QjltWjZVaU11MlJ3Zko4WFgwTy9ZV01xUFg5V1pqbzBKY1hpdHFOVGZmRjErMjc5eE9CYm1KK0g4NmVPb2wzWHZwajlXZWtRaXIxYmZ4UmYrL051NzNPSndaZUlpS2lPS0NrdXd0VUxaeEVkK1JmT1J4NUJVV0dCd1Q2elBsMENjd3RMMVBkb2pDdm5vM0E1T2hKeEY4OWk0ZXp4a3YyVUtoWGNHL3NnSnl2am9jRzNKc1ZmT1k4N3QxUEY3Y1pOcERNMzZIUTZuRHF5RDVuM0grSXJML1AyTGR4T1RZSnpmWThLdjM4ei9vcGsyOVhEcy9TMXV5YzhmWnJEMGRrVkFUMzZvMG5MZHBKOXN6TnZpOHN1QTRCL3h4NlA5NmFvVG1Id0pTSWlxZ05LaW91d2NQWjQ1TjVmc3JneTVoYjZCN3EwbWhKMERSeUd1SXRub2RHVVNQYng4bTJKTVZQbnd0RzVma1duZUdwT0h2cFRzdDNNdnlNQS9YczdjK3dnRHZ5eFVaeTVvaUxSSjhNUkV4V0JUcjBHb3RmZ1YrSGs2aWI1ZnRtN3lXcTFDVFFseGJoNXZYUk8zcGZHVFFmdTMyRXVPK1FDQUM1RVJZaXZMU3l0b1ZTcXhHTk56Y3poNnRhb0ttK1ZhaWtHWHlJaW9qckF4TlFNL1lhTndkWjFJUUQwd3dKOC9UdWdmZGQrMkJENnViamYxblVodUJsL0JjbUpjZEJxTkdqUnJpdUtpd3B4OVVKcEtMeCtKUVpmZnpnVnZxMDZ3TE5KYzNqNitCbmNmWDNnbTM5T3I1SCtiMTZQeGVtSUErSzJwYlV0TEsyc3NlM0hVRVFkM1lmOGUzY05qdkgyYTQxRzNzMXcrTS9OMEduMTgvUHF0Rm9jTzdBVHh3N3NSQ1B2Wm1qWHRTL2FkZTBMTXd0THhKUUpyNDJiTmtmSWdyOVhxOWVDL0h2NDd1UFNXU004dkpyZ3ZmK0VWT3RjVkxzdytCSVJFZFVSbmZ1K2lNand2ZkJxMmhKZCt3MkZjd01QclAvK1U4aytENmJuZXNDcHZodUdqSjZNaVAxL1lNOXZhOFdBV1ZSWWdPakljRVJIaHFOVG44R1ZCdCthY21qbnI1S0ZJVHIzR1l5dDYwTWs0NU1mc0hOMHd0QXhVOUdtY3k4QVFLc08zYkY1OWJkSUtUY2p4STFybDVHYWxBQy9OcDBRVTI1R0J2K0Fub2k3ZU80cHZSdXFxeGg4aVlpSTZnaVZTbTF3NTlHMGtnZlBMQ3l0MGFDUkZ6eDkvS0JRS05BdGNCamFkZW1MaVAxLzRHallObkhJUkgyUHhoZ3hic1pUNy8yVnQvNkd3dnc4WERsL0NqWjJEdWc3ZERSYWQrcUo3LzQxRXpxZERnQmc1K0NFTHYyR29PZkFrVEExSzEzdXVKRzNMMll0V0lMSXYvWmczN2FmSk9PRVh4dzFDZlZjR2tDbjFjSzVnUWR1MzBxQ3VZVWwybmJ0Z3kxcnYzL3E3NHZxRmdaZklpS2lPbXpvbU1tNGRPWTR6Q3lzME15L0E3eDhXNkdSdDIrRjQzY3RyS3pSYjlnWTlIbnhOVnlKaWNMWll3ZlJhL0NyVU45Zk5lMkJzcXU0algvM1gzQnVVUEhEWk9WOU5XK0srRnFsbGtZTUN5dHJUSnE5QUJ1WEwwSzdidjFnYm1FSmQwOGZkQTBjaHBRYjE5QTk2Q1cwYk44VlNwV3F3bk1yRkFwMDdEVVFIYm9ISVRveUhNY1A3b0pPcDBYWHdHRUFBT2NHSHZqYko5OWp6WGVmd0tkNVcxaFlXbVBCc2kyUDFmZWpLSlVWOTBSMWowSW8rN2tERVJFUjFhaWdvQ0R4ZFZqWXcxZFFxNjY3T1ZuaVFoQjFqU0FJa2luTm52UllyVVlES1BSM3gydUxaL0U3UUJWVGxQc0ZxVDIvRlVSRVJGUXRkVFgwQXFoMjZLM3MyUEozbW9uSzRwTEZSRVJFUkdRVUdIeUppSWlJeUNndytCSVJFUkdSVVdEd0pTSWlJaUtqd09CTFJFUkVSRWFCd1plSWlJaUlqQUtETHhFUkVSRVpCUVpmSWlJaUlqSUtETDVFUkVSRVpCUVlmSW1JaUlqSUtERDRFaEVSRVpGUllQQWxJaUlpSXFQQTRFdEVSRVJFUm9IQmw0aUlpSWlNQW9NdkVSRVJFUmtGQmw4aUlpSWlNZ29NdmtSRVJFUmtGTlJ5TjBCRVJHUXNnb0tDNUc2QnlLanhqaThSRVJFUkdRVUdYeUlpSWlJeUNncEJFQVM1bXlBaUlpSWlxbWtLaFVKUmRwdDNmSW1JaUlqSUtERDRFaEVSRVpGUllQQWxJaUlpSXFQQTRFdEVSRVJFUm9IQmw0aUlpSWlNQW9NdkVSRVJFUmtGQmw4aUlpSWlNZ29NdmtSRVJFUmtGQmg4aVlpSWlNZ29NUGdTRVJFUmtWRmc4Q1VpSWlJaW84RGdTMFJFUkVSR2djR1hpSWlJaUl3Q2d5OFJFUkVSR1FVR1h5SWlJaUl5Q2d5K1JFUkVSR1FVR0h5SmlJaUl5Q2d3K0JJUkVSR1JVV0R3SlNJaUlpS2p3T0JMUkVSRVJFYUJ3WmVJaUlpSWpBS0RMeEVSRVJFWkJRWmZJaUlpSWpJS0RMNUVSRVJFWkJRWWZJbUlpSWpJS0RENEVoRVJFWkZSWVBBbElpSWlJcVBBNEV0RVJFUkVSb0hCbDRpSWlJaU1Bb012RVJFUkVSa0ZCbDhpSWlJaU1nb012a1JFUkVSa0ZCaDhpWWlJaU1nb01QZ1NFUkVSa1ZGZzhDVWlJaUlpbzhEZ1MwUkVSRVJHZ2NHWGlJaUlpSXdDZ3k4UkVSRVJHUVVHWHlJaUlpSXlDZ3krUkVSRVJHUVVHSHlKaUlpSXlDZ3crQklSRVJHUlVXRHdKU0lpSWlJaUlpSWlJaUlpSWlJaUlpSWlJaUlpSWlJaUlpSWlJaUlpSWlKNkd2NGZwQ3V4U3NUdVZOc0FBQUFBU1VWT1JLNUNZSUk9IiwKCSJUaGVtZSIgOiAiIiwKCSJUeXBlIiA6ICJtaW5kIiwKCSJWZXJzaW9uIiA6ICIiCn0K"/>
    </extobj>
  </extobjs>
</s:customData>
</file>

<file path=customXml/itemProps1.xml><?xml version="1.0" encoding="utf-8"?>
<ds:datastoreItem xmlns:ds="http://schemas.openxmlformats.org/officeDocument/2006/customXml" ds:itemID="{67D8BC99-B967-4B98-85CB-3CF17AC45A0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1802</TotalTime>
  <Words>4367</Words>
  <Application>Microsoft Office PowerPoint</Application>
  <PresentationFormat>宽屏</PresentationFormat>
  <Paragraphs>381</Paragraphs>
  <Slides>60</Slides>
  <Notes>58</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60</vt:i4>
      </vt:variant>
    </vt:vector>
  </HeadingPairs>
  <TitlesOfParts>
    <vt:vector size="77" baseType="lpstr">
      <vt:lpstr>Malgun Gothic</vt:lpstr>
      <vt:lpstr>PingFang SC</vt:lpstr>
      <vt:lpstr>等线</vt:lpstr>
      <vt:lpstr>黑体</vt:lpstr>
      <vt:lpstr>华文行楷</vt:lpstr>
      <vt:lpstr>楷体_GB2312</vt:lpstr>
      <vt:lpstr>宋体</vt:lpstr>
      <vt:lpstr>微软雅黑</vt:lpstr>
      <vt:lpstr>Arial</vt:lpstr>
      <vt:lpstr>Calibri</vt:lpstr>
      <vt:lpstr>Lato Light</vt:lpstr>
      <vt:lpstr>Roboto</vt:lpstr>
      <vt:lpstr>Times New Roman</vt:lpstr>
      <vt:lpstr>Wingdings</vt:lpstr>
      <vt:lpstr>Office 主题​​</vt:lpstr>
      <vt:lpstr>Document</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Wenbo Hu</cp:lastModifiedBy>
  <cp:revision>348</cp:revision>
  <dcterms:created xsi:type="dcterms:W3CDTF">2019-05-15T00:03:00Z</dcterms:created>
  <dcterms:modified xsi:type="dcterms:W3CDTF">2024-08-19T12:21:38Z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KSOTemplateUUID">
    <vt:lpwstr>v1.0_mb_TF8VzHADxkah/oYt8/AWdA==</vt:lpwstr>
  </property>
  <property fmtid="{D5CDD505-2E9C-101B-9397-08002B2CF9AE}" pid="4" name="ICV">
    <vt:lpwstr>E23C42B77B7D4F9EA2A5002DDF56CE9B</vt:lpwstr>
  </property>
</Properties>
</file>